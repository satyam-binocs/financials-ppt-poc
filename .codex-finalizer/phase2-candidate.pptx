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2.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slides/charts/chart3.xml" ContentType="application/vnd.openxmlformats-officedocument.drawingml.chart+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slides/charts/chart4.xml" ContentType="application/vnd.openxmlformats-officedocument.drawingml.chart+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7adf0755d1d456b" /><Relationship Type="http://schemas.openxmlformats.org/officeDocument/2006/relationships/extended-properties" Target="/docProps/app.xml" Id="R304f40e005dc4119" /><Relationship Type="http://schemas.openxmlformats.org/officeDocument/2006/relationships/officeDocument" Target="/ppt/presentation.xml" Id="Rf36daecf271441ed" /></Relationships>
</file>

<file path=ppt/presentation.xml><?xml version="1.0" encoding="utf-8"?>
<p:presentation xmlns:p="http://schemas.openxmlformats.org/presentationml/2006/main">
  <p:sldMasterIdLst>
    <p:sldMasterId xmlns:r="http://schemas.openxmlformats.org/officeDocument/2006/relationships" id="2147483648" r:id="R85126057216043c6"/>
  </p:sldMasterIdLst>
  <p:notesMasterIdLst>
    <p:notesMasterId xmlns:r="http://schemas.openxmlformats.org/officeDocument/2006/relationships" r:id="R501a3f1a3b4a4b04"/>
  </p:notesMasterIdLst>
  <p:sldIdLst>
    <p:sldId xmlns:r="http://schemas.openxmlformats.org/officeDocument/2006/relationships" id="256" r:id="Rde636d2e03f24f27"/>
    <p:sldId xmlns:r="http://schemas.openxmlformats.org/officeDocument/2006/relationships" id="257" r:id="Rc9cc7852d3d74a9e"/>
    <p:sldId xmlns:r="http://schemas.openxmlformats.org/officeDocument/2006/relationships" id="258" r:id="R1f29ecd96bc646a3"/>
    <p:sldId xmlns:r="http://schemas.openxmlformats.org/officeDocument/2006/relationships" id="259" r:id="Rca26d390d0a94b53"/>
    <p:sldId xmlns:r="http://schemas.openxmlformats.org/officeDocument/2006/relationships" id="260" r:id="Rc92a68188e9e4573"/>
    <p:sldId xmlns:r="http://schemas.openxmlformats.org/officeDocument/2006/relationships" id="261" r:id="Re6fb44b36abb4a23"/>
    <p:sldId xmlns:r="http://schemas.openxmlformats.org/officeDocument/2006/relationships" id="262" r:id="Rdce5a1f9a1e4413e"/>
    <p:sldId xmlns:r="http://schemas.openxmlformats.org/officeDocument/2006/relationships" id="263" r:id="Rcff9f9d9832e46ab"/>
    <p:sldId xmlns:r="http://schemas.openxmlformats.org/officeDocument/2006/relationships" id="264" r:id="R34c6973fc91d430b"/>
    <p:sldId xmlns:r="http://schemas.openxmlformats.org/officeDocument/2006/relationships" id="265" r:id="R86916bd99c1c4ea8"/>
    <p:sldId xmlns:r="http://schemas.openxmlformats.org/officeDocument/2006/relationships" id="266" r:id="Rc6d7ca14e9544bf9"/>
    <p:sldId xmlns:r="http://schemas.openxmlformats.org/officeDocument/2006/relationships" id="267" r:id="R63426645044845b1"/>
    <p:sldId xmlns:r="http://schemas.openxmlformats.org/officeDocument/2006/relationships" id="268" r:id="R734a840e41624178"/>
    <p:sldId xmlns:r="http://schemas.openxmlformats.org/officeDocument/2006/relationships" id="269" r:id="R76cbdc3889f74eee"/>
    <p:sldId xmlns:r="http://schemas.openxmlformats.org/officeDocument/2006/relationships" id="270" r:id="R8d9c05670fe64267"/>
    <p:sldId xmlns:r="http://schemas.openxmlformats.org/officeDocument/2006/relationships" id="271" r:id="Rb96f0f80695c4017"/>
    <p:sldId xmlns:r="http://schemas.openxmlformats.org/officeDocument/2006/relationships" id="272" r:id="R3ceceec9a60f4b50"/>
    <p:sldId xmlns:r="http://schemas.openxmlformats.org/officeDocument/2006/relationships" id="273" r:id="R929c71fc2ebd4481"/>
    <p:sldId xmlns:r="http://schemas.openxmlformats.org/officeDocument/2006/relationships" id="274" r:id="R46b1b87a5b024fd0"/>
    <p:sldId xmlns:r="http://schemas.openxmlformats.org/officeDocument/2006/relationships" id="275" r:id="Rd134d15b7d464fe7"/>
    <p:sldId xmlns:r="http://schemas.openxmlformats.org/officeDocument/2006/relationships" id="276" r:id="R807bf49029c644b3"/>
    <p:sldId xmlns:r="http://schemas.openxmlformats.org/officeDocument/2006/relationships" id="277" r:id="R9dd995a4c3cb4fc8"/>
    <p:sldId xmlns:r="http://schemas.openxmlformats.org/officeDocument/2006/relationships" id="278" r:id="R2bc86bc47ae94422"/>
    <p:sldId xmlns:r="http://schemas.openxmlformats.org/officeDocument/2006/relationships" id="279" r:id="R08c7fef4a7e24161"/>
    <p:sldId xmlns:r="http://schemas.openxmlformats.org/officeDocument/2006/relationships" id="280" r:id="R13f0e0ef23b54dec"/>
    <p:sldId xmlns:r="http://schemas.openxmlformats.org/officeDocument/2006/relationships" id="281" r:id="R5669f618ca7e4600"/>
    <p:sldId xmlns:r="http://schemas.openxmlformats.org/officeDocument/2006/relationships" id="282" r:id="Rb2aad80b0cc841fe"/>
    <p:sldId xmlns:r="http://schemas.openxmlformats.org/officeDocument/2006/relationships" id="283" r:id="R44f9168897e142e2"/>
    <p:sldId xmlns:r="http://schemas.openxmlformats.org/officeDocument/2006/relationships" id="284" r:id="Rb9d323705ae2437b"/>
    <p:sldId xmlns:r="http://schemas.openxmlformats.org/officeDocument/2006/relationships" id="285" r:id="Rdf310edd2d004353"/>
    <p:sldId xmlns:r="http://schemas.openxmlformats.org/officeDocument/2006/relationships" id="286" r:id="Recde168269b645f6"/>
    <p:sldId xmlns:r="http://schemas.openxmlformats.org/officeDocument/2006/relationships" id="287" r:id="R31792252055e4604"/>
    <p:sldId xmlns:r="http://schemas.openxmlformats.org/officeDocument/2006/relationships" id="288" r:id="R0bb06ee6db5c489a"/>
    <p:sldId xmlns:r="http://schemas.openxmlformats.org/officeDocument/2006/relationships" id="289" r:id="Rcf039e3f37cb4fab"/>
    <p:sldId xmlns:r="http://schemas.openxmlformats.org/officeDocument/2006/relationships" id="290" r:id="R825fee1b8a4e40b8"/>
    <p:sldId xmlns:r="http://schemas.openxmlformats.org/officeDocument/2006/relationships" id="291" r:id="R350996f0b32f4f07"/>
    <p:sldId xmlns:r="http://schemas.openxmlformats.org/officeDocument/2006/relationships" id="292" r:id="Rcf790080f0d34ab1"/>
    <p:sldId xmlns:r="http://schemas.openxmlformats.org/officeDocument/2006/relationships" id="293" r:id="Rca5d377c647e4893"/>
    <p:sldId xmlns:r="http://schemas.openxmlformats.org/officeDocument/2006/relationships" id="294" r:id="R90c0a5bf3808453d"/>
    <p:sldId xmlns:r="http://schemas.openxmlformats.org/officeDocument/2006/relationships" id="295" r:id="R14de1f473d524708"/>
    <p:sldId xmlns:r="http://schemas.openxmlformats.org/officeDocument/2006/relationships" id="296" r:id="R3725abfa244247a8"/>
    <p:sldId xmlns:r="http://schemas.openxmlformats.org/officeDocument/2006/relationships" id="297" r:id="R5a150cc962b2414b"/>
    <p:sldId xmlns:r="http://schemas.openxmlformats.org/officeDocument/2006/relationships" id="298" r:id="R935ec62f1f684713"/>
    <p:sldId xmlns:r="http://schemas.openxmlformats.org/officeDocument/2006/relationships" id="299" r:id="R90f73f9a32c34514"/>
    <p:sldId xmlns:r="http://schemas.openxmlformats.org/officeDocument/2006/relationships" id="300" r:id="Rb780e15873fb4f33"/>
    <p:sldId xmlns:r="http://schemas.openxmlformats.org/officeDocument/2006/relationships" id="301" r:id="Rf188b7b809c34edd"/>
    <p:sldId xmlns:r="http://schemas.openxmlformats.org/officeDocument/2006/relationships" id="302" r:id="R77f7511f97074989"/>
    <p:sldId xmlns:r="http://schemas.openxmlformats.org/officeDocument/2006/relationships" id="303" r:id="Rd65208e735f648b1"/>
    <p:sldId xmlns:r="http://schemas.openxmlformats.org/officeDocument/2006/relationships" id="304" r:id="R4763d108516c4e52"/>
    <p:sldId xmlns:r="http://schemas.openxmlformats.org/officeDocument/2006/relationships" id="305" r:id="R599db4045fcb473f"/>
    <p:sldId xmlns:r="http://schemas.openxmlformats.org/officeDocument/2006/relationships" id="306" r:id="R4d26e1be448348b9"/>
    <p:sldId xmlns:r="http://schemas.openxmlformats.org/officeDocument/2006/relationships" id="307" r:id="R61441f7f9d114047"/>
    <p:sldId xmlns:r="http://schemas.openxmlformats.org/officeDocument/2006/relationships" id="308" r:id="R4841c092e260477a"/>
    <p:sldId xmlns:r="http://schemas.openxmlformats.org/officeDocument/2006/relationships" id="309" r:id="R58795d308c0f45ab"/>
    <p:sldId xmlns:r="http://schemas.openxmlformats.org/officeDocument/2006/relationships" id="310" r:id="Rc10d00c0b74044e4"/>
    <p:sldId xmlns:r="http://schemas.openxmlformats.org/officeDocument/2006/relationships" id="311" r:id="R8020fd9567a94cab"/>
    <p:sldId xmlns:r="http://schemas.openxmlformats.org/officeDocument/2006/relationships" id="312" r:id="R9c774e8010b94573"/>
    <p:sldId xmlns:r="http://schemas.openxmlformats.org/officeDocument/2006/relationships" id="313" r:id="Re2c41e950f764b61"/>
    <p:sldId xmlns:r="http://schemas.openxmlformats.org/officeDocument/2006/relationships" id="314" r:id="R4a5eac9039724959"/>
    <p:sldId xmlns:r="http://schemas.openxmlformats.org/officeDocument/2006/relationships" id="315" r:id="Rb22d93185b43430b"/>
    <p:sldId xmlns:r="http://schemas.openxmlformats.org/officeDocument/2006/relationships" id="316" r:id="R6edaa000d4194327"/>
    <p:sldId xmlns:r="http://schemas.openxmlformats.org/officeDocument/2006/relationships" id="317" r:id="R50119f7c71244338"/>
    <p:sldId xmlns:r="http://schemas.openxmlformats.org/officeDocument/2006/relationships" id="318" r:id="Rc406d2acdb1d4216"/>
    <p:sldId xmlns:r="http://schemas.openxmlformats.org/officeDocument/2006/relationships" id="319" r:id="R1b3aa4e00e324d2f"/>
    <p:sldId xmlns:r="http://schemas.openxmlformats.org/officeDocument/2006/relationships" id="320" r:id="Rb9b3e739091f445b"/>
    <p:sldId xmlns:r="http://schemas.openxmlformats.org/officeDocument/2006/relationships" id="321" r:id="R570b3eefed7047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face20ea4e4a63" /><Relationship Type="http://schemas.openxmlformats.org/officeDocument/2006/relationships/slideMaster" Target="/ppt/slideMasters/slideMaster1.xml" Id="R85126057216043c6" /><Relationship Type="http://schemas.openxmlformats.org/officeDocument/2006/relationships/notesMaster" Target="/ppt/notesMasters/notesMaster1.xml" Id="R501a3f1a3b4a4b04" /><Relationship Type="http://schemas.openxmlformats.org/officeDocument/2006/relationships/presProps" Target="/ppt/presProps.xml" Id="R777c3c0340424c8d" /><Relationship Type="http://schemas.openxmlformats.org/officeDocument/2006/relationships/tableStyles" Target="/ppt/tableStyles.xml" Id="R40e27eeacee1461d" /><Relationship Type="http://schemas.openxmlformats.org/officeDocument/2006/relationships/slide" Target="/ppt/slides/slide1.xml" Id="Rde636d2e03f24f27" /><Relationship Type="http://schemas.openxmlformats.org/officeDocument/2006/relationships/slide" Target="/ppt/slides/slide2.xml" Id="Rc9cc7852d3d74a9e" /><Relationship Type="http://schemas.openxmlformats.org/officeDocument/2006/relationships/slide" Target="/ppt/slides/slide3.xml" Id="R1f29ecd96bc646a3" /><Relationship Type="http://schemas.openxmlformats.org/officeDocument/2006/relationships/slide" Target="/ppt/slides/slide4.xml" Id="Rca26d390d0a94b53" /><Relationship Type="http://schemas.openxmlformats.org/officeDocument/2006/relationships/slide" Target="/ppt/slides/slide5.xml" Id="Rc92a68188e9e4573" /><Relationship Type="http://schemas.openxmlformats.org/officeDocument/2006/relationships/slide" Target="/ppt/slides/slide6.xml" Id="Re6fb44b36abb4a23" /><Relationship Type="http://schemas.openxmlformats.org/officeDocument/2006/relationships/slide" Target="/ppt/slides/slide7.xml" Id="Rdce5a1f9a1e4413e" /><Relationship Type="http://schemas.openxmlformats.org/officeDocument/2006/relationships/slide" Target="/ppt/slides/slide8.xml" Id="Rcff9f9d9832e46ab" /><Relationship Type="http://schemas.openxmlformats.org/officeDocument/2006/relationships/slide" Target="/ppt/slides/slide9.xml" Id="R34c6973fc91d430b" /><Relationship Type="http://schemas.openxmlformats.org/officeDocument/2006/relationships/slide" Target="/ppt/slides/slide10.xml" Id="R86916bd99c1c4ea8" /><Relationship Type="http://schemas.openxmlformats.org/officeDocument/2006/relationships/slide" Target="/ppt/slides/slide11.xml" Id="Rc6d7ca14e9544bf9" /><Relationship Type="http://schemas.openxmlformats.org/officeDocument/2006/relationships/slide" Target="/ppt/slides/slide12.xml" Id="R63426645044845b1" /><Relationship Type="http://schemas.openxmlformats.org/officeDocument/2006/relationships/slide" Target="/ppt/slides/slide13.xml" Id="R734a840e41624178" /><Relationship Type="http://schemas.openxmlformats.org/officeDocument/2006/relationships/slide" Target="/ppt/slides/slide14.xml" Id="R76cbdc3889f74eee" /><Relationship Type="http://schemas.openxmlformats.org/officeDocument/2006/relationships/slide" Target="/ppt/slides/slide15.xml" Id="R8d9c05670fe64267" /><Relationship Type="http://schemas.openxmlformats.org/officeDocument/2006/relationships/slide" Target="/ppt/slides/slide16.xml" Id="Rb96f0f80695c4017" /><Relationship Type="http://schemas.openxmlformats.org/officeDocument/2006/relationships/slide" Target="/ppt/slides/slide17.xml" Id="R3ceceec9a60f4b50" /><Relationship Type="http://schemas.openxmlformats.org/officeDocument/2006/relationships/slide" Target="/ppt/slides/slide18.xml" Id="R929c71fc2ebd4481" /><Relationship Type="http://schemas.openxmlformats.org/officeDocument/2006/relationships/slide" Target="/ppt/slides/slide19.xml" Id="R46b1b87a5b024fd0" /><Relationship Type="http://schemas.openxmlformats.org/officeDocument/2006/relationships/slide" Target="/ppt/slides/slide20.xml" Id="Rd134d15b7d464fe7" /><Relationship Type="http://schemas.openxmlformats.org/officeDocument/2006/relationships/slide" Target="/ppt/slides/slide21.xml" Id="R807bf49029c644b3" /><Relationship Type="http://schemas.openxmlformats.org/officeDocument/2006/relationships/slide" Target="/ppt/slides/slide22.xml" Id="R9dd995a4c3cb4fc8" /><Relationship Type="http://schemas.openxmlformats.org/officeDocument/2006/relationships/slide" Target="/ppt/slides/slide23.xml" Id="R2bc86bc47ae94422" /><Relationship Type="http://schemas.openxmlformats.org/officeDocument/2006/relationships/slide" Target="/ppt/slides/slide24.xml" Id="R08c7fef4a7e24161" /><Relationship Type="http://schemas.openxmlformats.org/officeDocument/2006/relationships/slide" Target="/ppt/slides/slide25.xml" Id="R13f0e0ef23b54dec" /><Relationship Type="http://schemas.openxmlformats.org/officeDocument/2006/relationships/slide" Target="/ppt/slides/slide26.xml" Id="R5669f618ca7e4600" /><Relationship Type="http://schemas.openxmlformats.org/officeDocument/2006/relationships/slide" Target="/ppt/slides/slide27.xml" Id="Rb2aad80b0cc841fe" /><Relationship Type="http://schemas.openxmlformats.org/officeDocument/2006/relationships/slide" Target="/ppt/slides/slide28.xml" Id="R44f9168897e142e2" /><Relationship Type="http://schemas.openxmlformats.org/officeDocument/2006/relationships/slide" Target="/ppt/slides/slide29.xml" Id="Rb9d323705ae2437b" /><Relationship Type="http://schemas.openxmlformats.org/officeDocument/2006/relationships/slide" Target="/ppt/slides/slide30.xml" Id="Rdf310edd2d004353" /><Relationship Type="http://schemas.openxmlformats.org/officeDocument/2006/relationships/slide" Target="/ppt/slides/slide31.xml" Id="Recde168269b645f6" /><Relationship Type="http://schemas.openxmlformats.org/officeDocument/2006/relationships/slide" Target="/ppt/slides/slide32.xml" Id="R31792252055e4604" /><Relationship Type="http://schemas.openxmlformats.org/officeDocument/2006/relationships/slide" Target="/ppt/slides/slide33.xml" Id="R0bb06ee6db5c489a" /><Relationship Type="http://schemas.openxmlformats.org/officeDocument/2006/relationships/slide" Target="/ppt/slides/slide34.xml" Id="Rcf039e3f37cb4fab" /><Relationship Type="http://schemas.openxmlformats.org/officeDocument/2006/relationships/slide" Target="/ppt/slides/slide35.xml" Id="R825fee1b8a4e40b8" /><Relationship Type="http://schemas.openxmlformats.org/officeDocument/2006/relationships/slide" Target="/ppt/slides/slide36.xml" Id="R350996f0b32f4f07" /><Relationship Type="http://schemas.openxmlformats.org/officeDocument/2006/relationships/slide" Target="/ppt/slides/slide37.xml" Id="Rcf790080f0d34ab1" /><Relationship Type="http://schemas.openxmlformats.org/officeDocument/2006/relationships/slide" Target="/ppt/slides/slide38.xml" Id="Rca5d377c647e4893" /><Relationship Type="http://schemas.openxmlformats.org/officeDocument/2006/relationships/slide" Target="/ppt/slides/slide39.xml" Id="R90c0a5bf3808453d" /><Relationship Type="http://schemas.openxmlformats.org/officeDocument/2006/relationships/slide" Target="/ppt/slides/slide40.xml" Id="R14de1f473d524708" /><Relationship Type="http://schemas.openxmlformats.org/officeDocument/2006/relationships/slide" Target="/ppt/slides/slide41.xml" Id="R3725abfa244247a8" /><Relationship Type="http://schemas.openxmlformats.org/officeDocument/2006/relationships/slide" Target="/ppt/slides/slide42.xml" Id="R5a150cc962b2414b" /><Relationship Type="http://schemas.openxmlformats.org/officeDocument/2006/relationships/slide" Target="/ppt/slides/slide43.xml" Id="R935ec62f1f684713" /><Relationship Type="http://schemas.openxmlformats.org/officeDocument/2006/relationships/slide" Target="/ppt/slides/slide44.xml" Id="R90f73f9a32c34514" /><Relationship Type="http://schemas.openxmlformats.org/officeDocument/2006/relationships/slide" Target="/ppt/slides/slide45.xml" Id="Rb780e15873fb4f33" /><Relationship Type="http://schemas.openxmlformats.org/officeDocument/2006/relationships/slide" Target="/ppt/slides/slide46.xml" Id="Rf188b7b809c34edd" /><Relationship Type="http://schemas.openxmlformats.org/officeDocument/2006/relationships/slide" Target="/ppt/slides/slide47.xml" Id="R77f7511f97074989" /><Relationship Type="http://schemas.openxmlformats.org/officeDocument/2006/relationships/slide" Target="/ppt/slides/slide48.xml" Id="Rd65208e735f648b1" /><Relationship Type="http://schemas.openxmlformats.org/officeDocument/2006/relationships/slide" Target="/ppt/slides/slide49.xml" Id="R4763d108516c4e52" /><Relationship Type="http://schemas.openxmlformats.org/officeDocument/2006/relationships/slide" Target="/ppt/slides/slide50.xml" Id="R599db4045fcb473f" /><Relationship Type="http://schemas.openxmlformats.org/officeDocument/2006/relationships/slide" Target="/ppt/slides/slide51.xml" Id="R4d26e1be448348b9" /><Relationship Type="http://schemas.openxmlformats.org/officeDocument/2006/relationships/slide" Target="/ppt/slides/slide52.xml" Id="R61441f7f9d114047" /><Relationship Type="http://schemas.openxmlformats.org/officeDocument/2006/relationships/slide" Target="/ppt/slides/slide53.xml" Id="R4841c092e260477a" /><Relationship Type="http://schemas.openxmlformats.org/officeDocument/2006/relationships/slide" Target="/ppt/slides/slide54.xml" Id="R58795d308c0f45ab" /><Relationship Type="http://schemas.openxmlformats.org/officeDocument/2006/relationships/slide" Target="/ppt/slides/slide55.xml" Id="Rc10d00c0b74044e4" /><Relationship Type="http://schemas.openxmlformats.org/officeDocument/2006/relationships/slide" Target="/ppt/slides/slide56.xml" Id="R8020fd9567a94cab" /><Relationship Type="http://schemas.openxmlformats.org/officeDocument/2006/relationships/slide" Target="/ppt/slides/slide57.xml" Id="R9c774e8010b94573" /><Relationship Type="http://schemas.openxmlformats.org/officeDocument/2006/relationships/slide" Target="/ppt/slides/slide58.xml" Id="Re2c41e950f764b61" /><Relationship Type="http://schemas.openxmlformats.org/officeDocument/2006/relationships/slide" Target="/ppt/slides/slide59.xml" Id="R4a5eac9039724959" /><Relationship Type="http://schemas.openxmlformats.org/officeDocument/2006/relationships/slide" Target="/ppt/slides/slide60.xml" Id="Rb22d93185b43430b" /><Relationship Type="http://schemas.openxmlformats.org/officeDocument/2006/relationships/slide" Target="/ppt/slides/slide61.xml" Id="R6edaa000d4194327" /><Relationship Type="http://schemas.openxmlformats.org/officeDocument/2006/relationships/slide" Target="/ppt/slides/slide62.xml" Id="R50119f7c71244338" /><Relationship Type="http://schemas.openxmlformats.org/officeDocument/2006/relationships/slide" Target="/ppt/slides/slide63.xml" Id="Rc406d2acdb1d4216" /><Relationship Type="http://schemas.openxmlformats.org/officeDocument/2006/relationships/slide" Target="/ppt/slides/slide64.xml" Id="R1b3aa4e00e324d2f" /><Relationship Type="http://schemas.openxmlformats.org/officeDocument/2006/relationships/slide" Target="/ppt/slides/slide65.xml" Id="Rb9b3e739091f445b" /><Relationship Type="http://schemas.openxmlformats.org/officeDocument/2006/relationships/slide" Target="/ppt/slides/slide66.xml" Id="R570b3eefed7047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a8f056f9bd4b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ef84863427480c" /><Relationship Type="http://schemas.openxmlformats.org/officeDocument/2006/relationships/notesMaster" Target="/ppt/notesMasters/notesMaster1.xml" Id="R647f7b664f3c45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8e4371545f4be4" /><Relationship Type="http://schemas.openxmlformats.org/officeDocument/2006/relationships/notesMaster" Target="/ppt/notesMasters/notesMaster1.xml" Id="R6b3d20ddca7a41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8ad0c10a6343c6" /><Relationship Type="http://schemas.openxmlformats.org/officeDocument/2006/relationships/notesMaster" Target="/ppt/notesMasters/notesMaster1.xml" Id="R15820211b4f344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b0181befbe47d4" /><Relationship Type="http://schemas.openxmlformats.org/officeDocument/2006/relationships/notesMaster" Target="/ppt/notesMasters/notesMaster1.xml" Id="R01222bed2a3d42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e3ccf51b9946ff" /><Relationship Type="http://schemas.openxmlformats.org/officeDocument/2006/relationships/notesMaster" Target="/ppt/notesMasters/notesMaster1.xml" Id="Rac4e9743084040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2ed2c24a1147e1" /><Relationship Type="http://schemas.openxmlformats.org/officeDocument/2006/relationships/notesMaster" Target="/ppt/notesMasters/notesMaster1.xml" Id="Ree69d25bf9034b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cda67a20584cc0" /><Relationship Type="http://schemas.openxmlformats.org/officeDocument/2006/relationships/notesMaster" Target="/ppt/notesMasters/notesMaster1.xml" Id="Ra25a4f7b0d5a43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a4250406174dad" /><Relationship Type="http://schemas.openxmlformats.org/officeDocument/2006/relationships/notesMaster" Target="/ppt/notesMasters/notesMaster1.xml" Id="Rc5f3257051994d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94da1198ee4d9c" /><Relationship Type="http://schemas.openxmlformats.org/officeDocument/2006/relationships/notesMaster" Target="/ppt/notesMasters/notesMaster1.xml" Id="R1d1d19ce8ba14f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2f773443214f86" /><Relationship Type="http://schemas.openxmlformats.org/officeDocument/2006/relationships/notesMaster" Target="/ppt/notesMasters/notesMaster1.xml" Id="R2e54747ec5c644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91603cf3184330" /><Relationship Type="http://schemas.openxmlformats.org/officeDocument/2006/relationships/notesMaster" Target="/ppt/notesMasters/notesMaster1.xml" Id="R605ff7dc42d547a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587ecea9b4430e" /><Relationship Type="http://schemas.openxmlformats.org/officeDocument/2006/relationships/notesMaster" Target="/ppt/notesMasters/notesMaster1.xml" Id="Rc1940a36fe9941d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72d29b07b0b4a6b" /><Relationship Type="http://schemas.openxmlformats.org/officeDocument/2006/relationships/notesMaster" Target="/ppt/notesMasters/notesMaster1.xml" Id="R6f65b74ca47547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df7983476c429d" /><Relationship Type="http://schemas.openxmlformats.org/officeDocument/2006/relationships/notesMaster" Target="/ppt/notesMasters/notesMaster1.xml" Id="R7b92fd20e162400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7c1e8c34d0499d" /><Relationship Type="http://schemas.openxmlformats.org/officeDocument/2006/relationships/notesMaster" Target="/ppt/notesMasters/notesMaster1.xml" Id="Rfc84033b1255443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d67857866c84ab1" /><Relationship Type="http://schemas.openxmlformats.org/officeDocument/2006/relationships/notesMaster" Target="/ppt/notesMasters/notesMaster1.xml" Id="R3461eda83ddd459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6027fb35de94678" /><Relationship Type="http://schemas.openxmlformats.org/officeDocument/2006/relationships/notesMaster" Target="/ppt/notesMasters/notesMaster1.xml" Id="Rf1773c684a9e4c0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48369fee8994769" /><Relationship Type="http://schemas.openxmlformats.org/officeDocument/2006/relationships/notesMaster" Target="/ppt/notesMasters/notesMaster1.xml" Id="Rc8943074217f4e9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a0be15a582649c8" /><Relationship Type="http://schemas.openxmlformats.org/officeDocument/2006/relationships/notesMaster" Target="/ppt/notesMasters/notesMaster1.xml" Id="Re6c5f20524e7465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bea7c1d00604405" /><Relationship Type="http://schemas.openxmlformats.org/officeDocument/2006/relationships/notesMaster" Target="/ppt/notesMasters/notesMaster1.xml" Id="R1ccb8f0cddf145a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52a353eaf6d4422" /><Relationship Type="http://schemas.openxmlformats.org/officeDocument/2006/relationships/notesMaster" Target="/ppt/notesMasters/notesMaster1.xml" Id="R89f0528bc6c84b6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6e96e5cca224e05" /><Relationship Type="http://schemas.openxmlformats.org/officeDocument/2006/relationships/notesMaster" Target="/ppt/notesMasters/notesMaster1.xml" Id="Ra123b73c77cb4b6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ebf0d895f82463b" /><Relationship Type="http://schemas.openxmlformats.org/officeDocument/2006/relationships/notesMaster" Target="/ppt/notesMasters/notesMaster1.xml" Id="Re49a0631fb334c2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f1bf813dd0c406f" /><Relationship Type="http://schemas.openxmlformats.org/officeDocument/2006/relationships/notesMaster" Target="/ppt/notesMasters/notesMaster1.xml" Id="R7d8ee8e865f64be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295b84968bf4a8b" /><Relationship Type="http://schemas.openxmlformats.org/officeDocument/2006/relationships/notesMaster" Target="/ppt/notesMasters/notesMaster1.xml" Id="Reba0b2b979ec4a7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c88645e6ac945f7" /><Relationship Type="http://schemas.openxmlformats.org/officeDocument/2006/relationships/notesMaster" Target="/ppt/notesMasters/notesMaster1.xml" Id="R1c191260842e41b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3dc431af6bc41b4" /><Relationship Type="http://schemas.openxmlformats.org/officeDocument/2006/relationships/notesMaster" Target="/ppt/notesMasters/notesMaster1.xml" Id="R530555276221487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b4a96fa48204d5d" /><Relationship Type="http://schemas.openxmlformats.org/officeDocument/2006/relationships/notesMaster" Target="/ppt/notesMasters/notesMaster1.xml" Id="R1ca2051e0fc442f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dd1f0cbf4a74dd2" /><Relationship Type="http://schemas.openxmlformats.org/officeDocument/2006/relationships/notesMaster" Target="/ppt/notesMasters/notesMaster1.xml" Id="R6eb6e9003268484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79d2114b72d4a50" /><Relationship Type="http://schemas.openxmlformats.org/officeDocument/2006/relationships/notesMaster" Target="/ppt/notesMasters/notesMaster1.xml" Id="Rf21eea20099946a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eb6585010424058" /><Relationship Type="http://schemas.openxmlformats.org/officeDocument/2006/relationships/notesMaster" Target="/ppt/notesMasters/notesMaster1.xml" Id="Rb88ffa3b20d945d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8177ee1041e4baa" /><Relationship Type="http://schemas.openxmlformats.org/officeDocument/2006/relationships/notesMaster" Target="/ppt/notesMasters/notesMaster1.xml" Id="R795c4d5de09c4da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b5289ffc591410a" /><Relationship Type="http://schemas.openxmlformats.org/officeDocument/2006/relationships/notesMaster" Target="/ppt/notesMasters/notesMaster1.xml" Id="Rc04d8234d4e645b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5bfbc18167b4fc9" /><Relationship Type="http://schemas.openxmlformats.org/officeDocument/2006/relationships/notesMaster" Target="/ppt/notesMasters/notesMaster1.xml" Id="Rbdd585e34b204a1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64e6678cc38400b" /><Relationship Type="http://schemas.openxmlformats.org/officeDocument/2006/relationships/notesMaster" Target="/ppt/notesMasters/notesMaster1.xml" Id="Rc5834f04fcea415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01549f665514cfa" /><Relationship Type="http://schemas.openxmlformats.org/officeDocument/2006/relationships/notesMaster" Target="/ppt/notesMasters/notesMaster1.xml" Id="Rf1f2b67b12184db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059d3840d29478b" /><Relationship Type="http://schemas.openxmlformats.org/officeDocument/2006/relationships/notesMaster" Target="/ppt/notesMasters/notesMaster1.xml" Id="R565c7f03f1db4ff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156a71cbc894b0f" /><Relationship Type="http://schemas.openxmlformats.org/officeDocument/2006/relationships/notesMaster" Target="/ppt/notesMasters/notesMaster1.xml" Id="R91677eb69f5f4d6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1d150d338a94f34" /><Relationship Type="http://schemas.openxmlformats.org/officeDocument/2006/relationships/notesMaster" Target="/ppt/notesMasters/notesMaster1.xml" Id="Reacc3f1e619a443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54bf774d6e84903" /><Relationship Type="http://schemas.openxmlformats.org/officeDocument/2006/relationships/notesMaster" Target="/ppt/notesMasters/notesMaster1.xml" Id="R19c7b111082f4e9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37a8f900d0846ba" /><Relationship Type="http://schemas.openxmlformats.org/officeDocument/2006/relationships/notesMaster" Target="/ppt/notesMasters/notesMaster1.xml" Id="R10d0d3755f44418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9c9177efd9a4f9b" /><Relationship Type="http://schemas.openxmlformats.org/officeDocument/2006/relationships/notesMaster" Target="/ppt/notesMasters/notesMaster1.xml" Id="R69394a1aa8064c8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de69af6c5e04664" /><Relationship Type="http://schemas.openxmlformats.org/officeDocument/2006/relationships/notesMaster" Target="/ppt/notesMasters/notesMaster1.xml" Id="R952336c8e9d04db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22869cf67e04826" /><Relationship Type="http://schemas.openxmlformats.org/officeDocument/2006/relationships/notesMaster" Target="/ppt/notesMasters/notesMaster1.xml" Id="R6af8c3beb0dd44c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3313f70145c4d89" /><Relationship Type="http://schemas.openxmlformats.org/officeDocument/2006/relationships/notesMaster" Target="/ppt/notesMasters/notesMaster1.xml" Id="Rf6c04c13c752420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7e0ec295fe44c80" /><Relationship Type="http://schemas.openxmlformats.org/officeDocument/2006/relationships/notesMaster" Target="/ppt/notesMasters/notesMaster1.xml" Id="R068381eca7984e2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88141fc62164108" /><Relationship Type="http://schemas.openxmlformats.org/officeDocument/2006/relationships/notesMaster" Target="/ppt/notesMasters/notesMaster1.xml" Id="R704c93758b644dd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309e0808a1d41a8" /><Relationship Type="http://schemas.openxmlformats.org/officeDocument/2006/relationships/notesMaster" Target="/ppt/notesMasters/notesMaster1.xml" Id="R828776ba88fe4af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f188d903afd4875" /><Relationship Type="http://schemas.openxmlformats.org/officeDocument/2006/relationships/notesMaster" Target="/ppt/notesMasters/notesMaster1.xml" Id="Rd98c2fbe74e24c9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52d758e0b7b4f7b" /><Relationship Type="http://schemas.openxmlformats.org/officeDocument/2006/relationships/notesMaster" Target="/ppt/notesMasters/notesMaster1.xml" Id="R41bcc70190f54cc0"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b9e2e8f11b742f7" /><Relationship Type="http://schemas.openxmlformats.org/officeDocument/2006/relationships/notesMaster" Target="/ppt/notesMasters/notesMaster1.xml" Id="R9c699f7f9bd4492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72c1560d8de458c" /><Relationship Type="http://schemas.openxmlformats.org/officeDocument/2006/relationships/notesMaster" Target="/ppt/notesMasters/notesMaster1.xml" Id="R0eccf4dee63242d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c389d36a6cc4618" /><Relationship Type="http://schemas.openxmlformats.org/officeDocument/2006/relationships/notesMaster" Target="/ppt/notesMasters/notesMaster1.xml" Id="R2e8803f4fa504c7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6add8003cb842ce" /><Relationship Type="http://schemas.openxmlformats.org/officeDocument/2006/relationships/notesMaster" Target="/ppt/notesMasters/notesMaster1.xml" Id="R47091b3768a1401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f63ae51a3b9a4cd4" /><Relationship Type="http://schemas.openxmlformats.org/officeDocument/2006/relationships/notesMaster" Target="/ppt/notesMasters/notesMaster1.xml" Id="Rcd7d4cd25252491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b396a94d38b4fee" /><Relationship Type="http://schemas.openxmlformats.org/officeDocument/2006/relationships/notesMaster" Target="/ppt/notesMasters/notesMaster1.xml" Id="Rb586ad017f1e4d6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644b572ebb1448aa" /><Relationship Type="http://schemas.openxmlformats.org/officeDocument/2006/relationships/notesMaster" Target="/ppt/notesMasters/notesMaster1.xml" Id="R426ada114a3c402e"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d7e01e4057c9471c" /><Relationship Type="http://schemas.openxmlformats.org/officeDocument/2006/relationships/notesMaster" Target="/ppt/notesMasters/notesMaster1.xml" Id="R0d63e22faef54075"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856cffe0f66b461a" /><Relationship Type="http://schemas.openxmlformats.org/officeDocument/2006/relationships/notesMaster" Target="/ppt/notesMasters/notesMaster1.xml" Id="Rdf8d11a645364dec"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3ca1cf3e6b743c6" /><Relationship Type="http://schemas.openxmlformats.org/officeDocument/2006/relationships/notesMaster" Target="/ppt/notesMasters/notesMaster1.xml" Id="R5cda57ef113948eb"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18aa90191e7b4686" /><Relationship Type="http://schemas.openxmlformats.org/officeDocument/2006/relationships/notesMaster" Target="/ppt/notesMasters/notesMaster1.xml" Id="R53fdce4aee204e79"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74a420841946491c" /><Relationship Type="http://schemas.openxmlformats.org/officeDocument/2006/relationships/notesMaster" Target="/ppt/notesMasters/notesMaster1.xml" Id="R8621fd412cac4db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c6bc994c0fc2425d" /><Relationship Type="http://schemas.openxmlformats.org/officeDocument/2006/relationships/notesMaster" Target="/ppt/notesMasters/notesMaster1.xml" Id="R98d8c812b419491a"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1d3bcc537c2e42db" /><Relationship Type="http://schemas.openxmlformats.org/officeDocument/2006/relationships/notesMaster" Target="/ppt/notesMasters/notesMaster1.xml" Id="R0119f4aded8448d1"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07294a3d3c0f4e53" /><Relationship Type="http://schemas.openxmlformats.org/officeDocument/2006/relationships/notesMaster" Target="/ppt/notesMasters/notesMaster1.xml" Id="R30e095a038194486"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b62cc9d572984320" /><Relationship Type="http://schemas.openxmlformats.org/officeDocument/2006/relationships/notesMaster" Target="/ppt/notesMasters/notesMaster1.xml" Id="Rd8bc75006c2d4a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https://www.americangaming.org/resources/state-of-the-states-2026/</a:t>
            </a:r>
          </a:p>
          <a:p xmlns:a="http://schemas.openxmlformats.org/drawingml/2006/main">
            <a:r>
              <a:t>[100] https://americanplace.com/gaming/table-games/</a:t>
            </a:r>
          </a:p>
          <a:p xmlns:a="http://schemas.openxmlformats.org/drawingml/2006/main">
            <a:r>
              <a:t>[101] https://americanplace.com/faq/?utm_source=openai</a:t>
            </a:r>
          </a:p>
          <a:p xmlns:a="http://schemas.openxmlformats.org/drawingml/2006/main">
            <a:r>
              <a:t>[102] https://americanplace.com/blog/full-house-resorts-to-break-ground-on-the-permanent-american-place-casino/</a:t>
            </a:r>
          </a:p>
          <a:p xmlns:a="http://schemas.openxmlformats.org/drawingml/2006/main">
            <a:r>
              <a:t>[103] https://www.sec.gov/Archives/edgar/data/891482/000089148226000040/fll-20260902x8k.htm</a:t>
            </a:r>
          </a:p>
          <a:p xmlns:a="http://schemas.openxmlformats.org/drawingml/2006/main">
            <a:r>
              <a:t>[104] https://www.illinois.gov/content/dam/soi/en/web/illinois/iisnewsattachments/32616-061226-r-gaming-board-meeting-june-2026-final.pdf.pdf</a:t>
            </a:r>
          </a:p>
          <a:p xmlns:a="http://schemas.openxmlformats.org/drawingml/2006/main">
            <a:r>
              <a:t>[14] https://igb.illinois.gov/content/dam/soi/en/web/igb/documents/board-meetings/minutes/2024/20240912-open-meeting-minutes.pdf</a:t>
            </a:r>
          </a:p>
          <a:p xmlns:a="http://schemas.openxmlformats.org/drawingml/2006/main">
            <a:r>
              <a:t>[15] https://www.hardrock.com/blog/hard-rock-casino-rockford-reveals-grand-opening-date-for-permanent-facility</a:t>
            </a:r>
          </a:p>
          <a:p xmlns:a="http://schemas.openxmlformats.org/drawingml/2006/main">
            <a:r>
              <a:t>[16] https://windcreek.com/news/2024/11/wind-creek-chicago-southland-confirms-casino-doors-open-on-nov-11</a:t>
            </a:r>
          </a:p>
          <a:p xmlns:a="http://schemas.openxmlformats.org/drawingml/2006/main">
            <a:r>
              <a:t>[17] https://pennnationalgaming.gcs-web.com/news-releases/news-release-details/penn-entertainment-celebrates-grand-opening-hollywood-casino-and</a:t>
            </a:r>
          </a:p>
          <a:p xmlns:a="http://schemas.openxmlformats.org/drawingml/2006/main">
            <a:r>
              <a:t>[2] https://www.americangaming.org/resources/commercial-gaming-revenue-tracker/</a:t>
            </a:r>
          </a:p>
          <a:p xmlns:a="http://schemas.openxmlformats.org/drawingml/2006/main">
            <a:r>
              <a:t>[20] https://www.ballys.com/news/news-details/2024/Ballys-Announces-Refreshed-Site-Plan-that-Restores-500-room-Hotel-Tower-Plan-into-Single-Phase-Project/default.aspx</a:t>
            </a:r>
          </a:p>
          <a:p xmlns:a="http://schemas.openxmlformats.org/drawingml/2006/main">
            <a:r>
              <a:t>[36] https://investors.fullhouseresorts.com/news-events/press-releases/detail/287/full-house-resorts-announces-fourth-quarter-results</a:t>
            </a:r>
          </a:p>
          <a:p xmlns:a="http://schemas.openxmlformats.org/drawingml/2006/main">
            <a:r>
              <a:t>[37] https://americanplace.com/</a:t>
            </a:r>
          </a:p>
          <a:p xmlns:a="http://schemas.openxmlformats.org/drawingml/2006/main">
            <a:r>
              <a:t>[38] https://www.sec.gov/Archives/edgar/data/891482/000089148226000004/fll-20260303x8k.htm</a:t>
            </a:r>
          </a:p>
          <a:p xmlns:a="http://schemas.openxmlformats.org/drawingml/2006/main">
            <a:r>
              <a:t>[41] https://investors.fullhouseresorts.com/sec-filings/all-sec-filings/content/0000891482-26-000007/fll-20251231x10k.htm</a:t>
            </a:r>
          </a:p>
          <a:p xmlns:a="http://schemas.openxmlformats.org/drawingml/2006/main">
            <a:r>
              <a:t>[42] https://americanplace.com/gaming/harbor-poker-room/</a:t>
            </a:r>
          </a:p>
          <a:p xmlns:a="http://schemas.openxmlformats.org/drawingml/2006/main">
            <a:r>
              <a:t>[43] https://americanplace.com/gaming/sportsbook/</a:t>
            </a:r>
          </a:p>
          <a:p xmlns:a="http://schemas.openxmlformats.org/drawingml/2006/main">
            <a:r>
              <a:t>[45] https://americanplace.com/entertainment/</a:t>
            </a:r>
          </a:p>
          <a:p xmlns:a="http://schemas.openxmlformats.org/drawingml/2006/main">
            <a:r>
              <a:t>[49] https://americanplace.com/rewards/</a:t>
            </a:r>
          </a:p>
          <a:p xmlns:a="http://schemas.openxmlformats.org/drawingml/2006/main">
            <a:r>
              <a:t>[50] https://americanplace.com/terms-conditions-ap-rewards/</a:t>
            </a:r>
          </a:p>
          <a:p xmlns:a="http://schemas.openxmlformats.org/drawingml/2006/main">
            <a:r>
              <a:t>[51] https://americanplace.com/gaming/harbor-poker-room/</a:t>
            </a:r>
          </a:p>
          <a:p xmlns:a="http://schemas.openxmlformats.org/drawingml/2006/main">
            <a:r>
              <a:t>[57] https://americanplace.com/dining/canoe-bar/</a:t>
            </a:r>
          </a:p>
          <a:p xmlns:a="http://schemas.openxmlformats.org/drawingml/2006/main">
            <a:r>
              <a:t>[58] https://americanplace.com/entertainment/</a:t>
            </a:r>
          </a:p>
          <a:p xmlns:a="http://schemas.openxmlformats.org/drawingml/2006/main">
            <a:r>
              <a:t>[59] https://americanplace.com/entertainment/the-lighthouse/</a:t>
            </a:r>
          </a:p>
          <a:p xmlns:a="http://schemas.openxmlformats.org/drawingml/2006/main">
            <a:r>
              <a:t>[60] https://americanplace.com/meetings-and-social-events/</a:t>
            </a:r>
          </a:p>
          <a:p xmlns:a="http://schemas.openxmlformats.org/drawingml/2006/main">
            <a:r>
              <a:t>[72] https://www.illinois.gov/content/dam/soi/en/web/illinois/iisnewsattachments/31575-080425-r-advertisingrulesfinalaug2025.pdf.pdf</a:t>
            </a:r>
          </a:p>
          <a:p xmlns:a="http://schemas.openxmlformats.org/drawingml/2006/main">
            <a:r>
              <a:t>[88] https://investors.fullhouseresorts.com/sec-filings/annual-reports/content/0000891482-25-000009/0000891482-25-000009.pdf</a:t>
            </a:r>
          </a:p>
          <a:p xmlns:a="http://schemas.openxmlformats.org/drawingml/2006/main">
            <a:r>
              <a:t>[9] https://www.circasports.com/licensee-info?utm_source=openai</a:t>
            </a:r>
          </a:p>
          <a:p xmlns:a="http://schemas.openxmlformats.org/drawingml/2006/main">
            <a:r>
              <a:t>[90] https://americanplace.com/blog/full-house-resorts-to-break-ground-on-the-permanent-american-place-casino/</a:t>
            </a:r>
          </a:p>
          <a:p xmlns:a="http://schemas.openxmlformats.org/drawingml/2006/main">
            <a:r>
              <a:t>[91] https://www.sec.gov/Archives/edgar/data/891482/000089148226000040/fll-20260902xex10d1.htm</a:t>
            </a:r>
          </a:p>
          <a:p xmlns:a="http://schemas.openxmlformats.org/drawingml/2006/main">
            <a:r>
              <a:t>[99] https://americanplace.com/wp-content/uploads/2026/01/2026-AP-Rewards-Rack-Card.pdf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https://doc.binocs.co/18180/CIM/American-casinos-CIM.pdf?page=32</a:t>
            </a:r>
          </a:p>
          <a:p xmlns:a="http://schemas.openxmlformats.org/drawingml/2006/main">
            <a:r>
              <a:t>[13] https://doc.binocs.co/18180/CIM/American-casinos-CIM.pdf?page=38</a:t>
            </a:r>
          </a:p>
          <a:p xmlns:a="http://schemas.openxmlformats.org/drawingml/2006/main">
            <a:r>
              <a:t>[16] https://doc.binocs.co/18180/CIM/American-casinos-CIM.pdf?page=44</a:t>
            </a:r>
          </a:p>
          <a:p xmlns:a="http://schemas.openxmlformats.org/drawingml/2006/main">
            <a:r>
              <a:t>[17] https://doc.binocs.co/18180/CIM/American-casinos-CIM.pdf?page=48</a:t>
            </a:r>
          </a:p>
          <a:p xmlns:a="http://schemas.openxmlformats.org/drawingml/2006/main">
            <a:r>
              <a:t>[18] https://investors.fullhouseresorts.com/sec-filings/annual-reports/content/0000891482-25-000009/0000891482-25-000009.pdf</a:t>
            </a:r>
          </a:p>
          <a:p xmlns:a="http://schemas.openxmlformats.org/drawingml/2006/main">
            <a:r>
              <a:t>[19] https://americanplace.com/gaming/</a:t>
            </a:r>
          </a:p>
          <a:p xmlns:a="http://schemas.openxmlformats.org/drawingml/2006/main">
            <a:r>
              <a:t>[20] https://americanplace.com/dining/</a:t>
            </a:r>
          </a:p>
          <a:p xmlns:a="http://schemas.openxmlformats.org/drawingml/2006/main">
            <a:r>
              <a:t>[21] https://americanplace.com/entertainment/</a:t>
            </a:r>
          </a:p>
          <a:p xmlns:a="http://schemas.openxmlformats.org/drawingml/2006/main">
            <a:r>
              <a:t>[22] https://www.sec.gov/Archives/edgar/data/891482/000089148225000018/fll-20250515xdef14a.htm</a:t>
            </a:r>
          </a:p>
          <a:p xmlns:a="http://schemas.openxmlformats.org/drawingml/2006/main">
            <a:r>
              <a:t>[7] https://doc.binocs.co/18180/CIM/American-casinos-CIM.pdf?page=26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https://doc.binocs.co/18180/CIM/American-casinos-CIM.pdf?page=32</a:t>
            </a:r>
          </a:p>
          <a:p xmlns:a="http://schemas.openxmlformats.org/drawingml/2006/main">
            <a:r>
              <a:t>[13] https://doc.binocs.co/18180/CIM/American-casinos-CIM.pdf?page=38</a:t>
            </a:r>
          </a:p>
          <a:p xmlns:a="http://schemas.openxmlformats.org/drawingml/2006/main">
            <a:r>
              <a:t>[16] https://doc.binocs.co/18180/CIM/American-casinos-CIM.pdf?page=44</a:t>
            </a:r>
          </a:p>
          <a:p xmlns:a="http://schemas.openxmlformats.org/drawingml/2006/main">
            <a:r>
              <a:t>[17] https://doc.binocs.co/18180/CIM/American-casinos-CIM.pdf?page=48</a:t>
            </a:r>
          </a:p>
          <a:p xmlns:a="http://schemas.openxmlformats.org/drawingml/2006/main">
            <a:r>
              <a:t>[18] https://investors.fullhouseresorts.com/sec-filings/annual-reports/content/0000891482-25-000009/0000891482-25-000009.pdf</a:t>
            </a:r>
          </a:p>
          <a:p xmlns:a="http://schemas.openxmlformats.org/drawingml/2006/main">
            <a:r>
              <a:t>[19] https://americanplace.com/gaming/</a:t>
            </a:r>
          </a:p>
          <a:p xmlns:a="http://schemas.openxmlformats.org/drawingml/2006/main">
            <a:r>
              <a:t>[20] https://americanplace.com/dining/</a:t>
            </a:r>
          </a:p>
          <a:p xmlns:a="http://schemas.openxmlformats.org/drawingml/2006/main">
            <a:r>
              <a:t>[21] https://americanplace.com/entertainment/</a:t>
            </a:r>
          </a:p>
          <a:p xmlns:a="http://schemas.openxmlformats.org/drawingml/2006/main">
            <a:r>
              <a:t>[22] https://www.sec.gov/Archives/edgar/data/891482/000089148225000018/fll-20250515xdef14a.htm</a:t>
            </a:r>
          </a:p>
          <a:p xmlns:a="http://schemas.openxmlformats.org/drawingml/2006/main">
            <a:r>
              <a:t>[7] https://doc.binocs.co/18180/CIM/American-casinos-CIM.pdf?page=26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https://doc.binocs.co/18180/CIM/American-casinos-CIM.pdf?page=32</a:t>
            </a:r>
          </a:p>
          <a:p xmlns:a="http://schemas.openxmlformats.org/drawingml/2006/main">
            <a:r>
              <a:t>[13] https://doc.binocs.co/18180/CIM/American-casinos-CIM.pdf?page=38</a:t>
            </a:r>
          </a:p>
          <a:p xmlns:a="http://schemas.openxmlformats.org/drawingml/2006/main">
            <a:r>
              <a:t>[16] https://doc.binocs.co/18180/CIM/American-casinos-CIM.pdf?page=44</a:t>
            </a:r>
          </a:p>
          <a:p xmlns:a="http://schemas.openxmlformats.org/drawingml/2006/main">
            <a:r>
              <a:t>[17] https://doc.binocs.co/18180/CIM/American-casinos-CIM.pdf?page=48</a:t>
            </a:r>
          </a:p>
          <a:p xmlns:a="http://schemas.openxmlformats.org/drawingml/2006/main">
            <a:r>
              <a:t>[18] https://investors.fullhouseresorts.com/sec-filings/annual-reports/content/0000891482-25-000009/0000891482-25-000009.pdf</a:t>
            </a:r>
          </a:p>
          <a:p xmlns:a="http://schemas.openxmlformats.org/drawingml/2006/main">
            <a:r>
              <a:t>[19] https://americanplace.com/gaming/</a:t>
            </a:r>
          </a:p>
          <a:p xmlns:a="http://schemas.openxmlformats.org/drawingml/2006/main">
            <a:r>
              <a:t>[20] https://americanplace.com/dining/</a:t>
            </a:r>
          </a:p>
          <a:p xmlns:a="http://schemas.openxmlformats.org/drawingml/2006/main">
            <a:r>
              <a:t>[21] https://americanplace.com/entertainment/</a:t>
            </a:r>
          </a:p>
          <a:p xmlns:a="http://schemas.openxmlformats.org/drawingml/2006/main">
            <a:r>
              <a:t>[22] https://www.sec.gov/Archives/edgar/data/891482/000089148225000018/fll-20250515xdef14a.htm</a:t>
            </a:r>
          </a:p>
          <a:p xmlns:a="http://schemas.openxmlformats.org/drawingml/2006/main">
            <a:r>
              <a:t>[7] https://doc.binocs.co/18180/CIM/American-casinos-CIM.pdf?page=26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 https://www.illinois.gov/content/dam/soi/en/web/illinois/iisnewsattachments/26599-illinois-gaming-board-finds-chicago-casino-applicant-preliminarily-suitable.pdf</a:t>
            </a:r>
          </a:p>
          <a:p xmlns:a="http://schemas.openxmlformats.org/drawingml/2006/main">
            <a:r>
              <a:t>[14] https://investors.fullhouseresorts.com/sec-filings/all-sec-filings/content/0000891482-26-000007/fll-20251231x10k.htm</a:t>
            </a:r>
          </a:p>
          <a:p xmlns:a="http://schemas.openxmlformats.org/drawingml/2006/main">
            <a:r>
              <a:t>[15] https://americanplace.com/gaming/harbor-poker-room/</a:t>
            </a:r>
          </a:p>
          <a:p xmlns:a="http://schemas.openxmlformats.org/drawingml/2006/main">
            <a:r>
              <a:t>[16] https://americanplace.com/gaming/sportsbook/</a:t>
            </a:r>
          </a:p>
          <a:p xmlns:a="http://schemas.openxmlformats.org/drawingml/2006/main">
            <a:r>
              <a:t>[17] https://americanplace.com/#dining</a:t>
            </a:r>
          </a:p>
          <a:p xmlns:a="http://schemas.openxmlformats.org/drawingml/2006/main">
            <a:r>
              <a:t>[18] https://americanplace.com/entertainment/</a:t>
            </a:r>
          </a:p>
          <a:p xmlns:a="http://schemas.openxmlformats.org/drawingml/2006/main">
            <a:r>
              <a:t>[2] https://www.illinois.gov/content/dam/soi/en/web/illinois/iisnewsattachments/32616-061226-r-gaming-board-meeting-june-2026-final.pdf.pdf</a:t>
            </a:r>
          </a:p>
          <a:p xmlns:a="http://schemas.openxmlformats.org/drawingml/2006/main">
            <a:r>
              <a:t>[80] https://americanplace.com/meetings-and-social-events/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https://www.sec.gov/Archives/edgar/data/891482/000089148226000004/fll-20260303x8k.htm</a:t>
            </a:r>
          </a:p>
          <a:p xmlns:a="http://schemas.openxmlformats.org/drawingml/2006/main">
            <a:r>
              <a:t>[14] https://investors.fullhouseresorts.com/sec-filings/all-sec-filings/content/0000891482-26-000007/fll-20251231x10k.htm</a:t>
            </a:r>
          </a:p>
          <a:p xmlns:a="http://schemas.openxmlformats.org/drawingml/2006/main">
            <a:r>
              <a:t>[15] https://americanplace.com/gaming/harbor-poker-room/</a:t>
            </a:r>
          </a:p>
          <a:p xmlns:a="http://schemas.openxmlformats.org/drawingml/2006/main">
            <a:r>
              <a:t>[16] https://americanplace.com/gaming/sportsbook/</a:t>
            </a:r>
          </a:p>
          <a:p xmlns:a="http://schemas.openxmlformats.org/drawingml/2006/main">
            <a:r>
              <a:t>[17] https://americanplace.com/#dining</a:t>
            </a:r>
          </a:p>
          <a:p xmlns:a="http://schemas.openxmlformats.org/drawingml/2006/main">
            <a:r>
              <a:t>[18] https://americanplace.com/entertainment/</a:t>
            </a:r>
          </a:p>
          <a:p xmlns:a="http://schemas.openxmlformats.org/drawingml/2006/main">
            <a:r>
              <a:t>[54] https://investors.fullhouseresorts.com/sec-filings/all-sec-filings/content/0000891482-26-000007/fll-20251231x10k.htm</a:t>
            </a:r>
          </a:p>
          <a:p xmlns:a="http://schemas.openxmlformats.org/drawingml/2006/main">
            <a:r>
              <a:t>[55] https://investors.fullhouseresorts.com/sec-filings/all-sec-filings/content/0000891482-24-000010/fll-20240509xdef14a.htm</a:t>
            </a:r>
          </a:p>
          <a:p xmlns:a="http://schemas.openxmlformats.org/drawingml/2006/main">
            <a:r>
              <a:t>[56] https://americanplace.com/rewards/</a:t>
            </a:r>
          </a:p>
          <a:p xmlns:a="http://schemas.openxmlformats.org/drawingml/2006/main">
            <a:r>
              <a:t>[57] https://americanplace.com/terms-conditions-ap-rewards/</a:t>
            </a:r>
          </a:p>
          <a:p xmlns:a="http://schemas.openxmlformats.org/drawingml/2006/main">
            <a:r>
              <a:t>[58] https://americanplace.com/gaming/harbor-poker-room/</a:t>
            </a:r>
          </a:p>
          <a:p xmlns:a="http://schemas.openxmlformats.org/drawingml/2006/main">
            <a:r>
              <a:t>[59] https://sportshandle.com/circa-sports-illinois-launch/</a:t>
            </a:r>
          </a:p>
          <a:p xmlns:a="http://schemas.openxmlformats.org/drawingml/2006/main">
            <a:r>
              <a:t>[60] https://igb.illinois.gov/content/dam/soi/en/web/igb/documents/reports/annual-reports/igb-annual-reports/2024-igb-annual-report.pdf</a:t>
            </a:r>
          </a:p>
          <a:p xmlns:a="http://schemas.openxmlformats.org/drawingml/2006/main">
            <a:r>
              <a:t>[61] https://www.circasports.com/illinois-locations</a:t>
            </a:r>
          </a:p>
          <a:p xmlns:a="http://schemas.openxmlformats.org/drawingml/2006/main">
            <a:r>
              <a:t>[77] https://americanplace.com/dining/canoe-bar/</a:t>
            </a:r>
          </a:p>
          <a:p xmlns:a="http://schemas.openxmlformats.org/drawingml/2006/main">
            <a:r>
              <a:t>[78] https://americanplace.com/entertainment/</a:t>
            </a:r>
          </a:p>
          <a:p xmlns:a="http://schemas.openxmlformats.org/drawingml/2006/main">
            <a:r>
              <a:t>[79] https://americanplace.com/entertainment/the-lighthouse/</a:t>
            </a:r>
          </a:p>
          <a:p xmlns:a="http://schemas.openxmlformats.org/drawingml/2006/main">
            <a:r>
              <a:t>[80] https://americanplace.com/meetings-and-social-events/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https://www.sec.gov/Archives/edgar/data/891482/000089148226000004/fll-20260303x8k.htm</a:t>
            </a:r>
          </a:p>
          <a:p xmlns:a="http://schemas.openxmlformats.org/drawingml/2006/main">
            <a:r>
              <a:t>[14] https://investors.fullhouseresorts.com/sec-filings/all-sec-filings/content/0000891482-26-000007/fll-20251231x10k.htm</a:t>
            </a:r>
          </a:p>
          <a:p xmlns:a="http://schemas.openxmlformats.org/drawingml/2006/main">
            <a:r>
              <a:t>[15] https://americanplace.com/gaming/harbor-poker-room/</a:t>
            </a:r>
          </a:p>
          <a:p xmlns:a="http://schemas.openxmlformats.org/drawingml/2006/main">
            <a:r>
              <a:t>[16] https://americanplace.com/gaming/sportsbook/</a:t>
            </a:r>
          </a:p>
          <a:p xmlns:a="http://schemas.openxmlformats.org/drawingml/2006/main">
            <a:r>
              <a:t>[17] https://americanplace.com/#dining</a:t>
            </a:r>
          </a:p>
          <a:p xmlns:a="http://schemas.openxmlformats.org/drawingml/2006/main">
            <a:r>
              <a:t>[18] https://americanplace.com/entertainment/</a:t>
            </a:r>
          </a:p>
          <a:p xmlns:a="http://schemas.openxmlformats.org/drawingml/2006/main">
            <a:r>
              <a:t>[54] https://investors.fullhouseresorts.com/sec-filings/all-sec-filings/content/0000891482-26-000007/fll-20251231x10k.htm</a:t>
            </a:r>
          </a:p>
          <a:p xmlns:a="http://schemas.openxmlformats.org/drawingml/2006/main">
            <a:r>
              <a:t>[55] https://investors.fullhouseresorts.com/sec-filings/all-sec-filings/content/0000891482-24-000010/fll-20240509xdef14a.htm</a:t>
            </a:r>
          </a:p>
          <a:p xmlns:a="http://schemas.openxmlformats.org/drawingml/2006/main">
            <a:r>
              <a:t>[56] https://americanplace.com/rewards/</a:t>
            </a:r>
          </a:p>
          <a:p xmlns:a="http://schemas.openxmlformats.org/drawingml/2006/main">
            <a:r>
              <a:t>[57] https://americanplace.com/terms-conditions-ap-rewards/</a:t>
            </a:r>
          </a:p>
          <a:p xmlns:a="http://schemas.openxmlformats.org/drawingml/2006/main">
            <a:r>
              <a:t>[58] https://americanplace.com/gaming/harbor-poker-room/</a:t>
            </a:r>
          </a:p>
          <a:p xmlns:a="http://schemas.openxmlformats.org/drawingml/2006/main">
            <a:r>
              <a:t>[59] https://sportshandle.com/circa-sports-illinois-launch/</a:t>
            </a:r>
          </a:p>
          <a:p xmlns:a="http://schemas.openxmlformats.org/drawingml/2006/main">
            <a:r>
              <a:t>[60] https://igb.illinois.gov/content/dam/soi/en/web/igb/documents/reports/annual-reports/igb-annual-reports/2024-igb-annual-report.pdf</a:t>
            </a:r>
          </a:p>
          <a:p xmlns:a="http://schemas.openxmlformats.org/drawingml/2006/main">
            <a:r>
              <a:t>[61] https://www.circasports.com/illinois-locations</a:t>
            </a:r>
          </a:p>
          <a:p xmlns:a="http://schemas.openxmlformats.org/drawingml/2006/main">
            <a:r>
              <a:t>[77] https://americanplace.com/dining/canoe-bar/</a:t>
            </a:r>
          </a:p>
          <a:p xmlns:a="http://schemas.openxmlformats.org/drawingml/2006/main">
            <a:r>
              <a:t>[78] https://americanplace.com/entertainment/</a:t>
            </a:r>
          </a:p>
          <a:p xmlns:a="http://schemas.openxmlformats.org/drawingml/2006/main">
            <a:r>
              <a:t>[79] https://americanplace.com/entertainment/the-lighthouse/</a:t>
            </a:r>
          </a:p>
          <a:p xmlns:a="http://schemas.openxmlformats.org/drawingml/2006/main">
            <a:r>
              <a:t>[80] https://americanplace.com/meetings-and-social-events/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https://doc.binocs.co/18180/CIM/American-casinos-CIM.pdf?page=5</a:t>
            </a:r>
          </a:p>
          <a:p xmlns:a="http://schemas.openxmlformats.org/drawingml/2006/main">
            <a:r>
              <a:t>[2] https://ielp.gcs-web.com/static-files/edea9789-34db-4478-b8da-5610a0cf526e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https://doc.binocs.co/18180/CIM/American-casinos-CIM.pdf?page=5</a:t>
            </a:r>
          </a:p>
          <a:p xmlns:a="http://schemas.openxmlformats.org/drawingml/2006/main">
            <a:r>
              <a:t>[2] https://ielp.gcs-web.com/static-files/edea9789-34db-4478-b8da-5610a0cf526e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https://www.sec.gov/Archives/edgar/data/891482/000089148226000040/fll-20260902xex10d1.htm</a:t>
            </a:r>
          </a:p>
          <a:p xmlns:a="http://schemas.openxmlformats.org/drawingml/2006/main">
            <a:r>
              <a:t>[2] https://www.illinois.gov/content/dam/soi/en/web/illinois/iisnewsattachments/32616-061226-r-gaming-board-meeting-june-2026-final.pdf.pdf</a:t>
            </a:r>
          </a:p>
          <a:p xmlns:a="http://schemas.openxmlformats.org/drawingml/2006/main">
            <a:r>
              <a:t>[3] https://americanplace.com/blog/full-house-resorts-to-break-ground-on-the-permanent-american-place-casino/</a:t>
            </a:r>
          </a:p>
          <a:p xmlns:a="http://schemas.openxmlformats.org/drawingml/2006/main">
            <a:r>
              <a:t>[4] https://americanplace.com/full-house-resorts-and-american-place-casino-name-mario-maesano-as-assistant-general-manager/</a:t>
            </a:r>
          </a:p>
          <a:p xmlns:a="http://schemas.openxmlformats.org/drawingml/2006/main">
            <a:r>
              <a:t>[5] https://americanplace.com/gaming/harbor-poker-room/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https://igb.illinois.gov/content/dam/soi/en/web/igb/documents/reports/annual-reports/igb-annual-reports/2024-igb-annual-report.pdf</a:t>
            </a:r>
          </a:p>
          <a:p xmlns:a="http://schemas.openxmlformats.org/drawingml/2006/main">
            <a:r>
              <a:t>[11] https://investors.fullhouseresorts.com/sec-filings/all-sec-filings/content/0000891482-26-000007/fll-20251231x10k.htm</a:t>
            </a:r>
          </a:p>
          <a:p xmlns:a="http://schemas.openxmlformats.org/drawingml/2006/main">
            <a:r>
              <a:t>[12] https://americanplace.com/rewards/</a:t>
            </a:r>
          </a:p>
          <a:p xmlns:a="http://schemas.openxmlformats.org/drawingml/2006/main">
            <a:r>
              <a:t>[13] https://americanplace.com/gaming/harbor-poker-room/</a:t>
            </a:r>
          </a:p>
          <a:p xmlns:a="http://schemas.openxmlformats.org/drawingml/2006/main">
            <a:r>
              <a:t>[14] https://sportshandle.com/circa-sports-illinois-launch/</a:t>
            </a:r>
          </a:p>
          <a:p xmlns:a="http://schemas.openxmlformats.org/drawingml/2006/main">
            <a:r>
              <a:t>[15] https://igb.illinois.gov/content/dam/soi/en/web/igb/documents/reports/annual-reports/igb-annual-reports/2024-igb-annual-report.pdf</a:t>
            </a:r>
          </a:p>
          <a:p xmlns:a="http://schemas.openxmlformats.org/drawingml/2006/main">
            <a:r>
              <a:t>[1] https://investors.fullhouseresorts.com/sec-filings/all-sec-filings/content/0000891482-26-000007/fll-20251231x10k.htm</a:t>
            </a:r>
          </a:p>
          <a:p xmlns:a="http://schemas.openxmlformats.org/drawingml/2006/main">
            <a:r>
              <a:t>[3] https://americanplace.com/rewards/</a:t>
            </a:r>
          </a:p>
          <a:p xmlns:a="http://schemas.openxmlformats.org/drawingml/2006/main">
            <a:r>
              <a:t>[5] https://americanplace.com/gaming/harbor-poker-room/</a:t>
            </a:r>
          </a:p>
          <a:p xmlns:a="http://schemas.openxmlformats.org/drawingml/2006/main">
            <a:r>
              <a:t>[6] https://sportshandle.com/circa-sports-illinois-launch/</a:t>
            </a:r>
          </a:p>
          <a:p xmlns:a="http://schemas.openxmlformats.org/drawingml/2006/main">
            <a:r>
              <a:t>[7] https://igb.illinois.gov/content/dam/soi/en/web/igb/documents/reports/annual-reports/igb-annual-reports/2024-igb-annual-report.pdf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https://igb.illinois.gov/content/dam/soi/en/web/igb/documents/reports/annual-reports/igb-annual-reports/2024-igb-annual-report.pdf</a:t>
            </a:r>
          </a:p>
          <a:p xmlns:a="http://schemas.openxmlformats.org/drawingml/2006/main">
            <a:r>
              <a:t>[14] https://sportshandle.com/circa-sports-illinois-launch/</a:t>
            </a:r>
          </a:p>
          <a:p xmlns:a="http://schemas.openxmlformats.org/drawingml/2006/main">
            <a:r>
              <a:t>[15] https://igb.illinois.gov/content/dam/soi/en/web/igb/documents/reports/annual-reports/igb-annual-reports/2024-igb-annual-report.pdf</a:t>
            </a:r>
          </a:p>
          <a:p xmlns:a="http://schemas.openxmlformats.org/drawingml/2006/main">
            <a:r>
              <a:t>[1] https://investors.fullhouseresorts.com/sec-filings/all-sec-filings/content/0000891482-26-000007/fll-20251231x10k.htm</a:t>
            </a:r>
          </a:p>
          <a:p xmlns:a="http://schemas.openxmlformats.org/drawingml/2006/main">
            <a:r>
              <a:t>[3] https://americanplace.com/rewards/</a:t>
            </a:r>
          </a:p>
          <a:p xmlns:a="http://schemas.openxmlformats.org/drawingml/2006/main">
            <a:r>
              <a:t>[5] https://americanplace.com/gaming/harbor-poker-room/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https://igb.illinois.gov/content/dam/soi/en/web/igb/documents/reports/annual-reports/igb-annual-reports/2024-igb-annual-report.pdf</a:t>
            </a:r>
          </a:p>
          <a:p xmlns:a="http://schemas.openxmlformats.org/drawingml/2006/main">
            <a:r>
              <a:t>[14] https://sportshandle.com/circa-sports-illinois-launch/</a:t>
            </a:r>
          </a:p>
          <a:p xmlns:a="http://schemas.openxmlformats.org/drawingml/2006/main">
            <a:r>
              <a:t>[15] https://igb.illinois.gov/content/dam/soi/en/web/igb/documents/reports/annual-reports/igb-annual-reports/2024-igb-annual-report.pdf</a:t>
            </a:r>
          </a:p>
          <a:p xmlns:a="http://schemas.openxmlformats.org/drawingml/2006/main">
            <a:r>
              <a:t>[1] https://investors.fullhouseresorts.com/sec-filings/all-sec-filings/content/0000891482-26-000007/fll-20251231x10k.htm</a:t>
            </a:r>
          </a:p>
          <a:p xmlns:a="http://schemas.openxmlformats.org/drawingml/2006/main">
            <a:r>
              <a:t>[3] https://americanplace.com/rewards/</a:t>
            </a:r>
          </a:p>
          <a:p xmlns:a="http://schemas.openxmlformats.org/drawingml/2006/main">
            <a:r>
              <a:t>[5] https://americanplace.com/gaming/harbor-poker-room/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https://igb.illinois.gov/content/dam/soi/en/web/igb/documents/reports/annual-reports/igb-annual-reports/2024-igb-annual-report.pdf</a:t>
            </a:r>
          </a:p>
          <a:p xmlns:a="http://schemas.openxmlformats.org/drawingml/2006/main">
            <a:r>
              <a:t>[14] https://sportshandle.com/circa-sports-illinois-launch/</a:t>
            </a:r>
          </a:p>
          <a:p xmlns:a="http://schemas.openxmlformats.org/drawingml/2006/main">
            <a:r>
              <a:t>[15] https://igb.illinois.gov/content/dam/soi/en/web/igb/documents/reports/annual-reports/igb-annual-reports/2024-igb-annual-report.pdf</a:t>
            </a:r>
          </a:p>
          <a:p xmlns:a="http://schemas.openxmlformats.org/drawingml/2006/main">
            <a:r>
              <a:t>[1] https://investors.fullhouseresorts.com/sec-filings/all-sec-filings/content/0000891482-26-000007/fll-20251231x10k.htm</a:t>
            </a:r>
          </a:p>
          <a:p xmlns:a="http://schemas.openxmlformats.org/drawingml/2006/main">
            <a:r>
              <a:t>[3] https://americanplace.com/rewards/</a:t>
            </a:r>
          </a:p>
          <a:p xmlns:a="http://schemas.openxmlformats.org/drawingml/2006/main">
            <a:r>
              <a:t>[5] https://americanplace.com/gaming/harbor-poker-room/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https://par.illinoiscomptroller.gov/index.cfm?AgencyNo=565&amp;FiscalYear=2024&amp;ProgramAreaGroupID=2&amp;ProgramID=1&amp;UniqueProgramID=5651</a:t>
            </a:r>
          </a:p>
          <a:p xmlns:a="http://schemas.openxmlformats.org/drawingml/2006/main">
            <a:r>
              <a:t>[10] https://www.ballys.com/news/news-details/2024/Ballys-Announces-Refreshed-Site-Plan-that-Restores-500-room-Hotel-Tower-Plan-into-Single-Phase-Project/default.aspx</a:t>
            </a:r>
          </a:p>
          <a:p xmlns:a="http://schemas.openxmlformats.org/drawingml/2006/main">
            <a:r>
              <a:t>[11] https://www.yogonet.com/international/news/2026/06/16/124089-bally-39s-chicago-gets-oneyear-extension-to-complete-permanent-casino-project</a:t>
            </a:r>
          </a:p>
          <a:p xmlns:a="http://schemas.openxmlformats.org/drawingml/2006/main">
            <a:r>
              <a:t>[12] https://www.illinois.gov/content/dam/soi/en/web/illinois/iisnewsattachments/31575-080425-r-advertisingrulesfinalaug2025.pdf.pdf</a:t>
            </a:r>
          </a:p>
          <a:p xmlns:a="http://schemas.openxmlformats.org/drawingml/2006/main">
            <a:r>
              <a:t>[13] https://www.law.cornell.edu/regulations/illinois/Ill-Admin-Code-tit-86-SS-3000.665</a:t>
            </a:r>
          </a:p>
          <a:p xmlns:a="http://schemas.openxmlformats.org/drawingml/2006/main">
            <a:r>
              <a:t>[2] https://budget.illinois.gov/content/dam/soi/en/web/budget/documents/budget-book/fy2026-budget/Fiscal-Year-2026-Operating-Budget.pdf</a:t>
            </a:r>
          </a:p>
          <a:p xmlns:a="http://schemas.openxmlformats.org/drawingml/2006/main">
            <a:r>
              <a:t>[3] https://cdcgaming.com/brief/video-gambling-revenue-collections-continue-to-grow-for-illinois-local-governments/</a:t>
            </a:r>
          </a:p>
          <a:p xmlns:a="http://schemas.openxmlformats.org/drawingml/2006/main">
            <a:r>
              <a:t>[4] https://igb.illinois.gov/content/dam/soi/en/web/igb/documents/board-meetings/minutes/2024/20240912-open-meeting-minutes.pdf</a:t>
            </a:r>
          </a:p>
          <a:p xmlns:a="http://schemas.openxmlformats.org/drawingml/2006/main">
            <a:r>
              <a:t>[5] https://www.hardrock.com/blog/hard-rock-casino-rockford-reveals-grand-opening-date-for-permanent-facility</a:t>
            </a:r>
          </a:p>
          <a:p xmlns:a="http://schemas.openxmlformats.org/drawingml/2006/main">
            <a:r>
              <a:t>[6] https://windcreek.com/news/2024/11/wind-creek-chicago-southland-confirms-casino-doors-open-on-nov-11</a:t>
            </a:r>
          </a:p>
          <a:p xmlns:a="http://schemas.openxmlformats.org/drawingml/2006/main">
            <a:r>
              <a:t>[7] https://pennnationalgaming.gcs-web.com/news-releases/news-release-details/penn-entertainment-celebrates-grand-opening-hollywood-casino-and</a:t>
            </a:r>
          </a:p>
          <a:p xmlns:a="http://schemas.openxmlformats.org/drawingml/2006/main">
            <a:r>
              <a:t>[8] https://www.nbcchicago.com/news/local/ballys-says-its-chicago-casino-will-open-on-time-despite-financial-issues/3978163/</a:t>
            </a:r>
          </a:p>
          <a:p xmlns:a="http://schemas.openxmlformats.org/drawingml/2006/main">
            <a:r>
              <a:t>[9] https://chicago.suntimes.com/news/2026/08/09/ballys-to-stop-work-on-some-amenities-at-permanent-chicago-casino-development-amid-video-gambling-dispute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https://par.illinoiscomptroller.gov/index.cfm?AgencyNo=565&amp;FiscalYear=2024&amp;ProgramAreaGroupID=2&amp;ProgramID=1&amp;UniqueProgramID=5651</a:t>
            </a:r>
          </a:p>
          <a:p xmlns:a="http://schemas.openxmlformats.org/drawingml/2006/main">
            <a:r>
              <a:t>[10] https://www.ballys.com/news/news-details/2024/Ballys-Announces-Refreshed-Site-Plan-that-Restores-500-room-Hotel-Tower-Plan-into-Single-Phase-Project/default.aspx</a:t>
            </a:r>
          </a:p>
          <a:p xmlns:a="http://schemas.openxmlformats.org/drawingml/2006/main">
            <a:r>
              <a:t>[11] https://www.yogonet.com/international/news/2026/06/16/124089-bally-39s-chicago-gets-oneyear-extension-to-complete-permanent-casino-project</a:t>
            </a:r>
          </a:p>
          <a:p xmlns:a="http://schemas.openxmlformats.org/drawingml/2006/main">
            <a:r>
              <a:t>[12] https://www.illinois.gov/content/dam/soi/en/web/illinois/iisnewsattachments/31575-080425-r-advertisingrulesfinalaug2025.pdf.pdf</a:t>
            </a:r>
          </a:p>
          <a:p xmlns:a="http://schemas.openxmlformats.org/drawingml/2006/main">
            <a:r>
              <a:t>[13] https://www.law.cornell.edu/regulations/illinois/Ill-Admin-Code-tit-86-SS-3000.665</a:t>
            </a:r>
          </a:p>
          <a:p xmlns:a="http://schemas.openxmlformats.org/drawingml/2006/main">
            <a:r>
              <a:t>[2] https://budget.illinois.gov/content/dam/soi/en/web/budget/documents/budget-book/fy2026-budget/Fiscal-Year-2026-Operating-Budget.pdf</a:t>
            </a:r>
          </a:p>
          <a:p xmlns:a="http://schemas.openxmlformats.org/drawingml/2006/main">
            <a:r>
              <a:t>[3] https://cdcgaming.com/brief/video-gambling-revenue-collections-continue-to-grow-for-illinois-local-governments/</a:t>
            </a:r>
          </a:p>
          <a:p xmlns:a="http://schemas.openxmlformats.org/drawingml/2006/main">
            <a:r>
              <a:t>[4] https://igb.illinois.gov/content/dam/soi/en/web/igb/documents/board-meetings/minutes/2024/20240912-open-meeting-minutes.pdf</a:t>
            </a:r>
          </a:p>
          <a:p xmlns:a="http://schemas.openxmlformats.org/drawingml/2006/main">
            <a:r>
              <a:t>[5] https://www.hardrock.com/blog/hard-rock-casino-rockford-reveals-grand-opening-date-for-permanent-facility</a:t>
            </a:r>
          </a:p>
          <a:p xmlns:a="http://schemas.openxmlformats.org/drawingml/2006/main">
            <a:r>
              <a:t>[6] https://windcreek.com/news/2024/11/wind-creek-chicago-southland-confirms-casino-doors-open-on-nov-11</a:t>
            </a:r>
          </a:p>
          <a:p xmlns:a="http://schemas.openxmlformats.org/drawingml/2006/main">
            <a:r>
              <a:t>[7] https://pennnationalgaming.gcs-web.com/news-releases/news-release-details/penn-entertainment-celebrates-grand-opening-hollywood-casino-and</a:t>
            </a:r>
          </a:p>
          <a:p xmlns:a="http://schemas.openxmlformats.org/drawingml/2006/main">
            <a:r>
              <a:t>[8] https://www.nbcchicago.com/news/local/ballys-says-its-chicago-casino-will-open-on-time-despite-financial-issues/3978163/</a:t>
            </a:r>
          </a:p>
          <a:p xmlns:a="http://schemas.openxmlformats.org/drawingml/2006/main">
            <a:r>
              <a:t>[9] https://chicago.suntimes.com/news/2026/08/09/ballys-to-stop-work-on-some-amenities-at-permanent-chicago-casino-development-amid-video-gambling-dispute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https://doc.binocs.co/18180/CIM/American-casinos-CIM.pdf?page=46</a:t>
            </a:r>
          </a:p>
          <a:p xmlns:a="http://schemas.openxmlformats.org/drawingml/2006/main">
            <a:r>
              <a:t>[2] https://doc.binocs.co/18180/CIM/American-casinos-CIM.pdf?page=48</a:t>
            </a:r>
          </a:p>
          <a:p xmlns:a="http://schemas.openxmlformats.org/drawingml/2006/main">
            <a:r>
              <a:t>[3] https://doc.binocs.co/18180/CIM/American-casinos-CIM.pdf?page=26</a:t>
            </a:r>
          </a:p>
          <a:p xmlns:a="http://schemas.openxmlformats.org/drawingml/2006/main">
            <a:r>
              <a:t>[4] https://doc.binocs.co/18180/CIM/American-casinos-CIM.pdf?page=5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https://doc.binocs.co/18180/CIM/American-casinos-CIM.pdf?page=46</a:t>
            </a:r>
          </a:p>
          <a:p xmlns:a="http://schemas.openxmlformats.org/drawingml/2006/main">
            <a:r>
              <a:t>[2] https://doc.binocs.co/18180/CIM/American-casinos-CIM.pdf?page=48</a:t>
            </a:r>
          </a:p>
          <a:p xmlns:a="http://schemas.openxmlformats.org/drawingml/2006/main">
            <a:r>
              <a:t>[3] https://doc.binocs.co/18180/CIM/American-casinos-CIM.pdf?page=26</a:t>
            </a:r>
          </a:p>
          <a:p xmlns:a="http://schemas.openxmlformats.org/drawingml/2006/main">
            <a:r>
              <a:t>[4] https://doc.binocs.co/18180/CIM/American-casinos-CIM.pdf?page=5</a:t>
            </a:r>
          </a:p>
          <a:p xmlns:a="http://schemas.openxmlformats.org/drawingml/2006/main">
            <a:r>
              <a:t>[5] https://doc.binocs.co/18180/CIM/American-casinos-CIM.pdf?page=32</a:t>
            </a:r>
          </a:p>
          <a:p xmlns:a="http://schemas.openxmlformats.org/drawingml/2006/main">
            <a:r>
              <a:t>[6] https://doc.binocs.co/18180/CIM/American-casinos-CIM.pdf?page=38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https://doc.binocs.co/18180/CIM/American-casinos-CIM.pdf?page=48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https://doc.binocs.co/18180/CIM/American-casinos-CIM.pdf?page=19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https://doc.binocs.co/18180/CIM/American-casinos-CIM.pdf?page=19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https://doc.binocs.co/18180/CIM/American-casinos-CIM.pdf?page=19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https://www.ballys.com/news/news-details/2024/Ballys-Announces-Refreshed-Site-Plan-that-Restores-500-room-Hotel-Tower-Plan-into-Single-Phase-Project/default.aspx</a:t>
            </a:r>
          </a:p>
          <a:p xmlns:a="http://schemas.openxmlformats.org/drawingml/2006/main">
            <a:r>
              <a:t>[11] https://www.yogonet.com/international/news/2026/06/16/124089-bally-39s-chicago-gets-oneyear-extension-to-complete-permanent-casino-project</a:t>
            </a:r>
          </a:p>
          <a:p xmlns:a="http://schemas.openxmlformats.org/drawingml/2006/main">
            <a:r>
              <a:t>[18] https://www.americangaming.org/resources/commercial-gaming-revenue-tracker/</a:t>
            </a:r>
          </a:p>
          <a:p xmlns:a="http://schemas.openxmlformats.org/drawingml/2006/main">
            <a:r>
              <a:t>[23] https://investors.fullhouseresorts.com/sec-filings/annual-reports/content/0000891482-25-000009/0000891482-25-000009.pdf?utm_source=openai</a:t>
            </a:r>
          </a:p>
          <a:p xmlns:a="http://schemas.openxmlformats.org/drawingml/2006/main">
            <a:r>
              <a:t>[25] https://www.circasports.com/licensee-info?utm_source=openai</a:t>
            </a:r>
          </a:p>
          <a:p xmlns:a="http://schemas.openxmlformats.org/drawingml/2006/main">
            <a:r>
              <a:t>[26] https://www.sec.gov/Archives/edgar/data/891482/000089148226000036/fll-20260630x10q.htm?utm_source=openai</a:t>
            </a:r>
          </a:p>
          <a:p xmlns:a="http://schemas.openxmlformats.org/drawingml/2006/main">
            <a:r>
              <a:t>[27] https://investors.fullhouseresorts.com/sec-filings/all-sec-filings/content/0000891482-26-000007/fll-20251231x10k.htm</a:t>
            </a:r>
          </a:p>
          <a:p xmlns:a="http://schemas.openxmlformats.org/drawingml/2006/main">
            <a:r>
              <a:t>[28] https://investors.fullhouseresorts.com/sec-filings/all-sec-filings/content/0000891482-24-000010/fll-20240509xdef14a.htm</a:t>
            </a:r>
          </a:p>
          <a:p xmlns:a="http://schemas.openxmlformats.org/drawingml/2006/main">
            <a:r>
              <a:t>[29] https://americanplace.com/rewards/</a:t>
            </a:r>
          </a:p>
          <a:p xmlns:a="http://schemas.openxmlformats.org/drawingml/2006/main">
            <a:r>
              <a:t>[30] https://americanplace.com/terms-conditions-ap-rewards/</a:t>
            </a:r>
          </a:p>
          <a:p xmlns:a="http://schemas.openxmlformats.org/drawingml/2006/main">
            <a:r>
              <a:t>[31] https://americanplace.com/gaming/harbor-poker-room/</a:t>
            </a:r>
          </a:p>
          <a:p xmlns:a="http://schemas.openxmlformats.org/drawingml/2006/main">
            <a:r>
              <a:t>[8] https://www.nbcchicago.com/news/local/ballys-says-its-chicago-casino-will-open-on-time-despite-financial-issues/3978163/</a:t>
            </a:r>
          </a:p>
          <a:p xmlns:a="http://schemas.openxmlformats.org/drawingml/2006/main">
            <a:r>
              <a:t>[9] https://chicago.suntimes.com/news/2026/08/09/ballys-to-stop-work-on-some-amenities-at-permanent-chicago-casino-development-amid-video-gambling-dispute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https://www.ballys.com/news/news-details/2024/Ballys-Announces-Refreshed-Site-Plan-that-Restores-500-room-Hotel-Tower-Plan-into-Single-Phase-Project/default.aspx</a:t>
            </a:r>
          </a:p>
          <a:p xmlns:a="http://schemas.openxmlformats.org/drawingml/2006/main">
            <a:r>
              <a:t>[11] https://www.yogonet.com/international/news/2026/06/16/124089-bally-39s-chicago-gets-oneyear-extension-to-complete-permanent-casino-project</a:t>
            </a:r>
          </a:p>
          <a:p xmlns:a="http://schemas.openxmlformats.org/drawingml/2006/main">
            <a:r>
              <a:t>[18] https://www.americangaming.org/resources/commercial-gaming-revenue-tracker/</a:t>
            </a:r>
          </a:p>
          <a:p xmlns:a="http://schemas.openxmlformats.org/drawingml/2006/main">
            <a:r>
              <a:t>[23] https://investors.fullhouseresorts.com/sec-filings/annual-reports/content/0000891482-25-000009/0000891482-25-000009.pdf?utm_source=openai</a:t>
            </a:r>
          </a:p>
          <a:p xmlns:a="http://schemas.openxmlformats.org/drawingml/2006/main">
            <a:r>
              <a:t>[25] https://www.circasports.com/licensee-info?utm_source=openai</a:t>
            </a:r>
          </a:p>
          <a:p xmlns:a="http://schemas.openxmlformats.org/drawingml/2006/main">
            <a:r>
              <a:t>[26] https://www.sec.gov/Archives/edgar/data/891482/000089148226000036/fll-20260630x10q.htm?utm_source=openai</a:t>
            </a:r>
          </a:p>
          <a:p xmlns:a="http://schemas.openxmlformats.org/drawingml/2006/main">
            <a:r>
              <a:t>[27] https://investors.fullhouseresorts.com/sec-filings/all-sec-filings/content/0000891482-26-000007/fll-20251231x10k.htm</a:t>
            </a:r>
          </a:p>
          <a:p xmlns:a="http://schemas.openxmlformats.org/drawingml/2006/main">
            <a:r>
              <a:t>[28] https://investors.fullhouseresorts.com/sec-filings/all-sec-filings/content/0000891482-24-000010/fll-20240509xdef14a.htm</a:t>
            </a:r>
          </a:p>
          <a:p xmlns:a="http://schemas.openxmlformats.org/drawingml/2006/main">
            <a:r>
              <a:t>[29] https://americanplace.com/rewards/</a:t>
            </a:r>
          </a:p>
          <a:p xmlns:a="http://schemas.openxmlformats.org/drawingml/2006/main">
            <a:r>
              <a:t>[30] https://americanplace.com/terms-conditions-ap-rewards/</a:t>
            </a:r>
          </a:p>
          <a:p xmlns:a="http://schemas.openxmlformats.org/drawingml/2006/main">
            <a:r>
              <a:t>[31] https://americanplace.com/gaming/harbor-poker-room/</a:t>
            </a:r>
          </a:p>
          <a:p xmlns:a="http://schemas.openxmlformats.org/drawingml/2006/main">
            <a:r>
              <a:t>[8] https://www.nbcchicago.com/news/local/ballys-says-its-chicago-casino-will-open-on-time-despite-financial-issues/3978163/</a:t>
            </a:r>
          </a:p>
          <a:p xmlns:a="http://schemas.openxmlformats.org/drawingml/2006/main">
            <a:r>
              <a:t>[9] https://chicago.suntimes.com/news/2026/08/09/ballys-to-stop-work-on-some-amenities-at-permanent-chicago-casino-development-amid-video-gambling-dispute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https://americanplace.com/gaming/</a:t>
            </a:r>
          </a:p>
          <a:p xmlns:a="http://schemas.openxmlformats.org/drawingml/2006/main">
            <a:r>
              <a:t>[10] https://windcreek.com/sites/default/files/2024-11/21874-107-WCCS-TBLG-June-Gaming_Guide-web.pdf</a:t>
            </a:r>
          </a:p>
          <a:p xmlns:a="http://schemas.openxmlformats.org/drawingml/2006/main">
            <a:r>
              <a:t>[11] https://windcreek.com/chicagosouthland/faq</a:t>
            </a:r>
          </a:p>
          <a:p xmlns:a="http://schemas.openxmlformats.org/drawingml/2006/main">
            <a:r>
              <a:t>[12] https://windcreek.com/chicagosouthland/casino/poker</a:t>
            </a:r>
          </a:p>
          <a:p xmlns:a="http://schemas.openxmlformats.org/drawingml/2006/main">
            <a:r>
              <a:t>[13] https://windcreek.com/chicagosouthland/casino/sportsbook</a:t>
            </a:r>
          </a:p>
          <a:p xmlns:a="http://schemas.openxmlformats.org/drawingml/2006/main">
            <a:r>
              <a:t>[14] https://casino.hardrock.com/northern-indiana/casino</a:t>
            </a:r>
          </a:p>
          <a:p xmlns:a="http://schemas.openxmlformats.org/drawingml/2006/main">
            <a:r>
              <a:t>[15] https://casino.hardrock.com/northern-indiana/casino/sportsbook</a:t>
            </a:r>
          </a:p>
          <a:p xmlns:a="http://schemas.openxmlformats.org/drawingml/2006/main">
            <a:r>
              <a:t>[16] https://casino.hardrock.com/northern-indiana/faq</a:t>
            </a:r>
          </a:p>
          <a:p xmlns:a="http://schemas.openxmlformats.org/drawingml/2006/main">
            <a:r>
              <a:t>[17] https://www.riversideresort.com/riverside-resort-casino-gaming-riverside-resort-casino-promotions/gaming/slots/</a:t>
            </a:r>
          </a:p>
          <a:p xmlns:a="http://schemas.openxmlformats.org/drawingml/2006/main">
            <a:r>
              <a:t>[18] https://www.riversideresort.com/riverside-resort-casino-gaming-riverside-resort-casino-promotions/gaming/poker-room-riverside/</a:t>
            </a:r>
          </a:p>
          <a:p xmlns:a="http://schemas.openxmlformats.org/drawingml/2006/main">
            <a:r>
              <a:t>[19] https://www.riversideresort.com/riverside-resort-casino-gaming-riverside-resort-casino-promotions/gaming/william-hill-race-sports-book/</a:t>
            </a:r>
          </a:p>
          <a:p xmlns:a="http://schemas.openxmlformats.org/drawingml/2006/main">
            <a:r>
              <a:t>[2] https://americanplace.com/gaming/harbor-poker-room/</a:t>
            </a:r>
          </a:p>
          <a:p xmlns:a="http://schemas.openxmlformats.org/drawingml/2006/main">
            <a:r>
              <a:t>[20] https://sunsetstation.com/play/</a:t>
            </a:r>
          </a:p>
          <a:p xmlns:a="http://schemas.openxmlformats.org/drawingml/2006/main">
            <a:r>
              <a:t>[21] https://sunsetstation.com/wp-content/uploads/2025/09/Sunset-Station-Sales-Kit-09172025.pdf</a:t>
            </a:r>
          </a:p>
          <a:p xmlns:a="http://schemas.openxmlformats.org/drawingml/2006/main">
            <a:r>
              <a:t>[22] https://edgewater-casino.com/casino</a:t>
            </a:r>
          </a:p>
          <a:p xmlns:a="http://schemas.openxmlformats.org/drawingml/2006/main">
            <a:r>
              <a:t>[23] https://edgewater-casino.com/rooms</a:t>
            </a:r>
          </a:p>
          <a:p xmlns:a="http://schemas.openxmlformats.org/drawingml/2006/main">
            <a:r>
              <a:t>[24] https://pennnationalgaming.gcs-web.com/news-releases/news-release-details/penn-entertainment-celebrates-grand-opening-hollywood-casino-and</a:t>
            </a:r>
          </a:p>
          <a:p xmlns:a="http://schemas.openxmlformats.org/drawingml/2006/main">
            <a:r>
              <a:t>[25] https://www.pennentertainment.com/hollywood-aurora/casino/sportsbook</a:t>
            </a:r>
          </a:p>
          <a:p xmlns:a="http://schemas.openxmlformats.org/drawingml/2006/main">
            <a:r>
              <a:t>[26] https://www.pennentertainment.com/hollywood-aurora/visit-us</a:t>
            </a:r>
          </a:p>
          <a:p xmlns:a="http://schemas.openxmlformats.org/drawingml/2006/main">
            <a:r>
              <a:t>[27] https://newsroom.caesars.com/Property-Fact-Sheets/Harrahs-Laughlin/</a:t>
            </a:r>
          </a:p>
          <a:p xmlns:a="http://schemas.openxmlformats.org/drawingml/2006/main">
            <a:r>
              <a:t>[28] https://boulderstation.com/</a:t>
            </a:r>
          </a:p>
          <a:p xmlns:a="http://schemas.openxmlformats.org/drawingml/2006/main">
            <a:r>
              <a:t>[29] https://redrockresort.com/play/</a:t>
            </a:r>
          </a:p>
          <a:p xmlns:a="http://schemas.openxmlformats.org/drawingml/2006/main">
            <a:r>
              <a:t>[3] https://americanplace.com/faq/</a:t>
            </a:r>
          </a:p>
          <a:p xmlns:a="http://schemas.openxmlformats.org/drawingml/2006/main">
            <a:r>
              <a:t>[30] https://redrockresort.com/play/table-games/</a:t>
            </a:r>
          </a:p>
          <a:p xmlns:a="http://schemas.openxmlformats.org/drawingml/2006/main">
            <a:r>
              <a:t>[31] https://redrockresort.com/table-games/poker/</a:t>
            </a:r>
          </a:p>
          <a:p xmlns:a="http://schemas.openxmlformats.org/drawingml/2006/main">
            <a:r>
              <a:t>[32] https://redrockresort.com/play/race-and-sports/</a:t>
            </a:r>
          </a:p>
          <a:p xmlns:a="http://schemas.openxmlformats.org/drawingml/2006/main">
            <a:r>
              <a:t>[4] https://americanplace.com/terms-conditions-ap-rewards/</a:t>
            </a:r>
          </a:p>
          <a:p xmlns:a="http://schemas.openxmlformats.org/drawingml/2006/main">
            <a:r>
              <a:t>[5] https://www.riverscasino.com/desplaines/</a:t>
            </a:r>
          </a:p>
          <a:p xmlns:a="http://schemas.openxmlformats.org/drawingml/2006/main">
            <a:r>
              <a:t>[6] https://www.riverscasino.com/desplaines/casino/poker-room</a:t>
            </a:r>
          </a:p>
          <a:p xmlns:a="http://schemas.openxmlformats.org/drawingml/2006/main">
            <a:r>
              <a:t>[7] https://www.riverscasino.com/desplaines/casino/sportsbook</a:t>
            </a:r>
          </a:p>
          <a:p xmlns:a="http://schemas.openxmlformats.org/drawingml/2006/main">
            <a:r>
              <a:t>[9] https://windcreek.com/chicagosouthland/casino/slots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https://americanplace.com/gaming/</a:t>
            </a:r>
          </a:p>
          <a:p xmlns:a="http://schemas.openxmlformats.org/drawingml/2006/main">
            <a:r>
              <a:t>[10] https://windcreek.com/sites/default/files/2024-11/21874-107-WCCS-TBLG-June-Gaming_Guide-web.pdf</a:t>
            </a:r>
          </a:p>
          <a:p xmlns:a="http://schemas.openxmlformats.org/drawingml/2006/main">
            <a:r>
              <a:t>[11] https://windcreek.com/chicagosouthland/faq</a:t>
            </a:r>
          </a:p>
          <a:p xmlns:a="http://schemas.openxmlformats.org/drawingml/2006/main">
            <a:r>
              <a:t>[12] https://windcreek.com/chicagosouthland/casino/poker</a:t>
            </a:r>
          </a:p>
          <a:p xmlns:a="http://schemas.openxmlformats.org/drawingml/2006/main">
            <a:r>
              <a:t>[13] https://windcreek.com/chicagosouthland/casino/sportsbook</a:t>
            </a:r>
          </a:p>
          <a:p xmlns:a="http://schemas.openxmlformats.org/drawingml/2006/main">
            <a:r>
              <a:t>[14] https://casino.hardrock.com/northern-indiana/casino</a:t>
            </a:r>
          </a:p>
          <a:p xmlns:a="http://schemas.openxmlformats.org/drawingml/2006/main">
            <a:r>
              <a:t>[15] https://casino.hardrock.com/northern-indiana/casino/sportsbook</a:t>
            </a:r>
          </a:p>
          <a:p xmlns:a="http://schemas.openxmlformats.org/drawingml/2006/main">
            <a:r>
              <a:t>[16] https://casino.hardrock.com/northern-indiana/faq</a:t>
            </a:r>
          </a:p>
          <a:p xmlns:a="http://schemas.openxmlformats.org/drawingml/2006/main">
            <a:r>
              <a:t>[17] https://www.riversideresort.com/riverside-resort-casino-gaming-riverside-resort-casino-promotions/gaming/slots/</a:t>
            </a:r>
          </a:p>
          <a:p xmlns:a="http://schemas.openxmlformats.org/drawingml/2006/main">
            <a:r>
              <a:t>[18] https://www.riversideresort.com/riverside-resort-casino-gaming-riverside-resort-casino-promotions/gaming/poker-room-riverside/</a:t>
            </a:r>
          </a:p>
          <a:p xmlns:a="http://schemas.openxmlformats.org/drawingml/2006/main">
            <a:r>
              <a:t>[19] https://www.riversideresort.com/riverside-resort-casino-gaming-riverside-resort-casino-promotions/gaming/william-hill-race-sports-book/</a:t>
            </a:r>
          </a:p>
          <a:p xmlns:a="http://schemas.openxmlformats.org/drawingml/2006/main">
            <a:r>
              <a:t>[2] https://americanplace.com/gaming/harbor-poker-room/</a:t>
            </a:r>
          </a:p>
          <a:p xmlns:a="http://schemas.openxmlformats.org/drawingml/2006/main">
            <a:r>
              <a:t>[20] https://sunsetstation.com/play/</a:t>
            </a:r>
          </a:p>
          <a:p xmlns:a="http://schemas.openxmlformats.org/drawingml/2006/main">
            <a:r>
              <a:t>[21] https://sunsetstation.com/wp-content/uploads/2025/09/Sunset-Station-Sales-Kit-09172025.pdf</a:t>
            </a:r>
          </a:p>
          <a:p xmlns:a="http://schemas.openxmlformats.org/drawingml/2006/main">
            <a:r>
              <a:t>[22] https://edgewater-casino.com/casino</a:t>
            </a:r>
          </a:p>
          <a:p xmlns:a="http://schemas.openxmlformats.org/drawingml/2006/main">
            <a:r>
              <a:t>[23] https://edgewater-casino.com/rooms</a:t>
            </a:r>
          </a:p>
          <a:p xmlns:a="http://schemas.openxmlformats.org/drawingml/2006/main">
            <a:r>
              <a:t>[24] https://pennnationalgaming.gcs-web.com/news-releases/news-release-details/penn-entertainment-celebrates-grand-opening-hollywood-casino-and</a:t>
            </a:r>
          </a:p>
          <a:p xmlns:a="http://schemas.openxmlformats.org/drawingml/2006/main">
            <a:r>
              <a:t>[25] https://www.pennentertainment.com/hollywood-aurora/casino/sportsbook</a:t>
            </a:r>
          </a:p>
          <a:p xmlns:a="http://schemas.openxmlformats.org/drawingml/2006/main">
            <a:r>
              <a:t>[26] https://www.pennentertainment.com/hollywood-aurora/visit-us</a:t>
            </a:r>
          </a:p>
          <a:p xmlns:a="http://schemas.openxmlformats.org/drawingml/2006/main">
            <a:r>
              <a:t>[27] https://newsroom.caesars.com/Property-Fact-Sheets/Harrahs-Laughlin/</a:t>
            </a:r>
          </a:p>
          <a:p xmlns:a="http://schemas.openxmlformats.org/drawingml/2006/main">
            <a:r>
              <a:t>[28] https://boulderstation.com/</a:t>
            </a:r>
          </a:p>
          <a:p xmlns:a="http://schemas.openxmlformats.org/drawingml/2006/main">
            <a:r>
              <a:t>[29] https://redrockresort.com/play/</a:t>
            </a:r>
          </a:p>
          <a:p xmlns:a="http://schemas.openxmlformats.org/drawingml/2006/main">
            <a:r>
              <a:t>[3] https://americanplace.com/faq/</a:t>
            </a:r>
          </a:p>
          <a:p xmlns:a="http://schemas.openxmlformats.org/drawingml/2006/main">
            <a:r>
              <a:t>[30] https://redrockresort.com/play/table-games/</a:t>
            </a:r>
          </a:p>
          <a:p xmlns:a="http://schemas.openxmlformats.org/drawingml/2006/main">
            <a:r>
              <a:t>[31] https://redrockresort.com/table-games/poker/</a:t>
            </a:r>
          </a:p>
          <a:p xmlns:a="http://schemas.openxmlformats.org/drawingml/2006/main">
            <a:r>
              <a:t>[32] https://redrockresort.com/play/race-and-sports/</a:t>
            </a:r>
          </a:p>
          <a:p xmlns:a="http://schemas.openxmlformats.org/drawingml/2006/main">
            <a:r>
              <a:t>[4] https://americanplace.com/terms-conditions-ap-rewards/</a:t>
            </a:r>
          </a:p>
          <a:p xmlns:a="http://schemas.openxmlformats.org/drawingml/2006/main">
            <a:r>
              <a:t>[5] https://www.riverscasino.com/desplaines/</a:t>
            </a:r>
          </a:p>
          <a:p xmlns:a="http://schemas.openxmlformats.org/drawingml/2006/main">
            <a:r>
              <a:t>[6] https://www.riverscasino.com/desplaines/casino/poker-room</a:t>
            </a:r>
          </a:p>
          <a:p xmlns:a="http://schemas.openxmlformats.org/drawingml/2006/main">
            <a:r>
              <a:t>[7] https://www.riverscasino.com/desplaines/casino/sportsbook</a:t>
            </a:r>
          </a:p>
          <a:p xmlns:a="http://schemas.openxmlformats.org/drawingml/2006/main">
            <a:r>
              <a:t>[9] https://windcreek.com/chicagosouthland/casino/slots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https://americanplace.com/gaming/</a:t>
            </a:r>
          </a:p>
          <a:p xmlns:a="http://schemas.openxmlformats.org/drawingml/2006/main">
            <a:r>
              <a:t>[10] https://windcreek.com/sites/default/files/2024-11/21874-107-WCCS-TBLG-June-Gaming_Guide-web.pdf</a:t>
            </a:r>
          </a:p>
          <a:p xmlns:a="http://schemas.openxmlformats.org/drawingml/2006/main">
            <a:r>
              <a:t>[11] https://windcreek.com/chicagosouthland/faq</a:t>
            </a:r>
          </a:p>
          <a:p xmlns:a="http://schemas.openxmlformats.org/drawingml/2006/main">
            <a:r>
              <a:t>[12] https://windcreek.com/chicagosouthland/casino/poker</a:t>
            </a:r>
          </a:p>
          <a:p xmlns:a="http://schemas.openxmlformats.org/drawingml/2006/main">
            <a:r>
              <a:t>[13] https://windcreek.com/chicagosouthland/casino/sportsbook</a:t>
            </a:r>
          </a:p>
          <a:p xmlns:a="http://schemas.openxmlformats.org/drawingml/2006/main">
            <a:r>
              <a:t>[14] https://casino.hardrock.com/northern-indiana/casino</a:t>
            </a:r>
          </a:p>
          <a:p xmlns:a="http://schemas.openxmlformats.org/drawingml/2006/main">
            <a:r>
              <a:t>[15] https://casino.hardrock.com/northern-indiana/casino/sportsbook</a:t>
            </a:r>
          </a:p>
          <a:p xmlns:a="http://schemas.openxmlformats.org/drawingml/2006/main">
            <a:r>
              <a:t>[16] https://casino.hardrock.com/northern-indiana/faq</a:t>
            </a:r>
          </a:p>
          <a:p xmlns:a="http://schemas.openxmlformats.org/drawingml/2006/main">
            <a:r>
              <a:t>[17] https://www.riversideresort.com/riverside-resort-casino-gaming-riverside-resort-casino-promotions/gaming/slots/</a:t>
            </a:r>
          </a:p>
          <a:p xmlns:a="http://schemas.openxmlformats.org/drawingml/2006/main">
            <a:r>
              <a:t>[18] https://www.riversideresort.com/riverside-resort-casino-gaming-riverside-resort-casino-promotions/gaming/poker-room-riverside/</a:t>
            </a:r>
          </a:p>
          <a:p xmlns:a="http://schemas.openxmlformats.org/drawingml/2006/main">
            <a:r>
              <a:t>[19] https://www.riversideresort.com/riverside-resort-casino-gaming-riverside-resort-casino-promotions/gaming/william-hill-race-sports-book/</a:t>
            </a:r>
          </a:p>
          <a:p xmlns:a="http://schemas.openxmlformats.org/drawingml/2006/main">
            <a:r>
              <a:t>[2] https://americanplace.com/gaming/harbor-poker-room/</a:t>
            </a:r>
          </a:p>
          <a:p xmlns:a="http://schemas.openxmlformats.org/drawingml/2006/main">
            <a:r>
              <a:t>[20] https://sunsetstation.com/play/</a:t>
            </a:r>
          </a:p>
          <a:p xmlns:a="http://schemas.openxmlformats.org/drawingml/2006/main">
            <a:r>
              <a:t>[21] https://sunsetstation.com/wp-content/uploads/2025/09/Sunset-Station-Sales-Kit-09172025.pdf</a:t>
            </a:r>
          </a:p>
          <a:p xmlns:a="http://schemas.openxmlformats.org/drawingml/2006/main">
            <a:r>
              <a:t>[22] https://edgewater-casino.com/casino</a:t>
            </a:r>
          </a:p>
          <a:p xmlns:a="http://schemas.openxmlformats.org/drawingml/2006/main">
            <a:r>
              <a:t>[23] https://edgewater-casino.com/rooms</a:t>
            </a:r>
          </a:p>
          <a:p xmlns:a="http://schemas.openxmlformats.org/drawingml/2006/main">
            <a:r>
              <a:t>[24] https://pennnationalgaming.gcs-web.com/news-releases/news-release-details/penn-entertainment-celebrates-grand-opening-hollywood-casino-and</a:t>
            </a:r>
          </a:p>
          <a:p xmlns:a="http://schemas.openxmlformats.org/drawingml/2006/main">
            <a:r>
              <a:t>[25] https://www.pennentertainment.com/hollywood-aurora/casino/sportsbook</a:t>
            </a:r>
          </a:p>
          <a:p xmlns:a="http://schemas.openxmlformats.org/drawingml/2006/main">
            <a:r>
              <a:t>[26] https://www.pennentertainment.com/hollywood-aurora/visit-us</a:t>
            </a:r>
          </a:p>
          <a:p xmlns:a="http://schemas.openxmlformats.org/drawingml/2006/main">
            <a:r>
              <a:t>[27] https://newsroom.caesars.com/Property-Fact-Sheets/Harrahs-Laughlin/</a:t>
            </a:r>
          </a:p>
          <a:p xmlns:a="http://schemas.openxmlformats.org/drawingml/2006/main">
            <a:r>
              <a:t>[28] https://boulderstation.com/</a:t>
            </a:r>
          </a:p>
          <a:p xmlns:a="http://schemas.openxmlformats.org/drawingml/2006/main">
            <a:r>
              <a:t>[29] https://redrockresort.com/play/</a:t>
            </a:r>
          </a:p>
          <a:p xmlns:a="http://schemas.openxmlformats.org/drawingml/2006/main">
            <a:r>
              <a:t>[3] https://americanplace.com/faq/</a:t>
            </a:r>
          </a:p>
          <a:p xmlns:a="http://schemas.openxmlformats.org/drawingml/2006/main">
            <a:r>
              <a:t>[30] https://redrockresort.com/play/table-games/</a:t>
            </a:r>
          </a:p>
          <a:p xmlns:a="http://schemas.openxmlformats.org/drawingml/2006/main">
            <a:r>
              <a:t>[31] https://redrockresort.com/table-games/poker/</a:t>
            </a:r>
          </a:p>
          <a:p xmlns:a="http://schemas.openxmlformats.org/drawingml/2006/main">
            <a:r>
              <a:t>[32] https://redrockresort.com/play/race-and-sports/</a:t>
            </a:r>
          </a:p>
          <a:p xmlns:a="http://schemas.openxmlformats.org/drawingml/2006/main">
            <a:r>
              <a:t>[4] https://americanplace.com/terms-conditions-ap-rewards/</a:t>
            </a:r>
          </a:p>
          <a:p xmlns:a="http://schemas.openxmlformats.org/drawingml/2006/main">
            <a:r>
              <a:t>[5] https://www.riverscasino.com/desplaines/</a:t>
            </a:r>
          </a:p>
          <a:p xmlns:a="http://schemas.openxmlformats.org/drawingml/2006/main">
            <a:r>
              <a:t>[6] https://www.riverscasino.com/desplaines/casino/poker-room</a:t>
            </a:r>
          </a:p>
          <a:p xmlns:a="http://schemas.openxmlformats.org/drawingml/2006/main">
            <a:r>
              <a:t>[7] https://www.riverscasino.com/desplaines/casino/sportsbook</a:t>
            </a:r>
          </a:p>
          <a:p xmlns:a="http://schemas.openxmlformats.org/drawingml/2006/main">
            <a:r>
              <a:t>[9] https://windcreek.com/chicagosouthland/casino/slots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https://americanplace.com/gaming/</a:t>
            </a:r>
          </a:p>
          <a:p xmlns:a="http://schemas.openxmlformats.org/drawingml/2006/main">
            <a:r>
              <a:t>[10] https://windcreek.com/sites/default/files/2024-11/21874-107-WCCS-TBLG-June-Gaming_Guide-web.pdf</a:t>
            </a:r>
          </a:p>
          <a:p xmlns:a="http://schemas.openxmlformats.org/drawingml/2006/main">
            <a:r>
              <a:t>[11] https://windcreek.com/chicagosouthland/faq</a:t>
            </a:r>
          </a:p>
          <a:p xmlns:a="http://schemas.openxmlformats.org/drawingml/2006/main">
            <a:r>
              <a:t>[12] https://windcreek.com/chicagosouthland/casino/poker</a:t>
            </a:r>
          </a:p>
          <a:p xmlns:a="http://schemas.openxmlformats.org/drawingml/2006/main">
            <a:r>
              <a:t>[13] https://windcreek.com/chicagosouthland/casino/sportsbook</a:t>
            </a:r>
          </a:p>
          <a:p xmlns:a="http://schemas.openxmlformats.org/drawingml/2006/main">
            <a:r>
              <a:t>[14] https://casino.hardrock.com/northern-indiana/casino</a:t>
            </a:r>
          </a:p>
          <a:p xmlns:a="http://schemas.openxmlformats.org/drawingml/2006/main">
            <a:r>
              <a:t>[15] https://casino.hardrock.com/northern-indiana/casino/sportsbook</a:t>
            </a:r>
          </a:p>
          <a:p xmlns:a="http://schemas.openxmlformats.org/drawingml/2006/main">
            <a:r>
              <a:t>[16] https://casino.hardrock.com/northern-indiana/faq</a:t>
            </a:r>
          </a:p>
          <a:p xmlns:a="http://schemas.openxmlformats.org/drawingml/2006/main">
            <a:r>
              <a:t>[17] https://www.riversideresort.com/riverside-resort-casino-gaming-riverside-resort-casino-promotions/gaming/slots/</a:t>
            </a:r>
          </a:p>
          <a:p xmlns:a="http://schemas.openxmlformats.org/drawingml/2006/main">
            <a:r>
              <a:t>[18] https://www.riversideresort.com/riverside-resort-casino-gaming-riverside-resort-casino-promotions/gaming/poker-room-riverside/</a:t>
            </a:r>
          </a:p>
          <a:p xmlns:a="http://schemas.openxmlformats.org/drawingml/2006/main">
            <a:r>
              <a:t>[19] https://www.riversideresort.com/riverside-resort-casino-gaming-riverside-resort-casino-promotions/gaming/william-hill-race-sports-book/</a:t>
            </a:r>
          </a:p>
          <a:p xmlns:a="http://schemas.openxmlformats.org/drawingml/2006/main">
            <a:r>
              <a:t>[2] https://americanplace.com/gaming/harbor-poker-room/</a:t>
            </a:r>
          </a:p>
          <a:p xmlns:a="http://schemas.openxmlformats.org/drawingml/2006/main">
            <a:r>
              <a:t>[20] https://sunsetstation.com/play/</a:t>
            </a:r>
          </a:p>
          <a:p xmlns:a="http://schemas.openxmlformats.org/drawingml/2006/main">
            <a:r>
              <a:t>[21] https://sunsetstation.com/wp-content/uploads/2025/09/Sunset-Station-Sales-Kit-09172025.pdf</a:t>
            </a:r>
          </a:p>
          <a:p xmlns:a="http://schemas.openxmlformats.org/drawingml/2006/main">
            <a:r>
              <a:t>[22] https://edgewater-casino.com/casino</a:t>
            </a:r>
          </a:p>
          <a:p xmlns:a="http://schemas.openxmlformats.org/drawingml/2006/main">
            <a:r>
              <a:t>[23] https://edgewater-casino.com/rooms</a:t>
            </a:r>
          </a:p>
          <a:p xmlns:a="http://schemas.openxmlformats.org/drawingml/2006/main">
            <a:r>
              <a:t>[24] https://pennnationalgaming.gcs-web.com/news-releases/news-release-details/penn-entertainment-celebrates-grand-opening-hollywood-casino-and</a:t>
            </a:r>
          </a:p>
          <a:p xmlns:a="http://schemas.openxmlformats.org/drawingml/2006/main">
            <a:r>
              <a:t>[25] https://www.pennentertainment.com/hollywood-aurora/casino/sportsbook</a:t>
            </a:r>
          </a:p>
          <a:p xmlns:a="http://schemas.openxmlformats.org/drawingml/2006/main">
            <a:r>
              <a:t>[26] https://www.pennentertainment.com/hollywood-aurora/visit-us</a:t>
            </a:r>
          </a:p>
          <a:p xmlns:a="http://schemas.openxmlformats.org/drawingml/2006/main">
            <a:r>
              <a:t>[27] https://newsroom.caesars.com/Property-Fact-Sheets/Harrahs-Laughlin/</a:t>
            </a:r>
          </a:p>
          <a:p xmlns:a="http://schemas.openxmlformats.org/drawingml/2006/main">
            <a:r>
              <a:t>[28] https://boulderstation.com/</a:t>
            </a:r>
          </a:p>
          <a:p xmlns:a="http://schemas.openxmlformats.org/drawingml/2006/main">
            <a:r>
              <a:t>[29] https://redrockresort.com/play/</a:t>
            </a:r>
          </a:p>
          <a:p xmlns:a="http://schemas.openxmlformats.org/drawingml/2006/main">
            <a:r>
              <a:t>[3] https://americanplace.com/faq/</a:t>
            </a:r>
          </a:p>
          <a:p xmlns:a="http://schemas.openxmlformats.org/drawingml/2006/main">
            <a:r>
              <a:t>[30] https://redrockresort.com/play/table-games/</a:t>
            </a:r>
          </a:p>
          <a:p xmlns:a="http://schemas.openxmlformats.org/drawingml/2006/main">
            <a:r>
              <a:t>[31] https://redrockresort.com/table-games/poker/</a:t>
            </a:r>
          </a:p>
          <a:p xmlns:a="http://schemas.openxmlformats.org/drawingml/2006/main">
            <a:r>
              <a:t>[32] https://redrockresort.com/play/race-and-sports/</a:t>
            </a:r>
          </a:p>
          <a:p xmlns:a="http://schemas.openxmlformats.org/drawingml/2006/main">
            <a:r>
              <a:t>[4] https://americanplace.com/terms-conditions-ap-rewards/</a:t>
            </a:r>
          </a:p>
          <a:p xmlns:a="http://schemas.openxmlformats.org/drawingml/2006/main">
            <a:r>
              <a:t>[5] https://www.riverscasino.com/desplaines/</a:t>
            </a:r>
          </a:p>
          <a:p xmlns:a="http://schemas.openxmlformats.org/drawingml/2006/main">
            <a:r>
              <a:t>[6] https://www.riverscasino.com/desplaines/casino/poker-room</a:t>
            </a:r>
          </a:p>
          <a:p xmlns:a="http://schemas.openxmlformats.org/drawingml/2006/main">
            <a:r>
              <a:t>[7] https://www.riverscasino.com/desplaines/casino/sportsbook</a:t>
            </a:r>
          </a:p>
          <a:p xmlns:a="http://schemas.openxmlformats.org/drawingml/2006/main">
            <a:r>
              <a:t>[9] https://windcreek.com/chicagosouthland/casino/slots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https://americanplace.com/gaming/</a:t>
            </a:r>
          </a:p>
          <a:p xmlns:a="http://schemas.openxmlformats.org/drawingml/2006/main">
            <a:r>
              <a:t>[10] https://windcreek.com/sites/default/files/2024-11/21874-107-WCCS-TBLG-June-Gaming_Guide-web.pdf</a:t>
            </a:r>
          </a:p>
          <a:p xmlns:a="http://schemas.openxmlformats.org/drawingml/2006/main">
            <a:r>
              <a:t>[11] https://windcreek.com/chicagosouthland/faq</a:t>
            </a:r>
          </a:p>
          <a:p xmlns:a="http://schemas.openxmlformats.org/drawingml/2006/main">
            <a:r>
              <a:t>[12] https://windcreek.com/chicagosouthland/casino/poker</a:t>
            </a:r>
          </a:p>
          <a:p xmlns:a="http://schemas.openxmlformats.org/drawingml/2006/main">
            <a:r>
              <a:t>[13] https://windcreek.com/chicagosouthland/casino/sportsbook</a:t>
            </a:r>
          </a:p>
          <a:p xmlns:a="http://schemas.openxmlformats.org/drawingml/2006/main">
            <a:r>
              <a:t>[14] https://casino.hardrock.com/northern-indiana/casino</a:t>
            </a:r>
          </a:p>
          <a:p xmlns:a="http://schemas.openxmlformats.org/drawingml/2006/main">
            <a:r>
              <a:t>[15] https://casino.hardrock.com/northern-indiana/casino/sportsbook</a:t>
            </a:r>
          </a:p>
          <a:p xmlns:a="http://schemas.openxmlformats.org/drawingml/2006/main">
            <a:r>
              <a:t>[16] https://casino.hardrock.com/northern-indiana/faq</a:t>
            </a:r>
          </a:p>
          <a:p xmlns:a="http://schemas.openxmlformats.org/drawingml/2006/main">
            <a:r>
              <a:t>[17] https://www.riversideresort.com/riverside-resort-casino-gaming-riverside-resort-casino-promotions/gaming/slots/</a:t>
            </a:r>
          </a:p>
          <a:p xmlns:a="http://schemas.openxmlformats.org/drawingml/2006/main">
            <a:r>
              <a:t>[18] https://www.riversideresort.com/riverside-resort-casino-gaming-riverside-resort-casino-promotions/gaming/poker-room-riverside/</a:t>
            </a:r>
          </a:p>
          <a:p xmlns:a="http://schemas.openxmlformats.org/drawingml/2006/main">
            <a:r>
              <a:t>[19] https://www.riversideresort.com/riverside-resort-casino-gaming-riverside-resort-casino-promotions/gaming/william-hill-race-sports-book/</a:t>
            </a:r>
          </a:p>
          <a:p xmlns:a="http://schemas.openxmlformats.org/drawingml/2006/main">
            <a:r>
              <a:t>[2] https://americanplace.com/gaming/harbor-poker-room/</a:t>
            </a:r>
          </a:p>
          <a:p xmlns:a="http://schemas.openxmlformats.org/drawingml/2006/main">
            <a:r>
              <a:t>[20] https://sunsetstation.com/play/</a:t>
            </a:r>
          </a:p>
          <a:p xmlns:a="http://schemas.openxmlformats.org/drawingml/2006/main">
            <a:r>
              <a:t>[21] https://sunsetstation.com/wp-content/uploads/2025/09/Sunset-Station-Sales-Kit-09172025.pdf</a:t>
            </a:r>
          </a:p>
          <a:p xmlns:a="http://schemas.openxmlformats.org/drawingml/2006/main">
            <a:r>
              <a:t>[22] https://edgewater-casino.com/casino</a:t>
            </a:r>
          </a:p>
          <a:p xmlns:a="http://schemas.openxmlformats.org/drawingml/2006/main">
            <a:r>
              <a:t>[23] https://edgewater-casino.com/rooms</a:t>
            </a:r>
          </a:p>
          <a:p xmlns:a="http://schemas.openxmlformats.org/drawingml/2006/main">
            <a:r>
              <a:t>[24] https://pennnationalgaming.gcs-web.com/news-releases/news-release-details/penn-entertainment-celebrates-grand-opening-hollywood-casino-and</a:t>
            </a:r>
          </a:p>
          <a:p xmlns:a="http://schemas.openxmlformats.org/drawingml/2006/main">
            <a:r>
              <a:t>[25] https://www.pennentertainment.com/hollywood-aurora/casino/sportsbook</a:t>
            </a:r>
          </a:p>
          <a:p xmlns:a="http://schemas.openxmlformats.org/drawingml/2006/main">
            <a:r>
              <a:t>[26] https://www.pennentertainment.com/hollywood-aurora/visit-us</a:t>
            </a:r>
          </a:p>
          <a:p xmlns:a="http://schemas.openxmlformats.org/drawingml/2006/main">
            <a:r>
              <a:t>[27] https://newsroom.caesars.com/Property-Fact-Sheets/Harrahs-Laughlin/</a:t>
            </a:r>
          </a:p>
          <a:p xmlns:a="http://schemas.openxmlformats.org/drawingml/2006/main">
            <a:r>
              <a:t>[28] https://boulderstation.com/</a:t>
            </a:r>
          </a:p>
          <a:p xmlns:a="http://schemas.openxmlformats.org/drawingml/2006/main">
            <a:r>
              <a:t>[29] https://redrockresort.com/play/</a:t>
            </a:r>
          </a:p>
          <a:p xmlns:a="http://schemas.openxmlformats.org/drawingml/2006/main">
            <a:r>
              <a:t>[3] https://americanplace.com/faq/</a:t>
            </a:r>
          </a:p>
          <a:p xmlns:a="http://schemas.openxmlformats.org/drawingml/2006/main">
            <a:r>
              <a:t>[30] https://redrockresort.com/play/table-games/</a:t>
            </a:r>
          </a:p>
          <a:p xmlns:a="http://schemas.openxmlformats.org/drawingml/2006/main">
            <a:r>
              <a:t>[31] https://redrockresort.com/table-games/poker/</a:t>
            </a:r>
          </a:p>
          <a:p xmlns:a="http://schemas.openxmlformats.org/drawingml/2006/main">
            <a:r>
              <a:t>[32] https://redrockresort.com/play/race-and-sports/</a:t>
            </a:r>
          </a:p>
          <a:p xmlns:a="http://schemas.openxmlformats.org/drawingml/2006/main">
            <a:r>
              <a:t>[4] https://americanplace.com/terms-conditions-ap-rewards/</a:t>
            </a:r>
          </a:p>
          <a:p xmlns:a="http://schemas.openxmlformats.org/drawingml/2006/main">
            <a:r>
              <a:t>[5] https://www.riverscasino.com/desplaines/</a:t>
            </a:r>
          </a:p>
          <a:p xmlns:a="http://schemas.openxmlformats.org/drawingml/2006/main">
            <a:r>
              <a:t>[6] https://www.riverscasino.com/desplaines/casino/poker-room</a:t>
            </a:r>
          </a:p>
          <a:p xmlns:a="http://schemas.openxmlformats.org/drawingml/2006/main">
            <a:r>
              <a:t>[7] https://www.riverscasino.com/desplaines/casino/sportsbook</a:t>
            </a:r>
          </a:p>
          <a:p xmlns:a="http://schemas.openxmlformats.org/drawingml/2006/main">
            <a:r>
              <a:t>[9] https://windcreek.com/chicagosouthland/casino/slots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https://americanplace.com/gaming/</a:t>
            </a:r>
          </a:p>
          <a:p xmlns:a="http://schemas.openxmlformats.org/drawingml/2006/main">
            <a:r>
              <a:t>[10] https://windcreek.com/sites/default/files/2024-11/21874-107-WCCS-TBLG-June-Gaming_Guide-web.pdf</a:t>
            </a:r>
          </a:p>
          <a:p xmlns:a="http://schemas.openxmlformats.org/drawingml/2006/main">
            <a:r>
              <a:t>[11] https://windcreek.com/chicagosouthland/faq</a:t>
            </a:r>
          </a:p>
          <a:p xmlns:a="http://schemas.openxmlformats.org/drawingml/2006/main">
            <a:r>
              <a:t>[12] https://windcreek.com/chicagosouthland/casino/poker</a:t>
            </a:r>
          </a:p>
          <a:p xmlns:a="http://schemas.openxmlformats.org/drawingml/2006/main">
            <a:r>
              <a:t>[13] https://windcreek.com/chicagosouthland/casino/sportsbook</a:t>
            </a:r>
          </a:p>
          <a:p xmlns:a="http://schemas.openxmlformats.org/drawingml/2006/main">
            <a:r>
              <a:t>[14] https://casino.hardrock.com/northern-indiana/casino</a:t>
            </a:r>
          </a:p>
          <a:p xmlns:a="http://schemas.openxmlformats.org/drawingml/2006/main">
            <a:r>
              <a:t>[15] https://casino.hardrock.com/northern-indiana/casino/sportsbook</a:t>
            </a:r>
          </a:p>
          <a:p xmlns:a="http://schemas.openxmlformats.org/drawingml/2006/main">
            <a:r>
              <a:t>[16] https://casino.hardrock.com/northern-indiana/faq</a:t>
            </a:r>
          </a:p>
          <a:p xmlns:a="http://schemas.openxmlformats.org/drawingml/2006/main">
            <a:r>
              <a:t>[17] https://www.riversideresort.com/riverside-resort-casino-gaming-riverside-resort-casino-promotions/gaming/slots/</a:t>
            </a:r>
          </a:p>
          <a:p xmlns:a="http://schemas.openxmlformats.org/drawingml/2006/main">
            <a:r>
              <a:t>[18] https://www.riversideresort.com/riverside-resort-casino-gaming-riverside-resort-casino-promotions/gaming/poker-room-riverside/</a:t>
            </a:r>
          </a:p>
          <a:p xmlns:a="http://schemas.openxmlformats.org/drawingml/2006/main">
            <a:r>
              <a:t>[19] https://www.riversideresort.com/riverside-resort-casino-gaming-riverside-resort-casino-promotions/gaming/william-hill-race-sports-book/</a:t>
            </a:r>
          </a:p>
          <a:p xmlns:a="http://schemas.openxmlformats.org/drawingml/2006/main">
            <a:r>
              <a:t>[2] https://americanplace.com/gaming/harbor-poker-room/</a:t>
            </a:r>
          </a:p>
          <a:p xmlns:a="http://schemas.openxmlformats.org/drawingml/2006/main">
            <a:r>
              <a:t>[20] https://sunsetstation.com/play/</a:t>
            </a:r>
          </a:p>
          <a:p xmlns:a="http://schemas.openxmlformats.org/drawingml/2006/main">
            <a:r>
              <a:t>[21] https://sunsetstation.com/wp-content/uploads/2025/09/Sunset-Station-Sales-Kit-09172025.pdf</a:t>
            </a:r>
          </a:p>
          <a:p xmlns:a="http://schemas.openxmlformats.org/drawingml/2006/main">
            <a:r>
              <a:t>[22] https://edgewater-casino.com/casino</a:t>
            </a:r>
          </a:p>
          <a:p xmlns:a="http://schemas.openxmlformats.org/drawingml/2006/main">
            <a:r>
              <a:t>[23] https://edgewater-casino.com/rooms</a:t>
            </a:r>
          </a:p>
          <a:p xmlns:a="http://schemas.openxmlformats.org/drawingml/2006/main">
            <a:r>
              <a:t>[24] https://pennnationalgaming.gcs-web.com/news-releases/news-release-details/penn-entertainment-celebrates-grand-opening-hollywood-casino-and</a:t>
            </a:r>
          </a:p>
          <a:p xmlns:a="http://schemas.openxmlformats.org/drawingml/2006/main">
            <a:r>
              <a:t>[25] https://www.pennentertainment.com/hollywood-aurora/casino/sportsbook</a:t>
            </a:r>
          </a:p>
          <a:p xmlns:a="http://schemas.openxmlformats.org/drawingml/2006/main">
            <a:r>
              <a:t>[26] https://www.pennentertainment.com/hollywood-aurora/visit-us</a:t>
            </a:r>
          </a:p>
          <a:p xmlns:a="http://schemas.openxmlformats.org/drawingml/2006/main">
            <a:r>
              <a:t>[27] https://newsroom.caesars.com/Property-Fact-Sheets/Harrahs-Laughlin/</a:t>
            </a:r>
          </a:p>
          <a:p xmlns:a="http://schemas.openxmlformats.org/drawingml/2006/main">
            <a:r>
              <a:t>[28] https://boulderstation.com/</a:t>
            </a:r>
          </a:p>
          <a:p xmlns:a="http://schemas.openxmlformats.org/drawingml/2006/main">
            <a:r>
              <a:t>[29] https://redrockresort.com/play/</a:t>
            </a:r>
          </a:p>
          <a:p xmlns:a="http://schemas.openxmlformats.org/drawingml/2006/main">
            <a:r>
              <a:t>[3] https://americanplace.com/faq/</a:t>
            </a:r>
          </a:p>
          <a:p xmlns:a="http://schemas.openxmlformats.org/drawingml/2006/main">
            <a:r>
              <a:t>[30] https://redrockresort.com/play/table-games/</a:t>
            </a:r>
          </a:p>
          <a:p xmlns:a="http://schemas.openxmlformats.org/drawingml/2006/main">
            <a:r>
              <a:t>[31] https://redrockresort.com/table-games/poker/</a:t>
            </a:r>
          </a:p>
          <a:p xmlns:a="http://schemas.openxmlformats.org/drawingml/2006/main">
            <a:r>
              <a:t>[32] https://redrockresort.com/play/race-and-sports/</a:t>
            </a:r>
          </a:p>
          <a:p xmlns:a="http://schemas.openxmlformats.org/drawingml/2006/main">
            <a:r>
              <a:t>[4] https://americanplace.com/terms-conditions-ap-rewards/</a:t>
            </a:r>
          </a:p>
          <a:p xmlns:a="http://schemas.openxmlformats.org/drawingml/2006/main">
            <a:r>
              <a:t>[5] https://www.riverscasino.com/desplaines/</a:t>
            </a:r>
          </a:p>
          <a:p xmlns:a="http://schemas.openxmlformats.org/drawingml/2006/main">
            <a:r>
              <a:t>[6] https://www.riverscasino.com/desplaines/casino/poker-room</a:t>
            </a:r>
          </a:p>
          <a:p xmlns:a="http://schemas.openxmlformats.org/drawingml/2006/main">
            <a:r>
              <a:t>[7] https://www.riverscasino.com/desplaines/casino/sportsbook</a:t>
            </a:r>
          </a:p>
          <a:p xmlns:a="http://schemas.openxmlformats.org/drawingml/2006/main">
            <a:r>
              <a:t>[9] https://windcreek.com/chicagosouthland/casino/slots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 https://investors.fullhouseresorts.com/sec-filings/all-sec-filings/content/0000891482-26-000007/fll-20251231x10k.htm</a:t>
            </a:r>
          </a:p>
          <a:p xmlns:a="http://schemas.openxmlformats.org/drawingml/2006/main">
            <a:r>
              <a:t>[14] https://investors.fullhouseresorts.com/sec-filings/all-sec-filings/content/0000891482-24-000010/fll-20240509xdef14a.htm</a:t>
            </a:r>
          </a:p>
          <a:p xmlns:a="http://schemas.openxmlformats.org/drawingml/2006/main">
            <a:r>
              <a:t>[15] https://americanplace.com/rewards/</a:t>
            </a:r>
          </a:p>
          <a:p xmlns:a="http://schemas.openxmlformats.org/drawingml/2006/main">
            <a:r>
              <a:t>[16] https://americanplace.com/terms-conditions-ap-rewards/</a:t>
            </a:r>
          </a:p>
          <a:p xmlns:a="http://schemas.openxmlformats.org/drawingml/2006/main">
            <a:r>
              <a:t>[17] https://americanplace.com/gaming/harbor-poker-room/</a:t>
            </a:r>
          </a:p>
          <a:p xmlns:a="http://schemas.openxmlformats.org/drawingml/2006/main">
            <a:r>
              <a:t>[18] https://sportshandle.com/circa-sports-illinois-launch/</a:t>
            </a:r>
          </a:p>
          <a:p xmlns:a="http://schemas.openxmlformats.org/drawingml/2006/main">
            <a:r>
              <a:t>[19] https://igb.illinois.gov/content/dam/soi/en/web/igb/documents/reports/annual-reports/igb-annual-reports/2024-igb-annual-report.pdf</a:t>
            </a:r>
          </a:p>
          <a:p xmlns:a="http://schemas.openxmlformats.org/drawingml/2006/main">
            <a:r>
              <a:t>[20] https://www.circasports.com/illinois-locations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 https://investors.fullhouseresorts.com/sec-filings/all-sec-filings/content/0000891482-26-000007/fll-20251231x10k.htm</a:t>
            </a:r>
          </a:p>
          <a:p xmlns:a="http://schemas.openxmlformats.org/drawingml/2006/main">
            <a:r>
              <a:t>[14] https://investors.fullhouseresorts.com/sec-filings/all-sec-filings/content/0000891482-24-000010/fll-20240509xdef14a.htm</a:t>
            </a:r>
          </a:p>
          <a:p xmlns:a="http://schemas.openxmlformats.org/drawingml/2006/main">
            <a:r>
              <a:t>[15] https://americanplace.com/rewards/</a:t>
            </a:r>
          </a:p>
          <a:p xmlns:a="http://schemas.openxmlformats.org/drawingml/2006/main">
            <a:r>
              <a:t>[16] https://americanplace.com/terms-conditions-ap-rewards/</a:t>
            </a:r>
          </a:p>
          <a:p xmlns:a="http://schemas.openxmlformats.org/drawingml/2006/main">
            <a:r>
              <a:t>[17] https://americanplace.com/gaming/harbor-poker-room/</a:t>
            </a:r>
          </a:p>
          <a:p xmlns:a="http://schemas.openxmlformats.org/drawingml/2006/main">
            <a:r>
              <a:t>[18] https://sportshandle.com/circa-sports-illinois-launch/</a:t>
            </a:r>
          </a:p>
          <a:p xmlns:a="http://schemas.openxmlformats.org/drawingml/2006/main">
            <a:r>
              <a:t>[19] https://igb.illinois.gov/content/dam/soi/en/web/igb/documents/reports/annual-reports/igb-annual-reports/2024-igb-annual-report.pdf</a:t>
            </a:r>
          </a:p>
          <a:p xmlns:a="http://schemas.openxmlformats.org/drawingml/2006/main">
            <a:r>
              <a:t>[20] https://www.circasports.com/illinois-locations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https://www.riverscasino.com/desplaines/casino/poker-room</a:t>
            </a:r>
          </a:p>
          <a:p xmlns:a="http://schemas.openxmlformats.org/drawingml/2006/main">
            <a:r>
              <a:t>[11] https://windcreek.com/chicagosouthland/casino/poker</a:t>
            </a:r>
          </a:p>
          <a:p xmlns:a="http://schemas.openxmlformats.org/drawingml/2006/main">
            <a:r>
              <a:t>[3] https://investors.fullhouseresorts.com/sec-filings/annual-reports/content/0000891482-25-000009/0000891482-25-000009.pdf</a:t>
            </a:r>
          </a:p>
          <a:p xmlns:a="http://schemas.openxmlformats.org/drawingml/2006/main">
            <a:r>
              <a:t>[4] https://cdcgaming.com/illinois-casino-revenue-rises-10-8-to-192-8-million-in-august/?utm_source=openai</a:t>
            </a:r>
          </a:p>
          <a:p xmlns:a="http://schemas.openxmlformats.org/drawingml/2006/main">
            <a:r>
              <a:t>[5] https://americanplace.com/blog/full-house-resorts-to-break-ground-on-the-permanent-american-place-casino/</a:t>
            </a:r>
          </a:p>
          <a:p xmlns:a="http://schemas.openxmlformats.org/drawingml/2006/main">
            <a:r>
              <a:t>[9] https://americanplace.com/gaming/harbor-poker-room/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https://cdcgaming.com/illinois-casino-revenue-rises-10-8-to-192-8-million-in-august/?utm_source=openai</a:t>
            </a:r>
          </a:p>
          <a:p xmlns:a="http://schemas.openxmlformats.org/drawingml/2006/main">
            <a:r>
              <a:t>[10] https://americanplace.com/gaming/harbor-poker-room/</a:t>
            </a:r>
          </a:p>
          <a:p xmlns:a="http://schemas.openxmlformats.org/drawingml/2006/main">
            <a:r>
              <a:t>[13] https://www.sec.gov/Archives/edgar/data/891482/000089148226000040/fll-20260902xex10d1.htm</a:t>
            </a:r>
          </a:p>
          <a:p xmlns:a="http://schemas.openxmlformats.org/drawingml/2006/main">
            <a:r>
              <a:t>[14] https://americanplace.com/entertainment/</a:t>
            </a:r>
          </a:p>
          <a:p xmlns:a="http://schemas.openxmlformats.org/drawingml/2006/main">
            <a:r>
              <a:t>[15] https://americanplace.com/entertainment/the-lighthouse/</a:t>
            </a:r>
          </a:p>
          <a:p xmlns:a="http://schemas.openxmlformats.org/drawingml/2006/main">
            <a:r>
              <a:t>[16] https://americanplace.com/meetings-and-social-events/</a:t>
            </a:r>
          </a:p>
          <a:p xmlns:a="http://schemas.openxmlformats.org/drawingml/2006/main">
            <a:r>
              <a:t>[17] https://americanplace.com/faq/</a:t>
            </a:r>
          </a:p>
          <a:p xmlns:a="http://schemas.openxmlformats.org/drawingml/2006/main">
            <a:r>
              <a:t>[18] https://americanplace.com/dining/</a:t>
            </a:r>
          </a:p>
          <a:p xmlns:a="http://schemas.openxmlformats.org/drawingml/2006/main">
            <a:r>
              <a:t>[19] https://investors.fullhouseresorts.com/sec-filings/annual-reports/content/0000891482-25-000009/0000891482-25-000009.pdf</a:t>
            </a:r>
          </a:p>
          <a:p xmlns:a="http://schemas.openxmlformats.org/drawingml/2006/main">
            <a:r>
              <a:t>[20] https://cdcgaming.com/illinois-casino-revenue-rises-10-8-to-192-8-million-in-august/?utm_source=openai</a:t>
            </a:r>
          </a:p>
          <a:p xmlns:a="http://schemas.openxmlformats.org/drawingml/2006/main">
            <a:r>
              <a:t>[21] https://americanplace.com/blog/full-house-resorts-to-break-ground-on-the-permanent-american-place-casino/</a:t>
            </a:r>
          </a:p>
          <a:p xmlns:a="http://schemas.openxmlformats.org/drawingml/2006/main">
            <a:r>
              <a:t>[22] https://www.sec.gov/Archives/edgar/data/891482/000089148226000040/fll-20260902xex10d1.htm</a:t>
            </a:r>
          </a:p>
          <a:p xmlns:a="http://schemas.openxmlformats.org/drawingml/2006/main">
            <a:r>
              <a:t>[23] https://americanplace.com/gaming/harbor-poker-room/</a:t>
            </a:r>
          </a:p>
          <a:p xmlns:a="http://schemas.openxmlformats.org/drawingml/2006/main">
            <a:r>
              <a:t>[24] https://www.riverscasino.com/desplaines/casino/poker-room</a:t>
            </a:r>
          </a:p>
          <a:p xmlns:a="http://schemas.openxmlformats.org/drawingml/2006/main">
            <a:r>
              <a:t>[25] https://windcreek.com/chicagosouthland/casino/poker</a:t>
            </a:r>
          </a:p>
          <a:p xmlns:a="http://schemas.openxmlformats.org/drawingml/2006/main">
            <a:r>
              <a:t>[3] https://americanplace.com/rewards/</a:t>
            </a:r>
          </a:p>
          <a:p xmlns:a="http://schemas.openxmlformats.org/drawingml/2006/main">
            <a:r>
              <a:t>[4] https://americanplace.com/wp-content/uploads/2026/01/2026-AP-Rewards-Rack-Card.pdf</a:t>
            </a:r>
          </a:p>
          <a:p xmlns:a="http://schemas.openxmlformats.org/drawingml/2006/main">
            <a:r>
              <a:t>[5] https://americanplace.com/gaming/table-games/</a:t>
            </a:r>
          </a:p>
          <a:p xmlns:a="http://schemas.openxmlformats.org/drawingml/2006/main">
            <a:r>
              <a:t>[55] https://www.sec.gov/Archives/edgar/data/891482/000089148226000040/fll-20260902xex10d1.htm</a:t>
            </a:r>
          </a:p>
          <a:p xmlns:a="http://schemas.openxmlformats.org/drawingml/2006/main">
            <a:r>
              <a:t>[59] https://americanplace.com/gaming/harbor-poker-room/</a:t>
            </a:r>
          </a:p>
          <a:p xmlns:a="http://schemas.openxmlformats.org/drawingml/2006/main">
            <a:r>
              <a:t>[6] https://americanplace.com/faq/?utm_source=openai</a:t>
            </a:r>
          </a:p>
          <a:p xmlns:a="http://schemas.openxmlformats.org/drawingml/2006/main">
            <a:r>
              <a:t>[68] https://investors.fullhouseresorts.com/sec-filings/all-sec-filings/content/0000891482-26-000007/fll-20251231x10k.htm</a:t>
            </a:r>
          </a:p>
          <a:p xmlns:a="http://schemas.openxmlformats.org/drawingml/2006/main">
            <a:r>
              <a:t>[69] https://americanplace.com/gaming/harbor-poker-room/</a:t>
            </a:r>
          </a:p>
          <a:p xmlns:a="http://schemas.openxmlformats.org/drawingml/2006/main">
            <a:r>
              <a:t>[7] https://americanplace.com/blog/full-house-resorts-to-break-ground-on-the-permanent-american-place-casino/</a:t>
            </a:r>
          </a:p>
          <a:p xmlns:a="http://schemas.openxmlformats.org/drawingml/2006/main">
            <a:r>
              <a:t>[72] https://americanplace.com/entertainment/</a:t>
            </a:r>
          </a:p>
          <a:p xmlns:a="http://schemas.openxmlformats.org/drawingml/2006/main">
            <a:r>
              <a:t>[8] https://www.sec.gov/Archives/edgar/data/891482/000089148226000040/fll-20260902x8k.htm</a:t>
            </a:r>
          </a:p>
          <a:p xmlns:a="http://schemas.openxmlformats.org/drawingml/2006/main">
            <a:r>
              <a:t>[9] https://www.illinois.gov/content/dam/soi/en/web/illinois/iisnewsattachments/32616-061226-r-gaming-board-meeting-june-2026-final.pdf.pdf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https://cdcgaming.com/illinois-casino-revenue-rises-10-8-to-192-8-million-in-august/?utm_source=openai</a:t>
            </a:r>
          </a:p>
          <a:p xmlns:a="http://schemas.openxmlformats.org/drawingml/2006/main">
            <a:r>
              <a:t>[10] https://americanplace.com/gaming/harbor-poker-room/</a:t>
            </a:r>
          </a:p>
          <a:p xmlns:a="http://schemas.openxmlformats.org/drawingml/2006/main">
            <a:r>
              <a:t>[13] https://www.sec.gov/Archives/edgar/data/891482/000089148226000040/fll-20260902xex10d1.htm</a:t>
            </a:r>
          </a:p>
          <a:p xmlns:a="http://schemas.openxmlformats.org/drawingml/2006/main">
            <a:r>
              <a:t>[14] https://americanplace.com/entertainment/</a:t>
            </a:r>
          </a:p>
          <a:p xmlns:a="http://schemas.openxmlformats.org/drawingml/2006/main">
            <a:r>
              <a:t>[15] https://americanplace.com/entertainment/the-lighthouse/</a:t>
            </a:r>
          </a:p>
          <a:p xmlns:a="http://schemas.openxmlformats.org/drawingml/2006/main">
            <a:r>
              <a:t>[16] https://americanplace.com/meetings-and-social-events/</a:t>
            </a:r>
          </a:p>
          <a:p xmlns:a="http://schemas.openxmlformats.org/drawingml/2006/main">
            <a:r>
              <a:t>[17] https://americanplace.com/faq/</a:t>
            </a:r>
          </a:p>
          <a:p xmlns:a="http://schemas.openxmlformats.org/drawingml/2006/main">
            <a:r>
              <a:t>[18] https://americanplace.com/dining/</a:t>
            </a:r>
          </a:p>
          <a:p xmlns:a="http://schemas.openxmlformats.org/drawingml/2006/main">
            <a:r>
              <a:t>[19] https://investors.fullhouseresorts.com/sec-filings/annual-reports/content/0000891482-25-000009/0000891482-25-000009.pdf</a:t>
            </a:r>
          </a:p>
          <a:p xmlns:a="http://schemas.openxmlformats.org/drawingml/2006/main">
            <a:r>
              <a:t>[20] https://cdcgaming.com/illinois-casino-revenue-rises-10-8-to-192-8-million-in-august/?utm_source=openai</a:t>
            </a:r>
          </a:p>
          <a:p xmlns:a="http://schemas.openxmlformats.org/drawingml/2006/main">
            <a:r>
              <a:t>[21] https://americanplace.com/blog/full-house-resorts-to-break-ground-on-the-permanent-american-place-casino/</a:t>
            </a:r>
          </a:p>
          <a:p xmlns:a="http://schemas.openxmlformats.org/drawingml/2006/main">
            <a:r>
              <a:t>[22] https://www.sec.gov/Archives/edgar/data/891482/000089148226000040/fll-20260902xex10d1.htm</a:t>
            </a:r>
          </a:p>
          <a:p xmlns:a="http://schemas.openxmlformats.org/drawingml/2006/main">
            <a:r>
              <a:t>[23] https://americanplace.com/gaming/harbor-poker-room/</a:t>
            </a:r>
          </a:p>
          <a:p xmlns:a="http://schemas.openxmlformats.org/drawingml/2006/main">
            <a:r>
              <a:t>[24] https://www.riverscasino.com/desplaines/casino/poker-room</a:t>
            </a:r>
          </a:p>
          <a:p xmlns:a="http://schemas.openxmlformats.org/drawingml/2006/main">
            <a:r>
              <a:t>[25] https://windcreek.com/chicagosouthland/casino/poker</a:t>
            </a:r>
          </a:p>
          <a:p xmlns:a="http://schemas.openxmlformats.org/drawingml/2006/main">
            <a:r>
              <a:t>[3] https://americanplace.com/rewards/</a:t>
            </a:r>
          </a:p>
          <a:p xmlns:a="http://schemas.openxmlformats.org/drawingml/2006/main">
            <a:r>
              <a:t>[4] https://americanplace.com/wp-content/uploads/2026/01/2026-AP-Rewards-Rack-Card.pdf</a:t>
            </a:r>
          </a:p>
          <a:p xmlns:a="http://schemas.openxmlformats.org/drawingml/2006/main">
            <a:r>
              <a:t>[5] https://americanplace.com/gaming/table-games/</a:t>
            </a:r>
          </a:p>
          <a:p xmlns:a="http://schemas.openxmlformats.org/drawingml/2006/main">
            <a:r>
              <a:t>[55] https://www.sec.gov/Archives/edgar/data/891482/000089148226000040/fll-20260902xex10d1.htm</a:t>
            </a:r>
          </a:p>
          <a:p xmlns:a="http://schemas.openxmlformats.org/drawingml/2006/main">
            <a:r>
              <a:t>[59] https://americanplace.com/gaming/harbor-poker-room/</a:t>
            </a:r>
          </a:p>
          <a:p xmlns:a="http://schemas.openxmlformats.org/drawingml/2006/main">
            <a:r>
              <a:t>[6] https://americanplace.com/faq/?utm_source=openai</a:t>
            </a:r>
          </a:p>
          <a:p xmlns:a="http://schemas.openxmlformats.org/drawingml/2006/main">
            <a:r>
              <a:t>[68] https://investors.fullhouseresorts.com/sec-filings/all-sec-filings/content/0000891482-26-000007/fll-20251231x10k.htm</a:t>
            </a:r>
          </a:p>
          <a:p xmlns:a="http://schemas.openxmlformats.org/drawingml/2006/main">
            <a:r>
              <a:t>[69] https://americanplace.com/gaming/harbor-poker-room/</a:t>
            </a:r>
          </a:p>
          <a:p xmlns:a="http://schemas.openxmlformats.org/drawingml/2006/main">
            <a:r>
              <a:t>[7] https://americanplace.com/blog/full-house-resorts-to-break-ground-on-the-permanent-american-place-casino/</a:t>
            </a:r>
          </a:p>
          <a:p xmlns:a="http://schemas.openxmlformats.org/drawingml/2006/main">
            <a:r>
              <a:t>[72] https://americanplace.com/entertainment/</a:t>
            </a:r>
          </a:p>
          <a:p xmlns:a="http://schemas.openxmlformats.org/drawingml/2006/main">
            <a:r>
              <a:t>[8] https://www.sec.gov/Archives/edgar/data/891482/000089148226000040/fll-20260902x8k.htm</a:t>
            </a:r>
          </a:p>
          <a:p xmlns:a="http://schemas.openxmlformats.org/drawingml/2006/main">
            <a:r>
              <a:t>[9] https://www.illinois.gov/content/dam/soi/en/web/illinois/iisnewsattachments/32616-061226-r-gaming-board-meeting-june-2026-final.pdf.pdf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[119] https://doc.binocs.co/18180/CIM/American-casinos-CIM.pdf?page=48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https://sportshandle.com/circa-sports-illinois-launch/</a:t>
            </a:r>
          </a:p>
          <a:p xmlns:a="http://schemas.openxmlformats.org/drawingml/2006/main">
            <a:r>
              <a:t>[19] https://igb.illinois.gov/content/dam/soi/en/web/igb/documents/reports/annual-reports/igb-annual-reports/2024-igb-annual-report.pdf</a:t>
            </a:r>
          </a:p>
          <a:p xmlns:a="http://schemas.openxmlformats.org/drawingml/2006/main">
            <a:r>
              <a:t>[20] https://www.circasports.com/illinois-locations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https://sportshandle.com/circa-sports-illinois-launch/</a:t>
            </a:r>
          </a:p>
          <a:p xmlns:a="http://schemas.openxmlformats.org/drawingml/2006/main">
            <a:r>
              <a:t>[19] https://igb.illinois.gov/content/dam/soi/en/web/igb/documents/reports/annual-reports/igb-annual-reports/2024-igb-annual-report.pdf</a:t>
            </a:r>
          </a:p>
          <a:p xmlns:a="http://schemas.openxmlformats.org/drawingml/2006/main">
            <a:r>
              <a:t>[20] https://www.circasports.com/illinois-locations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https://sportshandle.com/circa-sports-illinois-launch/</a:t>
            </a:r>
          </a:p>
          <a:p xmlns:a="http://schemas.openxmlformats.org/drawingml/2006/main">
            <a:r>
              <a:t>[19] https://igb.illinois.gov/content/dam/soi/en/web/igb/documents/reports/annual-reports/igb-annual-reports/2024-igb-annual-report.pdf</a:t>
            </a:r>
          </a:p>
          <a:p xmlns:a="http://schemas.openxmlformats.org/drawingml/2006/main">
            <a:r>
              <a:t>[20] https://www.circasports.com/illinois-locations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https://igb.illinois.gov/content/dam/soi/en/web/igb/documents/reports/annual-reports/igb-annual-reports/2024-igb-annual-report.pdf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c822303a5746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008aeae59643c4" /><Relationship Type="http://schemas.openxmlformats.org/officeDocument/2006/relationships/slideLayout" Target="/ppt/slideLayouts/slideLayout1.xml" Id="R04a89486076841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a89486076841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4f03cf482c40b4" /><Relationship Type="http://schemas.openxmlformats.org/officeDocument/2006/relationships/notesSlide" Target="/ppt/notesSlides/notesSlide1.xml" Id="R2acf92815d9547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bb4c99c3bf84461" /><Relationship Type="http://schemas.openxmlformats.org/officeDocument/2006/relationships/notesSlide" Target="/ppt/notesSlides/notesSlide2.xml" Id="Ra6504a67a28d4d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5e902e191e64ed3" /><Relationship Type="http://schemas.openxmlformats.org/officeDocument/2006/relationships/notesSlide" Target="/ppt/notesSlides/notesSlide3.xml" Id="R821e3ab448684a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a806ccdaa94b1c" /><Relationship Type="http://schemas.openxmlformats.org/officeDocument/2006/relationships/notesSlide" Target="/ppt/notesSlides/notesSlide4.xml" Id="R68d058e9832049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e809a198af74bb1" /><Relationship Type="http://schemas.openxmlformats.org/officeDocument/2006/relationships/notesSlide" Target="/ppt/notesSlides/notesSlide5.xml" Id="Rdc7ea454bb154e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6796dec0084b41" /><Relationship Type="http://schemas.openxmlformats.org/officeDocument/2006/relationships/notesSlide" Target="/ppt/notesSlides/notesSlide6.xml" Id="Reb8779de3d2343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56fac88b5f74839" /><Relationship Type="http://schemas.openxmlformats.org/officeDocument/2006/relationships/notesSlide" Target="/ppt/notesSlides/notesSlide7.xml" Id="R6605b50fbb4847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17155ac2b2c4af7" /><Relationship Type="http://schemas.openxmlformats.org/officeDocument/2006/relationships/notesSlide" Target="/ppt/notesSlides/notesSlide8.xml" Id="R361fb1690ece4e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fa90e3c5ca6456e" /><Relationship Type="http://schemas.openxmlformats.org/officeDocument/2006/relationships/notesSlide" Target="/ppt/notesSlides/notesSlide9.xml" Id="Rfcb3ec6bbbca49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a6ddce1133a4e9b" /><Relationship Type="http://schemas.openxmlformats.org/officeDocument/2006/relationships/notesSlide" Target="/ppt/notesSlides/notesSlide10.xml" Id="Re5517031c14f425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d16650881714b2a" /><Relationship Type="http://schemas.openxmlformats.org/officeDocument/2006/relationships/notesSlide" Target="/ppt/notesSlides/notesSlide11.xml" Id="R9afb866c00a242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5d9450abecf44ae" /><Relationship Type="http://schemas.openxmlformats.org/officeDocument/2006/relationships/notesSlide" Target="/ppt/notesSlides/notesSlide12.xml" Id="Re46dc52b70724b6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800218684754e82" /><Relationship Type="http://schemas.openxmlformats.org/officeDocument/2006/relationships/notesSlide" Target="/ppt/notesSlides/notesSlide13.xml" Id="R50f7f7d2b0e34c7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f8719c696a54888" /><Relationship Type="http://schemas.openxmlformats.org/officeDocument/2006/relationships/chart" Target="/ppt/slides/charts/chart1.xml" Id="R00d080b2a88b4514" /><Relationship Type="http://schemas.openxmlformats.org/officeDocument/2006/relationships/notesSlide" Target="/ppt/notesSlides/notesSlide14.xml" Id="Ra2d8b0017f3f46d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23a36fbc9fd44f9" /><Relationship Type="http://schemas.openxmlformats.org/officeDocument/2006/relationships/notesSlide" Target="/ppt/notesSlides/notesSlide15.xml" Id="Rf7476ca5859a4a3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19517544166498c" /><Relationship Type="http://schemas.openxmlformats.org/officeDocument/2006/relationships/notesSlide" Target="/ppt/notesSlides/notesSlide16.xml" Id="Re40d4f23f1164f8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73f0eeef52c43f6" /><Relationship Type="http://schemas.openxmlformats.org/officeDocument/2006/relationships/notesSlide" Target="/ppt/notesSlides/notesSlide17.xml" Id="Rec7e3b806403439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b3be69047d84c4b" /><Relationship Type="http://schemas.openxmlformats.org/officeDocument/2006/relationships/notesSlide" Target="/ppt/notesSlides/notesSlide18.xml" Id="R695bb73f3ad9414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39b873d49784e16" /><Relationship Type="http://schemas.openxmlformats.org/officeDocument/2006/relationships/notesSlide" Target="/ppt/notesSlides/notesSlide19.xml" Id="R3465e9186f5042c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dabc5d7a7f94d01" /><Relationship Type="http://schemas.openxmlformats.org/officeDocument/2006/relationships/notesSlide" Target="/ppt/notesSlides/notesSlide20.xml" Id="R491df750a4c44dc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a8e285ba32f4378" /><Relationship Type="http://schemas.openxmlformats.org/officeDocument/2006/relationships/notesSlide" Target="/ppt/notesSlides/notesSlide21.xml" Id="R0a507dfd19d8427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50c5c0cec404dc2" /><Relationship Type="http://schemas.openxmlformats.org/officeDocument/2006/relationships/notesSlide" Target="/ppt/notesSlides/notesSlide22.xml" Id="Rb01360aa0096470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948289236c3499e" /><Relationship Type="http://schemas.openxmlformats.org/officeDocument/2006/relationships/notesSlide" Target="/ppt/notesSlides/notesSlide23.xml" Id="Rcb5516cb81ec4ad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aa2a3800ce34807" /><Relationship Type="http://schemas.openxmlformats.org/officeDocument/2006/relationships/notesSlide" Target="/ppt/notesSlides/notesSlide24.xml" Id="R9de671e9f8e34a8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f135585b7dc4ce7" /><Relationship Type="http://schemas.openxmlformats.org/officeDocument/2006/relationships/chart" Target="/ppt/slides/charts/chart2.xml" Id="Rfaf89913c2a846f9" /><Relationship Type="http://schemas.openxmlformats.org/officeDocument/2006/relationships/notesSlide" Target="/ppt/notesSlides/notesSlide25.xml" Id="R3eff03810ac141c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68db230ea8d49dd" /><Relationship Type="http://schemas.openxmlformats.org/officeDocument/2006/relationships/notesSlide" Target="/ppt/notesSlides/notesSlide26.xml" Id="R16ab32103f2f444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96f7b454a5e4064" /><Relationship Type="http://schemas.openxmlformats.org/officeDocument/2006/relationships/notesSlide" Target="/ppt/notesSlides/notesSlide27.xml" Id="R441b2728544647a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089ca36781b4ec0" /><Relationship Type="http://schemas.openxmlformats.org/officeDocument/2006/relationships/notesSlide" Target="/ppt/notesSlides/notesSlide28.xml" Id="R8c973d88c68f465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d00c271d24445ad" /><Relationship Type="http://schemas.openxmlformats.org/officeDocument/2006/relationships/notesSlide" Target="/ppt/notesSlides/notesSlide29.xml" Id="Rc28139ed82a34b7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73ef7da46074136" /><Relationship Type="http://schemas.openxmlformats.org/officeDocument/2006/relationships/notesSlide" Target="/ppt/notesSlides/notesSlide30.xml" Id="R049c4ed2acf548b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1205bf0c10442fd" /><Relationship Type="http://schemas.openxmlformats.org/officeDocument/2006/relationships/notesSlide" Target="/ppt/notesSlides/notesSlide31.xml" Id="Rab56ad11a91e44e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c6c2632d92e47f0" /><Relationship Type="http://schemas.openxmlformats.org/officeDocument/2006/relationships/notesSlide" Target="/ppt/notesSlides/notesSlide32.xml" Id="R83869928df2740f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e1b30682eed4010" /><Relationship Type="http://schemas.openxmlformats.org/officeDocument/2006/relationships/notesSlide" Target="/ppt/notesSlides/notesSlide33.xml" Id="R1b08fe9cbc60497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a3f0609bef14cf4" /><Relationship Type="http://schemas.openxmlformats.org/officeDocument/2006/relationships/notesSlide" Target="/ppt/notesSlides/notesSlide34.xml" Id="Rcb006e015e6a411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55baab9bbcb345d0" /><Relationship Type="http://schemas.openxmlformats.org/officeDocument/2006/relationships/notesSlide" Target="/ppt/notesSlides/notesSlide35.xml" Id="R89b1c941fc71456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e4ae05158884661" /><Relationship Type="http://schemas.openxmlformats.org/officeDocument/2006/relationships/notesSlide" Target="/ppt/notesSlides/notesSlide36.xml" Id="Rf52c713d693d47b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f7d8ab2c368431f" /><Relationship Type="http://schemas.openxmlformats.org/officeDocument/2006/relationships/chart" Target="/ppt/slides/charts/chart3.xml" Id="Rf341cec7b2ab43df" /><Relationship Type="http://schemas.openxmlformats.org/officeDocument/2006/relationships/notesSlide" Target="/ppt/notesSlides/notesSlide37.xml" Id="R7ca56153ccd842f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92c53cf62864509" /><Relationship Type="http://schemas.openxmlformats.org/officeDocument/2006/relationships/notesSlide" Target="/ppt/notesSlides/notesSlide38.xml" Id="Rb2eee419d5e24b4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1889b67fb7d49c3" /><Relationship Type="http://schemas.openxmlformats.org/officeDocument/2006/relationships/chart" Target="/ppt/slides/charts/chart4.xml" Id="R04ab78a66c044ca5" /><Relationship Type="http://schemas.openxmlformats.org/officeDocument/2006/relationships/notesSlide" Target="/ppt/notesSlides/notesSlide39.xml" Id="Rf5590425fe044a3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c5d59610ce54b65" /><Relationship Type="http://schemas.openxmlformats.org/officeDocument/2006/relationships/notesSlide" Target="/ppt/notesSlides/notesSlide40.xml" Id="Rf6b071bbb7a948c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f61401a65d44e49" /><Relationship Type="http://schemas.openxmlformats.org/officeDocument/2006/relationships/notesSlide" Target="/ppt/notesSlides/notesSlide41.xml" Id="R5e4289f26265456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83e4a448b2684e4a" /><Relationship Type="http://schemas.openxmlformats.org/officeDocument/2006/relationships/notesSlide" Target="/ppt/notesSlides/notesSlide42.xml" Id="Rd722e0cc4b8343e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9b7e15b9c5c94ed5" /><Relationship Type="http://schemas.openxmlformats.org/officeDocument/2006/relationships/notesSlide" Target="/ppt/notesSlides/notesSlide43.xml" Id="R401e5d26f17f4e5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a793a1b6cdfc4517" /><Relationship Type="http://schemas.openxmlformats.org/officeDocument/2006/relationships/notesSlide" Target="/ppt/notesSlides/notesSlide44.xml" Id="R08669ab6eaff49f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67c396322ce2415a" /><Relationship Type="http://schemas.openxmlformats.org/officeDocument/2006/relationships/notesSlide" Target="/ppt/notesSlides/notesSlide45.xml" Id="Rd30de714739244a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5be341bfc9304e10" /><Relationship Type="http://schemas.openxmlformats.org/officeDocument/2006/relationships/notesSlide" Target="/ppt/notesSlides/notesSlide46.xml" Id="Raa8d86aa07a14e8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f013fccdec140bd" /><Relationship Type="http://schemas.openxmlformats.org/officeDocument/2006/relationships/notesSlide" Target="/ppt/notesSlides/notesSlide47.xml" Id="R160fc4ae1944429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35736f7aa9914ccf" /><Relationship Type="http://schemas.openxmlformats.org/officeDocument/2006/relationships/notesSlide" Target="/ppt/notesSlides/notesSlide48.xml" Id="R1c02a418b9cd474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39ec04ef1794d73" /><Relationship Type="http://schemas.openxmlformats.org/officeDocument/2006/relationships/notesSlide" Target="/ppt/notesSlides/notesSlide49.xml" Id="R5c54b6c537ad472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7905fd0f69294aae" /><Relationship Type="http://schemas.openxmlformats.org/officeDocument/2006/relationships/notesSlide" Target="/ppt/notesSlides/notesSlide50.xml" Id="R17b077cf45d44a7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02d03cac07db4df0" /><Relationship Type="http://schemas.openxmlformats.org/officeDocument/2006/relationships/notesSlide" Target="/ppt/notesSlides/notesSlide51.xml" Id="R66a6d6bbfe92416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f8dfc8f8369a410b" /><Relationship Type="http://schemas.openxmlformats.org/officeDocument/2006/relationships/notesSlide" Target="/ppt/notesSlides/notesSlide52.xml" Id="R008d142bafe944c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6b93a397c6764ef3" /><Relationship Type="http://schemas.openxmlformats.org/officeDocument/2006/relationships/notesSlide" Target="/ppt/notesSlides/notesSlide53.xml" Id="R2f28976b95b44d1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f5ceac0cda354542" /><Relationship Type="http://schemas.openxmlformats.org/officeDocument/2006/relationships/notesSlide" Target="/ppt/notesSlides/notesSlide54.xml" Id="R91d6df3360134e21"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bf4f9165512f4662" /><Relationship Type="http://schemas.openxmlformats.org/officeDocument/2006/relationships/notesSlide" Target="/ppt/notesSlides/notesSlide55.xml" Id="R0916dc936ad446a9"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a041cc97874a4410" /><Relationship Type="http://schemas.openxmlformats.org/officeDocument/2006/relationships/notesSlide" Target="/ppt/notesSlides/notesSlide56.xml" Id="Ra308f7ed0086471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e096c04efda14854" /><Relationship Type="http://schemas.openxmlformats.org/officeDocument/2006/relationships/notesSlide" Target="/ppt/notesSlides/notesSlide57.xml" Id="Rea8c4d97f1c640c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8fb47144a07549ac" /><Relationship Type="http://schemas.openxmlformats.org/officeDocument/2006/relationships/notesSlide" Target="/ppt/notesSlides/notesSlide58.xml" Id="Ra04f8844d3b64bb6"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233a27b0bf2f44c7" /><Relationship Type="http://schemas.openxmlformats.org/officeDocument/2006/relationships/notesSlide" Target="/ppt/notesSlides/notesSlide59.xml" Id="Rcdd085c3a8ed456d"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d2b147586ec34869" /><Relationship Type="http://schemas.openxmlformats.org/officeDocument/2006/relationships/notesSlide" Target="/ppt/notesSlides/notesSlide60.xml" Id="R185035641bd74ed9"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3065130c09fb44f2" /><Relationship Type="http://schemas.openxmlformats.org/officeDocument/2006/relationships/notesSlide" Target="/ppt/notesSlides/notesSlide61.xml" Id="R110e5f7a83ba419b"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66758932305c4abe" /><Relationship Type="http://schemas.openxmlformats.org/officeDocument/2006/relationships/notesSlide" Target="/ppt/notesSlides/notesSlide62.xml" Id="Rfa5716ba03a44ddd"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fc6e7e36d70e456d" /><Relationship Type="http://schemas.openxmlformats.org/officeDocument/2006/relationships/notesSlide" Target="/ppt/notesSlides/notesSlide63.xml" Id="R89156c4bade34abe"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009d6dd42ffe42a3" /><Relationship Type="http://schemas.openxmlformats.org/officeDocument/2006/relationships/notesSlide" Target="/ppt/notesSlides/notesSlide64.xml" Id="R51b4fddab5b14c13"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30db8e830e294e5f" /><Relationship Type="http://schemas.openxmlformats.org/officeDocument/2006/relationships/notesSlide" Target="/ppt/notesSlides/notesSlide65.xml" Id="Rb4f45f0e217e4bce"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71cb560a38f84889" /><Relationship Type="http://schemas.openxmlformats.org/officeDocument/2006/relationships/notesSlide" Target="/ppt/notesSlides/notesSlide66.xml" Id="R13571b72e0634e74" /></Relationships>
</file>

<file path=ppt/slides/charts/chart1.xml><?xml version="1.0" encoding="utf-8"?>
<c:chartSpace xmlns:c="http://schemas.openxmlformats.org/drawingml/2006/chart">
  <c:lang val="en-US"/>
  <c:chart>
    <c:plotArea>
      <c:barChart>
        <c:barDir val="bar"/>
        <c:grouping val="clustered"/>
        <c:varyColors val="1"/>
        <c:ser>
          <c:idx val="0"/>
          <c:order val="0"/>
          <c:tx>
            <c:v>revenue (USD m of net revenue)</c:v>
          </c:tx>
          <c:spPr>
            <a:solidFill xmlns:a="http://schemas.openxmlformats.org/drawingml/2006/main">
              <a:srgbClr val="0F766E"/>
            </a:solidFill>
            <a:ln xmlns:a="http://schemas.openxmlformats.org/drawingml/2006/main" w="28575">
              <a:solidFill>
                <a:srgbClr val="0F766E"/>
              </a:solidFill>
              <a:prstDash val="solid"/>
            </a:ln>
          </c:spPr>
          <c:dPt>
            <c:idx val="0"/>
            <c:invertIfNegative val="0"/>
            <c:spPr>
              <a:solidFill xmlns:a="http://schemas.openxmlformats.org/drawingml/2006/main">
                <a:srgbClr val="0F766E"/>
              </a:solidFill>
            </c:spPr>
          </c:dPt>
          <c:dPt>
            <c:idx val="1"/>
            <c:invertIfNegative val="0"/>
            <c:spPr>
              <a:solidFill xmlns:a="http://schemas.openxmlformats.org/drawingml/2006/main">
                <a:srgbClr val="16A34A"/>
              </a:solidFill>
            </c:spPr>
          </c:dPt>
          <c:dPt>
            <c:idx val="2"/>
            <c:invertIfNegative val="0"/>
            <c:spPr>
              <a:solidFill xmlns:a="http://schemas.openxmlformats.org/drawingml/2006/main">
                <a:srgbClr val="65A30D"/>
              </a:solidFill>
            </c:spPr>
          </c:dPt>
          <c:dPt>
            <c:idx val="3"/>
            <c:invertIfNegative val="0"/>
            <c:spPr>
              <a:solidFill xmlns:a="http://schemas.openxmlformats.org/drawingml/2006/main">
                <a:srgbClr val="64748B"/>
              </a:solidFill>
            </c:spPr>
          </c:dPt>
          <c:cat>
            <c:strLit>
              <c:ptCount val="4"/>
              <c:pt idx="0">
                <c:v>Stratosphere</c:v>
              </c:pt>
              <c:pt idx="1">
                <c:v>Aquarius</c:v>
              </c:pt>
              <c:pt idx="2">
                <c:v>Arizona Charlie's Decatur</c:v>
              </c:pt>
              <c:pt idx="3">
                <c:v>Arizona Charlie's Boulder</c:v>
              </c:pt>
            </c:strLit>
          </c:cat>
          <c:val>
            <c:numLit>
              <c:formatCode>General</c:formatCode>
              <c:ptCount val="4"/>
              <c:pt idx="0">
                <c:v>197.6</c:v>
              </c:pt>
              <c:pt idx="1">
                <c:v>101.6</c:v>
              </c:pt>
              <c:pt idx="2">
                <c:v>82.5</c:v>
              </c:pt>
              <c:pt idx="3">
                <c:v>48</c:v>
              </c:pt>
            </c:numLit>
          </c:val>
        </c:ser>
        <c:dLbls>
          <c:txPr>
            <a:bodyPr xmlns:a="http://schemas.openxmlformats.org/drawingml/2006/main" anchorCtr="1"/>
            <a:lstStyle xmlns:a="http://schemas.openxmlformats.org/drawingml/2006/main"/>
            <a:p xmlns:a="http://schemas.openxmlformats.org/drawingml/2006/main">
              <a:pPr>
                <a:defRPr sz="825" b="1">
                  <a:solidFill>
                    <a:srgbClr val="12372A"/>
                  </a:solidFill>
                  <a:latin typeface="Calibri"/>
                  <a:ea typeface="Calibri"/>
                  <a:cs typeface="Calibri"/>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CFE3D8"/>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B61"/>
                </a:solidFill>
                <a:latin typeface="Calibri"/>
                <a:ea typeface="Calibri"/>
                <a:cs typeface="Calibri"/>
              </a:defRPr>
            </a:pPr>
          </a:p>
        </c:txPr>
        <c:crossAx val="48672768"/>
      </c:catAx>
      <c:valAx>
        <c:axId val="48672768"/>
        <c:scaling>
          <c:orientation val="minMax"/>
        </c:scaling>
        <c:delete val="0"/>
        <c:axPos val="b"/>
        <c:majorGridlines>
          <c:spPr>
            <a:ln xmlns:a="http://schemas.openxmlformats.org/drawingml/2006/main" w="9525">
              <a:solidFill>
                <a:srgbClr val="CFE3D8"/>
              </a:solidFill>
              <a:prstDash val="solid"/>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revenue (USD m of net revenue)</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26B61"/>
                </a:solidFill>
                <a:latin typeface="Calibri"/>
                <a:ea typeface="Calibri"/>
                <a:cs typeface="Calibri"/>
              </a:defRPr>
            </a:pPr>
          </a:p>
        </c:txPr>
        <c:crossAx val="48650112"/>
        <c:crossBetween val="between"/>
      </c:valAx>
      <c:spPr>
        <a:solidFill xmlns:a="http://schemas.openxmlformats.org/drawingml/2006/main">
          <a:srgbClr val="F5FAF7"/>
        </a:solidFill>
      </c:spPr>
    </c:plotArea>
    <c:plotVisOnly val="1"/>
    <c:dispBlanksAs val="gap"/>
  </c:chart>
  <c:spPr>
    <a:solidFill xmlns:a="http://schemas.openxmlformats.org/drawingml/2006/main">
      <a:srgbClr val="F5FAF7"/>
    </a:solidFill>
  </c:spPr>
</c:chartSpace>
</file>

<file path=ppt/slides/charts/chart2.xml><?xml version="1.0" encoding="utf-8"?>
<c:chartSpace xmlns:c="http://schemas.openxmlformats.org/drawingml/2006/chart">
  <c:lang val="en-US"/>
  <c:chart>
    <c:plotArea>
      <c:barChart>
        <c:barDir val="col"/>
        <c:grouping val="clustered"/>
        <c:varyColors val="1"/>
        <c:ser>
          <c:idx val="0"/>
          <c:order val="0"/>
          <c:tx>
            <c:v>Casino Gaming – Regional Casino Resorts</c:v>
          </c:tx>
          <c:spPr>
            <a:solidFill xmlns:a="http://schemas.openxmlformats.org/drawingml/2006/main">
              <a:srgbClr val="0F766E"/>
            </a:solidFill>
            <a:ln xmlns:a="http://schemas.openxmlformats.org/drawingml/2006/main" w="28575">
              <a:solidFill>
                <a:srgbClr val="0F766E"/>
              </a:solidFill>
              <a:prstDash val="solid"/>
            </a:ln>
          </c:spPr>
          <c:dPt>
            <c:idx val="0"/>
            <c:invertIfNegative val="0"/>
            <c:spPr>
              <a:solidFill xmlns:a="http://schemas.openxmlformats.org/drawingml/2006/main">
                <a:srgbClr val="0F766E"/>
              </a:solidFill>
            </c:spPr>
          </c:dPt>
          <c:dPt>
            <c:idx val="1"/>
            <c:invertIfNegative val="0"/>
            <c:spPr>
              <a:solidFill xmlns:a="http://schemas.openxmlformats.org/drawingml/2006/main">
                <a:srgbClr val="16A34A"/>
              </a:solidFill>
            </c:spPr>
          </c:dPt>
          <c:cat>
            <c:numLit>
              <c:formatCode>General</c:formatCode>
              <c:ptCount val="2"/>
              <c:pt idx="0">
                <c:v>2026</c:v>
              </c:pt>
              <c:pt idx="1">
                <c:v>2031</c:v>
              </c:pt>
            </c:numLit>
          </c:cat>
          <c:val>
            <c:numLit>
              <c:formatCode>General</c:formatCode>
              <c:ptCount val="2"/>
              <c:pt idx="0">
                <c:v>81.7</c:v>
              </c:pt>
              <c:pt idx="1">
                <c:v>91.5</c:v>
              </c:pt>
            </c:numLit>
          </c:val>
        </c:ser>
        <c:dLbls>
          <c:txPr>
            <a:bodyPr xmlns:a="http://schemas.openxmlformats.org/drawingml/2006/main" anchorCtr="1"/>
            <a:lstStyle xmlns:a="http://schemas.openxmlformats.org/drawingml/2006/main"/>
            <a:p xmlns:a="http://schemas.openxmlformats.org/drawingml/2006/main">
              <a:pPr>
                <a:defRPr sz="825" b="1">
                  <a:solidFill>
                    <a:srgbClr val="12372A"/>
                  </a:solidFill>
                  <a:latin typeface="Calibri"/>
                  <a:ea typeface="Calibri"/>
                  <a:cs typeface="Calibri"/>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FE3D8"/>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B61"/>
                </a:solidFill>
                <a:latin typeface="Calibri"/>
                <a:ea typeface="Calibri"/>
                <a:cs typeface="Calibri"/>
              </a:defRPr>
            </a:pPr>
          </a:p>
        </c:txPr>
        <c:crossAx val="48672768"/>
      </c:catAx>
      <c:valAx>
        <c:axId val="48672768"/>
        <c:scaling>
          <c:orientation val="minMax"/>
        </c:scaling>
        <c:delete val="0"/>
        <c:axPos val="l"/>
        <c:majorGridlines>
          <c:spPr>
            <a:ln xmlns:a="http://schemas.openxmlformats.org/drawingml/2006/main" w="9525">
              <a:solidFill>
                <a:srgbClr val="CFE3D8"/>
              </a:solidFill>
              <a:prstDash val="solid"/>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Market Size ($B)</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26B61"/>
                </a:solidFill>
                <a:latin typeface="Calibri"/>
                <a:ea typeface="Calibri"/>
                <a:cs typeface="Calibri"/>
              </a:defRPr>
            </a:pPr>
          </a:p>
        </c:txPr>
        <c:crossAx val="48650112"/>
        <c:crossBetween val="between"/>
      </c:valAx>
      <c:spPr>
        <a:solidFill xmlns:a="http://schemas.openxmlformats.org/drawingml/2006/main">
          <a:srgbClr val="F5FAF7"/>
        </a:solidFill>
      </c:spPr>
    </c:plotArea>
    <c:plotVisOnly val="1"/>
    <c:dispBlanksAs val="gap"/>
  </c:chart>
  <c:spPr>
    <a:solidFill xmlns:a="http://schemas.openxmlformats.org/drawingml/2006/main">
      <a:srgbClr val="F5FAF7"/>
    </a:solidFill>
  </c:spPr>
</c:chartSpace>
</file>

<file path=ppt/slides/charts/chart3.xml><?xml version="1.0" encoding="utf-8"?>
<c:chartSpace xmlns:c="http://schemas.openxmlformats.org/drawingml/2006/chart">
  <c:lang val="en-US"/>
  <c:chart>
    <c:plotArea>
      <c:lineChart>
        <c:grouping val="standard"/>
        <c:ser>
          <c:idx val="0"/>
          <c:order val="0"/>
          <c:tx>
            <c:v>Margin</c:v>
          </c:tx>
          <c:spPr>
            <a:solidFill xmlns:a="http://schemas.openxmlformats.org/drawingml/2006/main">
              <a:srgbClr val="0F766E"/>
            </a:solidFill>
            <a:ln xmlns:a="http://schemas.openxmlformats.org/drawingml/2006/main" w="28575">
              <a:solidFill>
                <a:srgbClr val="0F766E"/>
              </a:solidFill>
              <a:prstDash val="solid"/>
            </a:ln>
          </c:spPr>
          <c:marker>
            <c:symbol val="circle"/>
            <c:size val="7"/>
            <c:spPr>
              <a:solidFill xmlns:a="http://schemas.openxmlformats.org/drawingml/2006/main">
                <a:srgbClr val="0F766E"/>
              </a:solidFill>
            </c:spPr>
          </c:marker>
          <c:dPt>
            <c:idx val="0"/>
            <c:spPr>
              <a:solidFill xmlns:a="http://schemas.openxmlformats.org/drawingml/2006/main">
                <a:srgbClr val="0F766E"/>
              </a:solidFill>
            </c:spPr>
          </c:dPt>
          <c:dPt>
            <c:idx val="1"/>
            <c:spPr>
              <a:solidFill xmlns:a="http://schemas.openxmlformats.org/drawingml/2006/main">
                <a:srgbClr val="16A34A"/>
              </a:solidFill>
            </c:spPr>
          </c:dPt>
          <c:dPt>
            <c:idx val="2"/>
            <c:spPr>
              <a:solidFill xmlns:a="http://schemas.openxmlformats.org/drawingml/2006/main">
                <a:srgbClr val="65A30D"/>
              </a:solidFill>
            </c:spPr>
          </c:dPt>
          <c:dPt>
            <c:idx val="3"/>
            <c:spPr>
              <a:solidFill xmlns:a="http://schemas.openxmlformats.org/drawingml/2006/main">
                <a:srgbClr val="64748B"/>
              </a:solidFill>
            </c:spPr>
          </c:dPt>
          <c:cat>
            <c:strLit>
              <c:ptCount val="4"/>
              <c:pt idx="0">
                <c:v>2002A</c:v>
              </c:pt>
              <c:pt idx="1">
                <c:v>2003A</c:v>
              </c:pt>
              <c:pt idx="2">
                <c:v>2004A</c:v>
              </c:pt>
              <c:pt idx="3">
                <c:v>2005A</c:v>
              </c:pt>
            </c:strLit>
          </c:cat>
          <c:val>
            <c:numLit>
              <c:formatCode>0.0</c:formatCode>
              <c:ptCount val="4"/>
              <c:pt idx="0">
                <c:v>12.68</c:v>
              </c:pt>
              <c:pt idx="1">
                <c:v>17.31</c:v>
              </c:pt>
              <c:pt idx="2">
                <c:v>24.17</c:v>
              </c:pt>
              <c:pt idx="3">
                <c:v>27.26</c:v>
              </c:pt>
            </c:numLit>
          </c:val>
        </c:ser>
        <c:dLbls>
          <c:txPr>
            <a:bodyPr xmlns:a="http://schemas.openxmlformats.org/drawingml/2006/main" anchorCtr="1"/>
            <a:lstStyle xmlns:a="http://schemas.openxmlformats.org/drawingml/2006/main"/>
            <a:p xmlns:a="http://schemas.openxmlformats.org/drawingml/2006/main">
              <a:pPr>
                <a:defRPr sz="750">
                  <a:solidFill>
                    <a:srgbClr val="12372A"/>
                  </a:solidFill>
                  <a:latin typeface="Calibri"/>
                  <a:ea typeface="Calibri"/>
                  <a:cs typeface="Calibr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FE3D8"/>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B61"/>
                </a:solidFill>
                <a:latin typeface="Calibri"/>
                <a:ea typeface="Calibri"/>
                <a:cs typeface="Calibri"/>
              </a:defRPr>
            </a:pPr>
          </a:p>
        </c:txPr>
        <c:crossAx val="48672768"/>
      </c:catAx>
      <c:valAx>
        <c:axId val="48672768"/>
        <c:scaling>
          <c:orientation val="minMax"/>
        </c:scaling>
        <c:delete val="0"/>
        <c:axPos val="l"/>
        <c:majorGridlines>
          <c:spPr>
            <a:ln xmlns:a="http://schemas.openxmlformats.org/drawingml/2006/main" w="9525">
              <a:solidFill>
                <a:srgbClr val="CFE3D8"/>
              </a:solidFill>
              <a:prstDash val="solid"/>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Margin</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26B61"/>
                </a:solidFill>
                <a:latin typeface="Calibri"/>
                <a:ea typeface="Calibri"/>
                <a:cs typeface="Calibri"/>
              </a:defRPr>
            </a:pPr>
          </a:p>
        </c:txPr>
        <c:crossAx val="48650112"/>
        <c:crossBetween val="between"/>
      </c:valAx>
      <c:spPr>
        <a:solidFill xmlns:a="http://schemas.openxmlformats.org/drawingml/2006/main">
          <a:srgbClr val="F5FAF7"/>
        </a:solidFill>
      </c:spPr>
    </c:plotArea>
    <c:plotVisOnly val="1"/>
    <c:dispBlanksAs val="gap"/>
  </c:chart>
  <c:spPr>
    <a:solidFill xmlns:a="http://schemas.openxmlformats.org/drawingml/2006/main">
      <a:srgbClr val="F5FAF7"/>
    </a:solidFill>
  </c:spPr>
</c:chartSpace>
</file>

<file path=ppt/slides/charts/chart4.xml><?xml version="1.0" encoding="utf-8"?>
<c:chartSpace xmlns:c="http://schemas.openxmlformats.org/drawingml/2006/chart">
  <c:lang val="en-US"/>
  <c:chart>
    <c:plotArea>
      <c:lineChart>
        <c:grouping val="standard"/>
        <c:ser>
          <c:idx val="0"/>
          <c:order val="0"/>
          <c:tx>
            <c:v>Downside</c:v>
          </c:tx>
          <c:spPr>
            <a:solidFill xmlns:a="http://schemas.openxmlformats.org/drawingml/2006/main">
              <a:srgbClr val="0F766E"/>
            </a:solidFill>
            <a:ln xmlns:a="http://schemas.openxmlformats.org/drawingml/2006/main" w="28575">
              <a:solidFill>
                <a:srgbClr val="0F766E"/>
              </a:solidFill>
              <a:prstDash val="solid"/>
            </a:ln>
          </c:spPr>
          <c:marker>
            <c:symbol val="circle"/>
            <c:size val="7"/>
            <c:spPr>
              <a:solidFill xmlns:a="http://schemas.openxmlformats.org/drawingml/2006/main">
                <a:srgbClr val="0F766E"/>
              </a:solidFill>
            </c:spPr>
          </c:marker>
          <c:dPt>
            <c:idx val="0"/>
            <c:spPr>
              <a:solidFill xmlns:a="http://schemas.openxmlformats.org/drawingml/2006/main">
                <a:srgbClr val="0F766E"/>
              </a:solidFill>
            </c:spPr>
          </c:dPt>
          <c:dPt>
            <c:idx val="1"/>
            <c:spPr>
              <a:solidFill xmlns:a="http://schemas.openxmlformats.org/drawingml/2006/main">
                <a:srgbClr val="16A34A"/>
              </a:solidFill>
            </c:spPr>
          </c:dPt>
          <c:dPt>
            <c:idx val="2"/>
            <c:spPr>
              <a:solidFill xmlns:a="http://schemas.openxmlformats.org/drawingml/2006/main">
                <a:srgbClr val="65A30D"/>
              </a:solidFill>
            </c:spPr>
          </c:dPt>
          <c:dPt>
            <c:idx val="3"/>
            <c:spPr>
              <a:solidFill xmlns:a="http://schemas.openxmlformats.org/drawingml/2006/main">
                <a:srgbClr val="64748B"/>
              </a:solidFill>
            </c:spPr>
          </c:dPt>
          <c:cat>
            <c:strLit>
              <c:ptCount val="4"/>
              <c:pt idx="0">
                <c:v>2005A</c:v>
              </c:pt>
              <c:pt idx="1">
                <c:v>2006P</c:v>
              </c:pt>
              <c:pt idx="2">
                <c:v>2007P</c:v>
              </c:pt>
              <c:pt idx="3">
                <c:v>2008P</c:v>
              </c:pt>
            </c:strLit>
          </c:cat>
          <c:val>
            <c:numLit>
              <c:formatCode>$0.0"M"</c:formatCode>
              <c:ptCount val="4"/>
              <c:pt idx="0">
                <c:v>350.3</c:v>
              </c:pt>
              <c:pt idx="1">
                <c:v>377.1</c:v>
              </c:pt>
              <c:pt idx="2">
                <c:v>393.4</c:v>
              </c:pt>
              <c:pt idx="3">
                <c:v>409</c:v>
              </c:pt>
            </c:numLit>
          </c:val>
        </c:ser>
        <c:ser>
          <c:idx val="1"/>
          <c:order val="1"/>
          <c:tx>
            <c:v>Base case</c:v>
          </c:tx>
          <c:spPr>
            <a:solidFill xmlns:a="http://schemas.openxmlformats.org/drawingml/2006/main">
              <a:srgbClr val="16A34A"/>
            </a:solidFill>
            <a:ln xmlns:a="http://schemas.openxmlformats.org/drawingml/2006/main" w="28575">
              <a:solidFill>
                <a:srgbClr val="16A34A"/>
              </a:solidFill>
              <a:prstDash val="solid"/>
            </a:ln>
          </c:spPr>
          <c:marker>
            <c:symbol val="circle"/>
            <c:size val="7"/>
            <c:spPr>
              <a:solidFill xmlns:a="http://schemas.openxmlformats.org/drawingml/2006/main">
                <a:srgbClr val="16A34A"/>
              </a:solidFill>
            </c:spPr>
          </c:marker>
          <c:dPt>
            <c:idx val="0"/>
            <c:spPr>
              <a:solidFill xmlns:a="http://schemas.openxmlformats.org/drawingml/2006/main">
                <a:srgbClr val="16A34A"/>
              </a:solidFill>
            </c:spPr>
          </c:dPt>
          <c:dPt>
            <c:idx val="1"/>
            <c:spPr>
              <a:solidFill xmlns:a="http://schemas.openxmlformats.org/drawingml/2006/main">
                <a:srgbClr val="65A30D"/>
              </a:solidFill>
            </c:spPr>
          </c:dPt>
          <c:dPt>
            <c:idx val="2"/>
            <c:spPr>
              <a:solidFill xmlns:a="http://schemas.openxmlformats.org/drawingml/2006/main">
                <a:srgbClr val="64748B"/>
              </a:solidFill>
            </c:spPr>
          </c:dPt>
          <c:dPt>
            <c:idx val="3"/>
            <c:spPr>
              <a:solidFill xmlns:a="http://schemas.openxmlformats.org/drawingml/2006/main">
                <a:srgbClr val="34D399"/>
              </a:solidFill>
            </c:spPr>
          </c:dPt>
          <c:cat>
            <c:strLit>
              <c:ptCount val="4"/>
              <c:pt idx="0">
                <c:v>2005A</c:v>
              </c:pt>
              <c:pt idx="1">
                <c:v>2006P</c:v>
              </c:pt>
              <c:pt idx="2">
                <c:v>2007P</c:v>
              </c:pt>
              <c:pt idx="3">
                <c:v>2008P</c:v>
              </c:pt>
            </c:strLit>
          </c:cat>
          <c:val>
            <c:numLit>
              <c:formatCode>$0.0"M"</c:formatCode>
              <c:ptCount val="4"/>
              <c:pt idx="0">
                <c:v>350.3</c:v>
              </c:pt>
              <c:pt idx="1">
                <c:v>382.9</c:v>
              </c:pt>
              <c:pt idx="2">
                <c:v>410.8</c:v>
              </c:pt>
              <c:pt idx="3">
                <c:v>433.9</c:v>
              </c:pt>
            </c:numLit>
          </c:val>
        </c:ser>
        <c:ser>
          <c:idx val="2"/>
          <c:order val="2"/>
          <c:tx>
            <c:v>Upside</c:v>
          </c:tx>
          <c:spPr>
            <a:solidFill xmlns:a="http://schemas.openxmlformats.org/drawingml/2006/main">
              <a:srgbClr val="65A30D"/>
            </a:solidFill>
            <a:ln xmlns:a="http://schemas.openxmlformats.org/drawingml/2006/main" w="28575">
              <a:solidFill>
                <a:srgbClr val="65A30D"/>
              </a:solidFill>
              <a:prstDash val="solid"/>
            </a:ln>
          </c:spPr>
          <c:marker>
            <c:symbol val="circle"/>
            <c:size val="7"/>
            <c:spPr>
              <a:solidFill xmlns:a="http://schemas.openxmlformats.org/drawingml/2006/main">
                <a:srgbClr val="65A30D"/>
              </a:solidFill>
            </c:spPr>
          </c:marker>
          <c:dPt>
            <c:idx val="0"/>
            <c:spPr>
              <a:solidFill xmlns:a="http://schemas.openxmlformats.org/drawingml/2006/main">
                <a:srgbClr val="65A30D"/>
              </a:solidFill>
            </c:spPr>
          </c:dPt>
          <c:dPt>
            <c:idx val="1"/>
            <c:spPr>
              <a:solidFill xmlns:a="http://schemas.openxmlformats.org/drawingml/2006/main">
                <a:srgbClr val="64748B"/>
              </a:solidFill>
            </c:spPr>
          </c:dPt>
          <c:dPt>
            <c:idx val="2"/>
            <c:spPr>
              <a:solidFill xmlns:a="http://schemas.openxmlformats.org/drawingml/2006/main">
                <a:srgbClr val="34D399"/>
              </a:solidFill>
            </c:spPr>
          </c:dPt>
          <c:dPt>
            <c:idx val="3"/>
            <c:spPr>
              <a:solidFill xmlns:a="http://schemas.openxmlformats.org/drawingml/2006/main">
                <a:srgbClr val="0F766E"/>
              </a:solidFill>
            </c:spPr>
          </c:dPt>
          <c:cat>
            <c:strLit>
              <c:ptCount val="4"/>
              <c:pt idx="0">
                <c:v>2005A</c:v>
              </c:pt>
              <c:pt idx="1">
                <c:v>2006P</c:v>
              </c:pt>
              <c:pt idx="2">
                <c:v>2007P</c:v>
              </c:pt>
              <c:pt idx="3">
                <c:v>2008P</c:v>
              </c:pt>
            </c:strLit>
          </c:cat>
          <c:val>
            <c:numLit>
              <c:formatCode>$0.0"M"</c:formatCode>
              <c:ptCount val="4"/>
              <c:pt idx="0">
                <c:v>350.3</c:v>
              </c:pt>
              <c:pt idx="1">
                <c:v>389.9</c:v>
              </c:pt>
              <c:pt idx="2">
                <c:v>426.2</c:v>
              </c:pt>
              <c:pt idx="3">
                <c:v>457.3</c:v>
              </c:pt>
            </c:numLit>
          </c:val>
        </c:ser>
        <c:ser>
          <c:idx val="3"/>
          <c:order val="3"/>
          <c:tx>
            <c:v>Management plan</c:v>
          </c:tx>
          <c:spPr>
            <a:solidFill xmlns:a="http://schemas.openxmlformats.org/drawingml/2006/main">
              <a:srgbClr val="64748B"/>
            </a:solidFill>
            <a:ln xmlns:a="http://schemas.openxmlformats.org/drawingml/2006/main" w="28575">
              <a:solidFill>
                <a:srgbClr val="64748B"/>
              </a:solidFill>
              <a:prstDash val="dash"/>
            </a:ln>
          </c:spPr>
          <c:marker>
            <c:symbol val="circle"/>
            <c:size val="7"/>
            <c:spPr>
              <a:solidFill xmlns:a="http://schemas.openxmlformats.org/drawingml/2006/main">
                <a:srgbClr val="64748B"/>
              </a:solidFill>
            </c:spPr>
          </c:marker>
          <c:dPt>
            <c:idx val="0"/>
            <c:spPr>
              <a:solidFill xmlns:a="http://schemas.openxmlformats.org/drawingml/2006/main">
                <a:srgbClr val="64748B"/>
              </a:solidFill>
            </c:spPr>
          </c:dPt>
          <c:dPt>
            <c:idx val="1"/>
            <c:spPr>
              <a:solidFill xmlns:a="http://schemas.openxmlformats.org/drawingml/2006/main">
                <a:srgbClr val="34D399"/>
              </a:solidFill>
            </c:spPr>
          </c:dPt>
          <c:dPt>
            <c:idx val="2"/>
            <c:spPr>
              <a:solidFill xmlns:a="http://schemas.openxmlformats.org/drawingml/2006/main">
                <a:srgbClr val="0F766E"/>
              </a:solidFill>
            </c:spPr>
          </c:dPt>
          <c:dPt>
            <c:idx val="3"/>
            <c:spPr>
              <a:solidFill xmlns:a="http://schemas.openxmlformats.org/drawingml/2006/main">
                <a:srgbClr val="16A34A"/>
              </a:solidFill>
            </c:spPr>
          </c:dPt>
          <c:cat>
            <c:strLit>
              <c:ptCount val="4"/>
              <c:pt idx="0">
                <c:v>2005A</c:v>
              </c:pt>
              <c:pt idx="1">
                <c:v>2006P</c:v>
              </c:pt>
              <c:pt idx="2">
                <c:v>2007P</c:v>
              </c:pt>
              <c:pt idx="3">
                <c:v>2008P</c:v>
              </c:pt>
            </c:strLit>
          </c:cat>
          <c:val>
            <c:numLit>
              <c:formatCode>$0.0"M"</c:formatCode>
              <c:ptCount val="4"/>
              <c:pt idx="0">
                <c:v>350.3</c:v>
              </c:pt>
              <c:pt idx="1">
                <c:v>429.7</c:v>
              </c:pt>
              <c:pt idx="2">
                <c:v>450.9</c:v>
              </c:pt>
              <c:pt idx="3">
                <c:v>472.8</c:v>
              </c:pt>
            </c:numLit>
          </c:val>
        </c:ser>
        <c:dLbls>
          <c:txPr>
            <a:bodyPr xmlns:a="http://schemas.openxmlformats.org/drawingml/2006/main" anchorCtr="1"/>
            <a:lstStyle xmlns:a="http://schemas.openxmlformats.org/drawingml/2006/main"/>
            <a:p xmlns:a="http://schemas.openxmlformats.org/drawingml/2006/main">
              <a:pPr>
                <a:defRPr sz="750">
                  <a:solidFill>
                    <a:srgbClr val="12372A"/>
                  </a:solidFill>
                  <a:latin typeface="Calibri"/>
                  <a:ea typeface="Calibri"/>
                  <a:cs typeface="Calibr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FE3D8"/>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B61"/>
                </a:solidFill>
                <a:latin typeface="Calibri"/>
                <a:ea typeface="Calibri"/>
                <a:cs typeface="Calibri"/>
              </a:defRPr>
            </a:pPr>
          </a:p>
        </c:txPr>
        <c:crossAx val="48672768"/>
      </c:catAx>
      <c:valAx>
        <c:axId val="48672768"/>
        <c:scaling>
          <c:orientation val="minMax"/>
        </c:scaling>
        <c:delete val="0"/>
        <c:axPos val="l"/>
        <c:majorGridlines>
          <c:spPr>
            <a:ln xmlns:a="http://schemas.openxmlformats.org/drawingml/2006/main" w="9525">
              <a:solidFill>
                <a:srgbClr val="CFE3D8"/>
              </a:solidFill>
              <a:prstDash val="solid"/>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Revenue</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0&quot;M&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26B61"/>
                </a:solidFill>
                <a:latin typeface="Calibri"/>
                <a:ea typeface="Calibri"/>
                <a:cs typeface="Calibri"/>
              </a:defRPr>
            </a:pPr>
          </a:p>
        </c:txPr>
        <c:crossAx val="48650112"/>
        <c:crossBetween val="between"/>
      </c:valAx>
      <c:spPr>
        <a:solidFill xmlns:a="http://schemas.openxmlformats.org/drawingml/2006/main">
          <a:srgbClr val="F5FAF7"/>
        </a:solidFill>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526B61"/>
              </a:solidFill>
              <a:latin typeface="Calibri"/>
              <a:ea typeface="Calibri"/>
              <a:cs typeface="Calibri"/>
            </a:defRPr>
          </a:pPr>
        </a:p>
      </c:txPr>
    </c:legend>
    <c:plotVisOnly val="1"/>
    <c:dispBlanksAs val="gap"/>
  </c:chart>
  <c:spPr>
    <a:solidFill xmlns:a="http://schemas.openxmlformats.org/drawingml/2006/main">
      <a:srgbClr val="F5FAF7"/>
    </a:solidFill>
  </c:spPr>
</c:chartSpace>
</file>

<file path=ppt/slides/slide1.xml><?xml version="1.0" encoding="utf-8"?>
<p:sld xmlns:p="http://schemas.openxmlformats.org/presentationml/2006/main">
  <p:cSld>
    <p:bg>
      <p:bgPr>
        <a:solidFill xmlns:a="http://schemas.openxmlformats.org/drawingml/2006/main">
          <a:srgbClr val="12372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BEE419D-EA4E-412E-B964-D445F0740A1A}"/>
              </a:ext>
            </a:extLst>
          </p:cNvPr>
          <p:cNvSpPr>
            <a:spLocks xmlns:a="http://schemas.openxmlformats.org/drawingml/2006/main" noGrp="1"/>
          </p:cNvSpPr>
          <p:nvPr/>
        </p:nvSpPr>
        <p:spPr>
          <a:xfrm xmlns:a="http://schemas.openxmlformats.org/drawingml/2006/main">
            <a:off x="685800" y="971550"/>
            <a:ext cx="114300" cy="3733800"/>
          </a:xfrm>
          <a:prstGeom xmlns:a="http://schemas.openxmlformats.org/drawingml/2006/main" prst="rect">
            <a:avLst/>
          </a:prstGeom>
          <a:solidFill xmlns:a="http://schemas.openxmlformats.org/drawingml/2006/main">
            <a:srgbClr val="34D39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7A3D12-31F1-4DE9-862B-6A6E53F006D5}"/>
              </a:ext>
            </a:extLst>
          </p:cNvPr>
          <p:cNvSpPr>
            <a:spLocks xmlns:a="http://schemas.openxmlformats.org/drawingml/2006/main" noGrp="1"/>
          </p:cNvSpPr>
          <p:nvPr/>
        </p:nvSpPr>
        <p:spPr>
          <a:xfrm xmlns:a="http://schemas.openxmlformats.org/drawingml/2006/main">
            <a:off x="1104900" y="1790700"/>
            <a:ext cx="9334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Calibri"/>
                <a:ea typeface="Calibri"/>
                <a:cs typeface="Calibri"/>
              </a:defRPr>
            </a:pPr>
            <a:r>
              <a:rPr sz="3600" b="1">
                <a:solidFill>
                  <a:srgbClr val="FFFFFF"/>
                </a:solidFill>
                <a:latin typeface="Calibri"/>
                <a:ea typeface="Calibri"/>
                <a:cs typeface="Calibri"/>
              </a:rPr>
              <a:t>Investment Thesis and Overview</a:t>
            </a:r>
          </a:p>
        </p:txBody>
      </p:sp>
      <p:sp>
        <p:nvSpPr>
          <p:cNvPr id="3" name="">
            <a:extLst xmlns:a="http://schemas.openxmlformats.org/drawingml/2006/main">
              <a:ext uri="{FF2B5EF4-FFF2-40B4-BE49-F238E27FC236}">
                <a16:creationId xmlns:a16="http://schemas.microsoft.com/office/drawing/2014/main" id="{D3251895-4711-4F6C-9CA6-B9B71D08FB60}"/>
              </a:ext>
            </a:extLst>
          </p:cNvPr>
          <p:cNvSpPr>
            <a:spLocks xmlns:a="http://schemas.openxmlformats.org/drawingml/2006/main" noGrp="1"/>
          </p:cNvSpPr>
          <p:nvPr/>
        </p:nvSpPr>
        <p:spPr>
          <a:xfrm xmlns:a="http://schemas.openxmlformats.org/drawingml/2006/main">
            <a:off x="1123950" y="3390900"/>
            <a:ext cx="666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a:solidFill>
                  <a:srgbClr val="CFC9F3"/>
                </a:solidFill>
                <a:latin typeface="Calibri"/>
                <a:ea typeface="Calibri"/>
                <a:cs typeface="Calibri"/>
              </a:defRPr>
            </a:pPr>
            <a:r>
              <a:rPr sz="1650">
                <a:solidFill>
                  <a:srgbClr val="CFC9F3"/>
                </a:solidFill>
                <a:latin typeface="Calibri"/>
                <a:ea typeface="Calibri"/>
                <a:cs typeface="Calibri"/>
              </a:rPr>
              <a:t>Financial analysis</a:t>
            </a:r>
          </a:p>
        </p:txBody>
      </p:sp>
    </p:spTree>
    <p:extLst>
      <p:ext uri="{BB962C8B-B14F-4D97-AF65-F5344CB8AC3E}">
        <p14:creationId xmlns:p14="http://schemas.microsoft.com/office/powerpoint/2010/main" val="536505144"/>
      </p:ext>
    </p:extLst>
  </p:cSld>
</p:sld>
</file>

<file path=ppt/slides/slide2.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AD58E7-AD43-4A5D-A7F1-2D440E34CE4D}"/>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Investment Thesis And Overview Content</a:t>
            </a:r>
          </a:p>
        </p:txBody>
      </p:sp>
      <p:sp>
        <p:nvSpPr>
          <p:cNvPr id="2" name="title-rule">
            <a:extLst xmlns:a="http://schemas.openxmlformats.org/drawingml/2006/main">
              <a:ext uri="{FF2B5EF4-FFF2-40B4-BE49-F238E27FC236}">
                <a16:creationId xmlns:a16="http://schemas.microsoft.com/office/drawing/2014/main" id="{166D668C-EFC4-4FCB-A843-A32470CE4E11}"/>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FA04FF9-17EC-4E2C-A97F-6660A18853CE}"/>
              </a:ext>
            </a:extLst>
          </p:cNvPr>
          <p:cNvSpPr>
            <a:spLocks xmlns:a="http://schemas.openxmlformats.org/drawingml/2006/main" noGrp="1"/>
          </p:cNvSpPr>
          <p:nvPr/>
        </p:nvSpPr>
        <p:spPr>
          <a:xfrm xmlns:a="http://schemas.openxmlformats.org/drawingml/2006/main">
            <a:off x="914400" y="2000250"/>
            <a:ext cx="10134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61"/>
                </a:solidFill>
                <a:latin typeface="Calibri"/>
                <a:ea typeface="Calibri"/>
                <a:cs typeface="Calibri"/>
              </a:defRPr>
            </a:pPr>
            <a:r>
              <a:rPr sz="1575" b="0">
                <a:solidFill>
                  <a:srgbClr val="526B61"/>
                </a:solidFill>
                <a:latin typeface="Calibri"/>
                <a:ea typeface="Calibri"/>
                <a:cs typeface="Calibri"/>
              </a:rPr>
              <a:t>Invest with Conditions: locals-first Illinois casino using permanent expansion and CRM to close share gaps in a resetting market</a:t>
            </a:r>
          </a:p>
        </p:txBody>
      </p:sp>
      <p:sp>
        <p:nvSpPr>
          <p:cNvPr id="4" name="">
            <a:extLst xmlns:a="http://schemas.openxmlformats.org/drawingml/2006/main">
              <a:ext uri="{FF2B5EF4-FFF2-40B4-BE49-F238E27FC236}">
                <a16:creationId xmlns:a16="http://schemas.microsoft.com/office/drawing/2014/main" id="{162D45B0-F850-4E7C-93F5-FCE92BDDB45C}"/>
              </a:ext>
            </a:extLst>
          </p:cNvPr>
          <p:cNvSpPr>
            <a:spLocks xmlns:a="http://schemas.openxmlformats.org/drawingml/2006/main" noGrp="1"/>
          </p:cNvSpPr>
          <p:nvPr/>
        </p:nvSpPr>
        <p:spPr>
          <a:xfrm xmlns:a="http://schemas.openxmlformats.org/drawingml/2006/main">
            <a:off x="914400" y="2781300"/>
            <a:ext cx="10134600" cy="289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61"/>
                </a:solidFill>
                <a:latin typeface="Calibri"/>
                <a:ea typeface="Calibri"/>
                <a:cs typeface="Calibri"/>
              </a:defRPr>
            </a:pPr>
            <a:r>
              <a:rPr sz="1575" b="0">
                <a:solidFill>
                  <a:srgbClr val="526B61"/>
                </a:solidFill>
                <a:latin typeface="Calibri"/>
                <a:ea typeface="Calibri"/>
                <a:cs typeface="Calibri"/>
              </a:rPr>
              <a:t>American Place Casino is a convenience-led, locals-first gaming and entertainment property in Waukegan that operates from a temporary facility while a permanent casino is developed [36][37][38][41]. Gaming is the core revenue engine, with sportsbook, poker, dining, entertainment, and events used to deepen trip frequency, dwell time, and wallet share [41][42][43][45][49][50][51][57][58][59][60]. The growth path is to tighten rated-play capture and repeat visitation on the current asset, then unlock higher earning capacity through a larger permanent floor and an event-led venue overlay [88][90][91][99][100][101][102][103][104]. The operating model has a financial baseline of $89.4M of EBITDA, with a 27.3% margin on $328.0M of revenue [20][9][1][2]. Key diligence question: whether the permanent-format transition can happen quickly enough, and with enough CRM precision, to let a temporary property close share gaps as newer Illinois casinos reset customer expectations [14][15][16][17][72].</a:t>
            </a:r>
          </a:p>
        </p:txBody>
      </p:sp>
      <p:sp>
        <p:nvSpPr>
          <p:cNvPr id="5" name="">
            <a:extLst xmlns:a="http://schemas.openxmlformats.org/drawingml/2006/main">
              <a:ext uri="{FF2B5EF4-FFF2-40B4-BE49-F238E27FC236}">
                <a16:creationId xmlns:a16="http://schemas.microsoft.com/office/drawing/2014/main" id="{123C4C35-9B3F-4D7E-A708-3A13094EE934}"/>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02</a:t>
            </a:r>
          </a:p>
        </p:txBody>
      </p:sp>
    </p:spTree>
    <p:extLst>
      <p:ext uri="{BB962C8B-B14F-4D97-AF65-F5344CB8AC3E}">
        <p14:creationId xmlns:p14="http://schemas.microsoft.com/office/powerpoint/2010/main" val="1912717726"/>
      </p:ext>
    </p:extLst>
  </p:cSld>
</p:sld>
</file>

<file path=ppt/slides/slide3.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F436808-113A-4A58-8BE8-BA5C15ABA14E}"/>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Investment Thesis And Overview Table</a:t>
            </a:r>
          </a:p>
        </p:txBody>
      </p:sp>
      <p:sp>
        <p:nvSpPr>
          <p:cNvPr id="2" name="title-rule">
            <a:extLst xmlns:a="http://schemas.openxmlformats.org/drawingml/2006/main">
              <a:ext uri="{FF2B5EF4-FFF2-40B4-BE49-F238E27FC236}">
                <a16:creationId xmlns:a16="http://schemas.microsoft.com/office/drawing/2014/main" id="{54EA7377-0895-4CA6-A2AF-7F7A614AE971}"/>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2705100"/>
        </p:xfrm>
        <a:graphic xmlns:a="http://schemas.openxmlformats.org/drawingml/2006/main">
          <a:graphicData uri="http://schemas.openxmlformats.org/drawingml/2006/table">
            <a:tbl>
              <a:tblPr firstRow="1" bandRow="1"/>
              <a:tblGrid>
                <a:gridCol w="3895344"/>
                <a:gridCol w="3462528"/>
                <a:gridCol w="3462528"/>
              </a:tblGrid>
              <a:tr h="552450">
                <a:tc>
                  <a:txBody>
                    <a:bodyPr>
                      <a:normAutofit/>
                    </a:bodyPr>
                    <a:lstStyle/>
                    <a:p>
                      <a:r>
                        <a:rPr sz="1200" b="1">
                          <a:solidFill>
                            <a:srgbClr val="FFFFFF"/>
                          </a:solidFill>
                          <a:latin typeface="Calibri"/>
                          <a:ea typeface="Calibri"/>
                          <a:cs typeface="Calibri"/>
                        </a:rPr>
                        <a:t>Large, expanding demand supports share capture in a fragmented but constrained casino market</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A convenience-led local property already has the operating base to deepen repeat play</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Permanent capacity, better CRM, and event-led demand can unlock the next leg of growth</a:t>
                      </a:r>
                    </a:p>
                  </a:txBody>
                  <a:tcPr marL="91440" marR="91440" marT="45720" marB="45720">
                    <a:solidFill>
                      <a:srgbClr val="0F766E"/>
                    </a:solidFill>
                  </a:tcPr>
                </a:tc>
              </a:tr>
              <a:tr h="1076325">
                <a:tc>
                  <a:txBody>
                    <a:bodyPr>
                      <a:normAutofit/>
                    </a:bodyPr>
                    <a:lstStyle/>
                    <a:p>
                      <a:r>
                        <a:rPr sz="1125">
                          <a:solidFill>
                            <a:srgbClr val="12372A"/>
                          </a:solidFill>
                          <a:latin typeface="Calibri"/>
                          <a:ea typeface="Calibri"/>
                          <a:cs typeface="Calibri"/>
                        </a:rPr>
                        <a:t>The U.S. regional casino resorts and casino hotels market is large and still growing, with value rising from USD 81.7B in 2026 to USD 91.5B by 2031 at about 3.2% annual growth.</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American Place Casino is built for a locals-first, drive-in customer, using gaming, sportsbook, poker, dining, entertainment, and events to drive repeat visits and larger trip spend.</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The biggest near-term lever is the permanent buildout, which adds about 376 slots and 41 table games versus the temporary base, expanding earning capacity materially.</a:t>
                      </a:r>
                    </a:p>
                  </a:txBody>
                  <a:tcPr marL="91440" marR="91440" marT="45720" marB="45720">
                    <a:solidFill>
                      <a:srgbClr val="FFFFFF"/>
                    </a:solidFill>
                  </a:tcPr>
                </a:tc>
              </a:tr>
              <a:tr h="1076325">
                <a:tc>
                  <a:txBody>
                    <a:bodyPr>
                      <a:normAutofit/>
                    </a:bodyPr>
                    <a:lstStyle/>
                    <a:p>
                      <a:r>
                        <a:rPr sz="1125">
                          <a:solidFill>
                            <a:srgbClr val="12372A"/>
                          </a:solidFill>
                          <a:latin typeface="Calibri"/>
                          <a:ea typeface="Calibri"/>
                          <a:cs typeface="Calibri"/>
                        </a:rPr>
                        <a:t>Demand is already deep, with 45% of U.S. adults visiting a casino property in the prior year, 493 commercial casino locations across 27 states, and USD 51.06B of traditional commercial casino gaming revenue in 2025.</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The property is already scaled, with about 600 employees, roughly 940 slots, 48 table games, and a 6-table Harbor Poker Room on a 42-acre site.</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The company can stage the transition using current operating data, then launch the larger floor progressively through AP Rewards and hosts after financing milestones are secured.</a:t>
                      </a:r>
                    </a:p>
                  </a:txBody>
                  <a:tcPr marL="91440" marR="91440" marT="45720" marB="45720">
                    <a:solidFill>
                      <a:srgbClr val="F0EEF8"/>
                    </a:solidFill>
                  </a:tcPr>
                </a:tc>
              </a:tr>
            </a:tbl>
          </a:graphicData>
        </a:graphic>
      </p:graphicFrame>
      <p:sp>
        <p:nvSpPr>
          <p:cNvPr id="4" name="">
            <a:extLst xmlns:a="http://schemas.openxmlformats.org/drawingml/2006/main">
              <a:ext uri="{FF2B5EF4-FFF2-40B4-BE49-F238E27FC236}">
                <a16:creationId xmlns:a16="http://schemas.microsoft.com/office/drawing/2014/main" id="{C1FA14CE-9537-4681-BDE1-B20E530F4845}"/>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03</a:t>
            </a:r>
          </a:p>
        </p:txBody>
      </p:sp>
    </p:spTree>
    <p:extLst>
      <p:ext uri="{BB962C8B-B14F-4D97-AF65-F5344CB8AC3E}">
        <p14:creationId xmlns:p14="http://schemas.microsoft.com/office/powerpoint/2010/main" val="1865883396"/>
      </p:ext>
    </p:extLst>
  </p:cSld>
</p:sld>
</file>

<file path=ppt/slides/slide4.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089DB5A-64C1-4E8E-8C8C-FAB8B73777A6}"/>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Investment Thesis And Overview Table continued</a:t>
            </a:r>
          </a:p>
        </p:txBody>
      </p:sp>
      <p:sp>
        <p:nvSpPr>
          <p:cNvPr id="2" name="title-rule">
            <a:extLst xmlns:a="http://schemas.openxmlformats.org/drawingml/2006/main">
              <a:ext uri="{FF2B5EF4-FFF2-40B4-BE49-F238E27FC236}">
                <a16:creationId xmlns:a16="http://schemas.microsoft.com/office/drawing/2014/main" id="{DD889BC2-4860-4390-BFF3-2C69C7752B5C}"/>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2705100"/>
        </p:xfrm>
        <a:graphic xmlns:a="http://schemas.openxmlformats.org/drawingml/2006/main">
          <a:graphicData uri="http://schemas.openxmlformats.org/drawingml/2006/table">
            <a:tbl>
              <a:tblPr firstRow="1" bandRow="1"/>
              <a:tblGrid>
                <a:gridCol w="3895344"/>
                <a:gridCol w="3462528"/>
                <a:gridCol w="3462528"/>
              </a:tblGrid>
              <a:tr h="552450">
                <a:tc>
                  <a:txBody>
                    <a:bodyPr>
                      <a:normAutofit/>
                    </a:bodyPr>
                    <a:lstStyle/>
                    <a:p>
                      <a:r>
                        <a:rPr sz="1200" b="1">
                          <a:solidFill>
                            <a:srgbClr val="FFFFFF"/>
                          </a:solidFill>
                          <a:latin typeface="Calibri"/>
                          <a:ea typeface="Calibri"/>
                          <a:cs typeface="Calibri"/>
                        </a:rPr>
                        <a:t>Large, expanding demand supports share capture in a fragmented but constrained casino market</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A convenience-led local property already has the operating base to deepen repeat play</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Permanent capacity, better CRM, and event-led demand can unlock the next leg of growth</a:t>
                      </a:r>
                    </a:p>
                  </a:txBody>
                  <a:tcPr marL="91440" marR="91440" marT="45720" marB="45720">
                    <a:solidFill>
                      <a:srgbClr val="0F766E"/>
                    </a:solidFill>
                  </a:tcPr>
                </a:tc>
              </a:tr>
              <a:tr h="1076325">
                <a:tc>
                  <a:txBody>
                    <a:bodyPr>
                      <a:normAutofit/>
                    </a:bodyPr>
                    <a:lstStyle/>
                    <a:p>
                      <a:r>
                        <a:rPr sz="1125">
                          <a:solidFill>
                            <a:srgbClr val="12372A"/>
                          </a:solidFill>
                          <a:latin typeface="Calibri"/>
                          <a:ea typeface="Calibri"/>
                          <a:cs typeface="Calibri"/>
                        </a:rPr>
                        <a:t>The category is experience-led, so property quality matters: more than 60% of gaming executives expect higher capital investment over the next 6 to 12 months, supporting traffic retention and higher spend per visit.</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24-hour operation, including near-round-the-clock table games and full 24-hour table-game coverage Wednesday through Sunday, fits the short, frequent trip pattern of a convenience market.</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Organic growth should come from tighter rated-play capture, stronger offer discipline, and more targeted midweek and shoulder-period campaigns rather than broader discounting.</a:t>
                      </a:r>
                    </a:p>
                  </a:txBody>
                  <a:tcPr marL="91440" marR="91440" marT="45720" marB="45720">
                    <a:solidFill>
                      <a:srgbClr val="FFFFFF"/>
                    </a:solidFill>
                  </a:tcPr>
                </a:tc>
              </a:tr>
              <a:tr h="1076325">
                <a:tc>
                  <a:txBody>
                    <a:bodyPr>
                      <a:normAutofit/>
                    </a:bodyPr>
                    <a:lstStyle/>
                    <a:p>
                      <a:r>
                        <a:rPr sz="1125">
                          <a:solidFill>
                            <a:srgbClr val="12372A"/>
                          </a:solidFill>
                          <a:latin typeface="Calibri"/>
                          <a:ea typeface="Calibri"/>
                          <a:cs typeface="Calibri"/>
                        </a:rPr>
                        <a:t>The market is fragmenting but still hard to enter, with the largest operator holding only 12.0% share while licensing, approvals, capital intensity, and operating requirements limit new entrants.</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AP Rewards and host-led outreach create a first-party CRM base that can convert player data into repeat visitation, but the current temporary facility limits the depth of that advantage.</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Poker can become a second growth engine, with a stated plan to add 5 tables first and further expansion tied to waitlist length, daypart fill, and game-mix economics.</a:t>
                      </a:r>
                    </a:p>
                  </a:txBody>
                  <a:tcPr marL="91440" marR="91440" marT="45720" marB="45720">
                    <a:solidFill>
                      <a:srgbClr val="F0EEF8"/>
                    </a:solidFill>
                  </a:tcPr>
                </a:tc>
              </a:tr>
            </a:tbl>
          </a:graphicData>
        </a:graphic>
      </p:graphicFrame>
      <p:sp>
        <p:nvSpPr>
          <p:cNvPr id="4" name="">
            <a:extLst xmlns:a="http://schemas.openxmlformats.org/drawingml/2006/main">
              <a:ext uri="{FF2B5EF4-FFF2-40B4-BE49-F238E27FC236}">
                <a16:creationId xmlns:a16="http://schemas.microsoft.com/office/drawing/2014/main" id="{2ACC68A2-1D30-4836-A9FF-B74632B8AA35}"/>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04</a:t>
            </a:r>
          </a:p>
        </p:txBody>
      </p:sp>
    </p:spTree>
    <p:extLst>
      <p:ext uri="{BB962C8B-B14F-4D97-AF65-F5344CB8AC3E}">
        <p14:creationId xmlns:p14="http://schemas.microsoft.com/office/powerpoint/2010/main" val="918039126"/>
      </p:ext>
    </p:extLst>
  </p:cSld>
</p:sld>
</file>

<file path=ppt/slides/slide5.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A403CF-93B0-47CB-85ED-01764835ED20}"/>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Company Overview Introduction</a:t>
            </a:r>
          </a:p>
        </p:txBody>
      </p:sp>
      <p:sp>
        <p:nvSpPr>
          <p:cNvPr id="2" name="title-rule">
            <a:extLst xmlns:a="http://schemas.openxmlformats.org/drawingml/2006/main">
              <a:ext uri="{FF2B5EF4-FFF2-40B4-BE49-F238E27FC236}">
                <a16:creationId xmlns:a16="http://schemas.microsoft.com/office/drawing/2014/main" id="{F2CF4A7C-6497-43E4-A330-5414F68B83F9}"/>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ED77AE-7A6F-4566-A6E4-FFE96137D24E}"/>
              </a:ext>
            </a:extLst>
          </p:cNvPr>
          <p:cNvSpPr>
            <a:spLocks xmlns:a="http://schemas.openxmlformats.org/drawingml/2006/main" noGrp="1"/>
          </p:cNvSpPr>
          <p:nvPr/>
        </p:nvSpPr>
        <p:spPr>
          <a:xfrm xmlns:a="http://schemas.openxmlformats.org/drawingml/2006/main">
            <a:off x="914400" y="2190750"/>
            <a:ext cx="1013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American Place Casino Operates a Locals-Focused Casino and Entertainment Property in Waukegan</a:t>
            </a:r>
          </a:p>
        </p:txBody>
      </p:sp>
      <p:sp>
        <p:nvSpPr>
          <p:cNvPr id="4" name="">
            <a:extLst xmlns:a="http://schemas.openxmlformats.org/drawingml/2006/main">
              <a:ext uri="{FF2B5EF4-FFF2-40B4-BE49-F238E27FC236}">
                <a16:creationId xmlns:a16="http://schemas.microsoft.com/office/drawing/2014/main" id="{E815BEC3-A9E0-4678-B70A-D8350D57CBC2}"/>
              </a:ext>
            </a:extLst>
          </p:cNvPr>
          <p:cNvSpPr>
            <a:spLocks xmlns:a="http://schemas.openxmlformats.org/drawingml/2006/main" noGrp="1"/>
          </p:cNvSpPr>
          <p:nvPr/>
        </p:nvSpPr>
        <p:spPr>
          <a:xfrm xmlns:a="http://schemas.openxmlformats.org/drawingml/2006/main">
            <a:off x="914400" y="3095625"/>
            <a:ext cx="101346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American Place Casino operates a locals-focused casino and entertainment property in Waukegan, Illinois, from a temporary facility while a permanent casino is under development. Its offer includes slot machines, table games, a poker room, a retail sportsbook with mobile wagering access, food and beverage, live entertainment, and meetings and social events.</a:t>
            </a:r>
          </a:p>
        </p:txBody>
      </p:sp>
      <p:sp>
        <p:nvSpPr>
          <p:cNvPr id="5" name="">
            <a:extLst xmlns:a="http://schemas.openxmlformats.org/drawingml/2006/main">
              <a:ext uri="{FF2B5EF4-FFF2-40B4-BE49-F238E27FC236}">
                <a16:creationId xmlns:a16="http://schemas.microsoft.com/office/drawing/2014/main" id="{D846DFA5-E25C-4925-AB22-539DD26CEC3C}"/>
              </a:ext>
            </a:extLst>
          </p:cNvPr>
          <p:cNvSpPr>
            <a:spLocks xmlns:a="http://schemas.openxmlformats.org/drawingml/2006/main" noGrp="1"/>
          </p:cNvSpPr>
          <p:nvPr/>
        </p:nvSpPr>
        <p:spPr>
          <a:xfrm xmlns:a="http://schemas.openxmlformats.org/drawingml/2006/main">
            <a:off x="914400" y="4562475"/>
            <a:ext cx="101346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The business depends on in-person visits and on-property spend, with gaming as the main revenue driver. That means the company’s results are tied to repeat local traffic, regulatory approvals, and the successful move from the temporary site to the permanent property.</a:t>
            </a:r>
          </a:p>
        </p:txBody>
      </p:sp>
      <p:sp>
        <p:nvSpPr>
          <p:cNvPr id="6" name="">
            <a:extLst xmlns:a="http://schemas.openxmlformats.org/drawingml/2006/main">
              <a:ext uri="{FF2B5EF4-FFF2-40B4-BE49-F238E27FC236}">
                <a16:creationId xmlns:a16="http://schemas.microsoft.com/office/drawing/2014/main" id="{01E01C5A-001D-465B-81C9-56AF3B744EB6}"/>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05</a:t>
            </a:r>
          </a:p>
        </p:txBody>
      </p:sp>
    </p:spTree>
    <p:extLst>
      <p:ext uri="{BB962C8B-B14F-4D97-AF65-F5344CB8AC3E}">
        <p14:creationId xmlns:p14="http://schemas.microsoft.com/office/powerpoint/2010/main" val="590414837"/>
      </p:ext>
    </p:extLst>
  </p:cSld>
</p:sld>
</file>

<file path=ppt/slides/slide6.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B57878-CE01-445E-9FE9-269C552138DC}"/>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Company Snapshot</a:t>
            </a:r>
          </a:p>
        </p:txBody>
      </p:sp>
      <p:sp>
        <p:nvSpPr>
          <p:cNvPr id="2" name="title-rule">
            <a:extLst xmlns:a="http://schemas.openxmlformats.org/drawingml/2006/main">
              <a:ext uri="{FF2B5EF4-FFF2-40B4-BE49-F238E27FC236}">
                <a16:creationId xmlns:a16="http://schemas.microsoft.com/office/drawing/2014/main" id="{90DF3BDA-D061-48CA-9FA0-451C9A78ECD4}"/>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2362200"/>
        </p:xfrm>
        <a:graphic xmlns:a="http://schemas.openxmlformats.org/drawingml/2006/main">
          <a:graphicData uri="http://schemas.openxmlformats.org/drawingml/2006/table">
            <a:tbl>
              <a:tblPr firstRow="1" bandRow="1"/>
              <a:tblGrid>
                <a:gridCol w="3895344"/>
                <a:gridCol w="3462528"/>
                <a:gridCol w="3462528"/>
              </a:tblGrid>
              <a:tr h="552450">
                <a:tc>
                  <a:txBody>
                    <a:bodyPr>
                      <a:normAutofit/>
                    </a:bodyPr>
                    <a:lstStyle/>
                    <a:p>
                      <a:r>
                        <a:rPr sz="1200" b="1">
                          <a:solidFill>
                            <a:srgbClr val="FFFFFF"/>
                          </a:solidFill>
                          <a:latin typeface="Calibri"/>
                          <a:ea typeface="Calibri"/>
                          <a:cs typeface="Calibri"/>
                        </a:rPr>
                        <a:t>Company &amp; Offering</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Customers &amp; Route to Market</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Operating Model &amp; Scale</a:t>
                      </a:r>
                    </a:p>
                  </a:txBody>
                  <a:tcPr marL="91440" marR="91440" marT="45720" marB="45720">
                    <a:solidFill>
                      <a:srgbClr val="0F766E"/>
                    </a:solidFill>
                  </a:tcPr>
                </a:tc>
              </a:tr>
              <a:tr h="1809750">
                <a:tc>
                  <a:txBody>
                    <a:bodyPr>
                      <a:normAutofit/>
                    </a:bodyPr>
                    <a:lstStyle/>
                    <a:p>
                      <a:r>
                        <a:rPr sz="1125">
                          <a:solidFill>
                            <a:srgbClr val="12372A"/>
                          </a:solidFill>
                          <a:latin typeface="Calibri"/>
                          <a:ea typeface="Calibri"/>
                          <a:cs typeface="Calibri"/>
                        </a:rPr>
                        <a:t>- American Place Casino is a land-based casino in Waukegan, Illinois, operated by Full House Resorts in a temporary facility.</a:t>
                      </a:r>
                    </a:p>
                    <a:p>
                      <a:r>
                        <a:rPr sz="1125">
                          <a:solidFill>
                            <a:srgbClr val="12372A"/>
                          </a:solidFill>
                          <a:latin typeface="Calibri"/>
                          <a:ea typeface="Calibri"/>
                          <a:cs typeface="Calibri"/>
                        </a:rPr>
                        <a:t>- The offering combines casino gaming, poker, on-site and mobile sportsbook, multiple restaurants and bars, live entertainment, and a loyalty program.</a:t>
                      </a:r>
                    </a:p>
                    <a:p>
                      <a:r>
                        <a:rPr sz="1125">
                          <a:solidFill>
                            <a:srgbClr val="12372A"/>
                          </a:solidFill>
                          <a:latin typeface="Calibri"/>
                          <a:ea typeface="Calibri"/>
                          <a:cs typeface="Calibri"/>
                        </a:rPr>
                        <a:t>- Revenue is primarily driven by casino gaming, indicating concentration of earnings in core on-premise gaming operations.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 Casino patrons and entertainment guests visit American Place primarily for on-premise gaming, poker, dining, live events, and loyalty benefits.</a:t>
                      </a:r>
                    </a:p>
                    <a:p>
                      <a:r>
                        <a:rPr sz="1125">
                          <a:solidFill>
                            <a:srgbClr val="12372A"/>
                          </a:solidFill>
                          <a:latin typeface="Calibri"/>
                          <a:ea typeface="Calibri"/>
                          <a:cs typeface="Calibri"/>
                        </a:rPr>
                        <a:t>- Delivery is primarily direct and on-premise at the casino property, supplemented by partner platforms for sportsbook, ticketing, and poker waitlists.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 Core casino, poker, food, entertainment, loyalty, and temporary-facility operations are internally managed, with sportsbook, ticketing, and poker platforms partner-managed.</a:t>
                      </a:r>
                    </a:p>
                    <a:p>
                      <a:r>
                        <a:rPr sz="1125">
                          <a:solidFill>
                            <a:srgbClr val="12372A"/>
                          </a:solidFill>
                          <a:latin typeface="Calibri"/>
                          <a:ea typeface="Calibri"/>
                          <a:cs typeface="Calibri"/>
                        </a:rPr>
                        <a:t>- Operations run on an approximately 42-acre Waukegan site, combining owned land with a 99-year ground lease from the City.</a:t>
                      </a:r>
                    </a:p>
                    <a:p>
                      <a:r>
                        <a:rPr sz="1125">
                          <a:solidFill>
                            <a:srgbClr val="12372A"/>
                          </a:solidFill>
                          <a:latin typeface="Calibri"/>
                          <a:ea typeface="Calibri"/>
                          <a:cs typeface="Calibri"/>
                        </a:rPr>
                        <a:t>- The property employs approximately 600 people as of December 31, 2025, indicating meaningful operating scale at the temporary facility.</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E0DAB24-04A7-43A3-B975-3FB21E6A8B72}"/>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06</a:t>
            </a:r>
          </a:p>
        </p:txBody>
      </p:sp>
    </p:spTree>
    <p:extLst>
      <p:ext uri="{BB962C8B-B14F-4D97-AF65-F5344CB8AC3E}">
        <p14:creationId xmlns:p14="http://schemas.microsoft.com/office/powerpoint/2010/main" val="1255045309"/>
      </p:ext>
    </p:extLst>
  </p:cSld>
</p:sld>
</file>

<file path=ppt/slides/slide7.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7814BE8-0C7D-449F-A80C-FE746A9E2B26}"/>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Products And Services</a:t>
            </a:r>
          </a:p>
        </p:txBody>
      </p:sp>
      <p:sp>
        <p:nvSpPr>
          <p:cNvPr id="2" name="title-rule">
            <a:extLst xmlns:a="http://schemas.openxmlformats.org/drawingml/2006/main">
              <a:ext uri="{FF2B5EF4-FFF2-40B4-BE49-F238E27FC236}">
                <a16:creationId xmlns:a16="http://schemas.microsoft.com/office/drawing/2014/main" id="{C72504C5-02C6-4FDC-B010-1B9B6308CFE4}"/>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CF146E7-84ED-4FD9-B4DF-958879677DEB}"/>
              </a:ext>
            </a:extLst>
          </p:cNvPr>
          <p:cNvSpPr>
            <a:spLocks xmlns:a="http://schemas.openxmlformats.org/drawingml/2006/main" noGrp="1"/>
          </p:cNvSpPr>
          <p:nvPr/>
        </p:nvSpPr>
        <p:spPr>
          <a:xfrm xmlns:a="http://schemas.openxmlformats.org/drawingml/2006/main">
            <a:off x="914400" y="3005138"/>
            <a:ext cx="101346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2372A"/>
                </a:solidFill>
                <a:latin typeface="Calibri"/>
                <a:ea typeface="Calibri"/>
                <a:cs typeface="Calibri"/>
              </a:defRPr>
            </a:pPr>
            <a:r>
              <a:rPr sz="1950" b="1">
                <a:solidFill>
                  <a:srgbClr val="12372A"/>
                </a:solidFill>
                <a:latin typeface="Calibri"/>
                <a:ea typeface="Calibri"/>
                <a:cs typeface="Calibri"/>
              </a:rPr>
              <a:t>The company’s revenue is concentrated in a few large properties, so performance depends heavily on a small set of assets. Stratosphere is the flagship, while Aquarius and Arizona Charlie's Decatur are also meaningful drivers. Boulder adds growth, but the core portfolio is still led by Strip and locals casinos, which means swings at one property can affect the whole business.</a:t>
            </a:r>
          </a:p>
        </p:txBody>
      </p:sp>
      <p:sp>
        <p:nvSpPr>
          <p:cNvPr id="4" name="">
            <a:extLst xmlns:a="http://schemas.openxmlformats.org/drawingml/2006/main">
              <a:ext uri="{FF2B5EF4-FFF2-40B4-BE49-F238E27FC236}">
                <a16:creationId xmlns:a16="http://schemas.microsoft.com/office/drawing/2014/main" id="{A1EEAE21-97B0-46F3-BD6F-1693AF210583}"/>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07</a:t>
            </a:r>
          </a:p>
        </p:txBody>
      </p:sp>
    </p:spTree>
    <p:extLst>
      <p:ext uri="{BB962C8B-B14F-4D97-AF65-F5344CB8AC3E}">
        <p14:creationId xmlns:p14="http://schemas.microsoft.com/office/powerpoint/2010/main" val="856246453"/>
      </p:ext>
    </p:extLst>
  </p:cSld>
</p:sld>
</file>

<file path=ppt/slides/slide8.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9ECFFF-64D1-4CCD-AA29-ABF3094EC326}"/>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Products And Services</a:t>
            </a:r>
          </a:p>
        </p:txBody>
      </p:sp>
      <p:sp>
        <p:nvSpPr>
          <p:cNvPr id="2" name="title-rule">
            <a:extLst xmlns:a="http://schemas.openxmlformats.org/drawingml/2006/main">
              <a:ext uri="{FF2B5EF4-FFF2-40B4-BE49-F238E27FC236}">
                <a16:creationId xmlns:a16="http://schemas.microsoft.com/office/drawing/2014/main" id="{BBD27288-2B62-43F1-A2C6-68764F29EDD8}"/>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4495800"/>
        </p:xfrm>
        <a:graphic xmlns:a="http://schemas.openxmlformats.org/drawingml/2006/main">
          <a:graphicData uri="http://schemas.openxmlformats.org/drawingml/2006/table">
            <a:tbl>
              <a:tblPr firstRow="1" bandRow="1"/>
              <a:tblGrid>
                <a:gridCol w="2164080"/>
                <a:gridCol w="1923627"/>
                <a:gridCol w="4809067"/>
                <a:gridCol w="1923627"/>
              </a:tblGrid>
              <a:tr h="552450">
                <a:tc>
                  <a:txBody>
                    <a:bodyPr>
                      <a:normAutofit/>
                    </a:bodyPr>
                    <a:lstStyle/>
                    <a:p>
                      <a:r>
                        <a:rPr sz="1200" b="1">
                          <a:solidFill>
                            <a:srgbClr val="FFFFFF"/>
                          </a:solidFill>
                          <a:latin typeface="Calibri"/>
                          <a:ea typeface="Calibri"/>
                          <a:cs typeface="Calibri"/>
                        </a:rPr>
                        <a:t>Offering</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What It Is</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Scale &amp; Traction Evidence</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Role</a:t>
                      </a:r>
                    </a:p>
                  </a:txBody>
                  <a:tcPr marL="91440" marR="91440" marT="45720" marB="45720">
                    <a:solidFill>
                      <a:srgbClr val="0F766E"/>
                    </a:solidFill>
                  </a:tcPr>
                </a:tc>
              </a:tr>
              <a:tr h="1257300">
                <a:tc>
                  <a:txBody>
                    <a:bodyPr>
                      <a:normAutofit/>
                    </a:bodyPr>
                    <a:lstStyle/>
                    <a:p>
                      <a:r>
                        <a:rPr sz="1125">
                          <a:solidFill>
                            <a:srgbClr val="12372A"/>
                          </a:solidFill>
                          <a:latin typeface="Calibri"/>
                          <a:ea typeface="Calibri"/>
                          <a:cs typeface="Calibri"/>
                        </a:rPr>
                        <a:t>Stratosphere Casino Hotel &amp; Tower · Core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Tourist Strip casino, hotel, tower, and entertainment hub.</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45.10% of 2005A revenue; 8.42% CAGR.</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Stratosphere contributed 59.8% of 2005A total revenue based on $196.2 million at the property versus $328.0 million company revenue.[7][17]</a:t>
                      </a:r>
                    </a:p>
                  </a:txBody>
                  <a:tcPr marL="91440" marR="91440" marT="45720" marB="45720">
                    <a:solidFill>
                      <a:srgbClr val="FFFFFF"/>
                    </a:solidFill>
                  </a:tcPr>
                </a:tc>
              </a:tr>
              <a:tr h="1257300">
                <a:tc>
                  <a:txBody>
                    <a:bodyPr>
                      <a:normAutofit/>
                    </a:bodyPr>
                    <a:lstStyle/>
                    <a:p>
                      <a:r>
                        <a:rPr sz="1125">
                          <a:solidFill>
                            <a:srgbClr val="12372A"/>
                          </a:solidFill>
                          <a:latin typeface="Calibri"/>
                          <a:ea typeface="Calibri"/>
                          <a:cs typeface="Calibri"/>
                        </a:rPr>
                        <a:t>Aquarius Casino Resort · Core</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Laughlin resort for value-conscious visitors.</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24.60% of 2005A revenue; -1.05% CAGR.</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Aquarius contributed 32.6% of 2005A total revenue based on $107.0 million at the property versus $328.0 million company revenue.[16][17]</a:t>
                      </a:r>
                    </a:p>
                  </a:txBody>
                  <a:tcPr marL="91440" marR="91440" marT="45720" marB="45720">
                    <a:solidFill>
                      <a:srgbClr val="F0EEF8"/>
                    </a:solidFill>
                  </a:tcPr>
                </a:tc>
              </a:tr>
              <a:tr h="1438275">
                <a:tc>
                  <a:txBody>
                    <a:bodyPr>
                      <a:normAutofit/>
                    </a:bodyPr>
                    <a:lstStyle/>
                    <a:p>
                      <a:r>
                        <a:rPr sz="1125">
                          <a:solidFill>
                            <a:srgbClr val="12372A"/>
                          </a:solidFill>
                          <a:latin typeface="Calibri"/>
                          <a:ea typeface="Calibri"/>
                          <a:cs typeface="Calibri"/>
                        </a:rPr>
                        <a:t>Arizona Charlie's Decatur · Core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Off-Strip locals casino and hotel.</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19.38% of 2005A revenue; 3.52% CAGR.</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Arizona Charlie's Decatur contributed 25.7% of 2005A total revenue based on $84.3 million at the property versus $328.0 million company revenue.[10][17]</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F477EC6-F241-4BBC-8443-D7411994E78A}"/>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08</a:t>
            </a:r>
          </a:p>
        </p:txBody>
      </p:sp>
    </p:spTree>
    <p:extLst>
      <p:ext uri="{BB962C8B-B14F-4D97-AF65-F5344CB8AC3E}">
        <p14:creationId xmlns:p14="http://schemas.microsoft.com/office/powerpoint/2010/main" val="1703247927"/>
      </p:ext>
    </p:extLst>
  </p:cSld>
</p:sld>
</file>

<file path=ppt/slides/slide9.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C2E6360-FD20-4628-BF4D-3A886EB81389}"/>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Products And Services continued</a:t>
            </a:r>
          </a:p>
        </p:txBody>
      </p:sp>
      <p:sp>
        <p:nvSpPr>
          <p:cNvPr id="2" name="title-rule">
            <a:extLst xmlns:a="http://schemas.openxmlformats.org/drawingml/2006/main">
              <a:ext uri="{FF2B5EF4-FFF2-40B4-BE49-F238E27FC236}">
                <a16:creationId xmlns:a16="http://schemas.microsoft.com/office/drawing/2014/main" id="{B82C5EE3-F48E-4CA9-A7FA-B335E6F547E5}"/>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3609975"/>
        </p:xfrm>
        <a:graphic xmlns:a="http://schemas.openxmlformats.org/drawingml/2006/main">
          <a:graphicData uri="http://schemas.openxmlformats.org/drawingml/2006/table">
            <a:tbl>
              <a:tblPr firstRow="1" bandRow="1"/>
              <a:tblGrid>
                <a:gridCol w="2164080"/>
                <a:gridCol w="1923627"/>
                <a:gridCol w="4809067"/>
                <a:gridCol w="1923627"/>
              </a:tblGrid>
              <a:tr h="552450">
                <a:tc>
                  <a:txBody>
                    <a:bodyPr>
                      <a:normAutofit/>
                    </a:bodyPr>
                    <a:lstStyle/>
                    <a:p>
                      <a:r>
                        <a:rPr sz="1200" b="1">
                          <a:solidFill>
                            <a:srgbClr val="FFFFFF"/>
                          </a:solidFill>
                          <a:latin typeface="Calibri"/>
                          <a:ea typeface="Calibri"/>
                          <a:cs typeface="Calibri"/>
                        </a:rPr>
                        <a:t>Offering</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What It Is</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Scale &amp; Traction Evidence</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Role</a:t>
                      </a:r>
                    </a:p>
                  </a:txBody>
                  <a:tcPr marL="91440" marR="91440" marT="45720" marB="45720">
                    <a:solidFill>
                      <a:srgbClr val="0F766E"/>
                    </a:solidFill>
                  </a:tcPr>
                </a:tc>
              </a:tr>
              <a:tr h="1619250">
                <a:tc>
                  <a:txBody>
                    <a:bodyPr>
                      <a:normAutofit/>
                    </a:bodyPr>
                    <a:lstStyle/>
                    <a:p>
                      <a:r>
                        <a:rPr sz="1125">
                          <a:solidFill>
                            <a:srgbClr val="12372A"/>
                          </a:solidFill>
                          <a:latin typeface="Calibri"/>
                          <a:ea typeface="Calibri"/>
                          <a:cs typeface="Calibri"/>
                        </a:rPr>
                        <a:t>Gaming · Core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Slots, table games, poker, sportsbook.</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About 940 slot machines and 48 table games.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American Place is Full House Resorts’ largest revenue contributor, and the property’s current offer is organized around slots, table games, poker, and sportsbook gaming.[19][22]</a:t>
                      </a:r>
                    </a:p>
                  </a:txBody>
                  <a:tcPr marL="91440" marR="91440" marT="45720" marB="45720">
                    <a:solidFill>
                      <a:srgbClr val="FFFFFF"/>
                    </a:solidFill>
                  </a:tcPr>
                </a:tc>
              </a:tr>
              <a:tr h="1438275">
                <a:tc>
                  <a:txBody>
                    <a:bodyPr>
                      <a:normAutofit/>
                    </a:bodyPr>
                    <a:lstStyle/>
                    <a:p>
                      <a:r>
                        <a:rPr sz="1125">
                          <a:solidFill>
                            <a:srgbClr val="12372A"/>
                          </a:solidFill>
                          <a:latin typeface="Calibri"/>
                          <a:ea typeface="Calibri"/>
                          <a:cs typeface="Calibri"/>
                        </a:rPr>
                        <a:t>Arizona Charlie's Boulder · Secondary</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Value-oriented locals casino, hotel, and RV park.</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10.92% of 2005A revenue; 14.64% CAGR.</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Arizona Charlie's Boulder contributed 14.5% of 2005A total revenue based on $47.5 million at the property versus $328.0 million company revenue.[13][17]</a:t>
                      </a:r>
                    </a:p>
                  </a:txBody>
                  <a:tcPr marL="91440" marR="91440" marT="45720" marB="45720">
                    <a:solidFill>
                      <a:srgbClr val="F0EEF8"/>
                    </a:solidFill>
                  </a:tcPr>
                </a:tc>
              </a:tr>
            </a:tbl>
          </a:graphicData>
        </a:graphic>
      </p:graphicFrame>
      <p:sp>
        <p:nvSpPr>
          <p:cNvPr id="4" name="">
            <a:extLst xmlns:a="http://schemas.openxmlformats.org/drawingml/2006/main">
              <a:ext uri="{FF2B5EF4-FFF2-40B4-BE49-F238E27FC236}">
                <a16:creationId xmlns:a16="http://schemas.microsoft.com/office/drawing/2014/main" id="{BEC9226F-565F-4733-A74C-2341DDA97B87}"/>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09</a:t>
            </a:r>
          </a:p>
        </p:txBody>
      </p:sp>
    </p:spTree>
    <p:extLst>
      <p:ext uri="{BB962C8B-B14F-4D97-AF65-F5344CB8AC3E}">
        <p14:creationId xmlns:p14="http://schemas.microsoft.com/office/powerpoint/2010/main" val="350162052"/>
      </p:ext>
    </p:extLst>
  </p:cSld>
</p:sld>
</file>

<file path=ppt/slides/slide10.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F8B41CA-4766-4C6A-AC70-5BABE17C91DE}"/>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Products And Services continued</a:t>
            </a:r>
          </a:p>
        </p:txBody>
      </p:sp>
      <p:sp>
        <p:nvSpPr>
          <p:cNvPr id="2" name="title-rule">
            <a:extLst xmlns:a="http://schemas.openxmlformats.org/drawingml/2006/main">
              <a:ext uri="{FF2B5EF4-FFF2-40B4-BE49-F238E27FC236}">
                <a16:creationId xmlns:a16="http://schemas.microsoft.com/office/drawing/2014/main" id="{CE1ACC51-566B-4A29-A3D7-EC04A63601A7}"/>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4152900"/>
        </p:xfrm>
        <a:graphic xmlns:a="http://schemas.openxmlformats.org/drawingml/2006/main">
          <a:graphicData uri="http://schemas.openxmlformats.org/drawingml/2006/table">
            <a:tbl>
              <a:tblPr firstRow="1" bandRow="1"/>
              <a:tblGrid>
                <a:gridCol w="2164080"/>
                <a:gridCol w="1923627"/>
                <a:gridCol w="4809067"/>
                <a:gridCol w="1923627"/>
              </a:tblGrid>
              <a:tr h="552450">
                <a:tc>
                  <a:txBody>
                    <a:bodyPr>
                      <a:normAutofit/>
                    </a:bodyPr>
                    <a:lstStyle/>
                    <a:p>
                      <a:r>
                        <a:rPr sz="1200" b="1">
                          <a:solidFill>
                            <a:srgbClr val="FFFFFF"/>
                          </a:solidFill>
                          <a:latin typeface="Calibri"/>
                          <a:ea typeface="Calibri"/>
                          <a:cs typeface="Calibri"/>
                        </a:rPr>
                        <a:t>Offering</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What It Is</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Scale &amp; Traction Evidence</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Role</a:t>
                      </a:r>
                    </a:p>
                  </a:txBody>
                  <a:tcPr marL="91440" marR="91440" marT="45720" marB="45720">
                    <a:solidFill>
                      <a:srgbClr val="0F766E"/>
                    </a:solidFill>
                  </a:tcPr>
                </a:tc>
              </a:tr>
              <a:tr h="1800225">
                <a:tc>
                  <a:txBody>
                    <a:bodyPr>
                      <a:normAutofit/>
                    </a:bodyPr>
                    <a:lstStyle/>
                    <a:p>
                      <a:r>
                        <a:rPr sz="1125">
                          <a:solidFill>
                            <a:srgbClr val="12372A"/>
                          </a:solidFill>
                          <a:latin typeface="Calibri"/>
                          <a:ea typeface="Calibri"/>
                          <a:cs typeface="Calibri"/>
                        </a:rPr>
                        <a:t>Dining · Ancillary</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Casino food and beverage outlets.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Includes one fine-dining restaurant, two full-service restaurants.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Dining is delivered as inside-the-casino food-and-beverage outlets, and no dining-specific revenue share or structural-dominance metric is disclosed for American Place in the cited sources.[18][20]</a:t>
                      </a:r>
                    </a:p>
                  </a:txBody>
                  <a:tcPr marL="91440" marR="91440" marT="45720" marB="45720">
                    <a:solidFill>
                      <a:srgbClr val="FFFFFF"/>
                    </a:solidFill>
                  </a:tcPr>
                </a:tc>
              </a:tr>
              <a:tr h="1800225">
                <a:tc>
                  <a:txBody>
                    <a:bodyPr>
                      <a:normAutofit/>
                    </a:bodyPr>
                    <a:lstStyle/>
                    <a:p>
                      <a:r>
                        <a:rPr sz="1125">
                          <a:solidFill>
                            <a:srgbClr val="12372A"/>
                          </a:solidFill>
                          <a:latin typeface="Calibri"/>
                          <a:ea typeface="Calibri"/>
                          <a:cs typeface="Calibri"/>
                        </a:rPr>
                        <a:t>Entertainment · Ancillary</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Live music, DJ sets, and ticketed shows.</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DJ sets run Fridays &amp; Saturdays 7:00 PM-1:00 AM.</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Entertainment is offered as on-property programming around the casino, and no entertainment-specific revenue share or structural-dominance metric is disclosed for American Place in the cited sources.[21]</a:t>
                      </a:r>
                    </a:p>
                  </a:txBody>
                  <a:tcPr marL="91440" marR="91440" marT="45720" marB="45720">
                    <a:solidFill>
                      <a:srgbClr val="F0EEF8"/>
                    </a:solidFill>
                  </a:tcPr>
                </a:tc>
              </a:tr>
            </a:tbl>
          </a:graphicData>
        </a:graphic>
      </p:graphicFrame>
      <p:sp>
        <p:nvSpPr>
          <p:cNvPr id="4" name="">
            <a:extLst xmlns:a="http://schemas.openxmlformats.org/drawingml/2006/main">
              <a:ext uri="{FF2B5EF4-FFF2-40B4-BE49-F238E27FC236}">
                <a16:creationId xmlns:a16="http://schemas.microsoft.com/office/drawing/2014/main" id="{7F2797BB-6141-4F63-B5A9-5AA7EBFCD577}"/>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10</a:t>
            </a:r>
          </a:p>
        </p:txBody>
      </p:sp>
    </p:spTree>
    <p:extLst>
      <p:ext uri="{BB962C8B-B14F-4D97-AF65-F5344CB8AC3E}">
        <p14:creationId xmlns:p14="http://schemas.microsoft.com/office/powerpoint/2010/main" val="2145940252"/>
      </p:ext>
    </p:extLst>
  </p:cSld>
</p:sld>
</file>

<file path=ppt/slides/slide11.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0750A6-6125-4369-BB2F-FA2DD89B5458}"/>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Business Model</a:t>
            </a:r>
          </a:p>
        </p:txBody>
      </p:sp>
      <p:sp>
        <p:nvSpPr>
          <p:cNvPr id="2" name="title-rule">
            <a:extLst xmlns:a="http://schemas.openxmlformats.org/drawingml/2006/main">
              <a:ext uri="{FF2B5EF4-FFF2-40B4-BE49-F238E27FC236}">
                <a16:creationId xmlns:a16="http://schemas.microsoft.com/office/drawing/2014/main" id="{8C24C183-591D-45FA-8926-5A2BF23BFA09}"/>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D34BDD8-184D-4A63-9804-E46482670CE9}"/>
              </a:ext>
            </a:extLst>
          </p:cNvPr>
          <p:cNvSpPr>
            <a:spLocks xmlns:a="http://schemas.openxmlformats.org/drawingml/2006/main" noGrp="1"/>
          </p:cNvSpPr>
          <p:nvPr/>
        </p:nvSpPr>
        <p:spPr>
          <a:xfrm xmlns:a="http://schemas.openxmlformats.org/drawingml/2006/main">
            <a:off x="914400" y="2847975"/>
            <a:ext cx="101346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2372A"/>
                </a:solidFill>
                <a:latin typeface="Calibri"/>
                <a:ea typeface="Calibri"/>
                <a:cs typeface="Calibri"/>
              </a:defRPr>
            </a:pPr>
            <a:r>
              <a:rPr sz="1950" b="1">
                <a:solidFill>
                  <a:srgbClr val="12372A"/>
                </a:solidFill>
                <a:latin typeface="Calibri"/>
                <a:ea typeface="Calibri"/>
                <a:cs typeface="Calibri"/>
              </a:rPr>
              <a:t>American Place is a locals-first casino built to turn repeat visits into on-site spending. It makes money mainly from casino gaming [14][15], then adds revenue from sports wagering, poker, dining, entertainment, and private events [16][17][18][80]. The model works because local drive-in guests can be pushed to stay longer and spend more across the property, so the buyer should view the business as dependent on repeat regional demand and on the permanent casino plan being delivered on time [2][13][14].</a:t>
            </a:r>
          </a:p>
        </p:txBody>
      </p:sp>
      <p:sp>
        <p:nvSpPr>
          <p:cNvPr id="4" name="">
            <a:extLst xmlns:a="http://schemas.openxmlformats.org/drawingml/2006/main">
              <a:ext uri="{FF2B5EF4-FFF2-40B4-BE49-F238E27FC236}">
                <a16:creationId xmlns:a16="http://schemas.microsoft.com/office/drawing/2014/main" id="{B44752F7-14AD-4ACE-823A-7CE1C2D412B8}"/>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11</a:t>
            </a:r>
          </a:p>
        </p:txBody>
      </p:sp>
    </p:spTree>
    <p:extLst>
      <p:ext uri="{BB962C8B-B14F-4D97-AF65-F5344CB8AC3E}">
        <p14:creationId xmlns:p14="http://schemas.microsoft.com/office/powerpoint/2010/main" val="1216187206"/>
      </p:ext>
    </p:extLst>
  </p:cSld>
</p:sld>
</file>

<file path=ppt/slides/slide12.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5E79FC-A671-402A-B5A9-475EE4404D85}"/>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Business Model</a:t>
            </a:r>
          </a:p>
        </p:txBody>
      </p:sp>
      <p:sp>
        <p:nvSpPr>
          <p:cNvPr id="2" name="title-rule">
            <a:extLst xmlns:a="http://schemas.openxmlformats.org/drawingml/2006/main">
              <a:ext uri="{FF2B5EF4-FFF2-40B4-BE49-F238E27FC236}">
                <a16:creationId xmlns:a16="http://schemas.microsoft.com/office/drawing/2014/main" id="{2499C436-AB88-464C-8CF0-98A9109CFF81}"/>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3600450"/>
        </p:xfrm>
        <a:graphic xmlns:a="http://schemas.openxmlformats.org/drawingml/2006/main">
          <a:graphicData uri="http://schemas.openxmlformats.org/drawingml/2006/table">
            <a:tbl>
              <a:tblPr firstRow="1" bandRow="1"/>
              <a:tblGrid>
                <a:gridCol w="2164080"/>
                <a:gridCol w="1923627"/>
                <a:gridCol w="1923627"/>
                <a:gridCol w="4809067"/>
              </a:tblGrid>
              <a:tr h="552450">
                <a:tc>
                  <a:txBody>
                    <a:bodyPr>
                      <a:normAutofit/>
                    </a:bodyPr>
                    <a:lstStyle/>
                    <a:p>
                      <a:r>
                        <a:rPr sz="1200" b="1">
                          <a:solidFill>
                            <a:srgbClr val="FFFFFF"/>
                          </a:solidFill>
                          <a:latin typeface="Calibri"/>
                          <a:ea typeface="Calibri"/>
                          <a:cs typeface="Calibri"/>
                        </a:rPr>
                        <a:t>Revenue Mechanism</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Customer Segments</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Revenue Model</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Growth Drivers</a:t>
                      </a:r>
                    </a:p>
                  </a:txBody>
                  <a:tcPr marL="91440" marR="91440" marT="45720" marB="45720">
                    <a:solidFill>
                      <a:srgbClr val="0F766E"/>
                    </a:solidFill>
                  </a:tcPr>
                </a:tc>
              </a:tr>
              <a:tr h="1076325">
                <a:tc>
                  <a:txBody>
                    <a:bodyPr>
                      <a:normAutofit/>
                    </a:bodyPr>
                    <a:lstStyle/>
                    <a:p>
                      <a:r>
                        <a:rPr sz="1125">
                          <a:solidFill>
                            <a:srgbClr val="12372A"/>
                          </a:solidFill>
                          <a:latin typeface="Calibri"/>
                          <a:ea typeface="Calibri"/>
                          <a:cs typeface="Calibri"/>
                        </a:rPr>
                        <a:t>Casino Gaming</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Local drive-in patrons and frequent slot and table players [54][55][56][57][58].</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The property earns gaming win from slot machines and table games, making this the core cash engine [14][15].</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More visits, longer stays, and better wallet share from repeat gaming guests drive this revenue [14][56][57][58].</a:t>
                      </a:r>
                    </a:p>
                  </a:txBody>
                  <a:tcPr marL="91440" marR="91440" marT="45720" marB="45720">
                    <a:solidFill>
                      <a:srgbClr val="FFFFFF"/>
                    </a:solidFill>
                  </a:tcPr>
                </a:tc>
              </a:tr>
              <a:tr h="1076325">
                <a:tc>
                  <a:txBody>
                    <a:bodyPr>
                      <a:normAutofit/>
                    </a:bodyPr>
                    <a:lstStyle/>
                    <a:p>
                      <a:r>
                        <a:rPr sz="1125">
                          <a:solidFill>
                            <a:srgbClr val="12372A"/>
                          </a:solidFill>
                          <a:latin typeface="Calibri"/>
                          <a:ea typeface="Calibri"/>
                          <a:cs typeface="Calibri"/>
                        </a:rPr>
                        <a:t>Sportsbook</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Sports bettors who use the retail book or statewide mobile wagering access [16][59][60][61].</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The company earns revenue when sports wagers are settled, with the book acting as a linked gaming offer [16].</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Growth comes from cross-selling to casino guests and bringing in bettors who may also spend on property [59][60][61].</a:t>
                      </a:r>
                    </a:p>
                  </a:txBody>
                  <a:tcPr marL="91440" marR="91440" marT="45720" marB="45720">
                    <a:solidFill>
                      <a:srgbClr val="F0EEF8"/>
                    </a:solidFill>
                  </a:tcPr>
                </a:tc>
              </a:tr>
              <a:tr h="895350">
                <a:tc>
                  <a:txBody>
                    <a:bodyPr>
                      <a:normAutofit/>
                    </a:bodyPr>
                    <a:lstStyle/>
                    <a:p>
                      <a:r>
                        <a:rPr sz="1125">
                          <a:solidFill>
                            <a:srgbClr val="12372A"/>
                          </a:solidFill>
                          <a:latin typeface="Calibri"/>
                          <a:ea typeface="Calibri"/>
                          <a:cs typeface="Calibri"/>
                        </a:rPr>
                        <a:t>Poker</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Poker players and gaming customers who extend their visit [15][56][57][58].</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Poker-room play generates gaming revenue through the Harbor Poker Room [15].</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It grows by keeping players on site longer and making the property more useful for regular gaming trips [56][57][58].</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3C0EA96-9894-4F79-AB88-3E412B720CF8}"/>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12</a:t>
            </a:r>
          </a:p>
        </p:txBody>
      </p:sp>
    </p:spTree>
    <p:extLst>
      <p:ext uri="{BB962C8B-B14F-4D97-AF65-F5344CB8AC3E}">
        <p14:creationId xmlns:p14="http://schemas.microsoft.com/office/powerpoint/2010/main" val="146224254"/>
      </p:ext>
    </p:extLst>
  </p:cSld>
</p:sld>
</file>

<file path=ppt/slides/slide13.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FB8FEC-895B-4257-85D1-13F9D5FF8DDC}"/>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Business Model continued</a:t>
            </a:r>
          </a:p>
        </p:txBody>
      </p:sp>
      <p:sp>
        <p:nvSpPr>
          <p:cNvPr id="2" name="title-rule">
            <a:extLst xmlns:a="http://schemas.openxmlformats.org/drawingml/2006/main">
              <a:ext uri="{FF2B5EF4-FFF2-40B4-BE49-F238E27FC236}">
                <a16:creationId xmlns:a16="http://schemas.microsoft.com/office/drawing/2014/main" id="{9B96CF96-C2D8-4546-9F80-A264A369DAAE}"/>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3600450"/>
        </p:xfrm>
        <a:graphic xmlns:a="http://schemas.openxmlformats.org/drawingml/2006/main">
          <a:graphicData uri="http://schemas.openxmlformats.org/drawingml/2006/table">
            <a:tbl>
              <a:tblPr firstRow="1" bandRow="1"/>
              <a:tblGrid>
                <a:gridCol w="2164080"/>
                <a:gridCol w="1923627"/>
                <a:gridCol w="1923627"/>
                <a:gridCol w="4809067"/>
              </a:tblGrid>
              <a:tr h="552450">
                <a:tc>
                  <a:txBody>
                    <a:bodyPr>
                      <a:normAutofit/>
                    </a:bodyPr>
                    <a:lstStyle/>
                    <a:p>
                      <a:r>
                        <a:rPr sz="1200" b="1">
                          <a:solidFill>
                            <a:srgbClr val="FFFFFF"/>
                          </a:solidFill>
                          <a:latin typeface="Calibri"/>
                          <a:ea typeface="Calibri"/>
                          <a:cs typeface="Calibri"/>
                        </a:rPr>
                        <a:t>Revenue Mechanism</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Customer Segments</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Revenue Model</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Growth Drivers</a:t>
                      </a:r>
                    </a:p>
                  </a:txBody>
                  <a:tcPr marL="91440" marR="91440" marT="45720" marB="45720">
                    <a:solidFill>
                      <a:srgbClr val="0F766E"/>
                    </a:solidFill>
                  </a:tcPr>
                </a:tc>
              </a:tr>
              <a:tr h="1076325">
                <a:tc>
                  <a:txBody>
                    <a:bodyPr>
                      <a:normAutofit/>
                    </a:bodyPr>
                    <a:lstStyle/>
                    <a:p>
                      <a:r>
                        <a:rPr sz="1125">
                          <a:solidFill>
                            <a:srgbClr val="12372A"/>
                          </a:solidFill>
                          <a:latin typeface="Calibri"/>
                          <a:ea typeface="Calibri"/>
                          <a:cs typeface="Calibri"/>
                        </a:rPr>
                        <a:t>Food and Beverage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Casino guests, dining patrons, and social visitors [10][17].</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Restaurants and bars sell food and drinks on property, capturing spend around gaming and social visits [10][17].</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Growth depends on turning gaming trips into longer visits and on adding spend around meals and drinks [10][17].</a:t>
                      </a:r>
                    </a:p>
                  </a:txBody>
                  <a:tcPr marL="91440" marR="91440" marT="45720" marB="45720">
                    <a:solidFill>
                      <a:srgbClr val="FFFFFF"/>
                    </a:solidFill>
                  </a:tcPr>
                </a:tc>
              </a:tr>
              <a:tr h="1076325">
                <a:tc>
                  <a:txBody>
                    <a:bodyPr>
                      <a:normAutofit/>
                    </a:bodyPr>
                    <a:lstStyle/>
                    <a:p>
                      <a:r>
                        <a:rPr sz="1125">
                          <a:solidFill>
                            <a:srgbClr val="12372A"/>
                          </a:solidFill>
                          <a:latin typeface="Calibri"/>
                          <a:ea typeface="Calibri"/>
                          <a:cs typeface="Calibri"/>
                        </a:rPr>
                        <a:t>Entertainment</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Live-event guests and ticketed performance visitors [18][77][78][79].</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The company earns from ticket sales and related event spend tied to shows and venue use [18][77][78][79].</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It grows by using events to bring in more visitors who can then spend on gaming, food, and drinks [77][78][79].</a:t>
                      </a:r>
                    </a:p>
                  </a:txBody>
                  <a:tcPr marL="91440" marR="91440" marT="45720" marB="45720">
                    <a:solidFill>
                      <a:srgbClr val="F0EEF8"/>
                    </a:solidFill>
                  </a:tcPr>
                </a:tc>
              </a:tr>
              <a:tr h="895350">
                <a:tc>
                  <a:txBody>
                    <a:bodyPr>
                      <a:normAutofit/>
                    </a:bodyPr>
                    <a:lstStyle/>
                    <a:p>
                      <a:r>
                        <a:rPr sz="1125">
                          <a:solidFill>
                            <a:srgbClr val="12372A"/>
                          </a:solidFill>
                          <a:latin typeface="Calibri"/>
                          <a:ea typeface="Calibri"/>
                          <a:cs typeface="Calibri"/>
                        </a:rPr>
                        <a:t>Meetings and Social Events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Social celebration hosts and corporate meeting planners [80].</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The property earns venue and hosting fees, plus related food and beverage sales [80].</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Growth comes from winning more group bookings and making the site useful for non-gaming occasions [80].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CCDE58E-EF06-45B6-A5A5-F2D460611333}"/>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13</a:t>
            </a:r>
          </a:p>
        </p:txBody>
      </p:sp>
    </p:spTree>
    <p:extLst>
      <p:ext uri="{BB962C8B-B14F-4D97-AF65-F5344CB8AC3E}">
        <p14:creationId xmlns:p14="http://schemas.microsoft.com/office/powerpoint/2010/main" val="228063386"/>
      </p:ext>
    </p:extLst>
  </p:cSld>
</p:sld>
</file>

<file path=ppt/slides/slide14.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A14B9C-2874-409D-B0B5-ED4218EF5280}"/>
              </a:ext>
            </a:extLst>
          </p:cNvPr>
          <p:cNvSpPr>
            <a:spLocks xmlns:a="http://schemas.openxmlformats.org/drawingml/2006/main" noGrp="1"/>
          </p:cNvSpPr>
          <p:nvPr/>
        </p:nvSpPr>
        <p:spPr>
          <a:xfrm xmlns:a="http://schemas.openxmlformats.org/drawingml/2006/main">
            <a:off x="685800" y="3619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F766E"/>
                </a:solidFill>
                <a:latin typeface="Calibri"/>
                <a:ea typeface="Calibri"/>
                <a:cs typeface="Calibri"/>
              </a:defRPr>
            </a:pPr>
            <a:r>
              <a:rPr sz="900" b="1">
                <a:solidFill>
                  <a:srgbClr val="0F766E"/>
                </a:solidFill>
                <a:latin typeface="Calibri"/>
                <a:ea typeface="Calibri"/>
                <a:cs typeface="Calibri"/>
              </a:rPr>
              <a:t>GEOGRAPHICAL FOOTPRINT</a:t>
            </a:r>
          </a:p>
        </p:txBody>
      </p:sp>
      <p:sp>
        <p:nvSpPr>
          <p:cNvPr id="2" name="">
            <a:extLst xmlns:a="http://schemas.openxmlformats.org/drawingml/2006/main">
              <a:ext uri="{FF2B5EF4-FFF2-40B4-BE49-F238E27FC236}">
                <a16:creationId xmlns:a16="http://schemas.microsoft.com/office/drawing/2014/main" id="{9C9F6F91-9D2B-43F4-BE40-0A1F4A13DACE}"/>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American Casino — United States geographic footprint</a:t>
            </a:r>
          </a:p>
        </p:txBody>
      </p:sp>
      <p:sp>
        <p:nvSpPr>
          <p:cNvPr id="3" name="title-rule">
            <a:extLst xmlns:a="http://schemas.openxmlformats.org/drawingml/2006/main">
              <a:ext uri="{FF2B5EF4-FFF2-40B4-BE49-F238E27FC236}">
                <a16:creationId xmlns:a16="http://schemas.microsoft.com/office/drawing/2014/main" id="{11BA904A-582D-465A-AEA3-822156488901}"/>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3DCECD2-7C44-4439-9AB3-456B7F42C9F1}"/>
              </a:ext>
            </a:extLst>
          </p:cNvPr>
          <p:cNvSpPr>
            <a:spLocks xmlns:a="http://schemas.openxmlformats.org/drawingml/2006/main" noGrp="1"/>
          </p:cNvSpPr>
          <p:nvPr/>
        </p:nvSpPr>
        <p:spPr>
          <a:xfrm xmlns:a="http://schemas.openxmlformats.org/drawingml/2006/main">
            <a:off x="723900" y="3219450"/>
            <a:ext cx="36385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As of 2006E PF, visibility sits in Las Vegas and Laughlin rather than a broad U.S. base, with only four disclosed properties. [1][2]</a:t>
            </a:r>
          </a:p>
        </p:txBody>
      </p:sp>
      <p:graphicFrame>
        <p:nvGraphicFramePr>
          <p:cNvPr id="11" name="Chart"/>
          <p:cNvGraphicFramePr/>
          <p:nvPr/>
        </p:nvGraphicFramePr>
        <p:xfrm>
          <a:off xmlns:a="http://schemas.openxmlformats.org/drawingml/2006/main" x="4572000" y="1619250"/>
          <a:ext xmlns:a="http://schemas.openxmlformats.org/drawingml/2006/main" cx="6800850" cy="4171950"/>
        </p:xfrm>
        <a:graphic xmlns:a="http://schemas.openxmlformats.org/drawingml/2006/main">
          <a:graphicData uri="http://schemas.openxmlformats.org/drawingml/2006/chart">
            <c:chart xmlns:r="http://schemas.openxmlformats.org/officeDocument/2006/relationships" xmlns:c="http://schemas.openxmlformats.org/drawingml/2006/chart" r:id="R00d080b2a88b4514"/>
          </a:graphicData>
        </a:graphic>
      </p:graphicFrame>
      <p:sp>
        <p:nvSpPr>
          <p:cNvPr id="6" name="">
            <a:extLst xmlns:a="http://schemas.openxmlformats.org/drawingml/2006/main">
              <a:ext uri="{FF2B5EF4-FFF2-40B4-BE49-F238E27FC236}">
                <a16:creationId xmlns:a16="http://schemas.microsoft.com/office/drawing/2014/main" id="{4F61899B-5303-487A-9690-A30791A7AF9D}"/>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14</a:t>
            </a:r>
          </a:p>
        </p:txBody>
      </p:sp>
    </p:spTree>
    <p:extLst>
      <p:ext uri="{BB962C8B-B14F-4D97-AF65-F5344CB8AC3E}">
        <p14:creationId xmlns:p14="http://schemas.microsoft.com/office/powerpoint/2010/main" val="1424546978"/>
      </p:ext>
    </p:extLst>
  </p:cSld>
</p:sld>
</file>

<file path=ppt/slides/slide15.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342FEE4-8E55-4539-A76A-9864DD178EE3}"/>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Geographical Footprint</a:t>
            </a:r>
          </a:p>
        </p:txBody>
      </p:sp>
      <p:sp>
        <p:nvSpPr>
          <p:cNvPr id="2" name="title-rule">
            <a:extLst xmlns:a="http://schemas.openxmlformats.org/drawingml/2006/main">
              <a:ext uri="{FF2B5EF4-FFF2-40B4-BE49-F238E27FC236}">
                <a16:creationId xmlns:a16="http://schemas.microsoft.com/office/drawing/2014/main" id="{FD353ADF-4AC2-4BEF-80B8-6DC383415C33}"/>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4495800"/>
        </p:xfrm>
        <a:graphic xmlns:a="http://schemas.openxmlformats.org/drawingml/2006/main">
          <a:graphicData uri="http://schemas.openxmlformats.org/drawingml/2006/table">
            <a:tbl>
              <a:tblPr firstRow="1" bandRow="1"/>
              <a:tblGrid>
                <a:gridCol w="2951018"/>
                <a:gridCol w="2623127"/>
                <a:gridCol w="2623127"/>
                <a:gridCol w="2623127"/>
              </a:tblGrid>
              <a:tr h="552450">
                <a:tc>
                  <a:txBody>
                    <a:bodyPr>
                      <a:normAutofit/>
                    </a:bodyPr>
                    <a:lstStyle/>
                    <a:p>
                      <a:r>
                        <a:rPr sz="1200" b="1">
                          <a:solidFill>
                            <a:srgbClr val="FFFFFF"/>
                          </a:solidFill>
                          <a:latin typeface="Calibri"/>
                          <a:ea typeface="Calibri"/>
                          <a:cs typeface="Calibri"/>
                        </a:rPr>
                        <a:t>Region</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Key Markets / Cluster</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Presence</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Strategic Role / Footprint Summary</a:t>
                      </a:r>
                    </a:p>
                  </a:txBody>
                  <a:tcPr marL="91440" marR="91440" marT="45720" marB="45720">
                    <a:solidFill>
                      <a:srgbClr val="0F766E"/>
                    </a:solidFill>
                  </a:tcPr>
                </a:tc>
              </a:tr>
              <a:tr h="895350">
                <a:tc>
                  <a:txBody>
                    <a:bodyPr>
                      <a:normAutofit/>
                    </a:bodyPr>
                    <a:lstStyle/>
                    <a:p>
                      <a:r>
                        <a:rPr sz="1125">
                          <a:solidFill>
                            <a:srgbClr val="12372A"/>
                          </a:solidFill>
                          <a:latin typeface="Calibri"/>
                          <a:ea typeface="Calibri"/>
                          <a:cs typeface="Calibri"/>
                        </a:rPr>
                        <a:t>Stratosphere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Las Vegas Strip</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Major</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Strip destination anchored by its observation tower, retail and showroom, marketed to value-minded Las Vegas visitors. [1][2]</a:t>
                      </a:r>
                    </a:p>
                  </a:txBody>
                  <a:tcPr marL="91440" marR="91440" marT="45720" marB="45720">
                    <a:solidFill>
                      <a:srgbClr val="FFFFFF"/>
                    </a:solidFill>
                  </a:tcPr>
                </a:tc>
              </a:tr>
              <a:tr h="1076325">
                <a:tc>
                  <a:txBody>
                    <a:bodyPr>
                      <a:normAutofit/>
                    </a:bodyPr>
                    <a:lstStyle/>
                    <a:p>
                      <a:r>
                        <a:rPr sz="1125">
                          <a:solidFill>
                            <a:srgbClr val="12372A"/>
                          </a:solidFill>
                          <a:latin typeface="Calibri"/>
                          <a:ea typeface="Calibri"/>
                          <a:cs typeface="Calibri"/>
                        </a:rPr>
                        <a:t>Aquarius</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Laughlin</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Moderate</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Recently acquired Laughlin destination and largest local hotel, with 2006 casino upgrades and added amenities supporting tourist and resident traffic. [1][2]</a:t>
                      </a:r>
                    </a:p>
                  </a:txBody>
                  <a:tcPr marL="91440" marR="91440" marT="45720" marB="45720">
                    <a:solidFill>
                      <a:srgbClr val="F0EEF8"/>
                    </a:solidFill>
                  </a:tcPr>
                </a:tc>
              </a:tr>
              <a:tr h="1076325">
                <a:tc>
                  <a:txBody>
                    <a:bodyPr>
                      <a:normAutofit/>
                    </a:bodyPr>
                    <a:lstStyle/>
                    <a:p>
                      <a:r>
                        <a:rPr sz="1125">
                          <a:solidFill>
                            <a:srgbClr val="12372A"/>
                          </a:solidFill>
                          <a:latin typeface="Calibri"/>
                          <a:ea typeface="Calibri"/>
                          <a:cs typeface="Calibri"/>
                        </a:rPr>
                        <a:t>Arizona Charlie's Decatur</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West Las Vegas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Moderate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West Las Vegas locals casino focused on video poker; bingo, keno and sportsbook mainly attract customers for higher-volume slot play. [1][2]</a:t>
                      </a:r>
                    </a:p>
                  </a:txBody>
                  <a:tcPr marL="91440" marR="91440" marT="45720" marB="45720">
                    <a:solidFill>
                      <a:srgbClr val="FFFFFF"/>
                    </a:solidFill>
                  </a:tcPr>
                </a:tc>
              </a:tr>
              <a:tr h="1076325">
                <a:tc>
                  <a:txBody>
                    <a:bodyPr>
                      <a:normAutofit/>
                    </a:bodyPr>
                    <a:lstStyle/>
                    <a:p>
                      <a:r>
                        <a:rPr sz="1125">
                          <a:solidFill>
                            <a:srgbClr val="12372A"/>
                          </a:solidFill>
                          <a:latin typeface="Calibri"/>
                          <a:ea typeface="Calibri"/>
                          <a:cs typeface="Calibri"/>
                        </a:rPr>
                        <a:t>Arizona Charlie's Boulder</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Boulder Strip</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Minor</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East Las Vegas locals casino with RV park; June 2006 gaming expansion increased capacity, while video poker remains its core traffic driver. [1][2]</a:t>
                      </a:r>
                    </a:p>
                  </a:txBody>
                  <a:tcPr marL="91440" marR="91440" marT="45720" marB="45720">
                    <a:solidFill>
                      <a:srgbClr val="F0EEF8"/>
                    </a:solidFill>
                  </a:tcPr>
                </a:tc>
              </a:tr>
            </a:tbl>
          </a:graphicData>
        </a:graphic>
      </p:graphicFrame>
      <p:sp>
        <p:nvSpPr>
          <p:cNvPr id="4" name="">
            <a:extLst xmlns:a="http://schemas.openxmlformats.org/drawingml/2006/main">
              <a:ext uri="{FF2B5EF4-FFF2-40B4-BE49-F238E27FC236}">
                <a16:creationId xmlns:a16="http://schemas.microsoft.com/office/drawing/2014/main" id="{292930C9-AD34-4E5C-A088-0F3E930BE1B7}"/>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15</a:t>
            </a:r>
          </a:p>
        </p:txBody>
      </p:sp>
    </p:spTree>
    <p:extLst>
      <p:ext uri="{BB962C8B-B14F-4D97-AF65-F5344CB8AC3E}">
        <p14:creationId xmlns:p14="http://schemas.microsoft.com/office/powerpoint/2010/main" val="548160243"/>
      </p:ext>
    </p:extLst>
  </p:cSld>
</p:sld>
</file>

<file path=ppt/slides/slide16.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93EE05-31B0-4B34-AF81-2366659E9FBA}"/>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Recent Strategic Developments</a:t>
            </a:r>
          </a:p>
        </p:txBody>
      </p:sp>
      <p:sp>
        <p:nvSpPr>
          <p:cNvPr id="2" name="title-rule">
            <a:extLst xmlns:a="http://schemas.openxmlformats.org/drawingml/2006/main">
              <a:ext uri="{FF2B5EF4-FFF2-40B4-BE49-F238E27FC236}">
                <a16:creationId xmlns:a16="http://schemas.microsoft.com/office/drawing/2014/main" id="{DA748DAD-BEA2-48D2-A2FC-7CB0BA420D2E}"/>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A120B78-BD1C-4A05-87F8-F3081175EED3}"/>
              </a:ext>
            </a:extLst>
          </p:cNvPr>
          <p:cNvSpPr>
            <a:spLocks xmlns:a="http://schemas.openxmlformats.org/drawingml/2006/main" noGrp="1"/>
          </p:cNvSpPr>
          <p:nvPr/>
        </p:nvSpPr>
        <p:spPr>
          <a:xfrm xmlns:a="http://schemas.openxmlformats.org/drawingml/2006/main">
            <a:off x="914400" y="1714500"/>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On March 24, 2026, American Place appointed Mario Maesano as Assistant General Manager.[4] No economics were disclosed.</a:t>
            </a:r>
          </a:p>
        </p:txBody>
      </p:sp>
      <p:sp>
        <p:nvSpPr>
          <p:cNvPr id="4" name="">
            <a:extLst xmlns:a="http://schemas.openxmlformats.org/drawingml/2006/main">
              <a:ext uri="{FF2B5EF4-FFF2-40B4-BE49-F238E27FC236}">
                <a16:creationId xmlns:a16="http://schemas.microsoft.com/office/drawing/2014/main" id="{EF055DF8-09CE-46E6-AB4A-1B49ACA2D9C7}"/>
              </a:ext>
            </a:extLst>
          </p:cNvPr>
          <p:cNvSpPr>
            <a:spLocks xmlns:a="http://schemas.openxmlformats.org/drawingml/2006/main" noGrp="1"/>
          </p:cNvSpPr>
          <p:nvPr/>
        </p:nvSpPr>
        <p:spPr>
          <a:xfrm xmlns:a="http://schemas.openxmlformats.org/drawingml/2006/main">
            <a:off x="914400" y="2409825"/>
            <a:ext cx="10134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On June 3, 2026, American Place started construction of a USD 302.00M permanent casino on a 42-acre site with Power Construction, Powers &amp; Sons Construction, WATG, and the City of Waukegan.[3] The project is about twice the size of the temporary casino, with about 40% more slot machines and 85% more table games, and is targeted to open in about two years.[3]</a:t>
            </a:r>
          </a:p>
        </p:txBody>
      </p:sp>
      <p:sp>
        <p:nvSpPr>
          <p:cNvPr id="5" name="">
            <a:extLst xmlns:a="http://schemas.openxmlformats.org/drawingml/2006/main">
              <a:ext uri="{FF2B5EF4-FFF2-40B4-BE49-F238E27FC236}">
                <a16:creationId xmlns:a16="http://schemas.microsoft.com/office/drawing/2014/main" id="{22896407-78AA-48B8-84E1-151322EBE19C}"/>
              </a:ext>
            </a:extLst>
          </p:cNvPr>
          <p:cNvSpPr>
            <a:spLocks xmlns:a="http://schemas.openxmlformats.org/drawingml/2006/main" noGrp="1"/>
          </p:cNvSpPr>
          <p:nvPr/>
        </p:nvSpPr>
        <p:spPr>
          <a:xfrm xmlns:a="http://schemas.openxmlformats.org/drawingml/2006/main">
            <a:off x="914400" y="3571875"/>
            <a:ext cx="101346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In August 2025, with a ribbon-cutting on August 20, 2025, American Place opened the 6-table Harbor Poker Room inside its temporary casino.[5] The room offers Texas Hold'em and Omaha and added 11 poker-specific hires, with plans for 5 more.[5]</a:t>
            </a:r>
          </a:p>
        </p:txBody>
      </p:sp>
      <p:sp>
        <p:nvSpPr>
          <p:cNvPr id="6" name="">
            <a:extLst xmlns:a="http://schemas.openxmlformats.org/drawingml/2006/main">
              <a:ext uri="{FF2B5EF4-FFF2-40B4-BE49-F238E27FC236}">
                <a16:creationId xmlns:a16="http://schemas.microsoft.com/office/drawing/2014/main" id="{9D96A2D2-DF1F-4913-985A-33179920768B}"/>
              </a:ext>
            </a:extLst>
          </p:cNvPr>
          <p:cNvSpPr>
            <a:spLocks xmlns:a="http://schemas.openxmlformats.org/drawingml/2006/main" noGrp="1"/>
          </p:cNvSpPr>
          <p:nvPr/>
        </p:nvSpPr>
        <p:spPr>
          <a:xfrm xmlns:a="http://schemas.openxmlformats.org/drawingml/2006/main">
            <a:off x="914400" y="4495800"/>
            <a:ext cx="101346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On September 2, 2026, FHR-Illinois LLC and the City of Waukegan amended the Development and Host Community Agreement for American Place.[1] The deal extended the temporary-facility deadline to February 17, 2029, let part of the temporary facility become an entertainment venue for about 1,500 attendees, and replaced the boutique hotel opening obligation with a USD 750.00 per day late-opening fee after Phase 1 opens.[1] On June 12, 2026, the Illinois Gaming Board also approved an 18-month extension for the temporary casino to operate through February 17, 2029.[2]</a:t>
            </a:r>
          </a:p>
        </p:txBody>
      </p:sp>
      <p:sp>
        <p:nvSpPr>
          <p:cNvPr id="7" name="">
            <a:extLst xmlns:a="http://schemas.openxmlformats.org/drawingml/2006/main">
              <a:ext uri="{FF2B5EF4-FFF2-40B4-BE49-F238E27FC236}">
                <a16:creationId xmlns:a16="http://schemas.microsoft.com/office/drawing/2014/main" id="{9B835D38-0ABE-4A59-BE26-570074580F20}"/>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16</a:t>
            </a:r>
          </a:p>
        </p:txBody>
      </p:sp>
    </p:spTree>
    <p:extLst>
      <p:ext uri="{BB962C8B-B14F-4D97-AF65-F5344CB8AC3E}">
        <p14:creationId xmlns:p14="http://schemas.microsoft.com/office/powerpoint/2010/main" val="1351186106"/>
      </p:ext>
    </p:extLst>
  </p:cSld>
</p:sld>
</file>

<file path=ppt/slides/slide17.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B454CB3-14E7-4EDF-9525-4211E91985FC}"/>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Customer Segments</a:t>
            </a:r>
          </a:p>
        </p:txBody>
      </p:sp>
      <p:sp>
        <p:nvSpPr>
          <p:cNvPr id="2" name="title-rule">
            <a:extLst xmlns:a="http://schemas.openxmlformats.org/drawingml/2006/main">
              <a:ext uri="{FF2B5EF4-FFF2-40B4-BE49-F238E27FC236}">
                <a16:creationId xmlns:a16="http://schemas.microsoft.com/office/drawing/2014/main" id="{6EE19D08-1320-444E-BEE7-703097F4CD79}"/>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A15F029-331D-4FE3-8C2E-629DF0B7D814}"/>
              </a:ext>
            </a:extLst>
          </p:cNvPr>
          <p:cNvSpPr>
            <a:spLocks xmlns:a="http://schemas.openxmlformats.org/drawingml/2006/main" noGrp="1"/>
          </p:cNvSpPr>
          <p:nvPr/>
        </p:nvSpPr>
        <p:spPr>
          <a:xfrm xmlns:a="http://schemas.openxmlformats.org/drawingml/2006/main">
            <a:off x="914400" y="1800225"/>
            <a:ext cx="10134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Customer base is centered on full-presence gaming, food and beverage, and group events</a:t>
            </a:r>
          </a:p>
        </p:txBody>
      </p:sp>
      <p:sp>
        <p:nvSpPr>
          <p:cNvPr id="4" name="">
            <a:extLst xmlns:a="http://schemas.openxmlformats.org/drawingml/2006/main">
              <a:ext uri="{FF2B5EF4-FFF2-40B4-BE49-F238E27FC236}">
                <a16:creationId xmlns:a16="http://schemas.microsoft.com/office/drawing/2014/main" id="{32B66F98-C547-4DDB-8E5D-2986FE21CB44}"/>
              </a:ext>
            </a:extLst>
          </p:cNvPr>
          <p:cNvSpPr>
            <a:spLocks xmlns:a="http://schemas.openxmlformats.org/drawingml/2006/main" noGrp="1"/>
          </p:cNvSpPr>
          <p:nvPr/>
        </p:nvSpPr>
        <p:spPr>
          <a:xfrm xmlns:a="http://schemas.openxmlformats.org/drawingml/2006/main">
            <a:off x="914400" y="2428875"/>
            <a:ext cx="10134600" cy="3448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The mix is anchored by largest or large full-presence segments that depend on always-available casino traffic, not a single product line. Slot-focused regional gamers, casual all-day casino diners, nightlife patrons, social hosts, table-game regulars, drink-led lounge patrons, and corporate meeting planners all help keep guests on site and spending across gaming, dining, and events.[1][3][5][10][14][15][17] Faster growth is more visible in partial-presence expansion pockets like poker cash-game players, sports bettors, special-occasion fine diners, and share-style social diners, which shows demand exists but the offer is not yet fully developed.[6][7][11][12][13] The one disclosed Gap is ticketed comedy and headline-show attendees, pointing to a missing scheduled-entertainment offer that does not behave like the always-on gaming floor.[16][15] Overall, the customer mix supports a broad core with faster-growing adjacencies that matter most for incremental visit occasions and wallet share.[5][6][7][11][16]</a:t>
            </a:r>
          </a:p>
        </p:txBody>
      </p:sp>
      <p:sp>
        <p:nvSpPr>
          <p:cNvPr id="5" name="">
            <a:extLst xmlns:a="http://schemas.openxmlformats.org/drawingml/2006/main">
              <a:ext uri="{FF2B5EF4-FFF2-40B4-BE49-F238E27FC236}">
                <a16:creationId xmlns:a16="http://schemas.microsoft.com/office/drawing/2014/main" id="{98B9FD84-2F0E-47CB-8A97-3B3DA3541DD1}"/>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17</a:t>
            </a:r>
          </a:p>
        </p:txBody>
      </p:sp>
    </p:spTree>
    <p:extLst>
      <p:ext uri="{BB962C8B-B14F-4D97-AF65-F5344CB8AC3E}">
        <p14:creationId xmlns:p14="http://schemas.microsoft.com/office/powerpoint/2010/main" val="1235113924"/>
      </p:ext>
    </p:extLst>
  </p:cSld>
</p:sld>
</file>

<file path=ppt/slides/slide18.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CBCF8C-9EA1-4139-B65F-DCEC951B2819}"/>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Customer Segments</a:t>
            </a:r>
          </a:p>
        </p:txBody>
      </p:sp>
      <p:sp>
        <p:nvSpPr>
          <p:cNvPr id="2" name="title-rule">
            <a:extLst xmlns:a="http://schemas.openxmlformats.org/drawingml/2006/main">
              <a:ext uri="{FF2B5EF4-FFF2-40B4-BE49-F238E27FC236}">
                <a16:creationId xmlns:a16="http://schemas.microsoft.com/office/drawing/2014/main" id="{2C454390-CC68-4582-88A6-99E9A1FC2CB2}"/>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3962400"/>
        </p:xfrm>
        <a:graphic xmlns:a="http://schemas.openxmlformats.org/drawingml/2006/main">
          <a:graphicData uri="http://schemas.openxmlformats.org/drawingml/2006/table">
            <a:tbl>
              <a:tblPr firstRow="1" bandRow="1"/>
              <a:tblGrid>
                <a:gridCol w="2951018"/>
                <a:gridCol w="2623127"/>
                <a:gridCol w="2623127"/>
                <a:gridCol w="2623127"/>
              </a:tblGrid>
              <a:tr h="552450">
                <a:tc>
                  <a:txBody>
                    <a:bodyPr>
                      <a:normAutofit/>
                    </a:bodyPr>
                    <a:lstStyle/>
                    <a:p>
                      <a:r>
                        <a:rPr sz="1200" b="1">
                          <a:solidFill>
                            <a:srgbClr val="FFFFFF"/>
                          </a:solidFill>
                          <a:latin typeface="Calibri"/>
                          <a:ea typeface="Calibri"/>
                          <a:cs typeface="Calibri"/>
                        </a:rPr>
                        <a:t>Customer segment</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Category</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What they buy</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Position</a:t>
                      </a:r>
                    </a:p>
                  </a:txBody>
                  <a:tcPr marL="91440" marR="91440" marT="45720" marB="45720">
                    <a:solidFill>
                      <a:srgbClr val="0F766E"/>
                    </a:solidFill>
                  </a:tcPr>
                </a:tc>
              </a:tr>
              <a:tr h="1257300">
                <a:tc>
                  <a:txBody>
                    <a:bodyPr>
                      <a:normAutofit/>
                    </a:bodyPr>
                    <a:lstStyle/>
                    <a:p>
                      <a:r>
                        <a:rPr sz="1125">
                          <a:solidFill>
                            <a:srgbClr val="12372A"/>
                          </a:solidFill>
                          <a:latin typeface="Calibri"/>
                          <a:ea typeface="Calibri"/>
                          <a:cs typeface="Calibri"/>
                        </a:rPr>
                        <a:t>Slot-focused regional gamers · Anchor</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size: largest, growth: slow</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High machine variety, 24/7 access, low-friction play, and loyalty rewards [1][3]</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This segment defends the core gaming traffic base and supports repeat visitation around convenience and rewards, making it central to day-to-day floor utilization.[1][3]</a:t>
                      </a:r>
                    </a:p>
                  </a:txBody>
                  <a:tcPr marL="91440" marR="91440" marT="45720" marB="45720">
                    <a:solidFill>
                      <a:srgbClr val="FFFFFF"/>
                    </a:solidFill>
                  </a:tcPr>
                </a:tc>
              </a:tr>
              <a:tr h="1076325">
                <a:tc>
                  <a:txBody>
                    <a:bodyPr>
                      <a:normAutofit/>
                    </a:bodyPr>
                    <a:lstStyle/>
                    <a:p>
                      <a:r>
                        <a:rPr sz="1125">
                          <a:solidFill>
                            <a:srgbClr val="12372A"/>
                          </a:solidFill>
                          <a:latin typeface="Calibri"/>
                          <a:ea typeface="Calibri"/>
                          <a:cs typeface="Calibri"/>
                        </a:rPr>
                        <a:t>Free live-music and DJ nightlife patrons · Anchor</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size: largest, growth: fast</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No-ticket programming, weekend nightlife, drinks, and easy drop-in access [15][14]</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This segment extends the property beyond gaming into high-traffic nightlife demand, helping fill the venue with drop-in visits and beverage-led spend.[15][14]</a:t>
                      </a:r>
                    </a:p>
                  </a:txBody>
                  <a:tcPr marL="91440" marR="91440" marT="45720" marB="45720">
                    <a:solidFill>
                      <a:srgbClr val="F0EEF8"/>
                    </a:solidFill>
                  </a:tcPr>
                </a:tc>
              </a:tr>
              <a:tr h="1076325">
                <a:tc>
                  <a:txBody>
                    <a:bodyPr>
                      <a:normAutofit/>
                    </a:bodyPr>
                    <a:lstStyle/>
                    <a:p>
                      <a:r>
                        <a:rPr sz="1125">
                          <a:solidFill>
                            <a:srgbClr val="12372A"/>
                          </a:solidFill>
                          <a:latin typeface="Calibri"/>
                          <a:ea typeface="Calibri"/>
                          <a:cs typeface="Calibri"/>
                        </a:rPr>
                        <a:t>Social celebration hosts · Anchor</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size: largest, growth: slow</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Private gathering space, customizable menus, bar options, and easy parking [17]</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This segment gives the business a stable group-occasion demand base that monetizes space, food, and bar spend beyond individual customer visits.[17]</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7268D04-7231-4AA2-9CA2-945B6A0D716A}"/>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18</a:t>
            </a:r>
          </a:p>
        </p:txBody>
      </p:sp>
    </p:spTree>
    <p:extLst>
      <p:ext uri="{BB962C8B-B14F-4D97-AF65-F5344CB8AC3E}">
        <p14:creationId xmlns:p14="http://schemas.microsoft.com/office/powerpoint/2010/main" val="1535672708"/>
      </p:ext>
    </p:extLst>
  </p:cSld>
</p:sld>
</file>

<file path=ppt/slides/slide19.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EEB13F5-1BCE-4551-B665-B763EA841173}"/>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Customer Segments continued</a:t>
            </a:r>
          </a:p>
        </p:txBody>
      </p:sp>
      <p:sp>
        <p:nvSpPr>
          <p:cNvPr id="2" name="title-rule">
            <a:extLst xmlns:a="http://schemas.openxmlformats.org/drawingml/2006/main">
              <a:ext uri="{FF2B5EF4-FFF2-40B4-BE49-F238E27FC236}">
                <a16:creationId xmlns:a16="http://schemas.microsoft.com/office/drawing/2014/main" id="{EE8C430F-880C-4951-AE1C-BC77A838AA47}"/>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2705100"/>
        </p:xfrm>
        <a:graphic xmlns:a="http://schemas.openxmlformats.org/drawingml/2006/main">
          <a:graphicData uri="http://schemas.openxmlformats.org/drawingml/2006/table">
            <a:tbl>
              <a:tblPr firstRow="1" bandRow="1"/>
              <a:tblGrid>
                <a:gridCol w="2951018"/>
                <a:gridCol w="2623127"/>
                <a:gridCol w="2623127"/>
                <a:gridCol w="2623127"/>
              </a:tblGrid>
              <a:tr h="552450">
                <a:tc>
                  <a:txBody>
                    <a:bodyPr>
                      <a:normAutofit/>
                    </a:bodyPr>
                    <a:lstStyle/>
                    <a:p>
                      <a:r>
                        <a:rPr sz="1200" b="1">
                          <a:solidFill>
                            <a:srgbClr val="FFFFFF"/>
                          </a:solidFill>
                          <a:latin typeface="Calibri"/>
                          <a:ea typeface="Calibri"/>
                          <a:cs typeface="Calibri"/>
                        </a:rPr>
                        <a:t>Customer segment</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Category</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What they buy</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Position</a:t>
                      </a:r>
                    </a:p>
                  </a:txBody>
                  <a:tcPr marL="91440" marR="91440" marT="45720" marB="45720">
                    <a:solidFill>
                      <a:srgbClr val="0F766E"/>
                    </a:solidFill>
                  </a:tcPr>
                </a:tc>
              </a:tr>
              <a:tr h="1076325">
                <a:tc>
                  <a:txBody>
                    <a:bodyPr>
                      <a:normAutofit/>
                    </a:bodyPr>
                    <a:lstStyle/>
                    <a:p>
                      <a:r>
                        <a:rPr sz="1125">
                          <a:solidFill>
                            <a:srgbClr val="12372A"/>
                          </a:solidFill>
                          <a:latin typeface="Calibri"/>
                          <a:ea typeface="Calibri"/>
                          <a:cs typeface="Calibri"/>
                        </a:rPr>
                        <a:t>Casual all-day casino diners · Anchor</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size: largest, growth: slow</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Broad operating hours, comfort food, quick sit-down meals, and shareables [10]</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This segment supports all-day dwell time on property, reinforcing casino convenience and capturing meal occasions that keep guests on site.[10]</a:t>
                      </a:r>
                    </a:p>
                  </a:txBody>
                  <a:tcPr marL="91440" marR="91440" marT="45720" marB="45720">
                    <a:solidFill>
                      <a:srgbClr val="FFFFFF"/>
                    </a:solidFill>
                  </a:tcPr>
                </a:tc>
              </a:tr>
              <a:tr h="1076325">
                <a:tc>
                  <a:txBody>
                    <a:bodyPr>
                      <a:normAutofit/>
                    </a:bodyPr>
                    <a:lstStyle/>
                    <a:p>
                      <a:r>
                        <a:rPr sz="1125">
                          <a:solidFill>
                            <a:srgbClr val="12372A"/>
                          </a:solidFill>
                          <a:latin typeface="Calibri"/>
                          <a:ea typeface="Calibri"/>
                          <a:cs typeface="Calibri"/>
                        </a:rPr>
                        <a:t>Drink-led lounge patrons · Anchor</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size: large, growth: fast</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Cocktails and beer, a central meetup point, extended late hours, and entertainment adjacency [14][15]</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This segment is a high-velocity adjacent spend pool that benefits from late-night traffic and the property’s role as a social meeting point.[14][15]</a:t>
                      </a:r>
                    </a:p>
                  </a:txBody>
                  <a:tcPr marL="91440" marR="91440" marT="45720" marB="45720">
                    <a:solidFill>
                      <a:srgbClr val="F0EEF8"/>
                    </a:solidFill>
                  </a:tcPr>
                </a:tc>
              </a:tr>
            </a:tbl>
          </a:graphicData>
        </a:graphic>
      </p:graphicFrame>
      <p:sp>
        <p:nvSpPr>
          <p:cNvPr id="4" name="">
            <a:extLst xmlns:a="http://schemas.openxmlformats.org/drawingml/2006/main">
              <a:ext uri="{FF2B5EF4-FFF2-40B4-BE49-F238E27FC236}">
                <a16:creationId xmlns:a16="http://schemas.microsoft.com/office/drawing/2014/main" id="{39DBDE06-2307-42EB-A091-77C04DFD11CA}"/>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19</a:t>
            </a:r>
          </a:p>
        </p:txBody>
      </p:sp>
    </p:spTree>
    <p:extLst>
      <p:ext uri="{BB962C8B-B14F-4D97-AF65-F5344CB8AC3E}">
        <p14:creationId xmlns:p14="http://schemas.microsoft.com/office/powerpoint/2010/main" val="1024451421"/>
      </p:ext>
    </p:extLst>
  </p:cSld>
</p:sld>
</file>

<file path=ppt/slides/slide20.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628B6C-37A2-4631-8D83-D9B0FB433F8E}"/>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Customer Segments continued</a:t>
            </a:r>
          </a:p>
        </p:txBody>
      </p:sp>
      <p:sp>
        <p:nvSpPr>
          <p:cNvPr id="2" name="title-rule">
            <a:extLst xmlns:a="http://schemas.openxmlformats.org/drawingml/2006/main">
              <a:ext uri="{FF2B5EF4-FFF2-40B4-BE49-F238E27FC236}">
                <a16:creationId xmlns:a16="http://schemas.microsoft.com/office/drawing/2014/main" id="{C3F7CBEA-CA8A-4F1D-8BB8-8A45C06D08FF}"/>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2705100"/>
        </p:xfrm>
        <a:graphic xmlns:a="http://schemas.openxmlformats.org/drawingml/2006/main">
          <a:graphicData uri="http://schemas.openxmlformats.org/drawingml/2006/table">
            <a:tbl>
              <a:tblPr firstRow="1" bandRow="1"/>
              <a:tblGrid>
                <a:gridCol w="2951018"/>
                <a:gridCol w="2623127"/>
                <a:gridCol w="2623127"/>
                <a:gridCol w="2623127"/>
              </a:tblGrid>
              <a:tr h="552450">
                <a:tc>
                  <a:txBody>
                    <a:bodyPr>
                      <a:normAutofit/>
                    </a:bodyPr>
                    <a:lstStyle/>
                    <a:p>
                      <a:r>
                        <a:rPr sz="1200" b="1">
                          <a:solidFill>
                            <a:srgbClr val="FFFFFF"/>
                          </a:solidFill>
                          <a:latin typeface="Calibri"/>
                          <a:ea typeface="Calibri"/>
                          <a:cs typeface="Calibri"/>
                        </a:rPr>
                        <a:t>Customer segment</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Category</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What they buy</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Position</a:t>
                      </a:r>
                    </a:p>
                  </a:txBody>
                  <a:tcPr marL="91440" marR="91440" marT="45720" marB="45720">
                    <a:solidFill>
                      <a:srgbClr val="0F766E"/>
                    </a:solidFill>
                  </a:tcPr>
                </a:tc>
              </a:tr>
              <a:tr h="1076325">
                <a:tc>
                  <a:txBody>
                    <a:bodyPr>
                      <a:normAutofit/>
                    </a:bodyPr>
                    <a:lstStyle/>
                    <a:p>
                      <a:r>
                        <a:rPr sz="1125">
                          <a:solidFill>
                            <a:srgbClr val="12372A"/>
                          </a:solidFill>
                          <a:latin typeface="Calibri"/>
                          <a:ea typeface="Calibri"/>
                          <a:cs typeface="Calibri"/>
                        </a:rPr>
                        <a:t>Table-game regulars · Anchor</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size: large, growth: fast</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Game variety, staffed tables, extended hours, and rated-play benefits [5][3]</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This segment anchors a high-value rated-play cohort whose importance is tied to staffed-table availability and benefits that reinforce repeat spend.[5][3]</a:t>
                      </a:r>
                    </a:p>
                  </a:txBody>
                  <a:tcPr marL="91440" marR="91440" marT="45720" marB="45720">
                    <a:solidFill>
                      <a:srgbClr val="FFFFFF"/>
                    </a:solidFill>
                  </a:tcPr>
                </a:tc>
              </a:tr>
              <a:tr h="1076325">
                <a:tc>
                  <a:txBody>
                    <a:bodyPr>
                      <a:normAutofit/>
                    </a:bodyPr>
                    <a:lstStyle/>
                    <a:p>
                      <a:r>
                        <a:rPr sz="1125">
                          <a:solidFill>
                            <a:srgbClr val="12372A"/>
                          </a:solidFill>
                          <a:latin typeface="Calibri"/>
                          <a:ea typeface="Calibri"/>
                          <a:cs typeface="Calibri"/>
                        </a:rPr>
                        <a:t>Corporate meeting planners · Anchor</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size: medium, growth: fast</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AV capability, flexible room layouts, a dedicated coordinator, and on-site parking [17]</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This segment broadens the business into organized weekday and event-led demand, helping diversify traffic beyond pure leisure visitation.[17]</a:t>
                      </a:r>
                    </a:p>
                  </a:txBody>
                  <a:tcPr marL="91440" marR="91440" marT="45720" marB="45720">
                    <a:solidFill>
                      <a:srgbClr val="F0EEF8"/>
                    </a:solidFill>
                  </a:tcPr>
                </a:tc>
              </a:tr>
            </a:tbl>
          </a:graphicData>
        </a:graphic>
      </p:graphicFrame>
      <p:sp>
        <p:nvSpPr>
          <p:cNvPr id="4" name="">
            <a:extLst xmlns:a="http://schemas.openxmlformats.org/drawingml/2006/main">
              <a:ext uri="{FF2B5EF4-FFF2-40B4-BE49-F238E27FC236}">
                <a16:creationId xmlns:a16="http://schemas.microsoft.com/office/drawing/2014/main" id="{A9EB922B-77A4-4A43-8863-99C979E2AA9D}"/>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20</a:t>
            </a:r>
          </a:p>
        </p:txBody>
      </p:sp>
    </p:spTree>
    <p:extLst>
      <p:ext uri="{BB962C8B-B14F-4D97-AF65-F5344CB8AC3E}">
        <p14:creationId xmlns:p14="http://schemas.microsoft.com/office/powerpoint/2010/main" val="1425496164"/>
      </p:ext>
    </p:extLst>
  </p:cSld>
</p:sld>
</file>

<file path=ppt/slides/slide21.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6F301C-F32A-4C03-B2F8-9A825DA6854C}"/>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Key Purchasing Criteria</a:t>
            </a:r>
          </a:p>
        </p:txBody>
      </p:sp>
      <p:sp>
        <p:nvSpPr>
          <p:cNvPr id="2" name="title-rule">
            <a:extLst xmlns:a="http://schemas.openxmlformats.org/drawingml/2006/main">
              <a:ext uri="{FF2B5EF4-FFF2-40B4-BE49-F238E27FC236}">
                <a16:creationId xmlns:a16="http://schemas.microsoft.com/office/drawing/2014/main" id="{B4D339FE-9C8D-429D-92F4-07F5CA8FEA7C}"/>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24C9B12-E718-4AF0-B4EE-63CE5874793E}"/>
              </a:ext>
            </a:extLst>
          </p:cNvPr>
          <p:cNvSpPr>
            <a:spLocks xmlns:a="http://schemas.openxmlformats.org/drawingml/2006/main" noGrp="1"/>
          </p:cNvSpPr>
          <p:nvPr/>
        </p:nvSpPr>
        <p:spPr>
          <a:xfrm xmlns:a="http://schemas.openxmlformats.org/drawingml/2006/main">
            <a:off x="914400" y="2924175"/>
            <a:ext cx="10134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Buyers value easy access, dependable hours, and a simple rewards and betting offer</a:t>
            </a:r>
          </a:p>
        </p:txBody>
      </p:sp>
      <p:sp>
        <p:nvSpPr>
          <p:cNvPr id="4" name="">
            <a:extLst xmlns:a="http://schemas.openxmlformats.org/drawingml/2006/main">
              <a:ext uri="{FF2B5EF4-FFF2-40B4-BE49-F238E27FC236}">
                <a16:creationId xmlns:a16="http://schemas.microsoft.com/office/drawing/2014/main" id="{CE674647-C2DE-42BA-BA0B-99CE28A81095}"/>
              </a:ext>
            </a:extLst>
          </p:cNvPr>
          <p:cNvSpPr>
            <a:spLocks xmlns:a="http://schemas.openxmlformats.org/drawingml/2006/main" noGrp="1"/>
          </p:cNvSpPr>
          <p:nvPr/>
        </p:nvSpPr>
        <p:spPr>
          <a:xfrm xmlns:a="http://schemas.openxmlformats.org/drawingml/2006/main">
            <a:off x="914400" y="3552825"/>
            <a:ext cx="101346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Friction reduction and reliability matter most: if access, hours, pricing, or loyalty rules are unclear, buyers are more likely to stay away or spend less. The strongest implication is that the company must prove its experience is easy to understand and easy to use before it can win more wallet share.</a:t>
            </a:r>
          </a:p>
        </p:txBody>
      </p:sp>
      <p:sp>
        <p:nvSpPr>
          <p:cNvPr id="5" name="">
            <a:extLst xmlns:a="http://schemas.openxmlformats.org/drawingml/2006/main">
              <a:ext uri="{FF2B5EF4-FFF2-40B4-BE49-F238E27FC236}">
                <a16:creationId xmlns:a16="http://schemas.microsoft.com/office/drawing/2014/main" id="{5772BAF3-82B5-48AF-8FB3-48CD4AD3C470}"/>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21</a:t>
            </a:r>
          </a:p>
        </p:txBody>
      </p:sp>
    </p:spTree>
    <p:extLst>
      <p:ext uri="{BB962C8B-B14F-4D97-AF65-F5344CB8AC3E}">
        <p14:creationId xmlns:p14="http://schemas.microsoft.com/office/powerpoint/2010/main" val="185148869"/>
      </p:ext>
    </p:extLst>
  </p:cSld>
</p:sld>
</file>

<file path=ppt/slides/slide22.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83682D0-D66B-4301-A5DB-39D145AB0C54}"/>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Key Purchasing Criteria</a:t>
            </a:r>
          </a:p>
        </p:txBody>
      </p:sp>
      <p:sp>
        <p:nvSpPr>
          <p:cNvPr id="2" name="title-rule">
            <a:extLst xmlns:a="http://schemas.openxmlformats.org/drawingml/2006/main">
              <a:ext uri="{FF2B5EF4-FFF2-40B4-BE49-F238E27FC236}">
                <a16:creationId xmlns:a16="http://schemas.microsoft.com/office/drawing/2014/main" id="{6DEC12D6-27E5-47B3-B709-2E90DFB05F55}"/>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3419475"/>
        </p:xfrm>
        <a:graphic xmlns:a="http://schemas.openxmlformats.org/drawingml/2006/main">
          <a:graphicData uri="http://schemas.openxmlformats.org/drawingml/2006/table">
            <a:tbl>
              <a:tblPr firstRow="1" bandRow="1"/>
              <a:tblGrid>
                <a:gridCol w="2951018"/>
                <a:gridCol w="2623127"/>
                <a:gridCol w="2623127"/>
                <a:gridCol w="2623127"/>
              </a:tblGrid>
              <a:tr h="552450">
                <a:tc>
                  <a:txBody>
                    <a:bodyPr>
                      <a:normAutofit/>
                    </a:bodyPr>
                    <a:lstStyle/>
                    <a:p>
                      <a:r>
                        <a:rPr sz="1200" b="1">
                          <a:solidFill>
                            <a:srgbClr val="FFFFFF"/>
                          </a:solidFill>
                          <a:latin typeface="Calibri"/>
                          <a:ea typeface="Calibri"/>
                          <a:cs typeface="Calibri"/>
                        </a:rPr>
                        <a:t>KPC (buyer decision driver)</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What buyers are really asking</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Why it matters</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Implications</a:t>
                      </a:r>
                    </a:p>
                  </a:txBody>
                  <a:tcPr marL="91440" marR="91440" marT="45720" marB="45720">
                    <a:solidFill>
                      <a:srgbClr val="0F766E"/>
                    </a:solidFill>
                  </a:tcPr>
                </a:tc>
              </a:tr>
              <a:tr h="895350">
                <a:tc>
                  <a:txBody>
                    <a:bodyPr>
                      <a:normAutofit/>
                    </a:bodyPr>
                    <a:lstStyle/>
                    <a:p>
                      <a:r>
                        <a:rPr sz="1125">
                          <a:solidFill>
                            <a:srgbClr val="12372A"/>
                          </a:solidFill>
                          <a:latin typeface="Calibri"/>
                          <a:ea typeface="Calibri"/>
                          <a:cs typeface="Calibri"/>
                        </a:rPr>
                        <a:t>Legal access &amp; entry rules · Highest</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Is it 21+ only, what IDs are accepted, and is entry friction predictable?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Avoids wasted trips; reduces compliance incidents; improves conversion from first visit to repeat.</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Tighten pre-visit comms on 21+ and ID list; ID friction can deter casual diners; mystery-shop door denial rates and peak queues</a:t>
                      </a:r>
                    </a:p>
                  </a:txBody>
                  <a:tcPr marL="91440" marR="91440" marT="45720" marB="45720">
                    <a:solidFill>
                      <a:srgbClr val="FFFFFF"/>
                    </a:solidFill>
                  </a:tcPr>
                </a:tc>
              </a:tr>
              <a:tr h="895350">
                <a:tc>
                  <a:txBody>
                    <a:bodyPr>
                      <a:normAutofit/>
                    </a:bodyPr>
                    <a:lstStyle/>
                    <a:p>
                      <a:r>
                        <a:rPr sz="1125">
                          <a:solidFill>
                            <a:srgbClr val="12372A"/>
                          </a:solidFill>
                          <a:latin typeface="Calibri"/>
                          <a:ea typeface="Calibri"/>
                          <a:cs typeface="Calibri"/>
                        </a:rPr>
                        <a:t>Hours &amp; availability · Highest</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Are gaming, tables, poker, and club services open when I actually play?</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Drives share-of-wallet; reduces churn to competitors; impacts labor scheduling and service levels.</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Market 24/7 casino and posted table/poker hours; table-hour gaps risk defection; analyze demand by hour and table hold by shift</a:t>
                      </a:r>
                    </a:p>
                  </a:txBody>
                  <a:tcPr marL="91440" marR="91440" marT="45720" marB="45720">
                    <a:solidFill>
                      <a:srgbClr val="F0EEF8"/>
                    </a:solidFill>
                  </a:tcPr>
                </a:tc>
              </a:tr>
              <a:tr h="1076325">
                <a:tc>
                  <a:txBody>
                    <a:bodyPr>
                      <a:normAutofit/>
                    </a:bodyPr>
                    <a:lstStyle/>
                    <a:p>
                      <a:r>
                        <a:rPr sz="1125">
                          <a:solidFill>
                            <a:srgbClr val="12372A"/>
                          </a:solidFill>
                          <a:latin typeface="Calibri"/>
                          <a:ea typeface="Calibri"/>
                          <a:cs typeface="Calibri"/>
                        </a:rPr>
                        <a:t>Pricing · High</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What are the minimums, redemption thresholds, and promo value; are there hidden constraints?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Determines trip economics; affects perceived fairness; drives promo efficiency and margin protection.</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Communicate mins and points-to-free-play ratios; promo dependency can compress margins; review offer terms, redemption behavior, and host overrides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3ADDE82-3ED9-4302-A7F4-4B660752EA3A}"/>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22</a:t>
            </a:r>
          </a:p>
        </p:txBody>
      </p:sp>
    </p:spTree>
    <p:extLst>
      <p:ext uri="{BB962C8B-B14F-4D97-AF65-F5344CB8AC3E}">
        <p14:creationId xmlns:p14="http://schemas.microsoft.com/office/powerpoint/2010/main" val="1115087418"/>
      </p:ext>
    </p:extLst>
  </p:cSld>
</p:sld>
</file>

<file path=ppt/slides/slide23.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C679E3-FFB6-4774-A9DE-E0021A9B8A4F}"/>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Key Purchasing Criteria continued</a:t>
            </a:r>
          </a:p>
        </p:txBody>
      </p:sp>
      <p:sp>
        <p:nvSpPr>
          <p:cNvPr id="2" name="title-rule">
            <a:extLst xmlns:a="http://schemas.openxmlformats.org/drawingml/2006/main">
              <a:ext uri="{FF2B5EF4-FFF2-40B4-BE49-F238E27FC236}">
                <a16:creationId xmlns:a16="http://schemas.microsoft.com/office/drawing/2014/main" id="{EA5CD57B-6380-434C-91AD-49703D4E2EC0}"/>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3419475"/>
        </p:xfrm>
        <a:graphic xmlns:a="http://schemas.openxmlformats.org/drawingml/2006/main">
          <a:graphicData uri="http://schemas.openxmlformats.org/drawingml/2006/table">
            <a:tbl>
              <a:tblPr firstRow="1" bandRow="1"/>
              <a:tblGrid>
                <a:gridCol w="2951018"/>
                <a:gridCol w="2623127"/>
                <a:gridCol w="2623127"/>
                <a:gridCol w="2623127"/>
              </a:tblGrid>
              <a:tr h="552450">
                <a:tc>
                  <a:txBody>
                    <a:bodyPr>
                      <a:normAutofit/>
                    </a:bodyPr>
                    <a:lstStyle/>
                    <a:p>
                      <a:r>
                        <a:rPr sz="1200" b="1">
                          <a:solidFill>
                            <a:srgbClr val="FFFFFF"/>
                          </a:solidFill>
                          <a:latin typeface="Calibri"/>
                          <a:ea typeface="Calibri"/>
                          <a:cs typeface="Calibri"/>
                        </a:rPr>
                        <a:t>KPC (buyer decision driver)</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What buyers are really asking</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Why it matters</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Implications</a:t>
                      </a:r>
                    </a:p>
                  </a:txBody>
                  <a:tcPr marL="91440" marR="91440" marT="45720" marB="45720">
                    <a:solidFill>
                      <a:srgbClr val="0F766E"/>
                    </a:solidFill>
                  </a:tcPr>
                </a:tc>
              </a:tr>
              <a:tr h="895350">
                <a:tc>
                  <a:txBody>
                    <a:bodyPr>
                      <a:normAutofit/>
                    </a:bodyPr>
                    <a:lstStyle/>
                    <a:p>
                      <a:r>
                        <a:rPr sz="1125">
                          <a:solidFill>
                            <a:srgbClr val="12372A"/>
                          </a:solidFill>
                          <a:latin typeface="Calibri"/>
                          <a:ea typeface="Calibri"/>
                          <a:cs typeface="Calibri"/>
                        </a:rPr>
                        <a:t>Sportsbook experience (retail + mobile) · High</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Can I place bets easily, watch games comfortably, and use mobile statewide?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Sports bettors are high-frequency; cross-sell to casino/F&amp;B; poor UX shifts handle to other apps.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Co-market retail + statewide app access; brand may not fit casual bettors; segment handle by channel and track cross-play uplift</a:t>
                      </a:r>
                    </a:p>
                  </a:txBody>
                  <a:tcPr marL="91440" marR="91440" marT="45720" marB="45720">
                    <a:solidFill>
                      <a:srgbClr val="FFFFFF"/>
                    </a:solidFill>
                  </a:tcPr>
                </a:tc>
              </a:tr>
              <a:tr h="895350">
                <a:tc>
                  <a:txBody>
                    <a:bodyPr>
                      <a:normAutofit/>
                    </a:bodyPr>
                    <a:lstStyle/>
                    <a:p>
                      <a:r>
                        <a:rPr sz="1125">
                          <a:solidFill>
                            <a:srgbClr val="12372A"/>
                          </a:solidFill>
                          <a:latin typeface="Calibri"/>
                          <a:ea typeface="Calibri"/>
                          <a:cs typeface="Calibri"/>
                        </a:rPr>
                        <a:t>Loyalty program &amp; reinvestment value · High</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How fast do I earn, what can I redeem, and do points expire?</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Underwrites retention; enables targeted offers; breakage/expiration affects perceived fairness and reactivation.</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Package rewards earn/burn simply; complex rules can trigger distrust; test offer ROI by segment and audit points expiry/complaints</a:t>
                      </a:r>
                    </a:p>
                  </a:txBody>
                  <a:tcPr marL="91440" marR="91440" marT="45720" marB="45720">
                    <a:solidFill>
                      <a:srgbClr val="F0EEF8"/>
                    </a:solidFill>
                  </a:tcPr>
                </a:tc>
              </a:tr>
              <a:tr h="1076325">
                <a:tc>
                  <a:txBody>
                    <a:bodyPr>
                      <a:normAutofit/>
                    </a:bodyPr>
                    <a:lstStyle/>
                    <a:p>
                      <a:r>
                        <a:rPr sz="1125">
                          <a:solidFill>
                            <a:srgbClr val="12372A"/>
                          </a:solidFill>
                          <a:latin typeface="Calibri"/>
                          <a:ea typeface="Calibri"/>
                          <a:cs typeface="Calibri"/>
                        </a:rPr>
                        <a:t>Core gaming mix &amp; freshness · High</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Do you have the games I want, and do you refresh floor/leases often?</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Main visit driver; variety increases visit frequency; newer mix supports higher coin-in and lower substitution.</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Lead with breadth of slots/tables; limited specialty inventory could be deal-breaker; pull slot change-log vs play trends and vendor terms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39C162F-4F0A-4CA9-8BC3-B5D64C72085F}"/>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23</a:t>
            </a:r>
          </a:p>
        </p:txBody>
      </p:sp>
    </p:spTree>
    <p:extLst>
      <p:ext uri="{BB962C8B-B14F-4D97-AF65-F5344CB8AC3E}">
        <p14:creationId xmlns:p14="http://schemas.microsoft.com/office/powerpoint/2010/main" val="1226592512"/>
      </p:ext>
    </p:extLst>
  </p:cSld>
</p:sld>
</file>

<file path=ppt/slides/slide24.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5248E3-C86A-4B28-A0A4-B917A30F97DC}"/>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Market Overview</a:t>
            </a:r>
          </a:p>
        </p:txBody>
      </p:sp>
      <p:sp>
        <p:nvSpPr>
          <p:cNvPr id="2" name="title-rule">
            <a:extLst xmlns:a="http://schemas.openxmlformats.org/drawingml/2006/main">
              <a:ext uri="{FF2B5EF4-FFF2-40B4-BE49-F238E27FC236}">
                <a16:creationId xmlns:a16="http://schemas.microsoft.com/office/drawing/2014/main" id="{737D1499-C0B7-4F4F-86E5-33C6B6F4908A}"/>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829416-E368-465B-B119-971D199648B2}"/>
              </a:ext>
            </a:extLst>
          </p:cNvPr>
          <p:cNvSpPr>
            <a:spLocks xmlns:a="http://schemas.openxmlformats.org/drawingml/2006/main" noGrp="1"/>
          </p:cNvSpPr>
          <p:nvPr/>
        </p:nvSpPr>
        <p:spPr>
          <a:xfrm xmlns:a="http://schemas.openxmlformats.org/drawingml/2006/main">
            <a:off x="914400" y="3481388"/>
            <a:ext cx="10134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2372A"/>
                </a:solidFill>
                <a:latin typeface="Calibri"/>
                <a:ea typeface="Calibri"/>
                <a:cs typeface="Calibri"/>
              </a:defRPr>
            </a:pPr>
            <a:r>
              <a:rPr sz="1950" b="1">
                <a:solidFill>
                  <a:srgbClr val="12372A"/>
                </a:solidFill>
                <a:latin typeface="Calibri"/>
                <a:ea typeface="Calibri"/>
                <a:cs typeface="Calibri"/>
              </a:rPr>
              <a:t>Smaller Illinois casinos win by adding freshness, cashless tools, and CRM before convenience and new resorts take share.</a:t>
            </a:r>
          </a:p>
        </p:txBody>
      </p:sp>
      <p:sp>
        <p:nvSpPr>
          <p:cNvPr id="4" name="">
            <a:extLst xmlns:a="http://schemas.openxmlformats.org/drawingml/2006/main">
              <a:ext uri="{FF2B5EF4-FFF2-40B4-BE49-F238E27FC236}">
                <a16:creationId xmlns:a16="http://schemas.microsoft.com/office/drawing/2014/main" id="{40407438-0CA8-4843-9FC9-DA3FDD85E51B}"/>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24</a:t>
            </a:r>
          </a:p>
        </p:txBody>
      </p:sp>
    </p:spTree>
    <p:extLst>
      <p:ext uri="{BB962C8B-B14F-4D97-AF65-F5344CB8AC3E}">
        <p14:creationId xmlns:p14="http://schemas.microsoft.com/office/powerpoint/2010/main" val="1461205432"/>
      </p:ext>
    </p:extLst>
  </p:cSld>
</p:sld>
</file>

<file path=ppt/slides/slide25.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B0E86A2-78DE-4582-B8DA-98D0EFCD8BDC}"/>
              </a:ext>
            </a:extLst>
          </p:cNvPr>
          <p:cNvSpPr>
            <a:spLocks xmlns:a="http://schemas.openxmlformats.org/drawingml/2006/main" noGrp="1"/>
          </p:cNvSpPr>
          <p:nvPr/>
        </p:nvSpPr>
        <p:spPr>
          <a:xfrm xmlns:a="http://schemas.openxmlformats.org/drawingml/2006/main">
            <a:off x="685800" y="3619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F766E"/>
                </a:solidFill>
                <a:latin typeface="Calibri"/>
                <a:ea typeface="Calibri"/>
                <a:cs typeface="Calibri"/>
              </a:defRPr>
            </a:pPr>
            <a:r>
              <a:rPr sz="900" b="1">
                <a:solidFill>
                  <a:srgbClr val="0F766E"/>
                </a:solidFill>
                <a:latin typeface="Calibri"/>
                <a:ea typeface="Calibri"/>
                <a:cs typeface="Calibri"/>
              </a:rPr>
              <a:t>CASINO GAMING – REGIONAL CASINO RESORTS</a:t>
            </a:r>
          </a:p>
        </p:txBody>
      </p:sp>
      <p:sp>
        <p:nvSpPr>
          <p:cNvPr id="2" name="">
            <a:extLst xmlns:a="http://schemas.openxmlformats.org/drawingml/2006/main">
              <a:ext uri="{FF2B5EF4-FFF2-40B4-BE49-F238E27FC236}">
                <a16:creationId xmlns:a16="http://schemas.microsoft.com/office/drawing/2014/main" id="{DDF488FC-4DD4-43BB-A4C3-89DF615C7E6E}"/>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Market Size Projection (2026–2031)</a:t>
            </a:r>
          </a:p>
        </p:txBody>
      </p:sp>
      <p:sp>
        <p:nvSpPr>
          <p:cNvPr id="3" name="title-rule">
            <a:extLst xmlns:a="http://schemas.openxmlformats.org/drawingml/2006/main">
              <a:ext uri="{FF2B5EF4-FFF2-40B4-BE49-F238E27FC236}">
                <a16:creationId xmlns:a16="http://schemas.microsoft.com/office/drawing/2014/main" id="{4EDBF457-7B8A-47E5-A378-2F24AFD648D3}"/>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9" name="Chart"/>
          <p:cNvGraphicFramePr/>
          <p:nvPr/>
        </p:nvGraphicFramePr>
        <p:xfrm>
          <a:off xmlns:a="http://schemas.openxmlformats.org/drawingml/2006/main" x="819150" y="1504950"/>
          <a:ext xmlns:a="http://schemas.openxmlformats.org/drawingml/2006/main" cx="10553700" cy="4533900"/>
        </p:xfrm>
        <a:graphic xmlns:a="http://schemas.openxmlformats.org/drawingml/2006/main">
          <a:graphicData uri="http://schemas.openxmlformats.org/drawingml/2006/chart">
            <c:chart xmlns:r="http://schemas.openxmlformats.org/officeDocument/2006/relationships" xmlns:c="http://schemas.openxmlformats.org/drawingml/2006/chart" r:id="Rfaf89913c2a846f9"/>
          </a:graphicData>
        </a:graphic>
      </p:graphicFrame>
      <p:sp>
        <p:nvSpPr>
          <p:cNvPr id="5" name="">
            <a:extLst xmlns:a="http://schemas.openxmlformats.org/drawingml/2006/main">
              <a:ext uri="{FF2B5EF4-FFF2-40B4-BE49-F238E27FC236}">
                <a16:creationId xmlns:a16="http://schemas.microsoft.com/office/drawing/2014/main" id="{629967BA-2734-4DED-ADC4-8AE27B9685A7}"/>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25</a:t>
            </a:r>
          </a:p>
        </p:txBody>
      </p:sp>
    </p:spTree>
    <p:extLst>
      <p:ext uri="{BB962C8B-B14F-4D97-AF65-F5344CB8AC3E}">
        <p14:creationId xmlns:p14="http://schemas.microsoft.com/office/powerpoint/2010/main" val="305042968"/>
      </p:ext>
    </p:extLst>
  </p:cSld>
</p:sld>
</file>

<file path=ppt/slides/slide26.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EE67EF7-C94E-4865-891D-906DAF2A0F0A}"/>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Market Overview Industry 1 Heading</a:t>
            </a:r>
          </a:p>
        </p:txBody>
      </p:sp>
      <p:sp>
        <p:nvSpPr>
          <p:cNvPr id="2" name="title-rule">
            <a:extLst xmlns:a="http://schemas.openxmlformats.org/drawingml/2006/main">
              <a:ext uri="{FF2B5EF4-FFF2-40B4-BE49-F238E27FC236}">
                <a16:creationId xmlns:a16="http://schemas.microsoft.com/office/drawing/2014/main" id="{E97F959D-8096-4FE4-9486-FD3253FA8015}"/>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BD3A649-A036-4D91-A88A-B4AAB153D72F}"/>
              </a:ext>
            </a:extLst>
          </p:cNvPr>
          <p:cNvSpPr>
            <a:spLocks xmlns:a="http://schemas.openxmlformats.org/drawingml/2006/main" noGrp="1"/>
          </p:cNvSpPr>
          <p:nvPr/>
        </p:nvSpPr>
        <p:spPr>
          <a:xfrm xmlns:a="http://schemas.openxmlformats.org/drawingml/2006/main">
            <a:off x="914400" y="3638550"/>
            <a:ext cx="1013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2372A"/>
                </a:solidFill>
                <a:latin typeface="Calibri"/>
                <a:ea typeface="Calibri"/>
                <a:cs typeface="Calibri"/>
              </a:defRPr>
            </a:pPr>
            <a:r>
              <a:rPr sz="1950" b="1">
                <a:solidFill>
                  <a:srgbClr val="12372A"/>
                </a:solidFill>
                <a:latin typeface="Calibri"/>
                <a:ea typeface="Calibri"/>
                <a:cs typeface="Calibri"/>
              </a:rPr>
              <a:t>Fragmented Regional Casino Resorts Poised for Upside from Capital-Fueled Upgrades</a:t>
            </a:r>
          </a:p>
        </p:txBody>
      </p:sp>
      <p:sp>
        <p:nvSpPr>
          <p:cNvPr id="4" name="">
            <a:extLst xmlns:a="http://schemas.openxmlformats.org/drawingml/2006/main">
              <a:ext uri="{FF2B5EF4-FFF2-40B4-BE49-F238E27FC236}">
                <a16:creationId xmlns:a16="http://schemas.microsoft.com/office/drawing/2014/main" id="{CBF00F44-F831-4BA7-9930-E8A185E74BFA}"/>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26</a:t>
            </a:r>
          </a:p>
        </p:txBody>
      </p:sp>
    </p:spTree>
    <p:extLst>
      <p:ext uri="{BB962C8B-B14F-4D97-AF65-F5344CB8AC3E}">
        <p14:creationId xmlns:p14="http://schemas.microsoft.com/office/powerpoint/2010/main" val="493047472"/>
      </p:ext>
    </p:extLst>
  </p:cSld>
</p:sld>
</file>

<file path=ppt/slides/slide27.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B1595E-2C0B-4B9D-B1F9-333B6451D8C1}"/>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Market Overview Industry 1 Insights</a:t>
            </a:r>
          </a:p>
        </p:txBody>
      </p:sp>
      <p:sp>
        <p:nvSpPr>
          <p:cNvPr id="2" name="title-rule">
            <a:extLst xmlns:a="http://schemas.openxmlformats.org/drawingml/2006/main">
              <a:ext uri="{FF2B5EF4-FFF2-40B4-BE49-F238E27FC236}">
                <a16:creationId xmlns:a16="http://schemas.microsoft.com/office/drawing/2014/main" id="{04278EDD-4EAD-4EB8-9A08-0C744EF72941}"/>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CA26D7D-B03D-4D7F-B5DC-B48902589D55}"/>
              </a:ext>
            </a:extLst>
          </p:cNvPr>
          <p:cNvSpPr>
            <a:spLocks xmlns:a="http://schemas.openxmlformats.org/drawingml/2006/main" noGrp="1"/>
          </p:cNvSpPr>
          <p:nvPr/>
        </p:nvSpPr>
        <p:spPr>
          <a:xfrm xmlns:a="http://schemas.openxmlformats.org/drawingml/2006/main">
            <a:off x="914400" y="2219325"/>
            <a:ext cx="101346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  Mature, Large TAM with Frequency- and Mix-Driven Growth: The U.S. regional casino resort / casino hotel market is a large, mature leisure category where growth is driven more by visit frequency, wallet share, and property selection than by first-time adoption. Roughly half of U.S. adults already visit casinos, and a reconciled TAM of USD 81.7B in 2026 anchors a sizable opportunity set across commercial and tribal formats.</a:t>
            </a:r>
          </a:p>
        </p:txBody>
      </p:sp>
      <p:sp>
        <p:nvSpPr>
          <p:cNvPr id="4" name="">
            <a:extLst xmlns:a="http://schemas.openxmlformats.org/drawingml/2006/main">
              <a:ext uri="{FF2B5EF4-FFF2-40B4-BE49-F238E27FC236}">
                <a16:creationId xmlns:a16="http://schemas.microsoft.com/office/drawing/2014/main" id="{71E894AF-7367-49A1-BA1C-E30A525F3625}"/>
              </a:ext>
            </a:extLst>
          </p:cNvPr>
          <p:cNvSpPr>
            <a:spLocks xmlns:a="http://schemas.openxmlformats.org/drawingml/2006/main" noGrp="1"/>
          </p:cNvSpPr>
          <p:nvPr/>
        </p:nvSpPr>
        <p:spPr>
          <a:xfrm xmlns:a="http://schemas.openxmlformats.org/drawingml/2006/main">
            <a:off x="914400" y="3971925"/>
            <a:ext cx="101346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  Experience-Led Integrated Resorts Deepen Monetization: Capital reinvestment in rooms, casino floors, equipment, and IT upgrades, combined with broader integrated resort amenities, drives traffic retention and higher spend per visit. Non-gaming revenue already represents over a quarter of gaming revenue for leading operators, underscoring the value of full-property offerings.</a:t>
            </a:r>
          </a:p>
        </p:txBody>
      </p:sp>
      <p:sp>
        <p:nvSpPr>
          <p:cNvPr id="5" name="">
            <a:extLst xmlns:a="http://schemas.openxmlformats.org/drawingml/2006/main">
              <a:ext uri="{FF2B5EF4-FFF2-40B4-BE49-F238E27FC236}">
                <a16:creationId xmlns:a16="http://schemas.microsoft.com/office/drawing/2014/main" id="{477CFAC1-F0BE-448A-A308-2DB9AC565AF4}"/>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27</a:t>
            </a:r>
          </a:p>
        </p:txBody>
      </p:sp>
    </p:spTree>
    <p:extLst>
      <p:ext uri="{BB962C8B-B14F-4D97-AF65-F5344CB8AC3E}">
        <p14:creationId xmlns:p14="http://schemas.microsoft.com/office/powerpoint/2010/main" val="1441760948"/>
      </p:ext>
    </p:extLst>
  </p:cSld>
</p:sld>
</file>

<file path=ppt/slides/slide28.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6B39D5-808F-4DD3-A4AB-D484D44A0DC5}"/>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Market Overview Industry 1 Insights continued</a:t>
            </a:r>
          </a:p>
        </p:txBody>
      </p:sp>
      <p:sp>
        <p:nvSpPr>
          <p:cNvPr id="2" name="title-rule">
            <a:extLst xmlns:a="http://schemas.openxmlformats.org/drawingml/2006/main">
              <a:ext uri="{FF2B5EF4-FFF2-40B4-BE49-F238E27FC236}">
                <a16:creationId xmlns:a16="http://schemas.microsoft.com/office/drawing/2014/main" id="{0C6BA178-5755-4DE7-857C-77B5A640A84D}"/>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78CAE47-188C-4562-A5B8-DF71691B75CF}"/>
              </a:ext>
            </a:extLst>
          </p:cNvPr>
          <p:cNvSpPr>
            <a:spLocks xmlns:a="http://schemas.openxmlformats.org/drawingml/2006/main" noGrp="1"/>
          </p:cNvSpPr>
          <p:nvPr/>
        </p:nvSpPr>
        <p:spPr>
          <a:xfrm xmlns:a="http://schemas.openxmlformats.org/drawingml/2006/main">
            <a:off x="914400" y="2081213"/>
            <a:ext cx="101346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  Format Evolution and Tribal Partnerships Expand Addressability: Scarce racino licenses and regulatory catalysts such as riverboat-to-land relocations support durable local traffic and enable property upgrades. Rapidly growing third-party tribal management contracts, where tribes outsource development, operations, systems, and compliance to external operators, expand the addressable pool for asset-light operating and management fee income.</a:t>
            </a:r>
          </a:p>
        </p:txBody>
      </p:sp>
      <p:sp>
        <p:nvSpPr>
          <p:cNvPr id="4" name="">
            <a:extLst xmlns:a="http://schemas.openxmlformats.org/drawingml/2006/main">
              <a:ext uri="{FF2B5EF4-FFF2-40B4-BE49-F238E27FC236}">
                <a16:creationId xmlns:a16="http://schemas.microsoft.com/office/drawing/2014/main" id="{607AA839-0444-4294-A444-154994D96F0B}"/>
              </a:ext>
            </a:extLst>
          </p:cNvPr>
          <p:cNvSpPr>
            <a:spLocks xmlns:a="http://schemas.openxmlformats.org/drawingml/2006/main" noGrp="1"/>
          </p:cNvSpPr>
          <p:nvPr/>
        </p:nvSpPr>
        <p:spPr>
          <a:xfrm xmlns:a="http://schemas.openxmlformats.org/drawingml/2006/main">
            <a:off x="914400" y="3833813"/>
            <a:ext cx="101346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  Fragmented Market with High Barriers Favors Capable Consolidators: No single operator controls the market, creating room for share gains and consolidation despite licensing, capital, tribal relationship, and regulatory barriers that protect incumbents. Operators with regulatory access, tribal and compliance expertise, strong local databases and loyalty programs, and disciplined reinvestment into integrated amenities are positioned to capture outsized share of a fragmented USD 81.7B TAM.</a:t>
            </a:r>
          </a:p>
        </p:txBody>
      </p:sp>
      <p:sp>
        <p:nvSpPr>
          <p:cNvPr id="5" name="">
            <a:extLst xmlns:a="http://schemas.openxmlformats.org/drawingml/2006/main">
              <a:ext uri="{FF2B5EF4-FFF2-40B4-BE49-F238E27FC236}">
                <a16:creationId xmlns:a16="http://schemas.microsoft.com/office/drawing/2014/main" id="{1C42D83A-E812-4BB2-94F4-14ED57E8AEF2}"/>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28</a:t>
            </a:r>
          </a:p>
        </p:txBody>
      </p:sp>
    </p:spTree>
    <p:extLst>
      <p:ext uri="{BB962C8B-B14F-4D97-AF65-F5344CB8AC3E}">
        <p14:creationId xmlns:p14="http://schemas.microsoft.com/office/powerpoint/2010/main" val="1293677322"/>
      </p:ext>
    </p:extLst>
  </p:cSld>
</p:sld>
</file>

<file path=ppt/slides/slide29.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F2B740-88F0-4DD0-B3AE-4A58A95369EC}"/>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Industry Shifts</a:t>
            </a:r>
          </a:p>
        </p:txBody>
      </p:sp>
      <p:sp>
        <p:nvSpPr>
          <p:cNvPr id="2" name="title-rule">
            <a:extLst xmlns:a="http://schemas.openxmlformats.org/drawingml/2006/main">
              <a:ext uri="{FF2B5EF4-FFF2-40B4-BE49-F238E27FC236}">
                <a16:creationId xmlns:a16="http://schemas.microsoft.com/office/drawing/2014/main" id="{E0F05BF2-9534-4272-B86C-A968E9109FFD}"/>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B99E510-05F4-40DB-B1F3-A8F50C0D831B}"/>
              </a:ext>
            </a:extLst>
          </p:cNvPr>
          <p:cNvSpPr>
            <a:spLocks xmlns:a="http://schemas.openxmlformats.org/drawingml/2006/main" noGrp="1"/>
          </p:cNvSpPr>
          <p:nvPr/>
        </p:nvSpPr>
        <p:spPr>
          <a:xfrm xmlns:a="http://schemas.openxmlformats.org/drawingml/2006/main">
            <a:off x="914400" y="1857375"/>
            <a:ext cx="10134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61"/>
                </a:solidFill>
                <a:latin typeface="Calibri"/>
                <a:ea typeface="Calibri"/>
                <a:cs typeface="Calibri"/>
              </a:defRPr>
            </a:pPr>
            <a:r>
              <a:rPr sz="1575" b="0">
                <a:solidFill>
                  <a:srgbClr val="526B61"/>
                </a:solidFill>
                <a:latin typeface="Calibri"/>
                <a:ea typeface="Calibri"/>
                <a:cs typeface="Calibri"/>
              </a:rPr>
              <a:t>Illinois’ VGT network is projected at c. 49,800–51,500 terminals in FY2025–FY2026, pushing gambling into bars, restaurants, and VFWs and pulling casual slot play away from casinos.[1][2][3] The buyer takeaway is that convenience now beats destination trips for low-stakes play, so casinos must win on experience and hosts, not just access.[1][2][3]</a:t>
            </a:r>
          </a:p>
        </p:txBody>
      </p:sp>
      <p:sp>
        <p:nvSpPr>
          <p:cNvPr id="4" name="">
            <a:extLst xmlns:a="http://schemas.openxmlformats.org/drawingml/2006/main">
              <a:ext uri="{FF2B5EF4-FFF2-40B4-BE49-F238E27FC236}">
                <a16:creationId xmlns:a16="http://schemas.microsoft.com/office/drawing/2014/main" id="{25AD0D99-8DE0-4F55-864A-28811D40224F}"/>
              </a:ext>
            </a:extLst>
          </p:cNvPr>
          <p:cNvSpPr>
            <a:spLocks xmlns:a="http://schemas.openxmlformats.org/drawingml/2006/main" noGrp="1"/>
          </p:cNvSpPr>
          <p:nvPr/>
        </p:nvSpPr>
        <p:spPr>
          <a:xfrm xmlns:a="http://schemas.openxmlformats.org/drawingml/2006/main">
            <a:off x="914400" y="3152775"/>
            <a:ext cx="10134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61"/>
                </a:solidFill>
                <a:latin typeface="Calibri"/>
                <a:ea typeface="Calibri"/>
                <a:cs typeface="Calibri"/>
              </a:defRPr>
            </a:pPr>
            <a:r>
              <a:rPr sz="1575" b="0">
                <a:solidFill>
                  <a:srgbClr val="526B61"/>
                </a:solidFill>
                <a:latin typeface="Calibri"/>
                <a:ea typeface="Calibri"/>
                <a:cs typeface="Calibri"/>
              </a:rPr>
              <a:t>Smaller casinos should expect slot leakage unless they offer a stronger reason to leave the neighborhood.</a:t>
            </a:r>
          </a:p>
        </p:txBody>
      </p:sp>
      <p:sp>
        <p:nvSpPr>
          <p:cNvPr id="5" name="">
            <a:extLst xmlns:a="http://schemas.openxmlformats.org/drawingml/2006/main">
              <a:ext uri="{FF2B5EF4-FFF2-40B4-BE49-F238E27FC236}">
                <a16:creationId xmlns:a16="http://schemas.microsoft.com/office/drawing/2014/main" id="{A78A2160-E407-4D49-9DDC-0AAF87B17C8E}"/>
              </a:ext>
            </a:extLst>
          </p:cNvPr>
          <p:cNvSpPr>
            <a:spLocks xmlns:a="http://schemas.openxmlformats.org/drawingml/2006/main" noGrp="1"/>
          </p:cNvSpPr>
          <p:nvPr/>
        </p:nvSpPr>
        <p:spPr>
          <a:xfrm xmlns:a="http://schemas.openxmlformats.org/drawingml/2006/main">
            <a:off x="914400" y="3933825"/>
            <a:ext cx="10134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61"/>
                </a:solidFill>
                <a:latin typeface="Calibri"/>
                <a:ea typeface="Calibri"/>
                <a:cs typeface="Calibri"/>
              </a:defRPr>
            </a:pPr>
            <a:r>
              <a:rPr sz="1575" b="0">
                <a:solidFill>
                  <a:srgbClr val="526B61"/>
                </a:solidFill>
                <a:latin typeface="Calibri"/>
                <a:ea typeface="Calibri"/>
                <a:cs typeface="Calibri"/>
              </a:rPr>
              <a:t>Hard Rock Rockford, Wind Creek Chicago Southland, and Hollywood Casino Aurora have refreshed Illinois supply with new or upgraded floors, parking, food, and entertainment.[4][5][6][7] This raises the bar for what guests expect, and older or temporary properties risk looking second-rate unless they match the capex and amenity set.[4][5][6][7]</a:t>
            </a:r>
          </a:p>
        </p:txBody>
      </p:sp>
      <p:sp>
        <p:nvSpPr>
          <p:cNvPr id="6" name="">
            <a:extLst xmlns:a="http://schemas.openxmlformats.org/drawingml/2006/main">
              <a:ext uri="{FF2B5EF4-FFF2-40B4-BE49-F238E27FC236}">
                <a16:creationId xmlns:a16="http://schemas.microsoft.com/office/drawing/2014/main" id="{64497435-A2EE-4B6F-9557-1E2CB4F3E7AF}"/>
              </a:ext>
            </a:extLst>
          </p:cNvPr>
          <p:cNvSpPr>
            <a:spLocks xmlns:a="http://schemas.openxmlformats.org/drawingml/2006/main" noGrp="1"/>
          </p:cNvSpPr>
          <p:nvPr/>
        </p:nvSpPr>
        <p:spPr>
          <a:xfrm xmlns:a="http://schemas.openxmlformats.org/drawingml/2006/main">
            <a:off x="914400" y="5229225"/>
            <a:ext cx="10134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61"/>
                </a:solidFill>
                <a:latin typeface="Calibri"/>
                <a:ea typeface="Calibri"/>
                <a:cs typeface="Calibri"/>
              </a:defRPr>
            </a:pPr>
            <a:r>
              <a:rPr sz="1575" b="0">
                <a:solidFill>
                  <a:srgbClr val="526B61"/>
                </a:solidFill>
                <a:latin typeface="Calibri"/>
                <a:ea typeface="Calibri"/>
                <a:cs typeface="Calibri"/>
              </a:rPr>
              <a:t>Temporary casinos face pressure to prove they can catch up before newer rivals lock in repeat visits.</a:t>
            </a:r>
          </a:p>
        </p:txBody>
      </p:sp>
      <p:sp>
        <p:nvSpPr>
          <p:cNvPr id="7" name="">
            <a:extLst xmlns:a="http://schemas.openxmlformats.org/drawingml/2006/main">
              <a:ext uri="{FF2B5EF4-FFF2-40B4-BE49-F238E27FC236}">
                <a16:creationId xmlns:a16="http://schemas.microsoft.com/office/drawing/2014/main" id="{EF98A620-2ED3-4A7B-A417-71A6262562A8}"/>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29</a:t>
            </a:r>
          </a:p>
        </p:txBody>
      </p:sp>
    </p:spTree>
    <p:extLst>
      <p:ext uri="{BB962C8B-B14F-4D97-AF65-F5344CB8AC3E}">
        <p14:creationId xmlns:p14="http://schemas.microsoft.com/office/powerpoint/2010/main" val="1362965650"/>
      </p:ext>
    </p:extLst>
  </p:cSld>
</p:sld>
</file>

<file path=ppt/slides/slide30.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389A70D-4D5D-432F-BE48-5743643644B4}"/>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Industry Shifts continued</a:t>
            </a:r>
          </a:p>
        </p:txBody>
      </p:sp>
      <p:sp>
        <p:nvSpPr>
          <p:cNvPr id="2" name="title-rule">
            <a:extLst xmlns:a="http://schemas.openxmlformats.org/drawingml/2006/main">
              <a:ext uri="{FF2B5EF4-FFF2-40B4-BE49-F238E27FC236}">
                <a16:creationId xmlns:a16="http://schemas.microsoft.com/office/drawing/2014/main" id="{F9DF6525-4BAD-4284-B757-3567E0A09F1A}"/>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311E9A2-E840-4826-A3D2-E944C85BDEB5}"/>
              </a:ext>
            </a:extLst>
          </p:cNvPr>
          <p:cNvSpPr>
            <a:spLocks xmlns:a="http://schemas.openxmlformats.org/drawingml/2006/main" noGrp="1"/>
          </p:cNvSpPr>
          <p:nvPr/>
        </p:nvSpPr>
        <p:spPr>
          <a:xfrm xmlns:a="http://schemas.openxmlformats.org/drawingml/2006/main">
            <a:off x="914400" y="1600200"/>
            <a:ext cx="101346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Bally’s permanent Chicago resort has slipped to a likely 2027 opening, while the temporary Medinah Temple site keeps operating.[8][9][10][11] That creates a short window for nearby casinos to build loyalty and premium relationships now, but they may face stronger competition once the full resort opens.[8][9][10][11]</a:t>
            </a:r>
          </a:p>
        </p:txBody>
      </p:sp>
      <p:sp>
        <p:nvSpPr>
          <p:cNvPr id="4" name="">
            <a:extLst xmlns:a="http://schemas.openxmlformats.org/drawingml/2006/main">
              <a:ext uri="{FF2B5EF4-FFF2-40B4-BE49-F238E27FC236}">
                <a16:creationId xmlns:a16="http://schemas.microsoft.com/office/drawing/2014/main" id="{C19C5FA6-E7F8-459B-B4A2-3BF591805C3A}"/>
              </a:ext>
            </a:extLst>
          </p:cNvPr>
          <p:cNvSpPr>
            <a:spLocks xmlns:a="http://schemas.openxmlformats.org/drawingml/2006/main" noGrp="1"/>
          </p:cNvSpPr>
          <p:nvPr/>
        </p:nvSpPr>
        <p:spPr>
          <a:xfrm xmlns:a="http://schemas.openxmlformats.org/drawingml/2006/main">
            <a:off x="914400" y="2524125"/>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American Place can gain share now, but that gain may fade if Bally’s opens with a complete destination offer.</a:t>
            </a:r>
          </a:p>
        </p:txBody>
      </p:sp>
      <p:sp>
        <p:nvSpPr>
          <p:cNvPr id="5" name="">
            <a:extLst xmlns:a="http://schemas.openxmlformats.org/drawingml/2006/main">
              <a:ext uri="{FF2B5EF4-FFF2-40B4-BE49-F238E27FC236}">
                <a16:creationId xmlns:a16="http://schemas.microsoft.com/office/drawing/2014/main" id="{E8E2482F-5ECA-4E54-8A30-52DA95342945}"/>
              </a:ext>
            </a:extLst>
          </p:cNvPr>
          <p:cNvSpPr>
            <a:spLocks xmlns:a="http://schemas.openxmlformats.org/drawingml/2006/main" noGrp="1"/>
          </p:cNvSpPr>
          <p:nvPr/>
        </p:nvSpPr>
        <p:spPr>
          <a:xfrm xmlns:a="http://schemas.openxmlformats.org/drawingml/2006/main">
            <a:off x="914400" y="3219450"/>
            <a:ext cx="101346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Illinois’ mid-2025 advertising rules tightened casino, sports betting, and VGT promotion.[12] Paid media should become less efficient, so operators with strong first-party data, CRM, and host-led outreach will be better able to keep visits coming without relying on broad promotions.[12]</a:t>
            </a:r>
          </a:p>
        </p:txBody>
      </p:sp>
      <p:sp>
        <p:nvSpPr>
          <p:cNvPr id="6" name="">
            <a:extLst xmlns:a="http://schemas.openxmlformats.org/drawingml/2006/main">
              <a:ext uri="{FF2B5EF4-FFF2-40B4-BE49-F238E27FC236}">
                <a16:creationId xmlns:a16="http://schemas.microsoft.com/office/drawing/2014/main" id="{2C94D7EC-2B5F-4173-8926-E79CED5FDB1D}"/>
              </a:ext>
            </a:extLst>
          </p:cNvPr>
          <p:cNvSpPr>
            <a:spLocks xmlns:a="http://schemas.openxmlformats.org/drawingml/2006/main" noGrp="1"/>
          </p:cNvSpPr>
          <p:nvPr/>
        </p:nvSpPr>
        <p:spPr>
          <a:xfrm xmlns:a="http://schemas.openxmlformats.org/drawingml/2006/main">
            <a:off x="914400" y="4143375"/>
            <a:ext cx="1013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Smaller operators need a real customer database, or they will spend more to get the same traffic.</a:t>
            </a:r>
          </a:p>
        </p:txBody>
      </p:sp>
      <p:sp>
        <p:nvSpPr>
          <p:cNvPr id="7" name="">
            <a:extLst xmlns:a="http://schemas.openxmlformats.org/drawingml/2006/main">
              <a:ext uri="{FF2B5EF4-FFF2-40B4-BE49-F238E27FC236}">
                <a16:creationId xmlns:a16="http://schemas.microsoft.com/office/drawing/2014/main" id="{643978E7-5CD2-4266-A45F-71B8CED93147}"/>
              </a:ext>
            </a:extLst>
          </p:cNvPr>
          <p:cNvSpPr>
            <a:spLocks xmlns:a="http://schemas.openxmlformats.org/drawingml/2006/main" noGrp="1"/>
          </p:cNvSpPr>
          <p:nvPr/>
        </p:nvSpPr>
        <p:spPr>
          <a:xfrm xmlns:a="http://schemas.openxmlformats.org/drawingml/2006/main">
            <a:off x="914400" y="4610100"/>
            <a:ext cx="10134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Illinois is formalizing electronic credits and virtual wagering account features, making cashless play closer to the operating norm.[13] That lowers cage friction, speeds comps, and gives operators better data for reinvestment and anti-money-laundering control.[13] American Place still appears more dependent on standard cage and ATM access, which leaves it behind peers with integrated wallets.[4][13]</a:t>
            </a:r>
          </a:p>
        </p:txBody>
      </p:sp>
      <p:sp>
        <p:nvSpPr>
          <p:cNvPr id="8" name="">
            <a:extLst xmlns:a="http://schemas.openxmlformats.org/drawingml/2006/main">
              <a:ext uri="{FF2B5EF4-FFF2-40B4-BE49-F238E27FC236}">
                <a16:creationId xmlns:a16="http://schemas.microsoft.com/office/drawing/2014/main" id="{EB0B90DA-C2E7-4572-8BC0-D6898BBDA60A}"/>
              </a:ext>
            </a:extLst>
          </p:cNvPr>
          <p:cNvSpPr>
            <a:spLocks xmlns:a="http://schemas.openxmlformats.org/drawingml/2006/main" noGrp="1"/>
          </p:cNvSpPr>
          <p:nvPr/>
        </p:nvSpPr>
        <p:spPr>
          <a:xfrm xmlns:a="http://schemas.openxmlformats.org/drawingml/2006/main">
            <a:off x="914400" y="5772150"/>
            <a:ext cx="1013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Cashless tools are becoming table stakes, and laggards may lose both convenience and personalization.</a:t>
            </a:r>
          </a:p>
        </p:txBody>
      </p:sp>
      <p:sp>
        <p:nvSpPr>
          <p:cNvPr id="9" name="">
            <a:extLst xmlns:a="http://schemas.openxmlformats.org/drawingml/2006/main">
              <a:ext uri="{FF2B5EF4-FFF2-40B4-BE49-F238E27FC236}">
                <a16:creationId xmlns:a16="http://schemas.microsoft.com/office/drawing/2014/main" id="{FC6AD4DC-6BF1-4847-9D5D-E5D0637FA6CD}"/>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30</a:t>
            </a:r>
          </a:p>
        </p:txBody>
      </p:sp>
    </p:spTree>
    <p:extLst>
      <p:ext uri="{BB962C8B-B14F-4D97-AF65-F5344CB8AC3E}">
        <p14:creationId xmlns:p14="http://schemas.microsoft.com/office/powerpoint/2010/main" val="1687673584"/>
      </p:ext>
    </p:extLst>
  </p:cSld>
</p:sld>
</file>

<file path=ppt/slides/slide31.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022B09-5C79-4955-88A3-5C9FEDB1497A}"/>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Financial Analysis Headline</a:t>
            </a:r>
          </a:p>
        </p:txBody>
      </p:sp>
      <p:sp>
        <p:nvSpPr>
          <p:cNvPr id="2" name="title-rule">
            <a:extLst xmlns:a="http://schemas.openxmlformats.org/drawingml/2006/main">
              <a:ext uri="{FF2B5EF4-FFF2-40B4-BE49-F238E27FC236}">
                <a16:creationId xmlns:a16="http://schemas.microsoft.com/office/drawing/2014/main" id="{68457C0C-948E-437F-AB96-41C63EA5A6FC}"/>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E2C4672-C5E9-4E90-967C-4E098EA10E27}"/>
              </a:ext>
            </a:extLst>
          </p:cNvPr>
          <p:cNvSpPr>
            <a:spLocks xmlns:a="http://schemas.openxmlformats.org/drawingml/2006/main" noGrp="1"/>
          </p:cNvSpPr>
          <p:nvPr/>
        </p:nvSpPr>
        <p:spPr>
          <a:xfrm xmlns:a="http://schemas.openxmlformats.org/drawingml/2006/main">
            <a:off x="914400" y="2528888"/>
            <a:ext cx="101346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2372A"/>
                </a:solidFill>
                <a:latin typeface="Calibri"/>
                <a:ea typeface="Calibri"/>
                <a:cs typeface="Calibri"/>
              </a:defRPr>
            </a:pPr>
            <a:r>
              <a:rPr sz="1950" b="1">
                <a:solidFill>
                  <a:srgbClr val="12372A"/>
                </a:solidFill>
                <a:latin typeface="Calibri"/>
                <a:ea typeface="Calibri"/>
                <a:cs typeface="Calibri"/>
              </a:rPr>
              <a:t>American Casino reached $328.0M of net revenue in 2005A, but the 7.8% CAGR masks an uneven path that peaked at 14.2% in 2004A before easing to 9.3% in 2005A. Growth was still concentrated: Stratosphere accounted for 49.8% of the achieved increase from 2003A to 2005A, so the revenue base broadened only modestly. Profitability improved to a 27.3% adjusted EBITDA margin, and the nil identified add-backs in 2005A suggest the latest earnings are backed by booked performance rather than adjustment-heavy reporting. Looking ahead, management's 2008 plan of $472.8M would need acquisition-led upside and sustained operating acceleration to close the gap to the published base and upside cases.</a:t>
            </a:r>
          </a:p>
        </p:txBody>
      </p:sp>
      <p:sp>
        <p:nvSpPr>
          <p:cNvPr id="4" name="">
            <a:extLst xmlns:a="http://schemas.openxmlformats.org/drawingml/2006/main">
              <a:ext uri="{FF2B5EF4-FFF2-40B4-BE49-F238E27FC236}">
                <a16:creationId xmlns:a16="http://schemas.microsoft.com/office/drawing/2014/main" id="{CC8DCDD2-7B9C-46E6-A0DA-61B25B6DA921}"/>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31</a:t>
            </a:r>
          </a:p>
        </p:txBody>
      </p:sp>
    </p:spTree>
    <p:extLst>
      <p:ext uri="{BB962C8B-B14F-4D97-AF65-F5344CB8AC3E}">
        <p14:creationId xmlns:p14="http://schemas.microsoft.com/office/powerpoint/2010/main" val="221477489"/>
      </p:ext>
    </p:extLst>
  </p:cSld>
</p:sld>
</file>

<file path=ppt/slides/slide32.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195D3F8-7EDA-4A2E-B567-B80FE213675C}"/>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Historical Financial Analysis</a:t>
            </a:r>
          </a:p>
        </p:txBody>
      </p:sp>
      <p:sp>
        <p:nvSpPr>
          <p:cNvPr id="2" name="title-rule">
            <a:extLst xmlns:a="http://schemas.openxmlformats.org/drawingml/2006/main">
              <a:ext uri="{FF2B5EF4-FFF2-40B4-BE49-F238E27FC236}">
                <a16:creationId xmlns:a16="http://schemas.microsoft.com/office/drawing/2014/main" id="{E987C936-FEF8-4741-8A07-E2FF8A8FA86C}"/>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424DEBD-C0EC-4BAA-876D-72D5B0FF4BC7}"/>
              </a:ext>
            </a:extLst>
          </p:cNvPr>
          <p:cNvSpPr>
            <a:spLocks xmlns:a="http://schemas.openxmlformats.org/drawingml/2006/main" noGrp="1"/>
          </p:cNvSpPr>
          <p:nvPr/>
        </p:nvSpPr>
        <p:spPr>
          <a:xfrm xmlns:a="http://schemas.openxmlformats.org/drawingml/2006/main">
            <a:off x="914400" y="2328863"/>
            <a:ext cx="101346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  Revenue grew from $242.5M in 2001A to $328.0M in 2005A, a 7.8% annual rate, but the shape was not a steady acceleration: growth was 3.1% in 2002A, 5.1% in 2003A, peaked at 14.2% in 2004A, and then eased to 9.3% in 2005A [1][2].</a:t>
            </a:r>
          </a:p>
        </p:txBody>
      </p:sp>
      <p:sp>
        <p:nvSpPr>
          <p:cNvPr id="4" name="">
            <a:extLst xmlns:a="http://schemas.openxmlformats.org/drawingml/2006/main">
              <a:ext uri="{FF2B5EF4-FFF2-40B4-BE49-F238E27FC236}">
                <a16:creationId xmlns:a16="http://schemas.microsoft.com/office/drawing/2014/main" id="{76E5ED40-5998-492F-AF54-7DB915A7E310}"/>
              </a:ext>
            </a:extLst>
          </p:cNvPr>
          <p:cNvSpPr>
            <a:spLocks xmlns:a="http://schemas.openxmlformats.org/drawingml/2006/main" noGrp="1"/>
          </p:cNvSpPr>
          <p:nvPr/>
        </p:nvSpPr>
        <p:spPr>
          <a:xfrm xmlns:a="http://schemas.openxmlformats.org/drawingml/2006/main">
            <a:off x="914400" y="3519488"/>
            <a:ext cx="101346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  The growth came mainly from the core estate rather than from broad diversification: Stratosphere was the main closed-period growth engine by name, while Casino was the largest product contributor by name [3][2].</a:t>
            </a:r>
          </a:p>
        </p:txBody>
      </p:sp>
      <p:sp>
        <p:nvSpPr>
          <p:cNvPr id="5" name="">
            <a:extLst xmlns:a="http://schemas.openxmlformats.org/drawingml/2006/main">
              <a:ext uri="{FF2B5EF4-FFF2-40B4-BE49-F238E27FC236}">
                <a16:creationId xmlns:a16="http://schemas.microsoft.com/office/drawing/2014/main" id="{937615FC-2433-42CA-B97D-9E90666EDA48}"/>
              </a:ext>
            </a:extLst>
          </p:cNvPr>
          <p:cNvSpPr>
            <a:spLocks xmlns:a="http://schemas.openxmlformats.org/drawingml/2006/main" noGrp="1"/>
          </p:cNvSpPr>
          <p:nvPr/>
        </p:nvSpPr>
        <p:spPr>
          <a:xfrm xmlns:a="http://schemas.openxmlformats.org/drawingml/2006/main">
            <a:off x="914400" y="4710113"/>
            <a:ext cx="1013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  The next visible step-up is described as acquisition-led rather than a faster run-rate from the existing properties [4][1][2].</a:t>
            </a:r>
          </a:p>
        </p:txBody>
      </p:sp>
      <p:sp>
        <p:nvSpPr>
          <p:cNvPr id="6" name="">
            <a:extLst xmlns:a="http://schemas.openxmlformats.org/drawingml/2006/main">
              <a:ext uri="{FF2B5EF4-FFF2-40B4-BE49-F238E27FC236}">
                <a16:creationId xmlns:a16="http://schemas.microsoft.com/office/drawing/2014/main" id="{1E317E7F-5153-47A1-8F73-732E2573587E}"/>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32</a:t>
            </a:r>
          </a:p>
        </p:txBody>
      </p:sp>
    </p:spTree>
    <p:extLst>
      <p:ext uri="{BB962C8B-B14F-4D97-AF65-F5344CB8AC3E}">
        <p14:creationId xmlns:p14="http://schemas.microsoft.com/office/powerpoint/2010/main" val="340882171"/>
      </p:ext>
    </p:extLst>
  </p:cSld>
</p:sld>
</file>

<file path=ppt/slides/slide33.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34A0FFC-8218-4E73-BB07-9035175ACF3D}"/>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Historical Financial Analysis</a:t>
            </a:r>
          </a:p>
        </p:txBody>
      </p:sp>
      <p:sp>
        <p:nvSpPr>
          <p:cNvPr id="2" name="title-rule">
            <a:extLst xmlns:a="http://schemas.openxmlformats.org/drawingml/2006/main">
              <a:ext uri="{FF2B5EF4-FFF2-40B4-BE49-F238E27FC236}">
                <a16:creationId xmlns:a16="http://schemas.microsoft.com/office/drawing/2014/main" id="{35F62FCA-E718-468E-AC3F-7F51B0672F92}"/>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4124325"/>
        </p:xfrm>
        <a:graphic xmlns:a="http://schemas.openxmlformats.org/drawingml/2006/main">
          <a:graphicData uri="http://schemas.openxmlformats.org/drawingml/2006/table">
            <a:tbl>
              <a:tblPr firstRow="1" bandRow="1"/>
              <a:tblGrid>
                <a:gridCol w="2164080"/>
                <a:gridCol w="1923627"/>
                <a:gridCol w="1923627"/>
                <a:gridCol w="4809067"/>
              </a:tblGrid>
              <a:tr h="552450">
                <a:tc>
                  <a:txBody>
                    <a:bodyPr>
                      <a:normAutofit/>
                    </a:bodyPr>
                    <a:lstStyle/>
                    <a:p>
                      <a:r>
                        <a:rPr sz="1200" b="1">
                          <a:solidFill>
                            <a:srgbClr val="FFFFFF"/>
                          </a:solidFill>
                          <a:latin typeface="Calibri"/>
                          <a:ea typeface="Calibri"/>
                          <a:cs typeface="Calibri"/>
                        </a:rPr>
                        <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2005A</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vs 2002A</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Key Insight</a:t>
                      </a:r>
                    </a:p>
                  </a:txBody>
                  <a:tcPr marL="91440" marR="91440" marT="45720" marB="45720">
                    <a:solidFill>
                      <a:srgbClr val="0F766E"/>
                    </a:solidFill>
                  </a:tcPr>
                </a:tc>
              </a:tr>
              <a:tr h="714375">
                <a:tc>
                  <a:txBody>
                    <a:bodyPr>
                      <a:normAutofit/>
                    </a:bodyPr>
                    <a:lstStyle/>
                    <a:p>
                      <a:r>
                        <a:rPr sz="1125">
                          <a:solidFill>
                            <a:srgbClr val="12372A"/>
                          </a:solidFill>
                          <a:latin typeface="Calibri"/>
                          <a:ea typeface="Calibri"/>
                          <a:cs typeface="Calibri"/>
                        </a:rPr>
                        <a:t>Revenue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$328.0M</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from $250.0M in 2002A</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The later step-up is projected to come mostly from Aquarius, so the closed-period run-rate had already slowed before that acquisition year.</a:t>
                      </a:r>
                    </a:p>
                  </a:txBody>
                  <a:tcPr marL="91440" marR="91440" marT="45720" marB="45720">
                    <a:solidFill>
                      <a:srgbClr val="FFFFFF"/>
                    </a:solidFill>
                  </a:tcPr>
                </a:tc>
              </a:tr>
              <a:tr h="714375">
                <a:tc>
                  <a:txBody>
                    <a:bodyPr>
                      <a:normAutofit/>
                    </a:bodyPr>
                    <a:lstStyle/>
                    <a:p>
                      <a:r>
                        <a:rPr sz="1125">
                          <a:solidFill>
                            <a:srgbClr val="12372A"/>
                          </a:solidFill>
                          <a:latin typeface="Calibri"/>
                          <a:ea typeface="Calibri"/>
                          <a:cs typeface="Calibri"/>
                        </a:rPr>
                        <a:t>Profit (EBITDA)</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$89.4M adjusted EBITDA, 27.3% margin</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from $31.7M, 12.7% margin in 2002A</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Latest-year profit improved through overhead leverage, not further direct-margin expansion, and it was not dependent on a latest-year add-back.</a:t>
                      </a:r>
                    </a:p>
                  </a:txBody>
                  <a:tcPr marL="91440" marR="91440" marT="45720" marB="45720">
                    <a:solidFill>
                      <a:srgbClr val="F0EEF8"/>
                    </a:solidFill>
                  </a:tcPr>
                </a:tc>
              </a:tr>
              <a:tr h="714375">
                <a:tc>
                  <a:txBody>
                    <a:bodyPr>
                      <a:normAutofit/>
                    </a:bodyPr>
                    <a:lstStyle/>
                    <a:p>
                      <a:r>
                        <a:rPr sz="1125">
                          <a:solidFill>
                            <a:srgbClr val="12372A"/>
                          </a:solidFill>
                          <a:latin typeface="Calibri"/>
                          <a:ea typeface="Calibri"/>
                          <a:cs typeface="Calibri"/>
                        </a:rPr>
                        <a:t>Biggest concentration</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Stratosphere market: $196.2M, 59.8% of revenue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share eased from 62.3% in 2003A</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Stratosphere was both the biggest market and the main growth engine, so the business remained exposed to one Strip asset and tourist demand pool.</a:t>
                      </a:r>
                    </a:p>
                  </a:txBody>
                  <a:tcPr marL="91440" marR="91440" marT="45720" marB="45720">
                    <a:solidFill>
                      <a:srgbClr val="FFFFFF"/>
                    </a:solidFill>
                  </a:tcPr>
                </a:tc>
              </a:tr>
              <a:tr h="714375">
                <a:tc>
                  <a:txBody>
                    <a:bodyPr>
                      <a:normAutofit/>
                    </a:bodyPr>
                    <a:lstStyle/>
                    <a:p>
                      <a:r>
                        <a:rPr sz="1125">
                          <a:solidFill>
                            <a:srgbClr val="12372A"/>
                          </a:solidFill>
                          <a:latin typeface="Calibri"/>
                          <a:ea typeface="Calibri"/>
                          <a:cs typeface="Calibri"/>
                        </a:rPr>
                        <a:t>Gross margin</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52.0%</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from 44.7% in 2002A</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Gross margin weakened in the latest year even as EBITDA margin rose, showing profits depended more on cost discipline than another margin lift.</a:t>
                      </a:r>
                    </a:p>
                  </a:txBody>
                  <a:tcPr marL="91440" marR="91440" marT="45720" marB="45720">
                    <a:solidFill>
                      <a:srgbClr val="F0EEF8"/>
                    </a:solidFill>
                  </a:tcPr>
                </a:tc>
              </a:tr>
              <a:tr h="714375">
                <a:tc>
                  <a:txBody>
                    <a:bodyPr>
                      <a:normAutofit/>
                    </a:bodyPr>
                    <a:lstStyle/>
                    <a:p>
                      <a:r>
                        <a:rPr sz="1125">
                          <a:solidFill>
                            <a:srgbClr val="12372A"/>
                          </a:solidFill>
                          <a:latin typeface="Calibri"/>
                          <a:ea typeface="Calibri"/>
                          <a:cs typeface="Calibri"/>
                        </a:rPr>
                        <a:t>Adjustments claimed</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$89.4M adjusted; $89.4M reported; $89.4M recommended</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from $31.7M adjusted and $31.3M recommended in 2002A</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No uplift survives in 2005A, so the latest-year earnings base reads as booked profit rather than adjustment-led EBITDA.</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AB125D2-E5FF-4AB6-BBDB-58EB74E2E24B}"/>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33</a:t>
            </a:r>
          </a:p>
        </p:txBody>
      </p:sp>
    </p:spTree>
    <p:extLst>
      <p:ext uri="{BB962C8B-B14F-4D97-AF65-F5344CB8AC3E}">
        <p14:creationId xmlns:p14="http://schemas.microsoft.com/office/powerpoint/2010/main" val="1257868710"/>
      </p:ext>
    </p:extLst>
  </p:cSld>
</p:sld>
</file>

<file path=ppt/slides/slide34.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FB16EC2-DB05-4825-9B64-AC527F9D7DFF}"/>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Revenue Segments</a:t>
            </a:r>
          </a:p>
        </p:txBody>
      </p:sp>
      <p:sp>
        <p:nvSpPr>
          <p:cNvPr id="2" name="title-rule">
            <a:extLst xmlns:a="http://schemas.openxmlformats.org/drawingml/2006/main">
              <a:ext uri="{FF2B5EF4-FFF2-40B4-BE49-F238E27FC236}">
                <a16:creationId xmlns:a16="http://schemas.microsoft.com/office/drawing/2014/main" id="{E4A23F66-1D7B-4135-85BC-94E5CABA4BCA}"/>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2A10A56-ADF0-4BA4-AB68-BFCF54352051}"/>
              </a:ext>
            </a:extLst>
          </p:cNvPr>
          <p:cNvSpPr>
            <a:spLocks xmlns:a="http://schemas.openxmlformats.org/drawingml/2006/main" noGrp="1"/>
          </p:cNvSpPr>
          <p:nvPr/>
        </p:nvSpPr>
        <p:spPr>
          <a:xfrm xmlns:a="http://schemas.openxmlformats.org/drawingml/2006/main">
            <a:off x="914400" y="2781300"/>
            <a:ext cx="101346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  Concentration eases only in the projected year: Stratosphere falls to 46.0% from 62.3% as Aquarius enters at 23.6%, so diversification is projected rather than demonstrated in the achieved history.</a:t>
            </a:r>
          </a:p>
        </p:txBody>
      </p:sp>
      <p:sp>
        <p:nvSpPr>
          <p:cNvPr id="4" name="">
            <a:extLst xmlns:a="http://schemas.openxmlformats.org/drawingml/2006/main">
              <a:ext uri="{FF2B5EF4-FFF2-40B4-BE49-F238E27FC236}">
                <a16:creationId xmlns:a16="http://schemas.microsoft.com/office/drawing/2014/main" id="{902B2CE7-452E-4DEA-AA69-DAFB810B6CE7}"/>
              </a:ext>
            </a:extLst>
          </p:cNvPr>
          <p:cNvSpPr>
            <a:spLocks xmlns:a="http://schemas.openxmlformats.org/drawingml/2006/main" noGrp="1"/>
          </p:cNvSpPr>
          <p:nvPr/>
        </p:nvSpPr>
        <p:spPr>
          <a:xfrm xmlns:a="http://schemas.openxmlformats.org/drawingml/2006/main">
            <a:off x="914400" y="3971925"/>
            <a:ext cx="101346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  The legacy base entered the acquisition year with little same-property momentum, so durability rests more on acquisition and normalization than on demonstrated organic breadth [4][3][5][6][1][2].</a:t>
            </a:r>
          </a:p>
        </p:txBody>
      </p:sp>
      <p:sp>
        <p:nvSpPr>
          <p:cNvPr id="5" name="">
            <a:extLst xmlns:a="http://schemas.openxmlformats.org/drawingml/2006/main">
              <a:ext uri="{FF2B5EF4-FFF2-40B4-BE49-F238E27FC236}">
                <a16:creationId xmlns:a16="http://schemas.microsoft.com/office/drawing/2014/main" id="{EE9E5A8C-B38D-4928-A04F-4ABA8C84DE56}"/>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34</a:t>
            </a:r>
          </a:p>
        </p:txBody>
      </p:sp>
    </p:spTree>
    <p:extLst>
      <p:ext uri="{BB962C8B-B14F-4D97-AF65-F5344CB8AC3E}">
        <p14:creationId xmlns:p14="http://schemas.microsoft.com/office/powerpoint/2010/main" val="1361717278"/>
      </p:ext>
    </p:extLst>
  </p:cSld>
</p:sld>
</file>

<file path=ppt/slides/slide35.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AD30831-55C4-4176-B8F2-56E49D8465D9}"/>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Revenue Segments</a:t>
            </a:r>
          </a:p>
        </p:txBody>
      </p:sp>
      <p:sp>
        <p:nvSpPr>
          <p:cNvPr id="2" name="title-rule">
            <a:extLst xmlns:a="http://schemas.openxmlformats.org/drawingml/2006/main">
              <a:ext uri="{FF2B5EF4-FFF2-40B4-BE49-F238E27FC236}">
                <a16:creationId xmlns:a16="http://schemas.microsoft.com/office/drawing/2014/main" id="{52E5EB96-B363-4933-AF28-22CB006133DB}"/>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1085850"/>
        </p:xfrm>
        <a:graphic xmlns:a="http://schemas.openxmlformats.org/drawingml/2006/main">
          <a:graphicData uri="http://schemas.openxmlformats.org/drawingml/2006/table">
            <a:tbl>
              <a:tblPr firstRow="1" bandRow="1"/>
              <a:tblGrid>
                <a:gridCol w="5728447"/>
                <a:gridCol w="5091953"/>
              </a:tblGrid>
              <a:tr h="552450">
                <a:tc>
                  <a:txBody>
                    <a:bodyPr>
                      <a:normAutofit/>
                    </a:bodyPr>
                    <a:lstStyle/>
                    <a:p>
                      <a:r>
                        <a:rPr sz="1200" b="1">
                          <a:solidFill>
                            <a:srgbClr val="FFFFFF"/>
                          </a:solidFill>
                          <a:latin typeface="Calibri"/>
                          <a:ea typeface="Calibri"/>
                          <a:cs typeface="Calibri"/>
                        </a:rPr>
                        <a:t>Revenue by Geography</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Revenue by Product</a:t>
                      </a:r>
                    </a:p>
                  </a:txBody>
                  <a:tcPr marL="91440" marR="91440" marT="45720" marB="45720">
                    <a:solidFill>
                      <a:srgbClr val="0F766E"/>
                    </a:solidFill>
                  </a:tcPr>
                </a:tc>
              </a:tr>
              <a:tr h="533400">
                <a:tc>
                  <a:txBody>
                    <a:bodyPr>
                      <a:normAutofit/>
                    </a:bodyPr>
                    <a:lstStyle/>
                    <a:p>
                      <a:r>
                        <a:rPr sz="1125">
                          <a:solidFill>
                            <a:srgbClr val="12372A"/>
                          </a:solidFill>
                          <a:latin typeface="Calibri"/>
                          <a:ea typeface="Calibri"/>
                          <a:cs typeface="Calibri"/>
                        </a:rPr>
                        <a:t>Las Vegas Strip / tourist market (Stratosphere) is the single largest dependency at $196.2M, or 59.8% of 2005A net revenue.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Casino is the single largest dependency at $182.9M, or 52.2% of 2005A gross revenue.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A748E2D-39B2-4430-8050-E1C851F2C26B}"/>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35</a:t>
            </a:r>
          </a:p>
        </p:txBody>
      </p:sp>
    </p:spTree>
    <p:extLst>
      <p:ext uri="{BB962C8B-B14F-4D97-AF65-F5344CB8AC3E}">
        <p14:creationId xmlns:p14="http://schemas.microsoft.com/office/powerpoint/2010/main" val="1124584881"/>
      </p:ext>
    </p:extLst>
  </p:cSld>
</p:sld>
</file>

<file path=ppt/slides/slide36.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8D5B1CB-A01D-421E-A0EE-2C6B398FEE13}"/>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Margin &amp; Earnings Quality</a:t>
            </a:r>
          </a:p>
        </p:txBody>
      </p:sp>
      <p:sp>
        <p:nvSpPr>
          <p:cNvPr id="2" name="title-rule">
            <a:extLst xmlns:a="http://schemas.openxmlformats.org/drawingml/2006/main">
              <a:ext uri="{FF2B5EF4-FFF2-40B4-BE49-F238E27FC236}">
                <a16:creationId xmlns:a16="http://schemas.microsoft.com/office/drawing/2014/main" id="{8FA0DC3D-5C93-4551-841E-726C6771F873}"/>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2FBCCE3-6848-4DF4-A974-F63E3CDD4930}"/>
              </a:ext>
            </a:extLst>
          </p:cNvPr>
          <p:cNvSpPr>
            <a:spLocks xmlns:a="http://schemas.openxmlformats.org/drawingml/2006/main" noGrp="1"/>
          </p:cNvSpPr>
          <p:nvPr/>
        </p:nvSpPr>
        <p:spPr>
          <a:xfrm xmlns:a="http://schemas.openxmlformats.org/drawingml/2006/main">
            <a:off x="914400" y="1714500"/>
            <a:ext cx="101346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  Recurring overhead leverage was the biggest reason profit improved: selling, general and administrative expense lagged the business in every closed year after 2002A, at -6.3% in 2003A, +4.9% in 2004A, and +3.3% in 2005A [1]. The clearest counterfactual is 2005A: gross margin moved the wrong way by 300 bps, yet EBITDA margin still increased by 3.1 percentage points, so without tighter overhead absorption the year would not have shown the same profit lift [1].</a:t>
            </a:r>
          </a:p>
        </p:txBody>
      </p:sp>
      <p:sp>
        <p:nvSpPr>
          <p:cNvPr id="4" name="">
            <a:extLst xmlns:a="http://schemas.openxmlformats.org/drawingml/2006/main">
              <a:ext uri="{FF2B5EF4-FFF2-40B4-BE49-F238E27FC236}">
                <a16:creationId xmlns:a16="http://schemas.microsoft.com/office/drawing/2014/main" id="{95A44617-46D8-46A2-9393-D06A7A124DDB}"/>
              </a:ext>
            </a:extLst>
          </p:cNvPr>
          <p:cNvSpPr>
            <a:spLocks xmlns:a="http://schemas.openxmlformats.org/drawingml/2006/main" noGrp="1"/>
          </p:cNvSpPr>
          <p:nvPr/>
        </p:nvSpPr>
        <p:spPr>
          <a:xfrm xmlns:a="http://schemas.openxmlformats.org/drawingml/2006/main">
            <a:off x="914400" y="3105150"/>
            <a:ext cx="101346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  That driver looks structural rather than temporary because the overhead pattern repeated across multiple closed years, not just one year [1]. By contrast, the 2003A to 2004A direct-margin jump included a 730 bps EBITDA margin expansion that did not fully hold, as gross margin then fell by 300 bps from 2004A to 2005A [1]. For a buyer, that means the profit level appears to rest more on scalable overhead control than on assuming another direct-margin jump [1].</a:t>
            </a:r>
          </a:p>
        </p:txBody>
      </p:sp>
      <p:sp>
        <p:nvSpPr>
          <p:cNvPr id="5" name="">
            <a:extLst xmlns:a="http://schemas.openxmlformats.org/drawingml/2006/main">
              <a:ext uri="{FF2B5EF4-FFF2-40B4-BE49-F238E27FC236}">
                <a16:creationId xmlns:a16="http://schemas.microsoft.com/office/drawing/2014/main" id="{07C4A5A1-5DD4-460C-B305-E0E274998649}"/>
              </a:ext>
            </a:extLst>
          </p:cNvPr>
          <p:cNvSpPr>
            <a:spLocks xmlns:a="http://schemas.openxmlformats.org/drawingml/2006/main" noGrp="1"/>
          </p:cNvSpPr>
          <p:nvPr/>
        </p:nvSpPr>
        <p:spPr>
          <a:xfrm xmlns:a="http://schemas.openxmlformats.org/drawingml/2006/main">
            <a:off x="914400" y="4495800"/>
            <a:ext cx="101346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  Earnings quality is strong in the latest closed year because recommended EBITDA and management-adjusted EBITDA are both $89.4M in 2005A, with nil identified add-backs, so there is no meaningful gap to underwrite away [1]. Earlier differences were small and mostly limited to 2003A, where recommended EBITDA is $45.0M versus management-adjusted EBITDA of $45.5M because only $0.9M of the asset-disposal loss supports normalization [1]. For a buyer, that means the latest closed-year EBITDA appears to be booked earnings rather than adjustment-driven profit [1].</a:t>
            </a:r>
          </a:p>
        </p:txBody>
      </p:sp>
      <p:sp>
        <p:nvSpPr>
          <p:cNvPr id="6" name="">
            <a:extLst xmlns:a="http://schemas.openxmlformats.org/drawingml/2006/main">
              <a:ext uri="{FF2B5EF4-FFF2-40B4-BE49-F238E27FC236}">
                <a16:creationId xmlns:a16="http://schemas.microsoft.com/office/drawing/2014/main" id="{071833FE-6DD0-4B7D-A8AD-C45EF9C53ED1}"/>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36</a:t>
            </a:r>
          </a:p>
        </p:txBody>
      </p:sp>
    </p:spTree>
    <p:extLst>
      <p:ext uri="{BB962C8B-B14F-4D97-AF65-F5344CB8AC3E}">
        <p14:creationId xmlns:p14="http://schemas.microsoft.com/office/powerpoint/2010/main" val="1991000776"/>
      </p:ext>
    </p:extLst>
  </p:cSld>
</p:sld>
</file>

<file path=ppt/slides/slide37.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75FBA8-D84B-4582-A045-C9C00D2F5A80}"/>
              </a:ext>
            </a:extLst>
          </p:cNvPr>
          <p:cNvSpPr>
            <a:spLocks xmlns:a="http://schemas.openxmlformats.org/drawingml/2006/main" noGrp="1"/>
          </p:cNvSpPr>
          <p:nvPr/>
        </p:nvSpPr>
        <p:spPr>
          <a:xfrm xmlns:a="http://schemas.openxmlformats.org/drawingml/2006/main">
            <a:off x="685800" y="3619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F766E"/>
                </a:solidFill>
                <a:latin typeface="Calibri"/>
                <a:ea typeface="Calibri"/>
                <a:cs typeface="Calibri"/>
              </a:defRPr>
            </a:pPr>
            <a:r>
              <a:rPr sz="900" b="1">
                <a:solidFill>
                  <a:srgbClr val="0F766E"/>
                </a:solidFill>
                <a:latin typeface="Calibri"/>
                <a:ea typeface="Calibri"/>
                <a:cs typeface="Calibri"/>
              </a:rPr>
              <a:t>MARGIN &amp; EARNINGS QUALITY</a:t>
            </a:r>
          </a:p>
        </p:txBody>
      </p:sp>
      <p:sp>
        <p:nvSpPr>
          <p:cNvPr id="2" name="">
            <a:extLst xmlns:a="http://schemas.openxmlformats.org/drawingml/2006/main">
              <a:ext uri="{FF2B5EF4-FFF2-40B4-BE49-F238E27FC236}">
                <a16:creationId xmlns:a16="http://schemas.microsoft.com/office/drawing/2014/main" id="{2F1B5E3B-E721-488E-9AA7-FFE883DAAC12}"/>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Margin Trend</a:t>
            </a:r>
          </a:p>
        </p:txBody>
      </p:sp>
      <p:sp>
        <p:nvSpPr>
          <p:cNvPr id="3" name="title-rule">
            <a:extLst xmlns:a="http://schemas.openxmlformats.org/drawingml/2006/main">
              <a:ext uri="{FF2B5EF4-FFF2-40B4-BE49-F238E27FC236}">
                <a16:creationId xmlns:a16="http://schemas.microsoft.com/office/drawing/2014/main" id="{E0B0C4D8-5769-4130-B3D2-60A24041FD05}"/>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9" name="Chart"/>
          <p:cNvGraphicFramePr/>
          <p:nvPr/>
        </p:nvGraphicFramePr>
        <p:xfrm>
          <a:off xmlns:a="http://schemas.openxmlformats.org/drawingml/2006/main" x="819150" y="1504950"/>
          <a:ext xmlns:a="http://schemas.openxmlformats.org/drawingml/2006/main" cx="10553700" cy="4533900"/>
        </p:xfrm>
        <a:graphic xmlns:a="http://schemas.openxmlformats.org/drawingml/2006/main">
          <a:graphicData uri="http://schemas.openxmlformats.org/drawingml/2006/chart">
            <c:chart xmlns:r="http://schemas.openxmlformats.org/officeDocument/2006/relationships" xmlns:c="http://schemas.openxmlformats.org/drawingml/2006/chart" r:id="Rf341cec7b2ab43df"/>
          </a:graphicData>
        </a:graphic>
      </p:graphicFrame>
      <p:sp>
        <p:nvSpPr>
          <p:cNvPr id="5" name="">
            <a:extLst xmlns:a="http://schemas.openxmlformats.org/drawingml/2006/main">
              <a:ext uri="{FF2B5EF4-FFF2-40B4-BE49-F238E27FC236}">
                <a16:creationId xmlns:a16="http://schemas.microsoft.com/office/drawing/2014/main" id="{7AB85B15-C7B5-484A-8FFD-DFF35ED3B0C6}"/>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37</a:t>
            </a:r>
          </a:p>
        </p:txBody>
      </p:sp>
    </p:spTree>
    <p:extLst>
      <p:ext uri="{BB962C8B-B14F-4D97-AF65-F5344CB8AC3E}">
        <p14:creationId xmlns:p14="http://schemas.microsoft.com/office/powerpoint/2010/main" val="316398158"/>
      </p:ext>
    </p:extLst>
  </p:cSld>
</p:sld>
</file>

<file path=ppt/slides/slide38.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90FC9E-44D9-45A5-A1AA-969319DC3460}"/>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Projected Revenue Analysis</a:t>
            </a:r>
          </a:p>
        </p:txBody>
      </p:sp>
      <p:sp>
        <p:nvSpPr>
          <p:cNvPr id="2" name="title-rule">
            <a:extLst xmlns:a="http://schemas.openxmlformats.org/drawingml/2006/main">
              <a:ext uri="{FF2B5EF4-FFF2-40B4-BE49-F238E27FC236}">
                <a16:creationId xmlns:a16="http://schemas.microsoft.com/office/drawing/2014/main" id="{7A53797B-266E-4E38-9343-830631048D42}"/>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CF90EB7-5DB0-4196-8E0F-4EE916ADFCB4}"/>
              </a:ext>
            </a:extLst>
          </p:cNvPr>
          <p:cNvSpPr>
            <a:spLocks xmlns:a="http://schemas.openxmlformats.org/drawingml/2006/main" noGrp="1"/>
          </p:cNvSpPr>
          <p:nvPr/>
        </p:nvSpPr>
        <p:spPr>
          <a:xfrm xmlns:a="http://schemas.openxmlformats.org/drawingml/2006/main">
            <a:off x="914400" y="2362200"/>
            <a:ext cx="101346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  Management's plan sits above our base case of $382.9M in 2006, $410.8M in 2007, and $433.9M in 2008, and above our upside case of $389.9M in 2006, $426.2M in 2007, and $457.4M in 2008. That is the plan-credibility finding, and it holds across all three years without turning the gap into a tested disagreement with management.</a:t>
            </a:r>
          </a:p>
        </p:txBody>
      </p:sp>
      <p:sp>
        <p:nvSpPr>
          <p:cNvPr id="4" name="">
            <a:extLst xmlns:a="http://schemas.openxmlformats.org/drawingml/2006/main">
              <a:ext uri="{FF2B5EF4-FFF2-40B4-BE49-F238E27FC236}">
                <a16:creationId xmlns:a16="http://schemas.microsoft.com/office/drawing/2014/main" id="{65242F48-3E53-450B-8FC7-59F72D718477}"/>
              </a:ext>
            </a:extLst>
          </p:cNvPr>
          <p:cNvSpPr>
            <a:spLocks xmlns:a="http://schemas.openxmlformats.org/drawingml/2006/main" noGrp="1"/>
          </p:cNvSpPr>
          <p:nvPr/>
        </p:nvSpPr>
        <p:spPr>
          <a:xfrm xmlns:a="http://schemas.openxmlformats.org/drawingml/2006/main">
            <a:off x="914400" y="3829050"/>
            <a:ext cx="101346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  For the plan to land, the business has to deliver beyond the published upside build: the upper end of the stated line-level growth range must hold, and the Aquarius-led portfolio change must translate into sustained operating acceleration[1]. In other words, the forecast only works if the operating build is stronger than the disclosed upside case already assumes.</a:t>
            </a:r>
          </a:p>
        </p:txBody>
      </p:sp>
      <p:sp>
        <p:nvSpPr>
          <p:cNvPr id="5" name="">
            <a:extLst xmlns:a="http://schemas.openxmlformats.org/drawingml/2006/main">
              <a:ext uri="{FF2B5EF4-FFF2-40B4-BE49-F238E27FC236}">
                <a16:creationId xmlns:a16="http://schemas.microsoft.com/office/drawing/2014/main" id="{80207A48-F6AD-44F6-8BD8-C9DCED8C91C5}"/>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38</a:t>
            </a:r>
          </a:p>
        </p:txBody>
      </p:sp>
    </p:spTree>
    <p:extLst>
      <p:ext uri="{BB962C8B-B14F-4D97-AF65-F5344CB8AC3E}">
        <p14:creationId xmlns:p14="http://schemas.microsoft.com/office/powerpoint/2010/main" val="1124941390"/>
      </p:ext>
    </p:extLst>
  </p:cSld>
</p:sld>
</file>

<file path=ppt/slides/slide39.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E4E5BD6A-5A65-4F2C-99FE-243A03D2F3DF}"/>
              </a:ext>
            </a:extLst>
          </p:cNvPr>
          <p:cNvSpPr>
            <a:spLocks xmlns:a="http://schemas.openxmlformats.org/drawingml/2006/main" noGrp="1"/>
          </p:cNvSpPr>
          <p:nvPr/>
        </p:nvSpPr>
        <p:spPr>
          <a:xfrm xmlns:a="http://schemas.openxmlformats.org/drawingml/2006/main">
            <a:off x="685800" y="3619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F766E"/>
                </a:solidFill>
                <a:latin typeface="Calibri"/>
                <a:ea typeface="Calibri"/>
                <a:cs typeface="Calibri"/>
              </a:defRPr>
            </a:pPr>
            <a:r>
              <a:rPr sz="900" b="1">
                <a:solidFill>
                  <a:srgbClr val="0F766E"/>
                </a:solidFill>
                <a:latin typeface="Calibri"/>
                <a:ea typeface="Calibri"/>
                <a:cs typeface="Calibri"/>
              </a:rPr>
              <a:t>PROJECTED REVENUE ANALYSIS</a:t>
            </a:r>
          </a:p>
        </p:txBody>
      </p:sp>
      <p:sp>
        <p:nvSpPr>
          <p:cNvPr id="2" name="">
            <a:extLst xmlns:a="http://schemas.openxmlformats.org/drawingml/2006/main">
              <a:ext uri="{FF2B5EF4-FFF2-40B4-BE49-F238E27FC236}">
                <a16:creationId xmlns:a16="http://schemas.microsoft.com/office/drawing/2014/main" id="{B945E220-8AB7-4F3C-96C5-D2E6948DAAFF}"/>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Net revenue, scenario paths against the management plan</a:t>
            </a:r>
          </a:p>
        </p:txBody>
      </p:sp>
      <p:sp>
        <p:nvSpPr>
          <p:cNvPr id="3" name="title-rule">
            <a:extLst xmlns:a="http://schemas.openxmlformats.org/drawingml/2006/main">
              <a:ext uri="{FF2B5EF4-FFF2-40B4-BE49-F238E27FC236}">
                <a16:creationId xmlns:a16="http://schemas.microsoft.com/office/drawing/2014/main" id="{E1113AFF-4145-48ED-BF7F-F0CAE3AC40CA}"/>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41" name="Chart"/>
          <p:cNvGraphicFramePr/>
          <p:nvPr/>
        </p:nvGraphicFramePr>
        <p:xfrm>
          <a:off xmlns:a="http://schemas.openxmlformats.org/drawingml/2006/main" x="819150" y="1504950"/>
          <a:ext xmlns:a="http://schemas.openxmlformats.org/drawingml/2006/main" cx="10553700" cy="4533900"/>
        </p:xfrm>
        <a:graphic xmlns:a="http://schemas.openxmlformats.org/drawingml/2006/main">
          <a:graphicData uri="http://schemas.openxmlformats.org/drawingml/2006/chart">
            <c:chart xmlns:r="http://schemas.openxmlformats.org/officeDocument/2006/relationships" xmlns:c="http://schemas.openxmlformats.org/drawingml/2006/chart" r:id="R04ab78a66c044ca5"/>
          </a:graphicData>
        </a:graphic>
      </p:graphicFrame>
      <p:sp>
        <p:nvSpPr>
          <p:cNvPr id="5" name="">
            <a:extLst xmlns:a="http://schemas.openxmlformats.org/drawingml/2006/main">
              <a:ext uri="{FF2B5EF4-FFF2-40B4-BE49-F238E27FC236}">
                <a16:creationId xmlns:a16="http://schemas.microsoft.com/office/drawing/2014/main" id="{B3607214-74AF-47C6-A604-9022C69BCBDF}"/>
              </a:ext>
            </a:extLst>
          </p:cNvPr>
          <p:cNvSpPr>
            <a:spLocks xmlns:a="http://schemas.openxmlformats.org/drawingml/2006/main" noGrp="1"/>
          </p:cNvSpPr>
          <p:nvPr/>
        </p:nvSpPr>
        <p:spPr>
          <a:xfrm xmlns:a="http://schemas.openxmlformats.org/drawingml/2006/main">
            <a:off x="2824163" y="2627890"/>
            <a:ext cx="76200" cy="0"/>
          </a:xfrm>
          <a:prstGeom xmlns:a="http://schemas.openxmlformats.org/drawingml/2006/main" prst="line">
            <a:avLst/>
          </a:prstGeom>
          <a:noFill xmlns:a="http://schemas.openxmlformats.org/drawingml/2006/main"/>
          <a:ln xmlns:a="http://schemas.openxmlformats.org/drawingml/2006/main" w="9525">
            <a:solidFill>
              <a:srgbClr val="0F766E"/>
            </a:solidFill>
            <a:prstDash val="solid"/>
          </a:ln>
        </p:spPr>
      </p:sp>
      <p:sp>
        <p:nvSpPr>
          <p:cNvPr id="6" name="">
            <a:extLst xmlns:a="http://schemas.openxmlformats.org/drawingml/2006/main">
              <a:ext uri="{FF2B5EF4-FFF2-40B4-BE49-F238E27FC236}">
                <a16:creationId xmlns:a16="http://schemas.microsoft.com/office/drawing/2014/main" id="{89472FDB-38D5-4D92-A04E-368A7FC557AB}"/>
              </a:ext>
            </a:extLst>
          </p:cNvPr>
          <p:cNvSpPr>
            <a:spLocks xmlns:a="http://schemas.openxmlformats.org/drawingml/2006/main" noGrp="1"/>
          </p:cNvSpPr>
          <p:nvPr/>
        </p:nvSpPr>
        <p:spPr>
          <a:xfrm xmlns:a="http://schemas.openxmlformats.org/drawingml/2006/main">
            <a:off x="2900363" y="2523115"/>
            <a:ext cx="1200150" cy="209550"/>
          </a:xfrm>
          <a:prstGeom xmlns:a="http://schemas.openxmlformats.org/drawingml/2006/main" prst="rect">
            <a:avLst/>
          </a:prstGeom>
          <a:solidFill xmlns:a="http://schemas.openxmlformats.org/drawingml/2006/main">
            <a:srgbClr val="F5FA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0F766E"/>
                </a:solidFill>
                <a:latin typeface="Calibri"/>
                <a:ea typeface="Calibri"/>
                <a:cs typeface="Calibri"/>
              </a:defRPr>
            </a:pPr>
            <a:r>
              <a:rPr sz="825" b="1">
                <a:solidFill>
                  <a:srgbClr val="0F766E"/>
                </a:solidFill>
                <a:latin typeface="Calibri"/>
                <a:ea typeface="Calibri"/>
                <a:cs typeface="Calibri"/>
              </a:rPr>
              <a:t>Down $350.3M</a:t>
            </a:r>
          </a:p>
        </p:txBody>
      </p:sp>
      <p:sp>
        <p:nvSpPr>
          <p:cNvPr id="7" name="">
            <a:extLst xmlns:a="http://schemas.openxmlformats.org/drawingml/2006/main">
              <a:ext uri="{FF2B5EF4-FFF2-40B4-BE49-F238E27FC236}">
                <a16:creationId xmlns:a16="http://schemas.microsoft.com/office/drawing/2014/main" id="{061318F7-3BB7-404D-A3D6-5CE74EF9FCA5}"/>
              </a:ext>
            </a:extLst>
          </p:cNvPr>
          <p:cNvSpPr>
            <a:spLocks xmlns:a="http://schemas.openxmlformats.org/drawingml/2006/main" noGrp="1"/>
          </p:cNvSpPr>
          <p:nvPr/>
        </p:nvSpPr>
        <p:spPr>
          <a:xfrm xmlns:a="http://schemas.openxmlformats.org/drawingml/2006/main">
            <a:off x="2824163" y="2627890"/>
            <a:ext cx="76200" cy="238125"/>
          </a:xfrm>
          <a:prstGeom xmlns:a="http://schemas.openxmlformats.org/drawingml/2006/main" prst="line">
            <a:avLst/>
          </a:prstGeom>
          <a:noFill xmlns:a="http://schemas.openxmlformats.org/drawingml/2006/main"/>
          <a:ln xmlns:a="http://schemas.openxmlformats.org/drawingml/2006/main" w="9525">
            <a:solidFill>
              <a:srgbClr val="16A34A"/>
            </a:solidFill>
            <a:prstDash val="solid"/>
          </a:ln>
        </p:spPr>
      </p:sp>
      <p:sp>
        <p:nvSpPr>
          <p:cNvPr id="8" name="">
            <a:extLst xmlns:a="http://schemas.openxmlformats.org/drawingml/2006/main">
              <a:ext uri="{FF2B5EF4-FFF2-40B4-BE49-F238E27FC236}">
                <a16:creationId xmlns:a16="http://schemas.microsoft.com/office/drawing/2014/main" id="{26F5176B-0347-4422-8B6B-6C917A251994}"/>
              </a:ext>
            </a:extLst>
          </p:cNvPr>
          <p:cNvSpPr>
            <a:spLocks xmlns:a="http://schemas.openxmlformats.org/drawingml/2006/main" noGrp="1"/>
          </p:cNvSpPr>
          <p:nvPr/>
        </p:nvSpPr>
        <p:spPr>
          <a:xfrm xmlns:a="http://schemas.openxmlformats.org/drawingml/2006/main">
            <a:off x="2900363" y="2761240"/>
            <a:ext cx="1200150" cy="209550"/>
          </a:xfrm>
          <a:prstGeom xmlns:a="http://schemas.openxmlformats.org/drawingml/2006/main" prst="rect">
            <a:avLst/>
          </a:prstGeom>
          <a:solidFill xmlns:a="http://schemas.openxmlformats.org/drawingml/2006/main">
            <a:srgbClr val="F5FA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16A34A"/>
                </a:solidFill>
                <a:latin typeface="Calibri"/>
                <a:ea typeface="Calibri"/>
                <a:cs typeface="Calibri"/>
              </a:defRPr>
            </a:pPr>
            <a:r>
              <a:rPr sz="825" b="1">
                <a:solidFill>
                  <a:srgbClr val="16A34A"/>
                </a:solidFill>
                <a:latin typeface="Calibri"/>
                <a:ea typeface="Calibri"/>
                <a:cs typeface="Calibri"/>
              </a:rPr>
              <a:t>Base $350.3M</a:t>
            </a:r>
          </a:p>
        </p:txBody>
      </p:sp>
      <p:sp>
        <p:nvSpPr>
          <p:cNvPr id="9" name="">
            <a:extLst xmlns:a="http://schemas.openxmlformats.org/drawingml/2006/main">
              <a:ext uri="{FF2B5EF4-FFF2-40B4-BE49-F238E27FC236}">
                <a16:creationId xmlns:a16="http://schemas.microsoft.com/office/drawing/2014/main" id="{BA5A9B0A-E490-4A3D-BD8A-18016C4B0DF9}"/>
              </a:ext>
            </a:extLst>
          </p:cNvPr>
          <p:cNvSpPr>
            <a:spLocks xmlns:a="http://schemas.openxmlformats.org/drawingml/2006/main" noGrp="1"/>
          </p:cNvSpPr>
          <p:nvPr/>
        </p:nvSpPr>
        <p:spPr>
          <a:xfrm xmlns:a="http://schemas.openxmlformats.org/drawingml/2006/main">
            <a:off x="2824163" y="2627890"/>
            <a:ext cx="76200" cy="476250"/>
          </a:xfrm>
          <a:prstGeom xmlns:a="http://schemas.openxmlformats.org/drawingml/2006/main" prst="line">
            <a:avLst/>
          </a:prstGeom>
          <a:noFill xmlns:a="http://schemas.openxmlformats.org/drawingml/2006/main"/>
          <a:ln xmlns:a="http://schemas.openxmlformats.org/drawingml/2006/main" w="9525">
            <a:solidFill>
              <a:srgbClr val="65A30D"/>
            </a:solidFill>
            <a:prstDash val="solid"/>
          </a:ln>
        </p:spPr>
      </p:sp>
      <p:sp>
        <p:nvSpPr>
          <p:cNvPr id="10" name="">
            <a:extLst xmlns:a="http://schemas.openxmlformats.org/drawingml/2006/main">
              <a:ext uri="{FF2B5EF4-FFF2-40B4-BE49-F238E27FC236}">
                <a16:creationId xmlns:a16="http://schemas.microsoft.com/office/drawing/2014/main" id="{EBE2CF01-6172-4DE0-8C29-BEE68894229F}"/>
              </a:ext>
            </a:extLst>
          </p:cNvPr>
          <p:cNvSpPr>
            <a:spLocks xmlns:a="http://schemas.openxmlformats.org/drawingml/2006/main" noGrp="1"/>
          </p:cNvSpPr>
          <p:nvPr/>
        </p:nvSpPr>
        <p:spPr>
          <a:xfrm xmlns:a="http://schemas.openxmlformats.org/drawingml/2006/main">
            <a:off x="2900363" y="2999365"/>
            <a:ext cx="1200150" cy="209550"/>
          </a:xfrm>
          <a:prstGeom xmlns:a="http://schemas.openxmlformats.org/drawingml/2006/main" prst="rect">
            <a:avLst/>
          </a:prstGeom>
          <a:solidFill xmlns:a="http://schemas.openxmlformats.org/drawingml/2006/main">
            <a:srgbClr val="F5FA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65A30D"/>
                </a:solidFill>
                <a:latin typeface="Calibri"/>
                <a:ea typeface="Calibri"/>
                <a:cs typeface="Calibri"/>
              </a:defRPr>
            </a:pPr>
            <a:r>
              <a:rPr sz="825" b="1">
                <a:solidFill>
                  <a:srgbClr val="65A30D"/>
                </a:solidFill>
                <a:latin typeface="Calibri"/>
                <a:ea typeface="Calibri"/>
                <a:cs typeface="Calibri"/>
              </a:rPr>
              <a:t>Up $350.3M</a:t>
            </a:r>
          </a:p>
        </p:txBody>
      </p:sp>
      <p:sp>
        <p:nvSpPr>
          <p:cNvPr id="11" name="">
            <a:extLst xmlns:a="http://schemas.openxmlformats.org/drawingml/2006/main">
              <a:ext uri="{FF2B5EF4-FFF2-40B4-BE49-F238E27FC236}">
                <a16:creationId xmlns:a16="http://schemas.microsoft.com/office/drawing/2014/main" id="{13C46BE9-1E69-4CBF-B8BF-A5B8BB674458}"/>
              </a:ext>
            </a:extLst>
          </p:cNvPr>
          <p:cNvSpPr>
            <a:spLocks xmlns:a="http://schemas.openxmlformats.org/drawingml/2006/main" noGrp="1"/>
          </p:cNvSpPr>
          <p:nvPr/>
        </p:nvSpPr>
        <p:spPr>
          <a:xfrm xmlns:a="http://schemas.openxmlformats.org/drawingml/2006/main">
            <a:off x="2824163" y="2627890"/>
            <a:ext cx="76200" cy="714375"/>
          </a:xfrm>
          <a:prstGeom xmlns:a="http://schemas.openxmlformats.org/drawingml/2006/main" prst="line">
            <a:avLst/>
          </a:prstGeom>
          <a:noFill xmlns:a="http://schemas.openxmlformats.org/drawingml/2006/main"/>
          <a:ln xmlns:a="http://schemas.openxmlformats.org/drawingml/2006/main" w="9525">
            <a:solidFill>
              <a:srgbClr val="64748B"/>
            </a:solidFill>
            <a:prstDash val="solid"/>
          </a:ln>
        </p:spPr>
      </p:sp>
      <p:sp>
        <p:nvSpPr>
          <p:cNvPr id="12" name="">
            <a:extLst xmlns:a="http://schemas.openxmlformats.org/drawingml/2006/main">
              <a:ext uri="{FF2B5EF4-FFF2-40B4-BE49-F238E27FC236}">
                <a16:creationId xmlns:a16="http://schemas.microsoft.com/office/drawing/2014/main" id="{998A08C6-2D72-457B-82F2-E6CD94D490AB}"/>
              </a:ext>
            </a:extLst>
          </p:cNvPr>
          <p:cNvSpPr>
            <a:spLocks xmlns:a="http://schemas.openxmlformats.org/drawingml/2006/main" noGrp="1"/>
          </p:cNvSpPr>
          <p:nvPr/>
        </p:nvSpPr>
        <p:spPr>
          <a:xfrm xmlns:a="http://schemas.openxmlformats.org/drawingml/2006/main">
            <a:off x="2900363" y="3237490"/>
            <a:ext cx="1200150" cy="209550"/>
          </a:xfrm>
          <a:prstGeom xmlns:a="http://schemas.openxmlformats.org/drawingml/2006/main" prst="rect">
            <a:avLst/>
          </a:prstGeom>
          <a:solidFill xmlns:a="http://schemas.openxmlformats.org/drawingml/2006/main">
            <a:srgbClr val="F5FA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64748B"/>
                </a:solidFill>
                <a:latin typeface="Calibri"/>
                <a:ea typeface="Calibri"/>
                <a:cs typeface="Calibri"/>
              </a:defRPr>
            </a:pPr>
            <a:r>
              <a:rPr sz="825" b="1">
                <a:solidFill>
                  <a:srgbClr val="64748B"/>
                </a:solidFill>
                <a:latin typeface="Calibri"/>
                <a:ea typeface="Calibri"/>
                <a:cs typeface="Calibri"/>
              </a:rPr>
              <a:t>Mgmt $350.3M</a:t>
            </a:r>
          </a:p>
        </p:txBody>
      </p:sp>
      <p:sp>
        <p:nvSpPr>
          <p:cNvPr id="13" name="">
            <a:extLst xmlns:a="http://schemas.openxmlformats.org/drawingml/2006/main">
              <a:ext uri="{FF2B5EF4-FFF2-40B4-BE49-F238E27FC236}">
                <a16:creationId xmlns:a16="http://schemas.microsoft.com/office/drawing/2014/main" id="{81A4B524-C0C2-48A9-8FA9-1A52034E9FD5}"/>
              </a:ext>
            </a:extLst>
          </p:cNvPr>
          <p:cNvSpPr>
            <a:spLocks xmlns:a="http://schemas.openxmlformats.org/drawingml/2006/main" noGrp="1"/>
          </p:cNvSpPr>
          <p:nvPr/>
        </p:nvSpPr>
        <p:spPr>
          <a:xfrm xmlns:a="http://schemas.openxmlformats.org/drawingml/2006/main">
            <a:off x="5214938" y="1992926"/>
            <a:ext cx="76200" cy="0"/>
          </a:xfrm>
          <a:prstGeom xmlns:a="http://schemas.openxmlformats.org/drawingml/2006/main" prst="line">
            <a:avLst/>
          </a:prstGeom>
          <a:noFill xmlns:a="http://schemas.openxmlformats.org/drawingml/2006/main"/>
          <a:ln xmlns:a="http://schemas.openxmlformats.org/drawingml/2006/main" w="9525">
            <a:solidFill>
              <a:srgbClr val="64748B"/>
            </a:solidFill>
            <a:prstDash val="solid"/>
          </a:ln>
        </p:spPr>
      </p:sp>
      <p:sp>
        <p:nvSpPr>
          <p:cNvPr id="14" name="">
            <a:extLst xmlns:a="http://schemas.openxmlformats.org/drawingml/2006/main">
              <a:ext uri="{FF2B5EF4-FFF2-40B4-BE49-F238E27FC236}">
                <a16:creationId xmlns:a16="http://schemas.microsoft.com/office/drawing/2014/main" id="{FCCE1EC3-60B0-45C4-B44D-E3642E157051}"/>
              </a:ext>
            </a:extLst>
          </p:cNvPr>
          <p:cNvSpPr>
            <a:spLocks xmlns:a="http://schemas.openxmlformats.org/drawingml/2006/main" noGrp="1"/>
          </p:cNvSpPr>
          <p:nvPr/>
        </p:nvSpPr>
        <p:spPr>
          <a:xfrm xmlns:a="http://schemas.openxmlformats.org/drawingml/2006/main">
            <a:off x="5291138" y="1888151"/>
            <a:ext cx="1200150" cy="209550"/>
          </a:xfrm>
          <a:prstGeom xmlns:a="http://schemas.openxmlformats.org/drawingml/2006/main" prst="rect">
            <a:avLst/>
          </a:prstGeom>
          <a:solidFill xmlns:a="http://schemas.openxmlformats.org/drawingml/2006/main">
            <a:srgbClr val="F5FA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64748B"/>
                </a:solidFill>
                <a:latin typeface="Calibri"/>
                <a:ea typeface="Calibri"/>
                <a:cs typeface="Calibri"/>
              </a:defRPr>
            </a:pPr>
            <a:r>
              <a:rPr sz="825" b="1">
                <a:solidFill>
                  <a:srgbClr val="64748B"/>
                </a:solidFill>
                <a:latin typeface="Calibri"/>
                <a:ea typeface="Calibri"/>
                <a:cs typeface="Calibri"/>
              </a:rPr>
              <a:t>Mgmt $429.7M</a:t>
            </a:r>
          </a:p>
        </p:txBody>
      </p:sp>
      <p:sp>
        <p:nvSpPr>
          <p:cNvPr id="15" name="">
            <a:extLst xmlns:a="http://schemas.openxmlformats.org/drawingml/2006/main">
              <a:ext uri="{FF2B5EF4-FFF2-40B4-BE49-F238E27FC236}">
                <a16:creationId xmlns:a16="http://schemas.microsoft.com/office/drawing/2014/main" id="{3A487223-DA86-4D8E-95AB-54628C18CCBC}"/>
              </a:ext>
            </a:extLst>
          </p:cNvPr>
          <p:cNvSpPr>
            <a:spLocks xmlns:a="http://schemas.openxmlformats.org/drawingml/2006/main" noGrp="1"/>
          </p:cNvSpPr>
          <p:nvPr/>
        </p:nvSpPr>
        <p:spPr>
          <a:xfrm xmlns:a="http://schemas.openxmlformats.org/drawingml/2006/main">
            <a:off x="5214938" y="2311208"/>
            <a:ext cx="76200" cy="0"/>
          </a:xfrm>
          <a:prstGeom xmlns:a="http://schemas.openxmlformats.org/drawingml/2006/main" prst="line">
            <a:avLst/>
          </a:prstGeom>
          <a:noFill xmlns:a="http://schemas.openxmlformats.org/drawingml/2006/main"/>
          <a:ln xmlns:a="http://schemas.openxmlformats.org/drawingml/2006/main" w="9525">
            <a:solidFill>
              <a:srgbClr val="65A30D"/>
            </a:solidFill>
            <a:prstDash val="solid"/>
          </a:ln>
        </p:spPr>
      </p:sp>
      <p:sp>
        <p:nvSpPr>
          <p:cNvPr id="16" name="">
            <a:extLst xmlns:a="http://schemas.openxmlformats.org/drawingml/2006/main">
              <a:ext uri="{FF2B5EF4-FFF2-40B4-BE49-F238E27FC236}">
                <a16:creationId xmlns:a16="http://schemas.microsoft.com/office/drawing/2014/main" id="{2B34B979-23C4-4477-B8BF-66035BCA5262}"/>
              </a:ext>
            </a:extLst>
          </p:cNvPr>
          <p:cNvSpPr>
            <a:spLocks xmlns:a="http://schemas.openxmlformats.org/drawingml/2006/main" noGrp="1"/>
          </p:cNvSpPr>
          <p:nvPr/>
        </p:nvSpPr>
        <p:spPr>
          <a:xfrm xmlns:a="http://schemas.openxmlformats.org/drawingml/2006/main">
            <a:off x="5291138" y="2206433"/>
            <a:ext cx="1200150" cy="209550"/>
          </a:xfrm>
          <a:prstGeom xmlns:a="http://schemas.openxmlformats.org/drawingml/2006/main" prst="rect">
            <a:avLst/>
          </a:prstGeom>
          <a:solidFill xmlns:a="http://schemas.openxmlformats.org/drawingml/2006/main">
            <a:srgbClr val="F5FA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65A30D"/>
                </a:solidFill>
                <a:latin typeface="Calibri"/>
                <a:ea typeface="Calibri"/>
                <a:cs typeface="Calibri"/>
              </a:defRPr>
            </a:pPr>
            <a:r>
              <a:rPr sz="825" b="1">
                <a:solidFill>
                  <a:srgbClr val="65A30D"/>
                </a:solidFill>
                <a:latin typeface="Calibri"/>
                <a:ea typeface="Calibri"/>
                <a:cs typeface="Calibri"/>
              </a:rPr>
              <a:t>Up $389.9M</a:t>
            </a:r>
          </a:p>
        </p:txBody>
      </p:sp>
      <p:sp>
        <p:nvSpPr>
          <p:cNvPr id="17" name="">
            <a:extLst xmlns:a="http://schemas.openxmlformats.org/drawingml/2006/main">
              <a:ext uri="{FF2B5EF4-FFF2-40B4-BE49-F238E27FC236}">
                <a16:creationId xmlns:a16="http://schemas.microsoft.com/office/drawing/2014/main" id="{A8986300-7CA9-43BE-B1E8-191699967C92}"/>
              </a:ext>
            </a:extLst>
          </p:cNvPr>
          <p:cNvSpPr>
            <a:spLocks xmlns:a="http://schemas.openxmlformats.org/drawingml/2006/main" noGrp="1"/>
          </p:cNvSpPr>
          <p:nvPr/>
        </p:nvSpPr>
        <p:spPr>
          <a:xfrm xmlns:a="http://schemas.openxmlformats.org/drawingml/2006/main">
            <a:off x="5214938" y="2367187"/>
            <a:ext cx="76200" cy="182146"/>
          </a:xfrm>
          <a:prstGeom xmlns:a="http://schemas.openxmlformats.org/drawingml/2006/main" prst="line">
            <a:avLst/>
          </a:prstGeom>
          <a:noFill xmlns:a="http://schemas.openxmlformats.org/drawingml/2006/main"/>
          <a:ln xmlns:a="http://schemas.openxmlformats.org/drawingml/2006/main" w="9525">
            <a:solidFill>
              <a:srgbClr val="16A34A"/>
            </a:solidFill>
            <a:prstDash val="solid"/>
          </a:ln>
        </p:spPr>
      </p:sp>
      <p:sp>
        <p:nvSpPr>
          <p:cNvPr id="18" name="">
            <a:extLst xmlns:a="http://schemas.openxmlformats.org/drawingml/2006/main">
              <a:ext uri="{FF2B5EF4-FFF2-40B4-BE49-F238E27FC236}">
                <a16:creationId xmlns:a16="http://schemas.microsoft.com/office/drawing/2014/main" id="{8C84EC9F-C7DA-487F-8EBD-AA7BD7BDDF92}"/>
              </a:ext>
            </a:extLst>
          </p:cNvPr>
          <p:cNvSpPr>
            <a:spLocks xmlns:a="http://schemas.openxmlformats.org/drawingml/2006/main" noGrp="1"/>
          </p:cNvSpPr>
          <p:nvPr/>
        </p:nvSpPr>
        <p:spPr>
          <a:xfrm xmlns:a="http://schemas.openxmlformats.org/drawingml/2006/main">
            <a:off x="5291138" y="2444558"/>
            <a:ext cx="1200150" cy="209550"/>
          </a:xfrm>
          <a:prstGeom xmlns:a="http://schemas.openxmlformats.org/drawingml/2006/main" prst="rect">
            <a:avLst/>
          </a:prstGeom>
          <a:solidFill xmlns:a="http://schemas.openxmlformats.org/drawingml/2006/main">
            <a:srgbClr val="F5FA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16A34A"/>
                </a:solidFill>
                <a:latin typeface="Calibri"/>
                <a:ea typeface="Calibri"/>
                <a:cs typeface="Calibri"/>
              </a:defRPr>
            </a:pPr>
            <a:r>
              <a:rPr sz="825" b="1">
                <a:solidFill>
                  <a:srgbClr val="16A34A"/>
                </a:solidFill>
                <a:latin typeface="Calibri"/>
                <a:ea typeface="Calibri"/>
                <a:cs typeface="Calibri"/>
              </a:rPr>
              <a:t>Base $382.9M</a:t>
            </a:r>
          </a:p>
        </p:txBody>
      </p:sp>
      <p:sp>
        <p:nvSpPr>
          <p:cNvPr id="19" name="">
            <a:extLst xmlns:a="http://schemas.openxmlformats.org/drawingml/2006/main">
              <a:ext uri="{FF2B5EF4-FFF2-40B4-BE49-F238E27FC236}">
                <a16:creationId xmlns:a16="http://schemas.microsoft.com/office/drawing/2014/main" id="{1C8FA3DA-7183-472F-A37B-BF73F7FE97BE}"/>
              </a:ext>
            </a:extLst>
          </p:cNvPr>
          <p:cNvSpPr>
            <a:spLocks xmlns:a="http://schemas.openxmlformats.org/drawingml/2006/main" noGrp="1"/>
          </p:cNvSpPr>
          <p:nvPr/>
        </p:nvSpPr>
        <p:spPr>
          <a:xfrm xmlns:a="http://schemas.openxmlformats.org/drawingml/2006/main">
            <a:off x="5214938" y="2413570"/>
            <a:ext cx="76200" cy="373888"/>
          </a:xfrm>
          <a:prstGeom xmlns:a="http://schemas.openxmlformats.org/drawingml/2006/main" prst="line">
            <a:avLst/>
          </a:prstGeom>
          <a:noFill xmlns:a="http://schemas.openxmlformats.org/drawingml/2006/main"/>
          <a:ln xmlns:a="http://schemas.openxmlformats.org/drawingml/2006/main" w="9525">
            <a:solidFill>
              <a:srgbClr val="0F766E"/>
            </a:solidFill>
            <a:prstDash val="solid"/>
          </a:ln>
        </p:spPr>
      </p:sp>
      <p:sp>
        <p:nvSpPr>
          <p:cNvPr id="20" name="">
            <a:extLst xmlns:a="http://schemas.openxmlformats.org/drawingml/2006/main">
              <a:ext uri="{FF2B5EF4-FFF2-40B4-BE49-F238E27FC236}">
                <a16:creationId xmlns:a16="http://schemas.microsoft.com/office/drawing/2014/main" id="{B378650D-4EFB-4153-831F-435930EC7186}"/>
              </a:ext>
            </a:extLst>
          </p:cNvPr>
          <p:cNvSpPr>
            <a:spLocks xmlns:a="http://schemas.openxmlformats.org/drawingml/2006/main" noGrp="1"/>
          </p:cNvSpPr>
          <p:nvPr/>
        </p:nvSpPr>
        <p:spPr>
          <a:xfrm xmlns:a="http://schemas.openxmlformats.org/drawingml/2006/main">
            <a:off x="5291138" y="2682683"/>
            <a:ext cx="1200150" cy="209550"/>
          </a:xfrm>
          <a:prstGeom xmlns:a="http://schemas.openxmlformats.org/drawingml/2006/main" prst="rect">
            <a:avLst/>
          </a:prstGeom>
          <a:solidFill xmlns:a="http://schemas.openxmlformats.org/drawingml/2006/main">
            <a:srgbClr val="F5FA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0F766E"/>
                </a:solidFill>
                <a:latin typeface="Calibri"/>
                <a:ea typeface="Calibri"/>
                <a:cs typeface="Calibri"/>
              </a:defRPr>
            </a:pPr>
            <a:r>
              <a:rPr sz="825" b="1">
                <a:solidFill>
                  <a:srgbClr val="0F766E"/>
                </a:solidFill>
                <a:latin typeface="Calibri"/>
                <a:ea typeface="Calibri"/>
                <a:cs typeface="Calibri"/>
              </a:rPr>
              <a:t>Down $377.1M</a:t>
            </a:r>
          </a:p>
        </p:txBody>
      </p:sp>
      <p:sp>
        <p:nvSpPr>
          <p:cNvPr id="21" name="">
            <a:extLst xmlns:a="http://schemas.openxmlformats.org/drawingml/2006/main">
              <a:ext uri="{FF2B5EF4-FFF2-40B4-BE49-F238E27FC236}">
                <a16:creationId xmlns:a16="http://schemas.microsoft.com/office/drawing/2014/main" id="{E927E716-55F1-4FC7-8C0D-FA6783D05FB1}"/>
              </a:ext>
            </a:extLst>
          </p:cNvPr>
          <p:cNvSpPr>
            <a:spLocks xmlns:a="http://schemas.openxmlformats.org/drawingml/2006/main" noGrp="1"/>
          </p:cNvSpPr>
          <p:nvPr/>
        </p:nvSpPr>
        <p:spPr>
          <a:xfrm xmlns:a="http://schemas.openxmlformats.org/drawingml/2006/main">
            <a:off x="7605713" y="1823389"/>
            <a:ext cx="76200" cy="0"/>
          </a:xfrm>
          <a:prstGeom xmlns:a="http://schemas.openxmlformats.org/drawingml/2006/main" prst="line">
            <a:avLst/>
          </a:prstGeom>
          <a:noFill xmlns:a="http://schemas.openxmlformats.org/drawingml/2006/main"/>
          <a:ln xmlns:a="http://schemas.openxmlformats.org/drawingml/2006/main" w="9525">
            <a:solidFill>
              <a:srgbClr val="64748B"/>
            </a:solidFill>
            <a:prstDash val="solid"/>
          </a:ln>
        </p:spPr>
      </p:sp>
      <p:sp>
        <p:nvSpPr>
          <p:cNvPr id="22" name="">
            <a:extLst xmlns:a="http://schemas.openxmlformats.org/drawingml/2006/main">
              <a:ext uri="{FF2B5EF4-FFF2-40B4-BE49-F238E27FC236}">
                <a16:creationId xmlns:a16="http://schemas.microsoft.com/office/drawing/2014/main" id="{1A655027-6D32-4D06-9585-1559DDF0240B}"/>
              </a:ext>
            </a:extLst>
          </p:cNvPr>
          <p:cNvSpPr>
            <a:spLocks xmlns:a="http://schemas.openxmlformats.org/drawingml/2006/main" noGrp="1"/>
          </p:cNvSpPr>
          <p:nvPr/>
        </p:nvSpPr>
        <p:spPr>
          <a:xfrm xmlns:a="http://schemas.openxmlformats.org/drawingml/2006/main">
            <a:off x="7681913" y="1718614"/>
            <a:ext cx="1200150" cy="209550"/>
          </a:xfrm>
          <a:prstGeom xmlns:a="http://schemas.openxmlformats.org/drawingml/2006/main" prst="rect">
            <a:avLst/>
          </a:prstGeom>
          <a:solidFill xmlns:a="http://schemas.openxmlformats.org/drawingml/2006/main">
            <a:srgbClr val="F5FA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64748B"/>
                </a:solidFill>
                <a:latin typeface="Calibri"/>
                <a:ea typeface="Calibri"/>
                <a:cs typeface="Calibri"/>
              </a:defRPr>
            </a:pPr>
            <a:r>
              <a:rPr sz="825" b="1">
                <a:solidFill>
                  <a:srgbClr val="64748B"/>
                </a:solidFill>
                <a:latin typeface="Calibri"/>
                <a:ea typeface="Calibri"/>
                <a:cs typeface="Calibri"/>
              </a:rPr>
              <a:t>Mgmt $450.9M</a:t>
            </a:r>
          </a:p>
        </p:txBody>
      </p:sp>
      <p:sp>
        <p:nvSpPr>
          <p:cNvPr id="23" name="">
            <a:extLst xmlns:a="http://schemas.openxmlformats.org/drawingml/2006/main">
              <a:ext uri="{FF2B5EF4-FFF2-40B4-BE49-F238E27FC236}">
                <a16:creationId xmlns:a16="http://schemas.microsoft.com/office/drawing/2014/main" id="{48A0741C-B9EB-40F7-B726-6577B8FD640C}"/>
              </a:ext>
            </a:extLst>
          </p:cNvPr>
          <p:cNvSpPr>
            <a:spLocks xmlns:a="http://schemas.openxmlformats.org/drawingml/2006/main" noGrp="1"/>
          </p:cNvSpPr>
          <p:nvPr/>
        </p:nvSpPr>
        <p:spPr>
          <a:xfrm xmlns:a="http://schemas.openxmlformats.org/drawingml/2006/main">
            <a:off x="7605713" y="2020915"/>
            <a:ext cx="76200" cy="40598"/>
          </a:xfrm>
          <a:prstGeom xmlns:a="http://schemas.openxmlformats.org/drawingml/2006/main" prst="line">
            <a:avLst/>
          </a:prstGeom>
          <a:noFill xmlns:a="http://schemas.openxmlformats.org/drawingml/2006/main"/>
          <a:ln xmlns:a="http://schemas.openxmlformats.org/drawingml/2006/main" w="9525">
            <a:solidFill>
              <a:srgbClr val="65A30D"/>
            </a:solidFill>
            <a:prstDash val="solid"/>
          </a:ln>
        </p:spPr>
      </p:sp>
      <p:sp>
        <p:nvSpPr>
          <p:cNvPr id="24" name="">
            <a:extLst xmlns:a="http://schemas.openxmlformats.org/drawingml/2006/main">
              <a:ext uri="{FF2B5EF4-FFF2-40B4-BE49-F238E27FC236}">
                <a16:creationId xmlns:a16="http://schemas.microsoft.com/office/drawing/2014/main" id="{272C2135-2078-49F4-B2A8-D8E69EC838AC}"/>
              </a:ext>
            </a:extLst>
          </p:cNvPr>
          <p:cNvSpPr>
            <a:spLocks xmlns:a="http://schemas.openxmlformats.org/drawingml/2006/main" noGrp="1"/>
          </p:cNvSpPr>
          <p:nvPr/>
        </p:nvSpPr>
        <p:spPr>
          <a:xfrm xmlns:a="http://schemas.openxmlformats.org/drawingml/2006/main">
            <a:off x="7681913" y="1956739"/>
            <a:ext cx="1200150" cy="209550"/>
          </a:xfrm>
          <a:prstGeom xmlns:a="http://schemas.openxmlformats.org/drawingml/2006/main" prst="rect">
            <a:avLst/>
          </a:prstGeom>
          <a:solidFill xmlns:a="http://schemas.openxmlformats.org/drawingml/2006/main">
            <a:srgbClr val="F5FA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65A30D"/>
                </a:solidFill>
                <a:latin typeface="Calibri"/>
                <a:ea typeface="Calibri"/>
                <a:cs typeface="Calibri"/>
              </a:defRPr>
            </a:pPr>
            <a:r>
              <a:rPr sz="825" b="1">
                <a:solidFill>
                  <a:srgbClr val="65A30D"/>
                </a:solidFill>
                <a:latin typeface="Calibri"/>
                <a:ea typeface="Calibri"/>
                <a:cs typeface="Calibri"/>
              </a:rPr>
              <a:t>Up $426.2M</a:t>
            </a:r>
          </a:p>
        </p:txBody>
      </p:sp>
      <p:sp>
        <p:nvSpPr>
          <p:cNvPr id="25" name="">
            <a:extLst xmlns:a="http://schemas.openxmlformats.org/drawingml/2006/main">
              <a:ext uri="{FF2B5EF4-FFF2-40B4-BE49-F238E27FC236}">
                <a16:creationId xmlns:a16="http://schemas.microsoft.com/office/drawing/2014/main" id="{0137876F-ECBE-4C93-B8C8-8BA65760DD69}"/>
              </a:ext>
            </a:extLst>
          </p:cNvPr>
          <p:cNvSpPr>
            <a:spLocks xmlns:a="http://schemas.openxmlformats.org/drawingml/2006/main" noGrp="1"/>
          </p:cNvSpPr>
          <p:nvPr/>
        </p:nvSpPr>
        <p:spPr>
          <a:xfrm xmlns:a="http://schemas.openxmlformats.org/drawingml/2006/main">
            <a:off x="7605713" y="2144070"/>
            <a:ext cx="76200" cy="155569"/>
          </a:xfrm>
          <a:prstGeom xmlns:a="http://schemas.openxmlformats.org/drawingml/2006/main" prst="line">
            <a:avLst/>
          </a:prstGeom>
          <a:noFill xmlns:a="http://schemas.openxmlformats.org/drawingml/2006/main"/>
          <a:ln xmlns:a="http://schemas.openxmlformats.org/drawingml/2006/main" w="9525">
            <a:solidFill>
              <a:srgbClr val="16A34A"/>
            </a:solidFill>
            <a:prstDash val="solid"/>
          </a:ln>
        </p:spPr>
      </p:sp>
      <p:sp>
        <p:nvSpPr>
          <p:cNvPr id="26" name="">
            <a:extLst xmlns:a="http://schemas.openxmlformats.org/drawingml/2006/main">
              <a:ext uri="{FF2B5EF4-FFF2-40B4-BE49-F238E27FC236}">
                <a16:creationId xmlns:a16="http://schemas.microsoft.com/office/drawing/2014/main" id="{88046C09-649D-449E-9F99-442B9F1EF41D}"/>
              </a:ext>
            </a:extLst>
          </p:cNvPr>
          <p:cNvSpPr>
            <a:spLocks xmlns:a="http://schemas.openxmlformats.org/drawingml/2006/main" noGrp="1"/>
          </p:cNvSpPr>
          <p:nvPr/>
        </p:nvSpPr>
        <p:spPr>
          <a:xfrm xmlns:a="http://schemas.openxmlformats.org/drawingml/2006/main">
            <a:off x="7681913" y="2194864"/>
            <a:ext cx="1200150" cy="209550"/>
          </a:xfrm>
          <a:prstGeom xmlns:a="http://schemas.openxmlformats.org/drawingml/2006/main" prst="rect">
            <a:avLst/>
          </a:prstGeom>
          <a:solidFill xmlns:a="http://schemas.openxmlformats.org/drawingml/2006/main">
            <a:srgbClr val="F5FA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16A34A"/>
                </a:solidFill>
                <a:latin typeface="Calibri"/>
                <a:ea typeface="Calibri"/>
                <a:cs typeface="Calibri"/>
              </a:defRPr>
            </a:pPr>
            <a:r>
              <a:rPr sz="825" b="1">
                <a:solidFill>
                  <a:srgbClr val="16A34A"/>
                </a:solidFill>
                <a:latin typeface="Calibri"/>
                <a:ea typeface="Calibri"/>
                <a:cs typeface="Calibri"/>
              </a:rPr>
              <a:t>Base $410.8M</a:t>
            </a:r>
          </a:p>
        </p:txBody>
      </p:sp>
      <p:sp>
        <p:nvSpPr>
          <p:cNvPr id="27" name="">
            <a:extLst xmlns:a="http://schemas.openxmlformats.org/drawingml/2006/main">
              <a:ext uri="{FF2B5EF4-FFF2-40B4-BE49-F238E27FC236}">
                <a16:creationId xmlns:a16="http://schemas.microsoft.com/office/drawing/2014/main" id="{CF5828F4-FC03-4F94-9C6B-F634062D483C}"/>
              </a:ext>
            </a:extLst>
          </p:cNvPr>
          <p:cNvSpPr>
            <a:spLocks xmlns:a="http://schemas.openxmlformats.org/drawingml/2006/main" noGrp="1"/>
          </p:cNvSpPr>
          <p:nvPr/>
        </p:nvSpPr>
        <p:spPr>
          <a:xfrm xmlns:a="http://schemas.openxmlformats.org/drawingml/2006/main">
            <a:off x="7605713" y="2283218"/>
            <a:ext cx="76200" cy="254546"/>
          </a:xfrm>
          <a:prstGeom xmlns:a="http://schemas.openxmlformats.org/drawingml/2006/main" prst="line">
            <a:avLst/>
          </a:prstGeom>
          <a:noFill xmlns:a="http://schemas.openxmlformats.org/drawingml/2006/main"/>
          <a:ln xmlns:a="http://schemas.openxmlformats.org/drawingml/2006/main" w="9525">
            <a:solidFill>
              <a:srgbClr val="0F766E"/>
            </a:solidFill>
            <a:prstDash val="solid"/>
          </a:ln>
        </p:spPr>
      </p:sp>
      <p:sp>
        <p:nvSpPr>
          <p:cNvPr id="28" name="">
            <a:extLst xmlns:a="http://schemas.openxmlformats.org/drawingml/2006/main">
              <a:ext uri="{FF2B5EF4-FFF2-40B4-BE49-F238E27FC236}">
                <a16:creationId xmlns:a16="http://schemas.microsoft.com/office/drawing/2014/main" id="{10E1635C-099F-42A4-90EB-54BE4749FDE5}"/>
              </a:ext>
            </a:extLst>
          </p:cNvPr>
          <p:cNvSpPr>
            <a:spLocks xmlns:a="http://schemas.openxmlformats.org/drawingml/2006/main" noGrp="1"/>
          </p:cNvSpPr>
          <p:nvPr/>
        </p:nvSpPr>
        <p:spPr>
          <a:xfrm xmlns:a="http://schemas.openxmlformats.org/drawingml/2006/main">
            <a:off x="7681913" y="2432989"/>
            <a:ext cx="1200150" cy="209550"/>
          </a:xfrm>
          <a:prstGeom xmlns:a="http://schemas.openxmlformats.org/drawingml/2006/main" prst="rect">
            <a:avLst/>
          </a:prstGeom>
          <a:solidFill xmlns:a="http://schemas.openxmlformats.org/drawingml/2006/main">
            <a:srgbClr val="F5FA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0F766E"/>
                </a:solidFill>
                <a:latin typeface="Calibri"/>
                <a:ea typeface="Calibri"/>
                <a:cs typeface="Calibri"/>
              </a:defRPr>
            </a:pPr>
            <a:r>
              <a:rPr sz="825" b="1">
                <a:solidFill>
                  <a:srgbClr val="0F766E"/>
                </a:solidFill>
                <a:latin typeface="Calibri"/>
                <a:ea typeface="Calibri"/>
                <a:cs typeface="Calibri"/>
              </a:rPr>
              <a:t>Down $393.4M</a:t>
            </a:r>
          </a:p>
        </p:txBody>
      </p:sp>
      <p:sp>
        <p:nvSpPr>
          <p:cNvPr id="29" name="">
            <a:extLst xmlns:a="http://schemas.openxmlformats.org/drawingml/2006/main">
              <a:ext uri="{FF2B5EF4-FFF2-40B4-BE49-F238E27FC236}">
                <a16:creationId xmlns:a16="http://schemas.microsoft.com/office/drawing/2014/main" id="{CF1CB4C0-1CDD-4A63-A3F6-146339B448D0}"/>
              </a:ext>
            </a:extLst>
          </p:cNvPr>
          <p:cNvSpPr>
            <a:spLocks xmlns:a="http://schemas.openxmlformats.org/drawingml/2006/main" noGrp="1"/>
          </p:cNvSpPr>
          <p:nvPr/>
        </p:nvSpPr>
        <p:spPr>
          <a:xfrm xmlns:a="http://schemas.openxmlformats.org/drawingml/2006/main">
            <a:off x="9996488" y="1648254"/>
            <a:ext cx="76200" cy="0"/>
          </a:xfrm>
          <a:prstGeom xmlns:a="http://schemas.openxmlformats.org/drawingml/2006/main" prst="line">
            <a:avLst/>
          </a:prstGeom>
          <a:noFill xmlns:a="http://schemas.openxmlformats.org/drawingml/2006/main"/>
          <a:ln xmlns:a="http://schemas.openxmlformats.org/drawingml/2006/main" w="9525">
            <a:solidFill>
              <a:srgbClr val="64748B"/>
            </a:solidFill>
            <a:prstDash val="solid"/>
          </a:ln>
        </p:spPr>
      </p:sp>
      <p:sp>
        <p:nvSpPr>
          <p:cNvPr id="30" name="">
            <a:extLst xmlns:a="http://schemas.openxmlformats.org/drawingml/2006/main">
              <a:ext uri="{FF2B5EF4-FFF2-40B4-BE49-F238E27FC236}">
                <a16:creationId xmlns:a16="http://schemas.microsoft.com/office/drawing/2014/main" id="{0FB30EA4-61FF-46C6-941B-0EB53BE4E0A5}"/>
              </a:ext>
            </a:extLst>
          </p:cNvPr>
          <p:cNvSpPr>
            <a:spLocks xmlns:a="http://schemas.openxmlformats.org/drawingml/2006/main" noGrp="1"/>
          </p:cNvSpPr>
          <p:nvPr/>
        </p:nvSpPr>
        <p:spPr>
          <a:xfrm xmlns:a="http://schemas.openxmlformats.org/drawingml/2006/main">
            <a:off x="10072688" y="1543479"/>
            <a:ext cx="1200150" cy="209550"/>
          </a:xfrm>
          <a:prstGeom xmlns:a="http://schemas.openxmlformats.org/drawingml/2006/main" prst="rect">
            <a:avLst/>
          </a:prstGeom>
          <a:solidFill xmlns:a="http://schemas.openxmlformats.org/drawingml/2006/main">
            <a:srgbClr val="F5FA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64748B"/>
                </a:solidFill>
                <a:latin typeface="Calibri"/>
                <a:ea typeface="Calibri"/>
                <a:cs typeface="Calibri"/>
              </a:defRPr>
            </a:pPr>
            <a:r>
              <a:rPr sz="825" b="1">
                <a:solidFill>
                  <a:srgbClr val="64748B"/>
                </a:solidFill>
                <a:latin typeface="Calibri"/>
                <a:ea typeface="Calibri"/>
                <a:cs typeface="Calibri"/>
              </a:rPr>
              <a:t>Mgmt $472.8M</a:t>
            </a:r>
          </a:p>
        </p:txBody>
      </p:sp>
      <p:sp>
        <p:nvSpPr>
          <p:cNvPr id="31" name="">
            <a:extLst xmlns:a="http://schemas.openxmlformats.org/drawingml/2006/main">
              <a:ext uri="{FF2B5EF4-FFF2-40B4-BE49-F238E27FC236}">
                <a16:creationId xmlns:a16="http://schemas.microsoft.com/office/drawing/2014/main" id="{F270053B-EF11-4A39-950C-4D6B7578A876}"/>
              </a:ext>
            </a:extLst>
          </p:cNvPr>
          <p:cNvSpPr>
            <a:spLocks xmlns:a="http://schemas.openxmlformats.org/drawingml/2006/main" noGrp="1"/>
          </p:cNvSpPr>
          <p:nvPr/>
        </p:nvSpPr>
        <p:spPr>
          <a:xfrm xmlns:a="http://schemas.openxmlformats.org/drawingml/2006/main">
            <a:off x="9996488" y="1772208"/>
            <a:ext cx="76200" cy="114171"/>
          </a:xfrm>
          <a:prstGeom xmlns:a="http://schemas.openxmlformats.org/drawingml/2006/main" prst="line">
            <a:avLst/>
          </a:prstGeom>
          <a:noFill xmlns:a="http://schemas.openxmlformats.org/drawingml/2006/main"/>
          <a:ln xmlns:a="http://schemas.openxmlformats.org/drawingml/2006/main" w="9525">
            <a:solidFill>
              <a:srgbClr val="65A30D"/>
            </a:solidFill>
            <a:prstDash val="solid"/>
          </a:ln>
        </p:spPr>
      </p:sp>
      <p:sp>
        <p:nvSpPr>
          <p:cNvPr id="32" name="">
            <a:extLst xmlns:a="http://schemas.openxmlformats.org/drawingml/2006/main">
              <a:ext uri="{FF2B5EF4-FFF2-40B4-BE49-F238E27FC236}">
                <a16:creationId xmlns:a16="http://schemas.microsoft.com/office/drawing/2014/main" id="{D52AE8EB-C3B3-436B-8AC6-34E0EE5D4758}"/>
              </a:ext>
            </a:extLst>
          </p:cNvPr>
          <p:cNvSpPr>
            <a:spLocks xmlns:a="http://schemas.openxmlformats.org/drawingml/2006/main" noGrp="1"/>
          </p:cNvSpPr>
          <p:nvPr/>
        </p:nvSpPr>
        <p:spPr>
          <a:xfrm xmlns:a="http://schemas.openxmlformats.org/drawingml/2006/main">
            <a:off x="10072688" y="1781604"/>
            <a:ext cx="1200150" cy="209550"/>
          </a:xfrm>
          <a:prstGeom xmlns:a="http://schemas.openxmlformats.org/drawingml/2006/main" prst="rect">
            <a:avLst/>
          </a:prstGeom>
          <a:solidFill xmlns:a="http://schemas.openxmlformats.org/drawingml/2006/main">
            <a:srgbClr val="F5FA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65A30D"/>
                </a:solidFill>
                <a:latin typeface="Calibri"/>
                <a:ea typeface="Calibri"/>
                <a:cs typeface="Calibri"/>
              </a:defRPr>
            </a:pPr>
            <a:r>
              <a:rPr sz="825" b="1">
                <a:solidFill>
                  <a:srgbClr val="65A30D"/>
                </a:solidFill>
                <a:latin typeface="Calibri"/>
                <a:ea typeface="Calibri"/>
                <a:cs typeface="Calibri"/>
              </a:rPr>
              <a:t>Up $457.3M</a:t>
            </a:r>
          </a:p>
        </p:txBody>
      </p:sp>
      <p:sp>
        <p:nvSpPr>
          <p:cNvPr id="33" name="">
            <a:extLst xmlns:a="http://schemas.openxmlformats.org/drawingml/2006/main">
              <a:ext uri="{FF2B5EF4-FFF2-40B4-BE49-F238E27FC236}">
                <a16:creationId xmlns:a16="http://schemas.microsoft.com/office/drawing/2014/main" id="{AABD0475-57F2-41EC-B327-C71664FBB5A7}"/>
              </a:ext>
            </a:extLst>
          </p:cNvPr>
          <p:cNvSpPr>
            <a:spLocks xmlns:a="http://schemas.openxmlformats.org/drawingml/2006/main" noGrp="1"/>
          </p:cNvSpPr>
          <p:nvPr/>
        </p:nvSpPr>
        <p:spPr>
          <a:xfrm xmlns:a="http://schemas.openxmlformats.org/drawingml/2006/main">
            <a:off x="9996488" y="1959338"/>
            <a:ext cx="76200" cy="165165"/>
          </a:xfrm>
          <a:prstGeom xmlns:a="http://schemas.openxmlformats.org/drawingml/2006/main" prst="line">
            <a:avLst/>
          </a:prstGeom>
          <a:noFill xmlns:a="http://schemas.openxmlformats.org/drawingml/2006/main"/>
          <a:ln xmlns:a="http://schemas.openxmlformats.org/drawingml/2006/main" w="9525">
            <a:solidFill>
              <a:srgbClr val="16A34A"/>
            </a:solidFill>
            <a:prstDash val="solid"/>
          </a:ln>
        </p:spPr>
      </p:sp>
      <p:sp>
        <p:nvSpPr>
          <p:cNvPr id="34" name="">
            <a:extLst xmlns:a="http://schemas.openxmlformats.org/drawingml/2006/main">
              <a:ext uri="{FF2B5EF4-FFF2-40B4-BE49-F238E27FC236}">
                <a16:creationId xmlns:a16="http://schemas.microsoft.com/office/drawing/2014/main" id="{8D99706A-D9D3-4649-819C-88F43D42A9CC}"/>
              </a:ext>
            </a:extLst>
          </p:cNvPr>
          <p:cNvSpPr>
            <a:spLocks xmlns:a="http://schemas.openxmlformats.org/drawingml/2006/main" noGrp="1"/>
          </p:cNvSpPr>
          <p:nvPr/>
        </p:nvSpPr>
        <p:spPr>
          <a:xfrm xmlns:a="http://schemas.openxmlformats.org/drawingml/2006/main">
            <a:off x="10072688" y="2019729"/>
            <a:ext cx="1200150" cy="209550"/>
          </a:xfrm>
          <a:prstGeom xmlns:a="http://schemas.openxmlformats.org/drawingml/2006/main" prst="rect">
            <a:avLst/>
          </a:prstGeom>
          <a:solidFill xmlns:a="http://schemas.openxmlformats.org/drawingml/2006/main">
            <a:srgbClr val="F5FA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16A34A"/>
                </a:solidFill>
                <a:latin typeface="Calibri"/>
                <a:ea typeface="Calibri"/>
                <a:cs typeface="Calibri"/>
              </a:defRPr>
            </a:pPr>
            <a:r>
              <a:rPr sz="825" b="1">
                <a:solidFill>
                  <a:srgbClr val="16A34A"/>
                </a:solidFill>
                <a:latin typeface="Calibri"/>
                <a:ea typeface="Calibri"/>
                <a:cs typeface="Calibri"/>
              </a:rPr>
              <a:t>Base $433.9M</a:t>
            </a:r>
          </a:p>
        </p:txBody>
      </p:sp>
      <p:sp>
        <p:nvSpPr>
          <p:cNvPr id="35" name="">
            <a:extLst xmlns:a="http://schemas.openxmlformats.org/drawingml/2006/main">
              <a:ext uri="{FF2B5EF4-FFF2-40B4-BE49-F238E27FC236}">
                <a16:creationId xmlns:a16="http://schemas.microsoft.com/office/drawing/2014/main" id="{E53F9D40-0885-480A-9819-D332E801AC66}"/>
              </a:ext>
            </a:extLst>
          </p:cNvPr>
          <p:cNvSpPr>
            <a:spLocks xmlns:a="http://schemas.openxmlformats.org/drawingml/2006/main" noGrp="1"/>
          </p:cNvSpPr>
          <p:nvPr/>
        </p:nvSpPr>
        <p:spPr>
          <a:xfrm xmlns:a="http://schemas.openxmlformats.org/drawingml/2006/main">
            <a:off x="9996488" y="2158464"/>
            <a:ext cx="76200" cy="204164"/>
          </a:xfrm>
          <a:prstGeom xmlns:a="http://schemas.openxmlformats.org/drawingml/2006/main" prst="line">
            <a:avLst/>
          </a:prstGeom>
          <a:noFill xmlns:a="http://schemas.openxmlformats.org/drawingml/2006/main"/>
          <a:ln xmlns:a="http://schemas.openxmlformats.org/drawingml/2006/main" w="9525">
            <a:solidFill>
              <a:srgbClr val="0F766E"/>
            </a:solidFill>
            <a:prstDash val="solid"/>
          </a:ln>
        </p:spPr>
      </p:sp>
      <p:sp>
        <p:nvSpPr>
          <p:cNvPr id="36" name="">
            <a:extLst xmlns:a="http://schemas.openxmlformats.org/drawingml/2006/main">
              <a:ext uri="{FF2B5EF4-FFF2-40B4-BE49-F238E27FC236}">
                <a16:creationId xmlns:a16="http://schemas.microsoft.com/office/drawing/2014/main" id="{0B8DE642-7076-4AF4-8548-7C08050568C5}"/>
              </a:ext>
            </a:extLst>
          </p:cNvPr>
          <p:cNvSpPr>
            <a:spLocks xmlns:a="http://schemas.openxmlformats.org/drawingml/2006/main" noGrp="1"/>
          </p:cNvSpPr>
          <p:nvPr/>
        </p:nvSpPr>
        <p:spPr>
          <a:xfrm xmlns:a="http://schemas.openxmlformats.org/drawingml/2006/main">
            <a:off x="10072688" y="2257854"/>
            <a:ext cx="1200150" cy="209550"/>
          </a:xfrm>
          <a:prstGeom xmlns:a="http://schemas.openxmlformats.org/drawingml/2006/main" prst="rect">
            <a:avLst/>
          </a:prstGeom>
          <a:solidFill xmlns:a="http://schemas.openxmlformats.org/drawingml/2006/main">
            <a:srgbClr val="F5FA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0F766E"/>
                </a:solidFill>
                <a:latin typeface="Calibri"/>
                <a:ea typeface="Calibri"/>
                <a:cs typeface="Calibri"/>
              </a:defRPr>
            </a:pPr>
            <a:r>
              <a:rPr sz="825" b="1">
                <a:solidFill>
                  <a:srgbClr val="0F766E"/>
                </a:solidFill>
                <a:latin typeface="Calibri"/>
                <a:ea typeface="Calibri"/>
                <a:cs typeface="Calibri"/>
              </a:rPr>
              <a:t>Down $409.0M</a:t>
            </a:r>
          </a:p>
        </p:txBody>
      </p:sp>
      <p:sp>
        <p:nvSpPr>
          <p:cNvPr id="37" name="">
            <a:extLst xmlns:a="http://schemas.openxmlformats.org/drawingml/2006/main">
              <a:ext uri="{FF2B5EF4-FFF2-40B4-BE49-F238E27FC236}">
                <a16:creationId xmlns:a16="http://schemas.microsoft.com/office/drawing/2014/main" id="{12C1D588-C65D-4C83-92DE-85B8AF4E86D5}"/>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39</a:t>
            </a:r>
          </a:p>
        </p:txBody>
      </p:sp>
    </p:spTree>
    <p:extLst>
      <p:ext uri="{BB962C8B-B14F-4D97-AF65-F5344CB8AC3E}">
        <p14:creationId xmlns:p14="http://schemas.microsoft.com/office/powerpoint/2010/main" val="987664085"/>
      </p:ext>
    </p:extLst>
  </p:cSld>
</p:sld>
</file>

<file path=ppt/slides/slide40.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404099A-F2EB-42B1-B7DE-E2407B2DA28D}"/>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Projected Revenue Analysis</a:t>
            </a:r>
          </a:p>
        </p:txBody>
      </p:sp>
      <p:sp>
        <p:nvSpPr>
          <p:cNvPr id="2" name="title-rule">
            <a:extLst xmlns:a="http://schemas.openxmlformats.org/drawingml/2006/main">
              <a:ext uri="{FF2B5EF4-FFF2-40B4-BE49-F238E27FC236}">
                <a16:creationId xmlns:a16="http://schemas.microsoft.com/office/drawing/2014/main" id="{9A262735-B44A-45A9-BE64-50C2B66E12AD}"/>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3124200"/>
        </p:xfrm>
        <a:graphic xmlns:a="http://schemas.openxmlformats.org/drawingml/2006/main">
          <a:graphicData uri="http://schemas.openxmlformats.org/drawingml/2006/table">
            <a:tbl>
              <a:tblPr firstRow="1" bandRow="1"/>
              <a:tblGrid>
                <a:gridCol w="3358055"/>
                <a:gridCol w="1865586"/>
                <a:gridCol w="1865586"/>
                <a:gridCol w="1865586"/>
                <a:gridCol w="1865586"/>
              </a:tblGrid>
              <a:tr h="552450">
                <a:tc>
                  <a:txBody>
                    <a:bodyPr>
                      <a:normAutofit/>
                    </a:bodyPr>
                    <a:lstStyle/>
                    <a:p>
                      <a:r>
                        <a:rPr sz="1200" b="1">
                          <a:solidFill>
                            <a:srgbClr val="FFFFFF"/>
                          </a:solidFill>
                          <a:latin typeface="Calibri"/>
                          <a:ea typeface="Calibri"/>
                          <a:cs typeface="Calibri"/>
                        </a:rPr>
                        <a:t>Case</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2005A</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2006P</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2007P</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2008P</a:t>
                      </a:r>
                    </a:p>
                  </a:txBody>
                  <a:tcPr marL="91440" marR="91440" marT="45720" marB="45720">
                    <a:solidFill>
                      <a:srgbClr val="0F766E"/>
                    </a:solidFill>
                  </a:tcPr>
                </a:tc>
              </a:tr>
              <a:tr h="514350">
                <a:tc>
                  <a:txBody>
                    <a:bodyPr>
                      <a:normAutofit/>
                    </a:bodyPr>
                    <a:lstStyle/>
                    <a:p>
                      <a:r>
                        <a:rPr sz="1125">
                          <a:solidFill>
                            <a:srgbClr val="12372A"/>
                          </a:solidFill>
                          <a:latin typeface="Calibri"/>
                          <a:ea typeface="Calibri"/>
                          <a:cs typeface="Calibri"/>
                        </a:rPr>
                        <a:t>Downside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$350.30M</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$377.06M</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$393.43M</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$408.98M</a:t>
                      </a:r>
                    </a:p>
                  </a:txBody>
                  <a:tcPr marL="91440" marR="91440" marT="45720" marB="45720">
                    <a:solidFill>
                      <a:srgbClr val="FFFFFF"/>
                    </a:solidFill>
                  </a:tcPr>
                </a:tc>
              </a:tr>
              <a:tr h="514350">
                <a:tc>
                  <a:txBody>
                    <a:bodyPr>
                      <a:normAutofit/>
                    </a:bodyPr>
                    <a:lstStyle/>
                    <a:p>
                      <a:r>
                        <a:rPr sz="1125">
                          <a:solidFill>
                            <a:srgbClr val="12372A"/>
                          </a:solidFill>
                          <a:latin typeface="Calibri"/>
                          <a:ea typeface="Calibri"/>
                          <a:cs typeface="Calibri"/>
                        </a:rPr>
                        <a:t>Base</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$350.30M</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$382.87M</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$410.84M</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$433.90M</a:t>
                      </a:r>
                    </a:p>
                  </a:txBody>
                  <a:tcPr marL="91440" marR="91440" marT="45720" marB="45720">
                    <a:solidFill>
                      <a:srgbClr val="F0EEF8"/>
                    </a:solidFill>
                  </a:tcPr>
                </a:tc>
              </a:tr>
              <a:tr h="514350">
                <a:tc>
                  <a:txBody>
                    <a:bodyPr>
                      <a:normAutofit/>
                    </a:bodyPr>
                    <a:lstStyle/>
                    <a:p>
                      <a:r>
                        <a:rPr sz="1125">
                          <a:solidFill>
                            <a:srgbClr val="12372A"/>
                          </a:solidFill>
                          <a:latin typeface="Calibri"/>
                          <a:ea typeface="Calibri"/>
                          <a:cs typeface="Calibri"/>
                        </a:rPr>
                        <a:t>Upside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$350.30M</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$389.87M</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$426.16M</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$457.35M</a:t>
                      </a:r>
                    </a:p>
                  </a:txBody>
                  <a:tcPr marL="91440" marR="91440" marT="45720" marB="45720">
                    <a:solidFill>
                      <a:srgbClr val="FFFFFF"/>
                    </a:solidFill>
                  </a:tcPr>
                </a:tc>
              </a:tr>
              <a:tr h="514350">
                <a:tc>
                  <a:txBody>
                    <a:bodyPr>
                      <a:normAutofit/>
                    </a:bodyPr>
                    <a:lstStyle/>
                    <a:p>
                      <a:r>
                        <a:rPr sz="1125">
                          <a:solidFill>
                            <a:srgbClr val="12372A"/>
                          </a:solidFill>
                          <a:latin typeface="Calibri"/>
                          <a:ea typeface="Calibri"/>
                          <a:cs typeface="Calibri"/>
                        </a:rPr>
                        <a:t>Management plan</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$350.30M</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$429.70M</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$450.90M</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$472.80M</a:t>
                      </a:r>
                    </a:p>
                  </a:txBody>
                  <a:tcPr marL="91440" marR="91440" marT="45720" marB="45720">
                    <a:solidFill>
                      <a:srgbClr val="F0EEF8"/>
                    </a:solidFill>
                  </a:tcPr>
                </a:tc>
              </a:tr>
              <a:tr h="514350">
                <a:tc>
                  <a:txBody>
                    <a:bodyPr>
                      <a:normAutofit/>
                    </a:bodyPr>
                    <a:lstStyle/>
                    <a:p>
                      <a:r>
                        <a:rPr sz="1125">
                          <a:solidFill>
                            <a:srgbClr val="12372A"/>
                          </a:solidFill>
                          <a:latin typeface="Calibri"/>
                          <a:ea typeface="Calibri"/>
                          <a:cs typeface="Calibri"/>
                        </a:rPr>
                        <a:t>Gap, base to plan</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$0.00</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-$46.83M</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-$40.06M</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-$38.90M</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8696BFA-7FC5-4759-9070-FE91680E1228}"/>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40</a:t>
            </a:r>
          </a:p>
        </p:txBody>
      </p:sp>
    </p:spTree>
    <p:extLst>
      <p:ext uri="{BB962C8B-B14F-4D97-AF65-F5344CB8AC3E}">
        <p14:creationId xmlns:p14="http://schemas.microsoft.com/office/powerpoint/2010/main" val="873731227"/>
      </p:ext>
    </p:extLst>
  </p:cSld>
</p:sld>
</file>

<file path=ppt/slides/slide41.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DAC563C-2296-4A7A-99F5-54EEF4440557}"/>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Projected Revenue Analysis continued</a:t>
            </a:r>
          </a:p>
        </p:txBody>
      </p:sp>
      <p:sp>
        <p:nvSpPr>
          <p:cNvPr id="2" name="title-rule">
            <a:extLst xmlns:a="http://schemas.openxmlformats.org/drawingml/2006/main">
              <a:ext uri="{FF2B5EF4-FFF2-40B4-BE49-F238E27FC236}">
                <a16:creationId xmlns:a16="http://schemas.microsoft.com/office/drawing/2014/main" id="{60129263-19D6-4131-AD42-20AC6E6763A0}"/>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3724275"/>
        </p:xfrm>
        <a:graphic xmlns:a="http://schemas.openxmlformats.org/drawingml/2006/main">
          <a:graphicData uri="http://schemas.openxmlformats.org/drawingml/2006/table">
            <a:tbl>
              <a:tblPr firstRow="1" bandRow="1"/>
              <a:tblGrid>
                <a:gridCol w="2631989"/>
                <a:gridCol w="2339546"/>
                <a:gridCol w="5848865"/>
              </a:tblGrid>
              <a:tr h="552450">
                <a:tc>
                  <a:txBody>
                    <a:bodyPr>
                      <a:normAutofit/>
                    </a:bodyPr>
                    <a:lstStyle/>
                    <a:p>
                      <a:r>
                        <a:rPr sz="1200" b="1">
                          <a:solidFill>
                            <a:srgbClr val="FFFFFF"/>
                          </a:solidFill>
                          <a:latin typeface="Calibri"/>
                          <a:ea typeface="Calibri"/>
                          <a:cs typeface="Calibri"/>
                        </a:rPr>
                        <a:t>Case</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CAGR</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Key Insight</a:t>
                      </a:r>
                    </a:p>
                  </a:txBody>
                  <a:tcPr marL="91440" marR="91440" marT="45720" marB="45720">
                    <a:solidFill>
                      <a:srgbClr val="0F766E"/>
                    </a:solidFill>
                  </a:tcPr>
                </a:tc>
              </a:tr>
              <a:tr h="714375">
                <a:tc>
                  <a:txBody>
                    <a:bodyPr>
                      <a:normAutofit/>
                    </a:bodyPr>
                    <a:lstStyle/>
                    <a:p>
                      <a:r>
                        <a:rPr sz="1125">
                          <a:solidFill>
                            <a:srgbClr val="12372A"/>
                          </a:solidFill>
                          <a:latin typeface="Calibri"/>
                          <a:ea typeface="Calibri"/>
                          <a:cs typeface="Calibri"/>
                        </a:rPr>
                        <a:t>Downside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5.30%</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The downside case requires legacy revenue growth to revert toward the documented historical downside assumptions while Aquarius-led portfolio change does not translate into a sustained operating acceleration[1].</a:t>
                      </a:r>
                    </a:p>
                  </a:txBody>
                  <a:tcPr marL="91440" marR="91440" marT="45720" marB="45720">
                    <a:solidFill>
                      <a:srgbClr val="FFFFFF"/>
                    </a:solidFill>
                  </a:tcPr>
                </a:tc>
              </a:tr>
              <a:tr h="714375">
                <a:tc>
                  <a:txBody>
                    <a:bodyPr>
                      <a:normAutofit/>
                    </a:bodyPr>
                    <a:lstStyle/>
                    <a:p>
                      <a:r>
                        <a:rPr sz="1125">
                          <a:solidFill>
                            <a:srgbClr val="12372A"/>
                          </a:solidFill>
                          <a:latin typeface="Calibri"/>
                          <a:ea typeface="Calibri"/>
                          <a:cs typeface="Calibri"/>
                        </a:rPr>
                        <a:t>Base</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7.39%</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The base case requires moderated growth across Casino, Hotel, Food and beverage, and ancillary revenue, producing a 7.39% consolidated CAGR versus management's 7.79% target rate.</a:t>
                      </a:r>
                    </a:p>
                  </a:txBody>
                  <a:tcPr marL="91440" marR="91440" marT="45720" marB="45720">
                    <a:solidFill>
                      <a:srgbClr val="F0EEF8"/>
                    </a:solidFill>
                  </a:tcPr>
                </a:tc>
              </a:tr>
              <a:tr h="714375">
                <a:tc>
                  <a:txBody>
                    <a:bodyPr>
                      <a:normAutofit/>
                    </a:bodyPr>
                    <a:lstStyle/>
                    <a:p>
                      <a:r>
                        <a:rPr sz="1125">
                          <a:solidFill>
                            <a:srgbClr val="12372A"/>
                          </a:solidFill>
                          <a:latin typeface="Calibri"/>
                          <a:ea typeface="Calibri"/>
                          <a:cs typeface="Calibri"/>
                        </a:rPr>
                        <a:t>Upside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9.30%</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The upside case requires the upper end of the stated line-level growth range, yet reaches only $457.35M against management's $472.80M 2008 plan, so the plan requires performance beyond the published upside build.</a:t>
                      </a:r>
                    </a:p>
                  </a:txBody>
                  <a:tcPr marL="91440" marR="91440" marT="45720" marB="45720">
                    <a:solidFill>
                      <a:srgbClr val="FFFFFF"/>
                    </a:solidFill>
                  </a:tcPr>
                </a:tc>
              </a:tr>
              <a:tr h="514350">
                <a:tc>
                  <a:txBody>
                    <a:bodyPr>
                      <a:normAutofit/>
                    </a:bodyPr>
                    <a:lstStyle/>
                    <a:p>
                      <a:r>
                        <a:rPr sz="1125">
                          <a:solidFill>
                            <a:srgbClr val="12372A"/>
                          </a:solidFill>
                          <a:latin typeface="Calibri"/>
                          <a:ea typeface="Calibri"/>
                          <a:cs typeface="Calibri"/>
                        </a:rPr>
                        <a:t>Management plan</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7.79%</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a:t>
                      </a:r>
                    </a:p>
                  </a:txBody>
                  <a:tcPr marL="91440" marR="91440" marT="45720" marB="45720">
                    <a:solidFill>
                      <a:srgbClr val="F0EEF8"/>
                    </a:solidFill>
                  </a:tcPr>
                </a:tc>
              </a:tr>
              <a:tr h="514350">
                <a:tc>
                  <a:txBody>
                    <a:bodyPr>
                      <a:normAutofit/>
                    </a:bodyPr>
                    <a:lstStyle/>
                    <a:p>
                      <a:r>
                        <a:rPr sz="1125">
                          <a:solidFill>
                            <a:srgbClr val="12372A"/>
                          </a:solidFill>
                          <a:latin typeface="Calibri"/>
                          <a:ea typeface="Calibri"/>
                          <a:cs typeface="Calibri"/>
                        </a:rPr>
                        <a:t>Gap, base to plan</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6A0F4FB-E209-4642-A5CA-9F1EC938721A}"/>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41</a:t>
            </a:r>
          </a:p>
        </p:txBody>
      </p:sp>
    </p:spTree>
    <p:extLst>
      <p:ext uri="{BB962C8B-B14F-4D97-AF65-F5344CB8AC3E}">
        <p14:creationId xmlns:p14="http://schemas.microsoft.com/office/powerpoint/2010/main" val="197241865"/>
      </p:ext>
    </p:extLst>
  </p:cSld>
</p:sld>
</file>

<file path=ppt/slides/slide42.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5395E99-3906-425F-ABCD-3F99EB380AF9}"/>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Competitor Overview</a:t>
            </a:r>
          </a:p>
        </p:txBody>
      </p:sp>
      <p:sp>
        <p:nvSpPr>
          <p:cNvPr id="2" name="title-rule">
            <a:extLst xmlns:a="http://schemas.openxmlformats.org/drawingml/2006/main">
              <a:ext uri="{FF2B5EF4-FFF2-40B4-BE49-F238E27FC236}">
                <a16:creationId xmlns:a16="http://schemas.microsoft.com/office/drawing/2014/main" id="{16190A3E-BEF5-4E28-9560-2274FF9937B9}"/>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78CD67F-D0EE-491B-A897-A2A7A84DB506}"/>
              </a:ext>
            </a:extLst>
          </p:cNvPr>
          <p:cNvSpPr>
            <a:spLocks xmlns:a="http://schemas.openxmlformats.org/drawingml/2006/main" noGrp="1"/>
          </p:cNvSpPr>
          <p:nvPr/>
        </p:nvSpPr>
        <p:spPr>
          <a:xfrm xmlns:a="http://schemas.openxmlformats.org/drawingml/2006/main">
            <a:off x="914400" y="3481388"/>
            <a:ext cx="10134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2372A"/>
                </a:solidFill>
                <a:latin typeface="Calibri"/>
                <a:ea typeface="Calibri"/>
                <a:cs typeface="Calibri"/>
              </a:defRPr>
            </a:pPr>
            <a:r>
              <a:rPr sz="1950" b="1">
                <a:solidFill>
                  <a:srgbClr val="12372A"/>
                </a:solidFill>
                <a:latin typeface="Calibri"/>
                <a:ea typeface="Calibri"/>
                <a:cs typeface="Calibri"/>
              </a:rPr>
              <a:t>First-party CRM is the best long-term moat, but local convenience is most exposed to better-funded rivals.</a:t>
            </a:r>
          </a:p>
        </p:txBody>
      </p:sp>
      <p:sp>
        <p:nvSpPr>
          <p:cNvPr id="4" name="">
            <a:extLst xmlns:a="http://schemas.openxmlformats.org/drawingml/2006/main">
              <a:ext uri="{FF2B5EF4-FFF2-40B4-BE49-F238E27FC236}">
                <a16:creationId xmlns:a16="http://schemas.microsoft.com/office/drawing/2014/main" id="{8AF6D07C-00AB-488A-969B-A2F48FF1BA1F}"/>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42</a:t>
            </a:r>
          </a:p>
        </p:txBody>
      </p:sp>
    </p:spTree>
    <p:extLst>
      <p:ext uri="{BB962C8B-B14F-4D97-AF65-F5344CB8AC3E}">
        <p14:creationId xmlns:p14="http://schemas.microsoft.com/office/powerpoint/2010/main" val="286631261"/>
      </p:ext>
    </p:extLst>
  </p:cSld>
</p:sld>
</file>

<file path=ppt/slides/slide43.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9A3BE38-717B-40D0-93DF-D4845DF4B433}"/>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Company Moat</a:t>
            </a:r>
          </a:p>
        </p:txBody>
      </p:sp>
      <p:sp>
        <p:nvSpPr>
          <p:cNvPr id="2" name="title-rule">
            <a:extLst xmlns:a="http://schemas.openxmlformats.org/drawingml/2006/main">
              <a:ext uri="{FF2B5EF4-FFF2-40B4-BE49-F238E27FC236}">
                <a16:creationId xmlns:a16="http://schemas.microsoft.com/office/drawing/2014/main" id="{96571480-F381-4126-BA16-B1C92142D3BC}"/>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4324350"/>
        </p:xfrm>
        <a:graphic xmlns:a="http://schemas.openxmlformats.org/drawingml/2006/main">
          <a:graphicData uri="http://schemas.openxmlformats.org/drawingml/2006/table">
            <a:tbl>
              <a:tblPr firstRow="1" bandRow="1"/>
              <a:tblGrid>
                <a:gridCol w="3358055"/>
                <a:gridCol w="7462345"/>
              </a:tblGrid>
              <a:tr h="552450">
                <a:tc>
                  <a:txBody>
                    <a:bodyPr>
                      <a:normAutofit/>
                    </a:bodyPr>
                    <a:lstStyle/>
                    <a:p>
                      <a:r>
                        <a:rPr sz="1200" b="1">
                          <a:solidFill>
                            <a:srgbClr val="FFFFFF"/>
                          </a:solidFill>
                          <a:latin typeface="Calibri"/>
                          <a:ea typeface="Calibri"/>
                          <a:cs typeface="Calibri"/>
                        </a:rPr>
                        <a:t>Moat Name</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Evidence, Threats &amp; Replicability</a:t>
                      </a:r>
                    </a:p>
                  </a:txBody>
                  <a:tcPr marL="91440" marR="91440" marT="45720" marB="45720">
                    <a:solidFill>
                      <a:srgbClr val="0F766E"/>
                    </a:solidFill>
                  </a:tcPr>
                </a:tc>
              </a:tr>
              <a:tr h="1257300">
                <a:tc>
                  <a:txBody>
                    <a:bodyPr>
                      <a:normAutofit/>
                    </a:bodyPr>
                    <a:lstStyle/>
                    <a:p>
                      <a:r>
                        <a:rPr sz="1125">
                          <a:solidFill>
                            <a:srgbClr val="12372A"/>
                          </a:solidFill>
                          <a:latin typeface="Calibri"/>
                          <a:ea typeface="Calibri"/>
                          <a:cs typeface="Calibri"/>
                        </a:rPr>
                        <a:t>AP Rewards and first-party patron relationships · Strength: Weak-Moderate · Durability: Improving</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 Finding: AP Rewards, free play offers of up to USD 500, and host-led frequency building are part of the model [27][28][29][30][31].</a:t>
                      </a:r>
                    </a:p>
                    <a:p>
                      <a:r>
                        <a:rPr sz="1125">
                          <a:solidFill>
                            <a:srgbClr val="12372A"/>
                          </a:solidFill>
                          <a:latin typeface="Calibri"/>
                          <a:ea typeface="Calibri"/>
                          <a:cs typeface="Calibri"/>
                        </a:rPr>
                        <a:t>- Insight: This can support repeat visits, but the buyer cannot yet tell if it is creating loyalty that lasts or just subsidizing trips.</a:t>
                      </a:r>
                    </a:p>
                    <a:p>
                      <a:r>
                        <a:rPr sz="1125">
                          <a:solidFill>
                            <a:srgbClr val="12372A"/>
                          </a:solidFill>
                          <a:latin typeface="Calibri"/>
                          <a:ea typeface="Calibri"/>
                          <a:cs typeface="Calibri"/>
                        </a:rPr>
                        <a:t>- Replicability: Possible; a single property can copy the mechanics, but a larger rival can build a stronger database and better targeting over 12–24 months.</a:t>
                      </a:r>
                    </a:p>
                  </a:txBody>
                  <a:tcPr marL="91440" marR="91440" marT="45720" marB="45720">
                    <a:solidFill>
                      <a:srgbClr val="FFFFFF"/>
                    </a:solidFill>
                  </a:tcPr>
                </a:tc>
              </a:tr>
              <a:tr h="1257300">
                <a:tc>
                  <a:txBody>
                    <a:bodyPr>
                      <a:normAutofit/>
                    </a:bodyPr>
                    <a:lstStyle/>
                    <a:p>
                      <a:r>
                        <a:rPr sz="1125">
                          <a:solidFill>
                            <a:srgbClr val="12372A"/>
                          </a:solidFill>
                          <a:latin typeface="Calibri"/>
                          <a:ea typeface="Calibri"/>
                          <a:cs typeface="Calibri"/>
                        </a:rPr>
                        <a:t>24/7 local-drive-in convenience · Strength: Weak-Moderate · Durability: At Risk</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 Finding: The casino is open 24 hours a day and table games run nearly around the clock, with 856,992 admissions and USD 142.05 gross receipts per admission in 2025 [23][27][28].</a:t>
                      </a:r>
                    </a:p>
                    <a:p>
                      <a:r>
                        <a:rPr sz="1125">
                          <a:solidFill>
                            <a:srgbClr val="12372A"/>
                          </a:solidFill>
                          <a:latin typeface="Calibri"/>
                          <a:ea typeface="Calibri"/>
                          <a:cs typeface="Calibri"/>
                        </a:rPr>
                        <a:t>- Insight: Convenience can drive visits, but it is not a protected edge if customers can get similar or closer access elsewhere.</a:t>
                      </a:r>
                    </a:p>
                    <a:p>
                      <a:r>
                        <a:rPr sz="1125">
                          <a:solidFill>
                            <a:srgbClr val="12372A"/>
                          </a:solidFill>
                          <a:latin typeface="Calibri"/>
                          <a:ea typeface="Calibri"/>
                          <a:cs typeface="Calibri"/>
                        </a:rPr>
                        <a:t>- Replicability: Possible; rivals can match hours and local targeting within 12–24 months, while habit is the only harder part to copy.</a:t>
                      </a:r>
                    </a:p>
                  </a:txBody>
                  <a:tcPr marL="91440" marR="91440" marT="45720" marB="45720">
                    <a:solidFill>
                      <a:srgbClr val="F0EEF8"/>
                    </a:solidFill>
                  </a:tcPr>
                </a:tc>
              </a:tr>
              <a:tr h="1257300">
                <a:tc>
                  <a:txBody>
                    <a:bodyPr>
                      <a:normAutofit/>
                    </a:bodyPr>
                    <a:lstStyle/>
                    <a:p>
                      <a:r>
                        <a:rPr sz="1125">
                          <a:solidFill>
                            <a:srgbClr val="12372A"/>
                          </a:solidFill>
                          <a:latin typeface="Calibri"/>
                          <a:ea typeface="Calibri"/>
                          <a:cs typeface="Calibri"/>
                        </a:rPr>
                        <a:t>Slot-heavy floor matched to regional demand · Strength: Weak · Durability: At Risk</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 Finding: The floor has roughly 940 slots and 48 table games; U.S. slots produced USD 9.77B in Q2 2026 versus USD 2.60B for tables [18][23].</a:t>
                      </a:r>
                    </a:p>
                    <a:p>
                      <a:r>
                        <a:rPr sz="1125">
                          <a:solidFill>
                            <a:srgbClr val="12372A"/>
                          </a:solidFill>
                          <a:latin typeface="Calibri"/>
                          <a:ea typeface="Calibri"/>
                          <a:cs typeface="Calibri"/>
                        </a:rPr>
                        <a:t>- Insight: The mix fits the main spend pool, but it is a standard regional format, not a clear defense.</a:t>
                      </a:r>
                    </a:p>
                    <a:p>
                      <a:r>
                        <a:rPr sz="1125">
                          <a:solidFill>
                            <a:srgbClr val="12372A"/>
                          </a:solidFill>
                          <a:latin typeface="Calibri"/>
                          <a:ea typeface="Calibri"/>
                          <a:cs typeface="Calibri"/>
                        </a:rPr>
                        <a:t>- Replicability: Possible; a competitor can build a similar slot-heavy floor with capital and time, usually within 12–24 months.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0C4CF7A-7E1A-4440-9567-318E719CBABF}"/>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43</a:t>
            </a:r>
          </a:p>
        </p:txBody>
      </p:sp>
    </p:spTree>
    <p:extLst>
      <p:ext uri="{BB962C8B-B14F-4D97-AF65-F5344CB8AC3E}">
        <p14:creationId xmlns:p14="http://schemas.microsoft.com/office/powerpoint/2010/main" val="1815776749"/>
      </p:ext>
    </p:extLst>
  </p:cSld>
</p:sld>
</file>

<file path=ppt/slides/slide44.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6BAC50A-E532-4B88-BC9B-A3F6C57ECC50}"/>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Company Moat continued</a:t>
            </a:r>
          </a:p>
        </p:txBody>
      </p:sp>
      <p:sp>
        <p:nvSpPr>
          <p:cNvPr id="2" name="title-rule">
            <a:extLst xmlns:a="http://schemas.openxmlformats.org/drawingml/2006/main">
              <a:ext uri="{FF2B5EF4-FFF2-40B4-BE49-F238E27FC236}">
                <a16:creationId xmlns:a16="http://schemas.microsoft.com/office/drawing/2014/main" id="{50F6F654-041E-4536-A1BF-C68EC89D2063}"/>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3248025"/>
        </p:xfrm>
        <a:graphic xmlns:a="http://schemas.openxmlformats.org/drawingml/2006/main">
          <a:graphicData uri="http://schemas.openxmlformats.org/drawingml/2006/table">
            <a:tbl>
              <a:tblPr firstRow="1" bandRow="1"/>
              <a:tblGrid>
                <a:gridCol w="3358055"/>
                <a:gridCol w="7462345"/>
              </a:tblGrid>
              <a:tr h="552450">
                <a:tc>
                  <a:txBody>
                    <a:bodyPr>
                      <a:normAutofit/>
                    </a:bodyPr>
                    <a:lstStyle/>
                    <a:p>
                      <a:r>
                        <a:rPr sz="1200" b="1">
                          <a:solidFill>
                            <a:srgbClr val="FFFFFF"/>
                          </a:solidFill>
                          <a:latin typeface="Calibri"/>
                          <a:ea typeface="Calibri"/>
                          <a:cs typeface="Calibri"/>
                        </a:rPr>
                        <a:t>Moat Name</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Evidence, Threats &amp; Replicability</a:t>
                      </a:r>
                    </a:p>
                  </a:txBody>
                  <a:tcPr marL="91440" marR="91440" marT="45720" marB="45720">
                    <a:solidFill>
                      <a:srgbClr val="0F766E"/>
                    </a:solidFill>
                  </a:tcPr>
                </a:tc>
              </a:tr>
              <a:tr h="1438275">
                <a:tc>
                  <a:txBody>
                    <a:bodyPr>
                      <a:normAutofit/>
                    </a:bodyPr>
                    <a:lstStyle/>
                    <a:p>
                      <a:r>
                        <a:rPr sz="1125">
                          <a:solidFill>
                            <a:srgbClr val="12372A"/>
                          </a:solidFill>
                          <a:latin typeface="Calibri"/>
                          <a:ea typeface="Calibri"/>
                          <a:cs typeface="Calibri"/>
                        </a:rPr>
                        <a:t>Retail and mobile sports wagering link · Strength: Weak-Moderate · Durability: Improving</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 Finding: American Place offers retail and mobile sports wagering through Circa under the Illinois license, but contracted sports-wagering revenue fell to USD 1.50M in Q2 2026 from USD 1.70M a year earlier [25][26].</a:t>
                      </a:r>
                    </a:p>
                    <a:p>
                      <a:r>
                        <a:rPr sz="1125">
                          <a:solidFill>
                            <a:srgbClr val="12372A"/>
                          </a:solidFill>
                          <a:latin typeface="Calibri"/>
                          <a:ea typeface="Calibri"/>
                          <a:cs typeface="Calibri"/>
                        </a:rPr>
                        <a:t>- Insight: The channel adds reach, but the buyer should not assume it yet turns bettors into sticky casino customers.</a:t>
                      </a:r>
                    </a:p>
                    <a:p>
                      <a:r>
                        <a:rPr sz="1125">
                          <a:solidFill>
                            <a:srgbClr val="12372A"/>
                          </a:solidFill>
                          <a:latin typeface="Calibri"/>
                          <a:ea typeface="Calibri"/>
                          <a:cs typeface="Calibri"/>
                        </a:rPr>
                        <a:t>- Replicability: Possible; licensing and integration create friction, but larger ecosystems can still copy the model in 12–24 months.</a:t>
                      </a:r>
                    </a:p>
                  </a:txBody>
                  <a:tcPr marL="91440" marR="91440" marT="45720" marB="45720">
                    <a:solidFill>
                      <a:srgbClr val="FFFFFF"/>
                    </a:solidFill>
                  </a:tcPr>
                </a:tc>
              </a:tr>
              <a:tr h="1257300">
                <a:tc>
                  <a:txBody>
                    <a:bodyPr>
                      <a:normAutofit/>
                    </a:bodyPr>
                    <a:lstStyle/>
                    <a:p>
                      <a:r>
                        <a:rPr sz="1125">
                          <a:solidFill>
                            <a:srgbClr val="12372A"/>
                          </a:solidFill>
                          <a:latin typeface="Calibri"/>
                          <a:ea typeface="Calibri"/>
                          <a:cs typeface="Calibri"/>
                        </a:rPr>
                        <a:t>Bally's Chicago delay window · Strength: Weak · Durability: At Risk</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 Finding: Bally's permanent Chicago resort is delayed, with public indications of a 2027 opening and a one-year extension [8][9][10][11].</a:t>
                      </a:r>
                    </a:p>
                    <a:p>
                      <a:r>
                        <a:rPr sz="1125">
                          <a:solidFill>
                            <a:srgbClr val="12372A"/>
                          </a:solidFill>
                          <a:latin typeface="Calibri"/>
                          <a:ea typeface="Calibri"/>
                          <a:cs typeface="Calibri"/>
                        </a:rPr>
                        <a:t>- Insight: This is only a timing advantage; once the larger resort opens, American Place could lose the traffic it is trying to build now.</a:t>
                      </a:r>
                    </a:p>
                    <a:p>
                      <a:r>
                        <a:rPr sz="1125">
                          <a:solidFill>
                            <a:srgbClr val="12372A"/>
                          </a:solidFill>
                          <a:latin typeface="Calibri"/>
                          <a:ea typeface="Calibri"/>
                          <a:cs typeface="Calibri"/>
                        </a:rPr>
                        <a:t>- Replicability: Hard is not the right test here, because this is a temporary window, not a structural moat.</a:t>
                      </a:r>
                    </a:p>
                  </a:txBody>
                  <a:tcPr marL="91440" marR="91440" marT="45720" marB="45720">
                    <a:solidFill>
                      <a:srgbClr val="F0EEF8"/>
                    </a:solidFill>
                  </a:tcPr>
                </a:tc>
              </a:tr>
            </a:tbl>
          </a:graphicData>
        </a:graphic>
      </p:graphicFrame>
      <p:sp>
        <p:nvSpPr>
          <p:cNvPr id="4" name="">
            <a:extLst xmlns:a="http://schemas.openxmlformats.org/drawingml/2006/main">
              <a:ext uri="{FF2B5EF4-FFF2-40B4-BE49-F238E27FC236}">
                <a16:creationId xmlns:a16="http://schemas.microsoft.com/office/drawing/2014/main" id="{49DB9CF7-4D16-4E32-8AC7-5A229D33A4B4}"/>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44</a:t>
            </a:r>
          </a:p>
        </p:txBody>
      </p:sp>
    </p:spTree>
    <p:extLst>
      <p:ext uri="{BB962C8B-B14F-4D97-AF65-F5344CB8AC3E}">
        <p14:creationId xmlns:p14="http://schemas.microsoft.com/office/powerpoint/2010/main" val="1586529094"/>
      </p:ext>
    </p:extLst>
  </p:cSld>
</p:sld>
</file>

<file path=ppt/slides/slide45.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C89B02F-0646-4147-875A-E912472282DB}"/>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overall_kpc_summary_table</a:t>
            </a:r>
          </a:p>
        </p:txBody>
      </p:sp>
      <p:sp>
        <p:nvSpPr>
          <p:cNvPr id="2" name="title-rule">
            <a:extLst xmlns:a="http://schemas.openxmlformats.org/drawingml/2006/main">
              <a:ext uri="{FF2B5EF4-FFF2-40B4-BE49-F238E27FC236}">
                <a16:creationId xmlns:a16="http://schemas.microsoft.com/office/drawing/2014/main" id="{77ABD5F9-10CE-4DE7-86B8-3D9BD39B43B8}"/>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23E409E-6A41-42B8-9F9E-A3E483670647}"/>
              </a:ext>
            </a:extLst>
          </p:cNvPr>
          <p:cNvSpPr>
            <a:spLocks xmlns:a="http://schemas.openxmlformats.org/drawingml/2006/main" noGrp="1"/>
          </p:cNvSpPr>
          <p:nvPr/>
        </p:nvSpPr>
        <p:spPr>
          <a:xfrm xmlns:a="http://schemas.openxmlformats.org/drawingml/2006/main">
            <a:off x="914400" y="2214563"/>
            <a:ext cx="10134600" cy="3248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2372A"/>
                </a:solidFill>
                <a:latin typeface="Calibri"/>
                <a:ea typeface="Calibri"/>
                <a:cs typeface="Calibri"/>
              </a:defRPr>
            </a:pPr>
            <a:r>
              <a:rPr sz="1950" b="1">
                <a:solidFill>
                  <a:srgbClr val="12372A"/>
                </a:solidFill>
                <a:latin typeface="Calibri"/>
                <a:ea typeface="Calibri"/>
                <a:cs typeface="Calibri"/>
              </a:rPr>
              <a:t>The table shows the group is strongest on Key Purchasing Criteria, with a column average of 4.0, and weakest on Arrival Convenience at 3.0. Performance is uneven across dimensions: Wind Creek Chicago Southland (Wind Creek Hospitality) leads Key Purchasing Criteria with 4.8, Red Rock Casino Resort Spa leads Slot Portfolio Variety and Table Game Depth with 5.0 in both and Funds Access and Play Continuity with 4.8, while Rivers Casino Des Plaines (Churchill Downs) leads Poker and Sportsbook Draw with 4.8. This leaves Red Rock Casino Resort Spa, Rivers Casino Des Plaines (Churchill Downs), Boulder Station Hotel &amp; Casino (Red Rock Resorts), and Sunset Station (Red Rock Resorts) as the strongest all-round performers, while American Casino, Edgewater Casino Resort (Golden Entertainment), and Harrah's Laughlin (Caesars Entertainment) trail the set on overall score.</a:t>
            </a:r>
          </a:p>
        </p:txBody>
      </p:sp>
      <p:sp>
        <p:nvSpPr>
          <p:cNvPr id="4" name="">
            <a:extLst xmlns:a="http://schemas.openxmlformats.org/drawingml/2006/main">
              <a:ext uri="{FF2B5EF4-FFF2-40B4-BE49-F238E27FC236}">
                <a16:creationId xmlns:a16="http://schemas.microsoft.com/office/drawing/2014/main" id="{BA92CD96-B023-42D1-B9B6-11E93A4376E8}"/>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45</a:t>
            </a:r>
          </a:p>
        </p:txBody>
      </p:sp>
    </p:spTree>
    <p:extLst>
      <p:ext uri="{BB962C8B-B14F-4D97-AF65-F5344CB8AC3E}">
        <p14:creationId xmlns:p14="http://schemas.microsoft.com/office/powerpoint/2010/main" val="615735595"/>
      </p:ext>
    </p:extLst>
  </p:cSld>
</p:sld>
</file>

<file path=ppt/slides/slide46.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D7D11BC-B354-4338-ACE7-E9F31A05344D}"/>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overall_kpc_summary_table</a:t>
            </a:r>
          </a:p>
        </p:txBody>
      </p:sp>
      <p:sp>
        <p:nvSpPr>
          <p:cNvPr id="2" name="title-rule">
            <a:extLst xmlns:a="http://schemas.openxmlformats.org/drawingml/2006/main">
              <a:ext uri="{FF2B5EF4-FFF2-40B4-BE49-F238E27FC236}">
                <a16:creationId xmlns:a16="http://schemas.microsoft.com/office/drawing/2014/main" id="{4B07173C-91CD-4E12-8FD3-A8FF6A91A97D}"/>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4495800"/>
        </p:xfrm>
        <a:graphic xmlns:a="http://schemas.openxmlformats.org/drawingml/2006/main">
          <a:graphicData uri="http://schemas.openxmlformats.org/drawingml/2006/table">
            <a:tbl>
              <a:tblPr firstRow="1" bandRow="1"/>
              <a:tblGrid>
                <a:gridCol w="2375210"/>
                <a:gridCol w="2111298"/>
                <a:gridCol w="2111298"/>
                <a:gridCol w="2111298"/>
                <a:gridCol w="2111298"/>
              </a:tblGrid>
              <a:tr h="552450">
                <a:tc>
                  <a:txBody>
                    <a:bodyPr>
                      <a:normAutofit/>
                    </a:bodyPr>
                    <a:lstStyle/>
                    <a:p>
                      <a:r>
                        <a:rPr sz="1200" b="1">
                          <a:solidFill>
                            <a:srgbClr val="FFFFFF"/>
                          </a:solidFill>
                          <a:latin typeface="Calibri"/>
                          <a:ea typeface="Calibri"/>
                          <a:cs typeface="Calibri"/>
                        </a:rPr>
                        <a:t>Competitor</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Key Purchasing Criteria</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Slot Portfolio Variety</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Table Game Depth</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Poker and Sportsbook Draw</a:t>
                      </a:r>
                    </a:p>
                  </a:txBody>
                  <a:tcPr marL="91440" marR="91440" marT="45720" marB="45720">
                    <a:solidFill>
                      <a:srgbClr val="0F766E"/>
                    </a:solidFill>
                  </a:tcPr>
                </a:tc>
              </a:tr>
              <a:tr h="1076325">
                <a:tc>
                  <a:txBody>
                    <a:bodyPr>
                      <a:normAutofit/>
                    </a:bodyPr>
                    <a:lstStyle/>
                    <a:p>
                      <a:r>
                        <a:rPr sz="1125">
                          <a:solidFill>
                            <a:srgbClr val="12372A"/>
                          </a:solidFill>
                          <a:latin typeface="Calibri"/>
                          <a:ea typeface="Calibri"/>
                          <a:cs typeface="Calibri"/>
                        </a:rPr>
                        <a:t>American Casino</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Convenient all-day local play, but the temporary floor and modest rewards keep it behind the strongest regional peers. · 3.2</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Smaller floor still covers the basics, but choice is thinner than nearby heavyweights. [1] · 2.8</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Core tables are present, though breadth and format choice remain fairly limited. [1] · 2.4</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Small poker room and modest sportsbook make it more of a casual stop. [2] · 3.0</a:t>
                      </a:r>
                    </a:p>
                  </a:txBody>
                  <a:tcPr marL="91440" marR="91440" marT="45720" marB="45720">
                    <a:solidFill>
                      <a:srgbClr val="FFFFFF"/>
                    </a:solidFill>
                  </a:tcPr>
                </a:tc>
              </a:tr>
              <a:tr h="1076325">
                <a:tc>
                  <a:txBody>
                    <a:bodyPr>
                      <a:normAutofit/>
                    </a:bodyPr>
                    <a:lstStyle/>
                    <a:p>
                      <a:r>
                        <a:rPr sz="1125">
                          <a:solidFill>
                            <a:srgbClr val="12372A"/>
                          </a:solidFill>
                          <a:latin typeface="Calibri"/>
                          <a:ea typeface="Calibri"/>
                          <a:cs typeface="Calibri"/>
                        </a:rPr>
                        <a:t>Rivers Casino Des Plaines (Churchill Downs)</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Best local scale and game breadth; weaker budget friendliness keeps it from being the clean value leader. · 4.0</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Deep slot choice and local scale give players many more machine options. [5] · 3.6</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Chicago-area table depth feels broad, busy, and well-rounded for repeat play. [5] · 3.6</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Poker and sportsbook each pull serious traffic with far broader dedicated space. [6][7] · 4.8</a:t>
                      </a:r>
                    </a:p>
                  </a:txBody>
                  <a:tcPr marL="91440" marR="91440" marT="45720" marB="45720">
                    <a:solidFill>
                      <a:srgbClr val="F0EEF8"/>
                    </a:solidFill>
                  </a:tcPr>
                </a:tc>
              </a:tr>
              <a:tr h="895350">
                <a:tc>
                  <a:txBody>
                    <a:bodyPr>
                      <a:normAutofit/>
                    </a:bodyPr>
                    <a:lstStyle/>
                    <a:p>
                      <a:r>
                        <a:rPr sz="1125">
                          <a:solidFill>
                            <a:srgbClr val="12372A"/>
                          </a:solidFill>
                          <a:latin typeface="Calibri"/>
                          <a:ea typeface="Calibri"/>
                          <a:cs typeface="Calibri"/>
                        </a:rPr>
                        <a:t>Wind Creek Chicago Southland (Wind Creek Hospitality)</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New, broad, and always open, with the richest current reinvestment pitch in Chicagoland. · 4.8</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Wide denominations, progressives, and true high-limit space create strong slot choice. [9][10] · 4.6</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A new floor and solid game mix give table players dependable variety. [11][10] · 3.2</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Poker is real but smaller, while the sportsbook feels more lounge-like. [12][13] · 2.8</a:t>
                      </a:r>
                    </a:p>
                  </a:txBody>
                  <a:tcPr marL="91440" marR="91440" marT="45720" marB="45720">
                    <a:solidFill>
                      <a:srgbClr val="FFFFFF"/>
                    </a:solidFill>
                  </a:tcPr>
                </a:tc>
              </a:tr>
              <a:tr h="1076325">
                <a:tc>
                  <a:txBody>
                    <a:bodyPr>
                      <a:normAutofit/>
                    </a:bodyPr>
                    <a:lstStyle/>
                    <a:p>
                      <a:r>
                        <a:rPr sz="1125">
                          <a:solidFill>
                            <a:srgbClr val="12372A"/>
                          </a:solidFill>
                          <a:latin typeface="Calibri"/>
                          <a:ea typeface="Calibri"/>
                          <a:cs typeface="Calibri"/>
                        </a:rPr>
                        <a:t>Hard Rock Casino Northern Indiana (Hard Rock International)</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Large and convenient, but weaker gaming completeness and softer loyalty integration than the best alternatives. · 3.5</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Big floor, wide denominations, and real high-limit space suit many play styles. [14] · 4.4</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This is one of the fuller live-table offers in the peer set. [14] · 4.0</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No poker room hurts session variety, but the sportsbook is fully built-out. [15] · 2.6</a:t>
                      </a:r>
                    </a:p>
                  </a:txBody>
                  <a:tcPr marL="91440" marR="91440" marT="45720" marB="45720">
                    <a:solidFill>
                      <a:srgbClr val="F0EEF8"/>
                    </a:solidFill>
                  </a:tcPr>
                </a:tc>
              </a:tr>
            </a:tbl>
          </a:graphicData>
        </a:graphic>
      </p:graphicFrame>
      <p:sp>
        <p:nvSpPr>
          <p:cNvPr id="4" name="">
            <a:extLst xmlns:a="http://schemas.openxmlformats.org/drawingml/2006/main">
              <a:ext uri="{FF2B5EF4-FFF2-40B4-BE49-F238E27FC236}">
                <a16:creationId xmlns:a16="http://schemas.microsoft.com/office/drawing/2014/main" id="{AE3F640A-B4B2-4511-A224-BD8D405EE38B}"/>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46</a:t>
            </a:r>
          </a:p>
        </p:txBody>
      </p:sp>
    </p:spTree>
    <p:extLst>
      <p:ext uri="{BB962C8B-B14F-4D97-AF65-F5344CB8AC3E}">
        <p14:creationId xmlns:p14="http://schemas.microsoft.com/office/powerpoint/2010/main" val="2134846473"/>
      </p:ext>
    </p:extLst>
  </p:cSld>
</p:sld>
</file>

<file path=ppt/slides/slide47.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9D1F971-FB99-4810-83E6-7E6BA7F783E2}"/>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overall_kpc_summary_table continued</a:t>
            </a:r>
          </a:p>
        </p:txBody>
      </p:sp>
      <p:sp>
        <p:nvSpPr>
          <p:cNvPr id="2" name="title-rule">
            <a:extLst xmlns:a="http://schemas.openxmlformats.org/drawingml/2006/main">
              <a:ext uri="{FF2B5EF4-FFF2-40B4-BE49-F238E27FC236}">
                <a16:creationId xmlns:a16="http://schemas.microsoft.com/office/drawing/2014/main" id="{1727B482-12EA-43AE-9255-322A4BBBB071}"/>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3781425"/>
        </p:xfrm>
        <a:graphic xmlns:a="http://schemas.openxmlformats.org/drawingml/2006/main">
          <a:graphicData uri="http://schemas.openxmlformats.org/drawingml/2006/table">
            <a:tbl>
              <a:tblPr firstRow="1" bandRow="1"/>
              <a:tblGrid>
                <a:gridCol w="2375210"/>
                <a:gridCol w="2111298"/>
                <a:gridCol w="2111298"/>
                <a:gridCol w="2111298"/>
                <a:gridCol w="2111298"/>
              </a:tblGrid>
              <a:tr h="552450">
                <a:tc>
                  <a:txBody>
                    <a:bodyPr>
                      <a:normAutofit/>
                    </a:bodyPr>
                    <a:lstStyle/>
                    <a:p>
                      <a:r>
                        <a:rPr sz="1200" b="1">
                          <a:solidFill>
                            <a:srgbClr val="FFFFFF"/>
                          </a:solidFill>
                          <a:latin typeface="Calibri"/>
                          <a:ea typeface="Calibri"/>
                          <a:cs typeface="Calibri"/>
                        </a:rPr>
                        <a:t>Competitor</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Key Purchasing Criteria</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Slot Portfolio Variety</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Table Game Depth</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Poker and Sportsbook Draw</a:t>
                      </a:r>
                    </a:p>
                  </a:txBody>
                  <a:tcPr marL="91440" marR="91440" marT="45720" marB="45720">
                    <a:solidFill>
                      <a:srgbClr val="0F766E"/>
                    </a:solidFill>
                  </a:tcPr>
                </a:tc>
              </a:tr>
              <a:tr h="1076325">
                <a:tc>
                  <a:txBody>
                    <a:bodyPr>
                      <a:normAutofit/>
                    </a:bodyPr>
                    <a:lstStyle/>
                    <a:p>
                      <a:r>
                        <a:rPr sz="1125">
                          <a:solidFill>
                            <a:srgbClr val="12372A"/>
                          </a:solidFill>
                          <a:latin typeface="Calibri"/>
                          <a:ea typeface="Calibri"/>
                          <a:cs typeface="Calibri"/>
                        </a:rPr>
                        <a:t>Don Laughlin's Riverside Resort Hotel &amp; Casino (Laughlin Recreational Enterprises)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Old-school but high-value gaming, with strong 24-hour access and unusually player-friendly cash-back economics. · 4.5</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Large locals-oriented slot floor offers plenty of choice without premium polish. [17] · 3.8</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Tables cover the essentials, but higher-end depth looks lighter than top peers. [17] · 2.6</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Poker is active and frequent, while sportsbook service covers everyday betting needs. [18][19] · 3.4</a:t>
                      </a:r>
                    </a:p>
                  </a:txBody>
                  <a:tcPr marL="91440" marR="91440" marT="45720" marB="45720">
                    <a:solidFill>
                      <a:srgbClr val="FFFFFF"/>
                    </a:solidFill>
                  </a:tcPr>
                </a:tc>
              </a:tr>
              <a:tr h="1076325">
                <a:tc>
                  <a:txBody>
                    <a:bodyPr>
                      <a:normAutofit/>
                    </a:bodyPr>
                    <a:lstStyle/>
                    <a:p>
                      <a:r>
                        <a:rPr sz="1125">
                          <a:solidFill>
                            <a:srgbClr val="12372A"/>
                          </a:solidFill>
                          <a:latin typeface="Calibri"/>
                          <a:ea typeface="Calibri"/>
                          <a:cs typeface="Calibri"/>
                        </a:rPr>
                        <a:t>Sunset Station (Red Rock Resorts)</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Excellent locals value: broad gaming mix, strong low-limit play, and a rewards system built for repeat visits. · 4.5</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Locals slot choice is broad, with dedicated high-limit space and easy mobile funding. [20][21] · 4.0</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Live tables feel solid, with extra electronic options helping widen the floor. [20][21] · 4.0</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Good sportsbook energy helps, though poker depth appears more middle-of-pack. [20][21] · 3.0</a:t>
                      </a:r>
                    </a:p>
                  </a:txBody>
                  <a:tcPr marL="91440" marR="91440" marT="45720" marB="45720">
                    <a:solidFill>
                      <a:srgbClr val="F0EEF8"/>
                    </a:solidFill>
                  </a:tcPr>
                </a:tc>
              </a:tr>
              <a:tr h="1076325">
                <a:tc>
                  <a:txBody>
                    <a:bodyPr>
                      <a:normAutofit/>
                    </a:bodyPr>
                    <a:lstStyle/>
                    <a:p>
                      <a:r>
                        <a:rPr sz="1125">
                          <a:solidFill>
                            <a:srgbClr val="12372A"/>
                          </a:solidFill>
                          <a:latin typeface="Calibri"/>
                          <a:ea typeface="Calibri"/>
                          <a:cs typeface="Calibri"/>
                        </a:rPr>
                        <a:t>Edgewater Casino Resort (Golden Entertainment)</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Small gaming footprint holds it back; loyalty is better than expected, but the core floor is still thin. · 3.0</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Slot choice is serviceable, but scale and premium variety trail most peers. [22] · 2.2</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Table play covers basics, though the floor looks lighter and less varied. [22] · 1.6</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Sports viewing stands out more than the wagering mix around it. [22] · 2.2</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7D7AC0D-D7FF-44E9-AE9F-4422E8E738A1}"/>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47</a:t>
            </a:r>
          </a:p>
        </p:txBody>
      </p:sp>
    </p:spTree>
    <p:extLst>
      <p:ext uri="{BB962C8B-B14F-4D97-AF65-F5344CB8AC3E}">
        <p14:creationId xmlns:p14="http://schemas.microsoft.com/office/powerpoint/2010/main" val="1149665085"/>
      </p:ext>
    </p:extLst>
  </p:cSld>
</p:sld>
</file>

<file path=ppt/slides/slide48.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00D004A-55D1-4FD4-841B-7DD19ABE4475}"/>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overall_kpc_summary_table continued</a:t>
            </a:r>
          </a:p>
        </p:txBody>
      </p:sp>
      <p:sp>
        <p:nvSpPr>
          <p:cNvPr id="2" name="title-rule">
            <a:extLst xmlns:a="http://schemas.openxmlformats.org/drawingml/2006/main">
              <a:ext uri="{FF2B5EF4-FFF2-40B4-BE49-F238E27FC236}">
                <a16:creationId xmlns:a16="http://schemas.microsoft.com/office/drawing/2014/main" id="{AF8E935F-A92F-4878-B554-C1ECF3C1A492}"/>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2705100"/>
        </p:xfrm>
        <a:graphic xmlns:a="http://schemas.openxmlformats.org/drawingml/2006/main">
          <a:graphicData uri="http://schemas.openxmlformats.org/drawingml/2006/table">
            <a:tbl>
              <a:tblPr firstRow="1" bandRow="1"/>
              <a:tblGrid>
                <a:gridCol w="2375210"/>
                <a:gridCol w="2111298"/>
                <a:gridCol w="2111298"/>
                <a:gridCol w="2111298"/>
                <a:gridCol w="2111298"/>
              </a:tblGrid>
              <a:tr h="552450">
                <a:tc>
                  <a:txBody>
                    <a:bodyPr>
                      <a:normAutofit/>
                    </a:bodyPr>
                    <a:lstStyle/>
                    <a:p>
                      <a:r>
                        <a:rPr sz="1200" b="1">
                          <a:solidFill>
                            <a:srgbClr val="FFFFFF"/>
                          </a:solidFill>
                          <a:latin typeface="Calibri"/>
                          <a:ea typeface="Calibri"/>
                          <a:cs typeface="Calibri"/>
                        </a:rPr>
                        <a:t>Competitor</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Key Purchasing Criteria</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Slot Portfolio Variety</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Table Game Depth</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Poker and Sportsbook Draw</a:t>
                      </a:r>
                    </a:p>
                  </a:txBody>
                  <a:tcPr marL="91440" marR="91440" marT="45720" marB="45720">
                    <a:solidFill>
                      <a:srgbClr val="0F766E"/>
                    </a:solidFill>
                  </a:tcPr>
                </a:tc>
              </a:tr>
              <a:tr h="1076325">
                <a:tc>
                  <a:txBody>
                    <a:bodyPr>
                      <a:normAutofit/>
                    </a:bodyPr>
                    <a:lstStyle/>
                    <a:p>
                      <a:r>
                        <a:rPr sz="1125">
                          <a:solidFill>
                            <a:srgbClr val="12372A"/>
                          </a:solidFill>
                          <a:latin typeface="Calibri"/>
                          <a:ea typeface="Calibri"/>
                          <a:cs typeface="Calibri"/>
                        </a:rPr>
                        <a:t>Hollywood Casino Aurora (PENN Entertainment)</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The move fixed freshness and scale; rewards are first-rate, but pricing still depends more on comps than base value. · 4.0</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Fresh floor mixes new themes, jackpots, and solid denomination coverage. [24] · 3.6</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Land-based reopen brought broader table appeal, especially for higher-stakes baccarat players. [24] · 3.6</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No poker room narrows trip length, but the sportsbook is a real draw. [24][25] · 3.0</a:t>
                      </a:r>
                    </a:p>
                  </a:txBody>
                  <a:tcPr marL="91440" marR="91440" marT="45720" marB="45720">
                    <a:solidFill>
                      <a:srgbClr val="FFFFFF"/>
                    </a:solidFill>
                  </a:tcPr>
                </a:tc>
              </a:tr>
              <a:tr h="1076325">
                <a:tc>
                  <a:txBody>
                    <a:bodyPr>
                      <a:normAutofit/>
                    </a:bodyPr>
                    <a:lstStyle/>
                    <a:p>
                      <a:r>
                        <a:rPr sz="1125">
                          <a:solidFill>
                            <a:srgbClr val="12372A"/>
                          </a:solidFill>
                          <a:latin typeface="Calibri"/>
                          <a:ea typeface="Calibri"/>
                          <a:cs typeface="Calibri"/>
                        </a:rPr>
                        <a:t>Harrah's Laughlin (Caesars Entertainment)</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Broad gaming and elite network rewards are the draw; weaker visible value and hours detail temper the offer. · 3.8</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Older but still broad enough for casual gamblers who want familiar machines. [27] · 3.2</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Table mix is adequate, though depth looks modest beside stronger regional peers. [27] · 2.0</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Poker helps, but the betting offer looks more functional than destination-level. [27] · 2.4</a:t>
                      </a:r>
                    </a:p>
                  </a:txBody>
                  <a:tcPr marL="91440" marR="91440" marT="45720" marB="45720">
                    <a:solidFill>
                      <a:srgbClr val="F0EEF8"/>
                    </a:solidFill>
                  </a:tcPr>
                </a:tc>
              </a:tr>
            </a:tbl>
          </a:graphicData>
        </a:graphic>
      </p:graphicFrame>
      <p:sp>
        <p:nvSpPr>
          <p:cNvPr id="4" name="">
            <a:extLst xmlns:a="http://schemas.openxmlformats.org/drawingml/2006/main">
              <a:ext uri="{FF2B5EF4-FFF2-40B4-BE49-F238E27FC236}">
                <a16:creationId xmlns:a16="http://schemas.microsoft.com/office/drawing/2014/main" id="{8111B9D7-7E1C-4BF8-A18D-629AC0C8427E}"/>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48</a:t>
            </a:r>
          </a:p>
        </p:txBody>
      </p:sp>
    </p:spTree>
    <p:extLst>
      <p:ext uri="{BB962C8B-B14F-4D97-AF65-F5344CB8AC3E}">
        <p14:creationId xmlns:p14="http://schemas.microsoft.com/office/powerpoint/2010/main" val="1572942796"/>
      </p:ext>
    </p:extLst>
  </p:cSld>
</p:sld>
</file>

<file path=ppt/slides/slide49.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E86DC4E-60CC-44D7-87E2-206E62145969}"/>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overall_kpc_summary_table continued</a:t>
            </a:r>
          </a:p>
        </p:txBody>
      </p:sp>
      <p:sp>
        <p:nvSpPr>
          <p:cNvPr id="2" name="title-rule">
            <a:extLst xmlns:a="http://schemas.openxmlformats.org/drawingml/2006/main">
              <a:ext uri="{FF2B5EF4-FFF2-40B4-BE49-F238E27FC236}">
                <a16:creationId xmlns:a16="http://schemas.microsoft.com/office/drawing/2014/main" id="{F7C595C7-0C6A-459F-9461-C24FD2D60C74}"/>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2705100"/>
        </p:xfrm>
        <a:graphic xmlns:a="http://schemas.openxmlformats.org/drawingml/2006/main">
          <a:graphicData uri="http://schemas.openxmlformats.org/drawingml/2006/table">
            <a:tbl>
              <a:tblPr firstRow="1" bandRow="1"/>
              <a:tblGrid>
                <a:gridCol w="2375210"/>
                <a:gridCol w="2111298"/>
                <a:gridCol w="2111298"/>
                <a:gridCol w="2111298"/>
                <a:gridCol w="2111298"/>
              </a:tblGrid>
              <a:tr h="552450">
                <a:tc>
                  <a:txBody>
                    <a:bodyPr>
                      <a:normAutofit/>
                    </a:bodyPr>
                    <a:lstStyle/>
                    <a:p>
                      <a:r>
                        <a:rPr sz="1200" b="1">
                          <a:solidFill>
                            <a:srgbClr val="FFFFFF"/>
                          </a:solidFill>
                          <a:latin typeface="Calibri"/>
                          <a:ea typeface="Calibri"/>
                          <a:cs typeface="Calibri"/>
                        </a:rPr>
                        <a:t>Competitor</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Key Purchasing Criteria</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Slot Portfolio Variety</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Table Game Depth</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Poker and Sportsbook Draw</a:t>
                      </a:r>
                    </a:p>
                  </a:txBody>
                  <a:tcPr marL="91440" marR="91440" marT="45720" marB="45720">
                    <a:solidFill>
                      <a:srgbClr val="0F766E"/>
                    </a:solidFill>
                  </a:tcPr>
                </a:tc>
              </a:tr>
              <a:tr h="1076325">
                <a:tc>
                  <a:txBody>
                    <a:bodyPr>
                      <a:normAutofit/>
                    </a:bodyPr>
                    <a:lstStyle/>
                    <a:p>
                      <a:r>
                        <a:rPr sz="1125">
                          <a:solidFill>
                            <a:srgbClr val="12372A"/>
                          </a:solidFill>
                          <a:latin typeface="Calibri"/>
                          <a:ea typeface="Calibri"/>
                          <a:cs typeface="Calibri"/>
                        </a:rPr>
                        <a:t>Boulder Station Hotel &amp; Casino (Red Rock Resorts)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Outstanding low-limit accessibility and all-day access make it a very strong repeat-play locals option. · 4.5</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Very large locals floor offers abundant machine choice across a familiar mix. [28] · 3.8</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Breadth is strong for a locals property, helped by a broad supporting floor. [28] · 4.2</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Sportsbook scale stands out more than poker, which looks useful but secondary. [28] · 3.4</a:t>
                      </a:r>
                    </a:p>
                  </a:txBody>
                  <a:tcPr marL="91440" marR="91440" marT="45720" marB="45720">
                    <a:solidFill>
                      <a:srgbClr val="FFFFFF"/>
                    </a:solidFill>
                  </a:tcPr>
                </a:tc>
              </a:tr>
              <a:tr h="1076325">
                <a:tc>
                  <a:txBody>
                    <a:bodyPr>
                      <a:normAutofit/>
                    </a:bodyPr>
                    <a:lstStyle/>
                    <a:p>
                      <a:r>
                        <a:rPr sz="1125">
                          <a:solidFill>
                            <a:srgbClr val="12372A"/>
                          </a:solidFill>
                          <a:latin typeface="Calibri"/>
                          <a:ea typeface="Calibri"/>
                          <a:cs typeface="Calibri"/>
                        </a:rPr>
                        <a:t>Red Rock Casino Resort Spa (Red Rock Resorts)</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Large, complete and always available, with strong value despite a more premium feel than other locals casinos. · 4.5</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Top-end breadth, high-limit space, and progressive depth make slot play exceptional. [29] · 5.0</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This floor gives serious table players one of the richest choices here. [30] · 5.0</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Large poker room and huge viewing setup make longer visits easy. [31][32] · 4.0</a:t>
                      </a:r>
                    </a:p>
                  </a:txBody>
                  <a:tcPr marL="91440" marR="91440" marT="45720" marB="45720">
                    <a:solidFill>
                      <a:srgbClr val="F0EEF8"/>
                    </a:solidFill>
                  </a:tcPr>
                </a:tc>
              </a:tr>
            </a:tbl>
          </a:graphicData>
        </a:graphic>
      </p:graphicFrame>
      <p:sp>
        <p:nvSpPr>
          <p:cNvPr id="4" name="">
            <a:extLst xmlns:a="http://schemas.openxmlformats.org/drawingml/2006/main">
              <a:ext uri="{FF2B5EF4-FFF2-40B4-BE49-F238E27FC236}">
                <a16:creationId xmlns:a16="http://schemas.microsoft.com/office/drawing/2014/main" id="{971E1D3B-6324-4C44-8D10-FA4C5F6D7553}"/>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49</a:t>
            </a:r>
          </a:p>
        </p:txBody>
      </p:sp>
    </p:spTree>
    <p:extLst>
      <p:ext uri="{BB962C8B-B14F-4D97-AF65-F5344CB8AC3E}">
        <p14:creationId xmlns:p14="http://schemas.microsoft.com/office/powerpoint/2010/main" val="979039557"/>
      </p:ext>
    </p:extLst>
  </p:cSld>
</p:sld>
</file>

<file path=ppt/slides/slide50.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88F2C3-DFDB-4D02-BF2F-B5710CF90CB7}"/>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overall_kpc_summary_table continued</a:t>
            </a:r>
          </a:p>
        </p:txBody>
      </p:sp>
      <p:sp>
        <p:nvSpPr>
          <p:cNvPr id="2" name="title-rule">
            <a:extLst xmlns:a="http://schemas.openxmlformats.org/drawingml/2006/main">
              <a:ext uri="{FF2B5EF4-FFF2-40B4-BE49-F238E27FC236}">
                <a16:creationId xmlns:a16="http://schemas.microsoft.com/office/drawing/2014/main" id="{FD8651B5-9B1A-4C8C-9FA2-D75A3469AB47}"/>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4476750"/>
        </p:xfrm>
        <a:graphic xmlns:a="http://schemas.openxmlformats.org/drawingml/2006/main">
          <a:graphicData uri="http://schemas.openxmlformats.org/drawingml/2006/table">
            <a:tbl>
              <a:tblPr firstRow="1" bandRow="1"/>
              <a:tblGrid>
                <a:gridCol w="3895344"/>
                <a:gridCol w="3462528"/>
                <a:gridCol w="3462528"/>
              </a:tblGrid>
              <a:tr h="552450">
                <a:tc>
                  <a:txBody>
                    <a:bodyPr>
                      <a:normAutofit/>
                    </a:bodyPr>
                    <a:lstStyle/>
                    <a:p>
                      <a:r>
                        <a:rPr sz="1200" b="1">
                          <a:solidFill>
                            <a:srgbClr val="FFFFFF"/>
                          </a:solidFill>
                          <a:latin typeface="Calibri"/>
                          <a:ea typeface="Calibri"/>
                          <a:cs typeface="Calibri"/>
                        </a:rPr>
                        <a:t>Competitor</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Arrival Convenience</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Funds Access and Play Continuity</a:t>
                      </a:r>
                    </a:p>
                  </a:txBody>
                  <a:tcPr marL="91440" marR="91440" marT="45720" marB="45720">
                    <a:solidFill>
                      <a:srgbClr val="0F766E"/>
                    </a:solidFill>
                  </a:tcPr>
                </a:tc>
              </a:tr>
              <a:tr h="533400">
                <a:tc>
                  <a:txBody>
                    <a:bodyPr>
                      <a:normAutofit/>
                    </a:bodyPr>
                    <a:lstStyle/>
                    <a:p>
                      <a:r>
                        <a:rPr sz="1125">
                          <a:solidFill>
                            <a:srgbClr val="12372A"/>
                          </a:solidFill>
                          <a:latin typeface="Calibri"/>
                          <a:ea typeface="Calibri"/>
                          <a:cs typeface="Calibri"/>
                        </a:rPr>
                        <a:t>American Casino</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Free parking helps, but arrival options are basic and mostly car-dependent. [3] · 1.6</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Standard cage and ATM access support play, without newer wallet tools. [4] · 2.8</a:t>
                      </a:r>
                    </a:p>
                  </a:txBody>
                  <a:tcPr marL="91440" marR="91440" marT="45720" marB="45720">
                    <a:solidFill>
                      <a:srgbClr val="FFFFFF"/>
                    </a:solidFill>
                  </a:tcPr>
                </a:tc>
              </a:tr>
              <a:tr h="714375">
                <a:tc>
                  <a:txBody>
                    <a:bodyPr>
                      <a:normAutofit/>
                    </a:bodyPr>
                    <a:lstStyle/>
                    <a:p>
                      <a:r>
                        <a:rPr sz="1125">
                          <a:solidFill>
                            <a:srgbClr val="12372A"/>
                          </a:solidFill>
                          <a:latin typeface="Calibri"/>
                          <a:ea typeface="Calibri"/>
                          <a:cs typeface="Calibri"/>
                        </a:rPr>
                        <a:t>Rivers Casino Des Plaines (Churchill Downs)</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Easy suburban access keeps this property in regular local rotation. [5] · 4.2</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Large-scale gaming setup suggests fewer breaks between games than smaller peers. [5][7] · 3.6</a:t>
                      </a:r>
                    </a:p>
                  </a:txBody>
                  <a:tcPr marL="91440" marR="91440" marT="45720" marB="45720">
                    <a:solidFill>
                      <a:srgbClr val="F0EEF8"/>
                    </a:solidFill>
                  </a:tcPr>
                </a:tc>
              </a:tr>
              <a:tr h="714375">
                <a:tc>
                  <a:txBody>
                    <a:bodyPr>
                      <a:normAutofit/>
                    </a:bodyPr>
                    <a:lstStyle/>
                    <a:p>
                      <a:r>
                        <a:rPr sz="1125">
                          <a:solidFill>
                            <a:srgbClr val="12372A"/>
                          </a:solidFill>
                          <a:latin typeface="Calibri"/>
                          <a:ea typeface="Calibri"/>
                          <a:cs typeface="Calibri"/>
                        </a:rPr>
                        <a:t>Wind Creek Chicago Southland (Wind Creek Hospitality)</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Straightforward car arrival fits a new suburban regional casino. [11] · 2.2</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Modern floor design supports continuous play, but cashless tools are not prominent. [9][12] · 3.8</a:t>
                      </a:r>
                    </a:p>
                  </a:txBody>
                  <a:tcPr marL="91440" marR="91440" marT="45720" marB="45720">
                    <a:solidFill>
                      <a:srgbClr val="FFFFFF"/>
                    </a:solidFill>
                  </a:tcPr>
                </a:tc>
              </a:tr>
              <a:tr h="714375">
                <a:tc>
                  <a:txBody>
                    <a:bodyPr>
                      <a:normAutofit/>
                    </a:bodyPr>
                    <a:lstStyle/>
                    <a:p>
                      <a:r>
                        <a:rPr sz="1125">
                          <a:solidFill>
                            <a:srgbClr val="12372A"/>
                          </a:solidFill>
                          <a:latin typeface="Calibri"/>
                          <a:ea typeface="Calibri"/>
                          <a:cs typeface="Calibri"/>
                        </a:rPr>
                        <a:t>Hard Rock Casino Northern Indiana (Hard Rock International)</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Highway access and round-the-clock valet make getting in notably easier. [16] · 3.0</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Large-floor support keeps money movement practical, even without standout cashless features. [14][16] · 3.8</a:t>
                      </a:r>
                    </a:p>
                  </a:txBody>
                  <a:tcPr marL="91440" marR="91440" marT="45720" marB="45720">
                    <a:solidFill>
                      <a:srgbClr val="F0EEF8"/>
                    </a:solidFill>
                  </a:tcPr>
                </a:tc>
              </a:tr>
              <a:tr h="714375">
                <a:tc>
                  <a:txBody>
                    <a:bodyPr>
                      <a:normAutofit/>
                    </a:bodyPr>
                    <a:lstStyle/>
                    <a:p>
                      <a:r>
                        <a:rPr sz="1125">
                          <a:solidFill>
                            <a:srgbClr val="12372A"/>
                          </a:solidFill>
                          <a:latin typeface="Calibri"/>
                          <a:ea typeface="Calibri"/>
                          <a:cs typeface="Calibri"/>
                        </a:rPr>
                        <a:t>Don Laughlin's Riverside Resort Hotel &amp; Casino (Laughlin Recreational Enterprises)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Garage access helps, but the location is still mainly a drive-up visit. [17] · 2.4</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Old-school full-service support keeps play moving, even without digital wallet convenience. [17][19] · 3.4</a:t>
                      </a:r>
                    </a:p>
                  </a:txBody>
                  <a:tcPr marL="91440" marR="91440" marT="45720" marB="45720">
                    <a:solidFill>
                      <a:srgbClr val="FFFFFF"/>
                    </a:solidFill>
                  </a:tcPr>
                </a:tc>
              </a:tr>
              <a:tr h="533400">
                <a:tc>
                  <a:txBody>
                    <a:bodyPr>
                      <a:normAutofit/>
                    </a:bodyPr>
                    <a:lstStyle/>
                    <a:p>
                      <a:r>
                        <a:rPr sz="1125">
                          <a:solidFill>
                            <a:srgbClr val="12372A"/>
                          </a:solidFill>
                          <a:latin typeface="Calibri"/>
                          <a:ea typeface="Calibri"/>
                          <a:cs typeface="Calibri"/>
                        </a:rPr>
                        <a:t>Sunset Station (Red Rock Resorts)</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Garage parking and easy road access fit quick repeat local trips. [21] · 3.0</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Phone-to-machine funding reduces breaks in play for regular slot customers. [20] · 4.2</a:t>
                      </a:r>
                    </a:p>
                  </a:txBody>
                  <a:tcPr marL="91440" marR="91440" marT="45720" marB="45720">
                    <a:solidFill>
                      <a:srgbClr val="F0EEF8"/>
                    </a:solidFill>
                  </a:tcPr>
                </a:tc>
              </a:tr>
            </a:tbl>
          </a:graphicData>
        </a:graphic>
      </p:graphicFrame>
      <p:sp>
        <p:nvSpPr>
          <p:cNvPr id="4" name="">
            <a:extLst xmlns:a="http://schemas.openxmlformats.org/drawingml/2006/main">
              <a:ext uri="{FF2B5EF4-FFF2-40B4-BE49-F238E27FC236}">
                <a16:creationId xmlns:a16="http://schemas.microsoft.com/office/drawing/2014/main" id="{48ED5A31-0132-48F7-9239-FF0114491B20}"/>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50</a:t>
            </a:r>
          </a:p>
        </p:txBody>
      </p:sp>
    </p:spTree>
    <p:extLst>
      <p:ext uri="{BB962C8B-B14F-4D97-AF65-F5344CB8AC3E}">
        <p14:creationId xmlns:p14="http://schemas.microsoft.com/office/powerpoint/2010/main" val="963686845"/>
      </p:ext>
    </p:extLst>
  </p:cSld>
</p:sld>
</file>

<file path=ppt/slides/slide51.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5CD4F4-4E08-417A-B1EB-0CAA9A912A05}"/>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overall_kpc_summary_table continued</a:t>
            </a:r>
          </a:p>
        </p:txBody>
      </p:sp>
      <p:sp>
        <p:nvSpPr>
          <p:cNvPr id="2" name="title-rule">
            <a:extLst xmlns:a="http://schemas.openxmlformats.org/drawingml/2006/main">
              <a:ext uri="{FF2B5EF4-FFF2-40B4-BE49-F238E27FC236}">
                <a16:creationId xmlns:a16="http://schemas.microsoft.com/office/drawing/2014/main" id="{830533F4-E28C-4DD7-8EAB-F5E418D39111}"/>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4124325"/>
        </p:xfrm>
        <a:graphic xmlns:a="http://schemas.openxmlformats.org/drawingml/2006/main">
          <a:graphicData uri="http://schemas.openxmlformats.org/drawingml/2006/table">
            <a:tbl>
              <a:tblPr firstRow="1" bandRow="1"/>
              <a:tblGrid>
                <a:gridCol w="3895344"/>
                <a:gridCol w="3462528"/>
                <a:gridCol w="3462528"/>
              </a:tblGrid>
              <a:tr h="552450">
                <a:tc>
                  <a:txBody>
                    <a:bodyPr>
                      <a:normAutofit/>
                    </a:bodyPr>
                    <a:lstStyle/>
                    <a:p>
                      <a:r>
                        <a:rPr sz="1200" b="1">
                          <a:solidFill>
                            <a:srgbClr val="FFFFFF"/>
                          </a:solidFill>
                          <a:latin typeface="Calibri"/>
                          <a:ea typeface="Calibri"/>
                          <a:cs typeface="Calibri"/>
                        </a:rPr>
                        <a:t>Competitor</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Arrival Convenience</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Funds Access and Play Continuity</a:t>
                      </a:r>
                    </a:p>
                  </a:txBody>
                  <a:tcPr marL="91440" marR="91440" marT="45720" marB="45720">
                    <a:solidFill>
                      <a:srgbClr val="0F766E"/>
                    </a:solidFill>
                  </a:tcPr>
                </a:tc>
              </a:tr>
              <a:tr h="714375">
                <a:tc>
                  <a:txBody>
                    <a:bodyPr>
                      <a:normAutofit/>
                    </a:bodyPr>
                    <a:lstStyle/>
                    <a:p>
                      <a:r>
                        <a:rPr sz="1125">
                          <a:solidFill>
                            <a:srgbClr val="12372A"/>
                          </a:solidFill>
                          <a:latin typeface="Calibri"/>
                          <a:ea typeface="Calibri"/>
                          <a:cs typeface="Calibri"/>
                        </a:rPr>
                        <a:t>Edgewater Casino Resort (Golden Entertainment)</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Garage, valet, and airport shuttle make arrival easier than many resort peers. [23] · 4.0</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Traditional support is fine, but newer self-service payment options look limited. [22] · 2.8</a:t>
                      </a:r>
                    </a:p>
                  </a:txBody>
                  <a:tcPr marL="91440" marR="91440" marT="45720" marB="45720">
                    <a:solidFill>
                      <a:srgbClr val="FFFFFF"/>
                    </a:solidFill>
                  </a:tcPr>
                </a:tc>
              </a:tr>
              <a:tr h="714375">
                <a:tc>
                  <a:txBody>
                    <a:bodyPr>
                      <a:normAutofit/>
                    </a:bodyPr>
                    <a:lstStyle/>
                    <a:p>
                      <a:r>
                        <a:rPr sz="1125">
                          <a:solidFill>
                            <a:srgbClr val="12372A"/>
                          </a:solidFill>
                          <a:latin typeface="Calibri"/>
                          <a:ea typeface="Calibri"/>
                          <a:cs typeface="Calibri"/>
                        </a:rPr>
                        <a:t>Hollywood Casino Aurora (PENN Entertainment)</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Interstate access and abundant parking make this one of the easiest arrivals. [26][24] · 3.0</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Modern setup should keep play flowing even without promoted wallet tools. [24] · 3.2</a:t>
                      </a:r>
                    </a:p>
                  </a:txBody>
                  <a:tcPr marL="91440" marR="91440" marT="45720" marB="45720">
                    <a:solidFill>
                      <a:srgbClr val="F0EEF8"/>
                    </a:solidFill>
                  </a:tcPr>
                </a:tc>
              </a:tr>
              <a:tr h="714375">
                <a:tc>
                  <a:txBody>
                    <a:bodyPr>
                      <a:normAutofit/>
                    </a:bodyPr>
                    <a:lstStyle/>
                    <a:p>
                      <a:r>
                        <a:rPr sz="1125">
                          <a:solidFill>
                            <a:srgbClr val="12372A"/>
                          </a:solidFill>
                          <a:latin typeface="Calibri"/>
                          <a:ea typeface="Calibri"/>
                          <a:cs typeface="Calibri"/>
                        </a:rPr>
                        <a:t>Harrah's Laughlin (Caesars Entertainment)</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Resort scale helps car access, though transit convenience is not a strength. [27] · 2.6</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Standard resort cash access supports play, without distinctive continuity features. [27] · 3.0</a:t>
                      </a:r>
                    </a:p>
                  </a:txBody>
                  <a:tcPr marL="91440" marR="91440" marT="45720" marB="45720">
                    <a:solidFill>
                      <a:srgbClr val="FFFFFF"/>
                    </a:solidFill>
                  </a:tcPr>
                </a:tc>
              </a:tr>
              <a:tr h="714375">
                <a:tc>
                  <a:txBody>
                    <a:bodyPr>
                      <a:normAutofit/>
                    </a:bodyPr>
                    <a:lstStyle/>
                    <a:p>
                      <a:r>
                        <a:rPr sz="1125">
                          <a:solidFill>
                            <a:srgbClr val="12372A"/>
                          </a:solidFill>
                          <a:latin typeface="Calibri"/>
                          <a:ea typeface="Calibri"/>
                          <a:cs typeface="Calibri"/>
                        </a:rPr>
                        <a:t>Boulder Station Hotel &amp; Casino (Red Rock Resorts)</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Drive-in convenience is straightforward for locals making quick repeat visits. [28] · 3.4</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Locals-friendly systems keep sessions moving and make repeat play easy. [28] · 4.2</a:t>
                      </a:r>
                    </a:p>
                  </a:txBody>
                  <a:tcPr marL="91440" marR="91440" marT="45720" marB="45720">
                    <a:solidFill>
                      <a:srgbClr val="F0EEF8"/>
                    </a:solidFill>
                  </a:tcPr>
                </a:tc>
              </a:tr>
              <a:tr h="714375">
                <a:tc>
                  <a:txBody>
                    <a:bodyPr>
                      <a:normAutofit/>
                    </a:bodyPr>
                    <a:lstStyle/>
                    <a:p>
                      <a:r>
                        <a:rPr sz="1125">
                          <a:solidFill>
                            <a:srgbClr val="12372A"/>
                          </a:solidFill>
                          <a:latin typeface="Calibri"/>
                          <a:ea typeface="Calibri"/>
                          <a:cs typeface="Calibri"/>
                        </a:rPr>
                        <a:t>Red Rock Casino Resort Spa (Red Rock Resorts)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Easy drive-in access supports a polished, high-comfort gaming visit. [31] · 4.0</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Cashless funding and broad support tools keep play highly uninterrupted. [29][30][31] · 4.8</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3E50F58-A373-4879-B708-DBA077DC6E5A}"/>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51</a:t>
            </a:r>
          </a:p>
        </p:txBody>
      </p:sp>
    </p:spTree>
    <p:extLst>
      <p:ext uri="{BB962C8B-B14F-4D97-AF65-F5344CB8AC3E}">
        <p14:creationId xmlns:p14="http://schemas.microsoft.com/office/powerpoint/2010/main" val="1089346183"/>
      </p:ext>
    </p:extLst>
  </p:cSld>
</p:sld>
</file>

<file path=ppt/slides/slide52.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53661D8-4D55-40EA-854D-9003DC6FF844}"/>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Market Structure And Competitive Set</a:t>
            </a:r>
          </a:p>
        </p:txBody>
      </p:sp>
      <p:sp>
        <p:nvSpPr>
          <p:cNvPr id="2" name="title-rule">
            <a:extLst xmlns:a="http://schemas.openxmlformats.org/drawingml/2006/main">
              <a:ext uri="{FF2B5EF4-FFF2-40B4-BE49-F238E27FC236}">
                <a16:creationId xmlns:a16="http://schemas.microsoft.com/office/drawing/2014/main" id="{84D3C04F-5766-447C-B6D8-106C185B93C8}"/>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5F2BBAD-8BB3-496C-A5FF-C5DA132173D3}"/>
              </a:ext>
            </a:extLst>
          </p:cNvPr>
          <p:cNvSpPr>
            <a:spLocks xmlns:a="http://schemas.openxmlformats.org/drawingml/2006/main" noGrp="1"/>
          </p:cNvSpPr>
          <p:nvPr/>
        </p:nvSpPr>
        <p:spPr>
          <a:xfrm xmlns:a="http://schemas.openxmlformats.org/drawingml/2006/main">
            <a:off x="914400" y="1990725"/>
            <a:ext cx="101346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61"/>
                </a:solidFill>
                <a:latin typeface="Calibri"/>
                <a:ea typeface="Calibri"/>
                <a:cs typeface="Calibri"/>
              </a:defRPr>
            </a:pPr>
            <a:r>
              <a:rPr sz="1575" b="0">
                <a:solidFill>
                  <a:srgbClr val="526B61"/>
                </a:solidFill>
                <a:latin typeface="Calibri"/>
                <a:ea typeface="Calibri"/>
                <a:cs typeface="Calibri"/>
              </a:rPr>
              <a:t>This market is won through game-floor depth, 24/7 access, loyalty value, and easy repeat local visits, and American Casino competes from a smaller, temporary, convenience-led position against larger Chicagoland and regional peers.[18][19][20]</a:t>
            </a:r>
          </a:p>
        </p:txBody>
      </p:sp>
      <p:sp>
        <p:nvSpPr>
          <p:cNvPr id="4" name="">
            <a:extLst xmlns:a="http://schemas.openxmlformats.org/drawingml/2006/main">
              <a:ext uri="{FF2B5EF4-FFF2-40B4-BE49-F238E27FC236}">
                <a16:creationId xmlns:a16="http://schemas.microsoft.com/office/drawing/2014/main" id="{BF5DA988-02CA-4BB0-B612-02EA59136C84}"/>
              </a:ext>
            </a:extLst>
          </p:cNvPr>
          <p:cNvSpPr>
            <a:spLocks xmlns:a="http://schemas.openxmlformats.org/drawingml/2006/main" noGrp="1"/>
          </p:cNvSpPr>
          <p:nvPr/>
        </p:nvSpPr>
        <p:spPr>
          <a:xfrm xmlns:a="http://schemas.openxmlformats.org/drawingml/2006/main">
            <a:off x="914400" y="3028950"/>
            <a:ext cx="101346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61"/>
                </a:solidFill>
                <a:latin typeface="Calibri"/>
                <a:ea typeface="Calibri"/>
                <a:cs typeface="Calibri"/>
              </a:defRPr>
            </a:pPr>
            <a:r>
              <a:rPr sz="1575" b="0">
                <a:solidFill>
                  <a:srgbClr val="526B61"/>
                </a:solidFill>
                <a:latin typeface="Calibri"/>
                <a:ea typeface="Calibri"/>
                <a:cs typeface="Calibri"/>
              </a:rPr>
              <a:t>•  Scaled Chicagoland gaming-floor leaders: American Casino, Rivers Casino Des Plaines (Churchill Downs), Wind Creek Chicago Southland (Wind Creek Hospitality), Hard Rock Casino Northern Indiana (Hard Rock International), and Hollywood Casino Aurora (PENN Entertainment) compete on floor breadth, fresh product, and stronger loyalty ecosystems; they set the benchmark for players who want the deepest choice and the best reinvestment.[13][14]</a:t>
            </a:r>
          </a:p>
        </p:txBody>
      </p:sp>
      <p:sp>
        <p:nvSpPr>
          <p:cNvPr id="5" name="">
            <a:extLst xmlns:a="http://schemas.openxmlformats.org/drawingml/2006/main">
              <a:ext uri="{FF2B5EF4-FFF2-40B4-BE49-F238E27FC236}">
                <a16:creationId xmlns:a16="http://schemas.microsoft.com/office/drawing/2014/main" id="{7C74D133-9301-4281-9545-129EE04FB19C}"/>
              </a:ext>
            </a:extLst>
          </p:cNvPr>
          <p:cNvSpPr>
            <a:spLocks xmlns:a="http://schemas.openxmlformats.org/drawingml/2006/main" noGrp="1"/>
          </p:cNvSpPr>
          <p:nvPr/>
        </p:nvSpPr>
        <p:spPr>
          <a:xfrm xmlns:a="http://schemas.openxmlformats.org/drawingml/2006/main">
            <a:off x="914400" y="4581525"/>
            <a:ext cx="10134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61"/>
                </a:solidFill>
                <a:latin typeface="Calibri"/>
                <a:ea typeface="Calibri"/>
                <a:cs typeface="Calibri"/>
              </a:defRPr>
            </a:pPr>
            <a:r>
              <a:rPr sz="1575" b="0">
                <a:solidFill>
                  <a:srgbClr val="526B61"/>
                </a:solidFill>
                <a:latin typeface="Calibri"/>
                <a:ea typeface="Calibri"/>
                <a:cs typeface="Calibri"/>
              </a:rPr>
              <a:t>•  Locals-first value casinos: Sunset Station (Red Rock Resorts), Boulder Station Hotel &amp; Casino (Red Rock Resorts), and American Casino compete for repeat drive-in play built on convenience, comps, and all-day access; American Casino belongs here, but its smaller floor and more modest rewards make it less complete than the Red Rock locals properties.[13][14][15][16][17]</a:t>
            </a:r>
          </a:p>
        </p:txBody>
      </p:sp>
      <p:sp>
        <p:nvSpPr>
          <p:cNvPr id="6" name="">
            <a:extLst xmlns:a="http://schemas.openxmlformats.org/drawingml/2006/main">
              <a:ext uri="{FF2B5EF4-FFF2-40B4-BE49-F238E27FC236}">
                <a16:creationId xmlns:a16="http://schemas.microsoft.com/office/drawing/2014/main" id="{D25D999D-CB74-4047-A1D9-570F05BE4265}"/>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52</a:t>
            </a:r>
          </a:p>
        </p:txBody>
      </p:sp>
    </p:spTree>
    <p:extLst>
      <p:ext uri="{BB962C8B-B14F-4D97-AF65-F5344CB8AC3E}">
        <p14:creationId xmlns:p14="http://schemas.microsoft.com/office/powerpoint/2010/main" val="252450541"/>
      </p:ext>
    </p:extLst>
  </p:cSld>
</p:sld>
</file>

<file path=ppt/slides/slide53.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B03D41-DAA3-47E9-8C6E-20ECE4B2791A}"/>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Market Structure And Competitive Set continued</a:t>
            </a:r>
          </a:p>
        </p:txBody>
      </p:sp>
      <p:sp>
        <p:nvSpPr>
          <p:cNvPr id="2" name="title-rule">
            <a:extLst xmlns:a="http://schemas.openxmlformats.org/drawingml/2006/main">
              <a:ext uri="{FF2B5EF4-FFF2-40B4-BE49-F238E27FC236}">
                <a16:creationId xmlns:a16="http://schemas.microsoft.com/office/drawing/2014/main" id="{B3407B71-5151-40B7-A713-CA2797224941}"/>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7DB612-D1EA-4730-AE2C-CD80BE55E03D}"/>
              </a:ext>
            </a:extLst>
          </p:cNvPr>
          <p:cNvSpPr>
            <a:spLocks xmlns:a="http://schemas.openxmlformats.org/drawingml/2006/main" noGrp="1"/>
          </p:cNvSpPr>
          <p:nvPr/>
        </p:nvSpPr>
        <p:spPr>
          <a:xfrm xmlns:a="http://schemas.openxmlformats.org/drawingml/2006/main">
            <a:off x="914400" y="2052638"/>
            <a:ext cx="101346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  Destination regional casinos with value orientation: Don Laughlin's Riverside Resort Hotel &amp; Casino (Laughlin Recreational Enterprises), Harrah's Laughlin (Caesars Entertainment), and Edgewater Casino Resort (Golden Entertainment) mix casino play with hotel or resort demand, so they appeal more to trip visitors than pure local traffic.[13][14]</a:t>
            </a:r>
          </a:p>
        </p:txBody>
      </p:sp>
      <p:sp>
        <p:nvSpPr>
          <p:cNvPr id="4" name="">
            <a:extLst xmlns:a="http://schemas.openxmlformats.org/drawingml/2006/main">
              <a:ext uri="{FF2B5EF4-FFF2-40B4-BE49-F238E27FC236}">
                <a16:creationId xmlns:a16="http://schemas.microsoft.com/office/drawing/2014/main" id="{9D883201-8817-40FE-9C62-4BD86ACF346D}"/>
              </a:ext>
            </a:extLst>
          </p:cNvPr>
          <p:cNvSpPr>
            <a:spLocks xmlns:a="http://schemas.openxmlformats.org/drawingml/2006/main" noGrp="1"/>
          </p:cNvSpPr>
          <p:nvPr/>
        </p:nvSpPr>
        <p:spPr>
          <a:xfrm xmlns:a="http://schemas.openxmlformats.org/drawingml/2006/main">
            <a:off x="914400" y="3519488"/>
            <a:ext cx="101346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  Premium-complete regional benchmark: Red Rock Casino Resort Spa (Red Rock Resorts) stands apart as the clearest best-in-set gaming product, with the deepest floor, broadest table mix, and strongest 24/7 continuity; it is the toughest comparator for any player seeking the fullest casino visit.[13][14]</a:t>
            </a:r>
          </a:p>
        </p:txBody>
      </p:sp>
      <p:sp>
        <p:nvSpPr>
          <p:cNvPr id="5" name="">
            <a:extLst xmlns:a="http://schemas.openxmlformats.org/drawingml/2006/main">
              <a:ext uri="{FF2B5EF4-FFF2-40B4-BE49-F238E27FC236}">
                <a16:creationId xmlns:a16="http://schemas.microsoft.com/office/drawing/2014/main" id="{9AF8FE02-64F4-4D4B-BE6F-50BB1FAFA216}"/>
              </a:ext>
            </a:extLst>
          </p:cNvPr>
          <p:cNvSpPr>
            <a:spLocks xmlns:a="http://schemas.openxmlformats.org/drawingml/2006/main" noGrp="1"/>
          </p:cNvSpPr>
          <p:nvPr/>
        </p:nvSpPr>
        <p:spPr>
          <a:xfrm xmlns:a="http://schemas.openxmlformats.org/drawingml/2006/main">
            <a:off x="914400" y="4986338"/>
            <a:ext cx="1013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American Casino is best for local repeat-play, but buyers should expect larger peers to win on breadth, loyalty portability, and destination pull.[13][14][15][16][17]</a:t>
            </a:r>
          </a:p>
        </p:txBody>
      </p:sp>
      <p:sp>
        <p:nvSpPr>
          <p:cNvPr id="6" name="">
            <a:extLst xmlns:a="http://schemas.openxmlformats.org/drawingml/2006/main">
              <a:ext uri="{FF2B5EF4-FFF2-40B4-BE49-F238E27FC236}">
                <a16:creationId xmlns:a16="http://schemas.microsoft.com/office/drawing/2014/main" id="{B3E7460D-1CA5-4B50-8C6F-B57E57825F92}"/>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53</a:t>
            </a:r>
          </a:p>
        </p:txBody>
      </p:sp>
    </p:spTree>
    <p:extLst>
      <p:ext uri="{BB962C8B-B14F-4D97-AF65-F5344CB8AC3E}">
        <p14:creationId xmlns:p14="http://schemas.microsoft.com/office/powerpoint/2010/main" val="367727027"/>
      </p:ext>
    </p:extLst>
  </p:cSld>
</p:sld>
</file>

<file path=ppt/slides/slide54.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A31858-83D3-486D-97B3-94311B03A042}"/>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Future Growth Strategy</a:t>
            </a:r>
          </a:p>
        </p:txBody>
      </p:sp>
      <p:sp>
        <p:nvSpPr>
          <p:cNvPr id="2" name="title-rule">
            <a:extLst xmlns:a="http://schemas.openxmlformats.org/drawingml/2006/main">
              <a:ext uri="{FF2B5EF4-FFF2-40B4-BE49-F238E27FC236}">
                <a16:creationId xmlns:a16="http://schemas.microsoft.com/office/drawing/2014/main" id="{79E45AB0-9AA6-416D-ABE3-F274DA9A1705}"/>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C4A641E-FA98-4C9A-95CE-7FD7F67D7C60}"/>
              </a:ext>
            </a:extLst>
          </p:cNvPr>
          <p:cNvSpPr>
            <a:spLocks xmlns:a="http://schemas.openxmlformats.org/drawingml/2006/main" noGrp="1"/>
          </p:cNvSpPr>
          <p:nvPr/>
        </p:nvSpPr>
        <p:spPr>
          <a:xfrm xmlns:a="http://schemas.openxmlformats.org/drawingml/2006/main">
            <a:off x="914400" y="2052638"/>
            <a:ext cx="101346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2372A"/>
                </a:solidFill>
                <a:latin typeface="Calibri"/>
                <a:ea typeface="Calibri"/>
                <a:cs typeface="Calibri"/>
              </a:defRPr>
            </a:pPr>
            <a:r>
              <a:rPr sz="1950" b="1">
                <a:solidFill>
                  <a:srgbClr val="12372A"/>
                </a:solidFill>
                <a:latin typeface="Calibri"/>
                <a:ea typeface="Calibri"/>
                <a:cs typeface="Calibri"/>
              </a:rPr>
              <a:t>American Place should prioritize organic growth first: tighten rated-play capture, CRM, AP Rewards, hosts, poker, dining, and Lighthouse traffic to close the local gaming-revenue gap, then add floor, poker, and entertainment capacity only when current-site results and funding milestones support it. The buyer must verify the base is real — $11.40 million of Illinois casino revenue in August 2026, about 940 slot machines, 48 table games, a 6-table poker room with a plan to add 5 more hires, and Friday-Saturday shows — and prove CRM conversion, reinvestment efficiency, host productivity, poker demand, ticket yield, comp control, and financing certainty before scaling. That sequence links the growth story: first make the existing asset generate more repeat visits and higher spend, then use targeted acquisitions and partnerships to remove capability gaps and speed up poker and entertainment growth.</a:t>
            </a:r>
          </a:p>
        </p:txBody>
      </p:sp>
      <p:sp>
        <p:nvSpPr>
          <p:cNvPr id="4" name="">
            <a:extLst xmlns:a="http://schemas.openxmlformats.org/drawingml/2006/main">
              <a:ext uri="{FF2B5EF4-FFF2-40B4-BE49-F238E27FC236}">
                <a16:creationId xmlns:a16="http://schemas.microsoft.com/office/drawing/2014/main" id="{2CB6B11F-E655-42FE-8A84-E2B778C24490}"/>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54</a:t>
            </a:r>
          </a:p>
        </p:txBody>
      </p:sp>
    </p:spTree>
    <p:extLst>
      <p:ext uri="{BB962C8B-B14F-4D97-AF65-F5344CB8AC3E}">
        <p14:creationId xmlns:p14="http://schemas.microsoft.com/office/powerpoint/2010/main" val="2103965902"/>
      </p:ext>
    </p:extLst>
  </p:cSld>
</p:sld>
</file>

<file path=ppt/slides/slide55.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7BF5F48-B3F2-4C90-B655-2B24877CBA67}"/>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Headroom Analysis</a:t>
            </a:r>
          </a:p>
        </p:txBody>
      </p:sp>
      <p:sp>
        <p:nvSpPr>
          <p:cNvPr id="2" name="title-rule">
            <a:extLst xmlns:a="http://schemas.openxmlformats.org/drawingml/2006/main">
              <a:ext uri="{FF2B5EF4-FFF2-40B4-BE49-F238E27FC236}">
                <a16:creationId xmlns:a16="http://schemas.microsoft.com/office/drawing/2014/main" id="{9248FE30-E212-4CDB-80B2-3470E7C3E804}"/>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4143375"/>
        </p:xfrm>
        <a:graphic xmlns:a="http://schemas.openxmlformats.org/drawingml/2006/main">
          <a:graphicData uri="http://schemas.openxmlformats.org/drawingml/2006/table">
            <a:tbl>
              <a:tblPr firstRow="1" bandRow="1"/>
              <a:tblGrid>
                <a:gridCol w="3895344"/>
                <a:gridCol w="3462528"/>
                <a:gridCol w="3462528"/>
              </a:tblGrid>
              <a:tr h="552450">
                <a:tc>
                  <a:txBody>
                    <a:bodyPr>
                      <a:normAutofit/>
                    </a:bodyPr>
                    <a:lstStyle/>
                    <a:p>
                      <a:r>
                        <a:rPr sz="1200" b="1">
                          <a:solidFill>
                            <a:srgbClr val="FFFFFF"/>
                          </a:solidFill>
                          <a:latin typeface="Calibri"/>
                          <a:ea typeface="Calibri"/>
                          <a:cs typeface="Calibri"/>
                        </a:rPr>
                        <a:t>Headroom dimension</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Current Position</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Remaining Opportunity</a:t>
                      </a:r>
                    </a:p>
                  </a:txBody>
                  <a:tcPr marL="91440" marR="91440" marT="45720" marB="45720">
                    <a:solidFill>
                      <a:srgbClr val="0F766E"/>
                    </a:solidFill>
                  </a:tcPr>
                </a:tc>
              </a:tr>
              <a:tr h="1438275">
                <a:tc>
                  <a:txBody>
                    <a:bodyPr>
                      <a:normAutofit/>
                    </a:bodyPr>
                    <a:lstStyle/>
                    <a:p>
                      <a:r>
                        <a:rPr sz="1125">
                          <a:solidFill>
                            <a:srgbClr val="12372A"/>
                          </a:solidFill>
                          <a:latin typeface="Calibri"/>
                          <a:ea typeface="Calibri"/>
                          <a:cs typeface="Calibri"/>
                        </a:rPr>
                        <a:t>Chicago-area gaming share catch-up · High · Market-led</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American Place Casino generated $11.40 million of Illinois casino revenue in August 2026, below Bally’s Chicago at $12.80 million, Hollywood Casino Aurora at $16.60 million, Wind Creek Chicago Southland at $19.80 million, and Rivers Casino Des Plaines at $46.30 million [4].</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Closing even part of the peer gap can lift monthly revenue quickly: matching Bally’s adds $1.40 million (+12%), Hollywood adds $5.20 million (+46%), Wind Creek adds $8.40 million (+74%), and Rivers adds $34.90 million (+306%) on the same month [4].</a:t>
                      </a:r>
                    </a:p>
                  </a:txBody>
                  <a:tcPr marL="91440" marR="91440" marT="45720" marB="45720">
                    <a:solidFill>
                      <a:srgbClr val="FFFFFF"/>
                    </a:solidFill>
                  </a:tcPr>
                </a:tc>
              </a:tr>
              <a:tr h="895350">
                <a:tc>
                  <a:txBody>
                    <a:bodyPr>
                      <a:normAutofit/>
                    </a:bodyPr>
                    <a:lstStyle/>
                    <a:p>
                      <a:r>
                        <a:rPr sz="1125">
                          <a:solidFill>
                            <a:srgbClr val="12372A"/>
                          </a:solidFill>
                          <a:latin typeface="Calibri"/>
                          <a:ea typeface="Calibri"/>
                          <a:cs typeface="Calibri"/>
                        </a:rPr>
                        <a:t>Permanent gaming-floor capacity step-up · High · Execution-led</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The temporary property has about 940 slot machines and 48 table games [3].</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If the permanent plan is delivered, capacity could rise by about 376 more slot machines (40%) and 41 more table games (85%) versus today’s base [3][5].</a:t>
                      </a:r>
                    </a:p>
                  </a:txBody>
                  <a:tcPr marL="91440" marR="91440" marT="45720" marB="45720">
                    <a:solidFill>
                      <a:srgbClr val="F0EEF8"/>
                    </a:solidFill>
                  </a:tcPr>
                </a:tc>
              </a:tr>
              <a:tr h="1257300">
                <a:tc>
                  <a:txBody>
                    <a:bodyPr>
                      <a:normAutofit/>
                    </a:bodyPr>
                    <a:lstStyle/>
                    <a:p>
                      <a:r>
                        <a:rPr sz="1125">
                          <a:solidFill>
                            <a:srgbClr val="12372A"/>
                          </a:solidFill>
                          <a:latin typeface="Calibri"/>
                          <a:ea typeface="Calibri"/>
                          <a:cs typeface="Calibri"/>
                        </a:rPr>
                        <a:t>Poker-room depth versus local peers · High · Capability-led</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The Harbor Poker Room opened in August 2025 with 6 tables and 11 poker-specific hires, with plans to add 5 more [9].</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Expanding in stages could close the product gap: +4 tables would reach Wind Creek Chicago Southland’s 10-table room (67% above current), and +16 tables would reach Rivers Casino Des Plaines’ 22-table room (267% above current) [9][10][11].</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6D23487-4072-4B2E-939D-9A14AEBA9026}"/>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55</a:t>
            </a:r>
          </a:p>
        </p:txBody>
      </p:sp>
    </p:spTree>
    <p:extLst>
      <p:ext uri="{BB962C8B-B14F-4D97-AF65-F5344CB8AC3E}">
        <p14:creationId xmlns:p14="http://schemas.microsoft.com/office/powerpoint/2010/main" val="1470186109"/>
      </p:ext>
    </p:extLst>
  </p:cSld>
</p:sld>
</file>

<file path=ppt/slides/slide56.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A82225-529C-47A2-B2C6-74153FD8B817}"/>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Organic Strategy</a:t>
            </a:r>
          </a:p>
        </p:txBody>
      </p:sp>
      <p:sp>
        <p:nvSpPr>
          <p:cNvPr id="2" name="title-rule">
            <a:extLst xmlns:a="http://schemas.openxmlformats.org/drawingml/2006/main">
              <a:ext uri="{FF2B5EF4-FFF2-40B4-BE49-F238E27FC236}">
                <a16:creationId xmlns:a16="http://schemas.microsoft.com/office/drawing/2014/main" id="{538D097E-018D-4B28-8CD9-7CF62A2DAC3F}"/>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D525565-A277-4601-B451-6926773F9E0F}"/>
              </a:ext>
            </a:extLst>
          </p:cNvPr>
          <p:cNvSpPr>
            <a:spLocks xmlns:a="http://schemas.openxmlformats.org/drawingml/2006/main" noGrp="1"/>
          </p:cNvSpPr>
          <p:nvPr/>
        </p:nvSpPr>
        <p:spPr>
          <a:xfrm xmlns:a="http://schemas.openxmlformats.org/drawingml/2006/main">
            <a:off x="914400" y="2114550"/>
            <a:ext cx="101346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61"/>
                </a:solidFill>
                <a:latin typeface="Calibri"/>
                <a:ea typeface="Calibri"/>
                <a:cs typeface="Calibri"/>
              </a:defRPr>
            </a:pPr>
            <a:r>
              <a:rPr sz="1575" b="0">
                <a:solidFill>
                  <a:srgbClr val="526B61"/>
                </a:solidFill>
                <a:latin typeface="Calibri"/>
                <a:ea typeface="Calibri"/>
                <a:cs typeface="Calibri"/>
              </a:rPr>
              <a:t>•  Lift repeat local gaming share in Chicagoland. Tighten card-in, table rating, and reinvestment checks before adding offers; then use AP Rewards, hosts, dining, and entertainment to drive more frequent local visits.[3][4][5][6][10][15][18]</a:t>
            </a:r>
          </a:p>
        </p:txBody>
      </p:sp>
      <p:sp>
        <p:nvSpPr>
          <p:cNvPr id="4" name="">
            <a:extLst xmlns:a="http://schemas.openxmlformats.org/drawingml/2006/main">
              <a:ext uri="{FF2B5EF4-FFF2-40B4-BE49-F238E27FC236}">
                <a16:creationId xmlns:a16="http://schemas.microsoft.com/office/drawing/2014/main" id="{02BB4DDF-B5B2-413E-B5B8-7A0A9720976C}"/>
              </a:ext>
            </a:extLst>
          </p:cNvPr>
          <p:cNvSpPr>
            <a:spLocks xmlns:a="http://schemas.openxmlformats.org/drawingml/2006/main" noGrp="1"/>
          </p:cNvSpPr>
          <p:nvPr/>
        </p:nvSpPr>
        <p:spPr>
          <a:xfrm xmlns:a="http://schemas.openxmlformats.org/drawingml/2006/main">
            <a:off x="914400" y="3152775"/>
            <a:ext cx="10134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61"/>
                </a:solidFill>
                <a:latin typeface="Calibri"/>
                <a:ea typeface="Calibri"/>
                <a:cs typeface="Calibri"/>
              </a:defRPr>
            </a:pPr>
            <a:r>
              <a:rPr sz="1575" b="0">
                <a:solidFill>
                  <a:srgbClr val="526B61"/>
                </a:solidFill>
                <a:latin typeface="Calibri"/>
                <a:ea typeface="Calibri"/>
                <a:cs typeface="Calibri"/>
              </a:rPr>
              <a:t>•  Stage the permanent floor capacity launch. Treat the new casino as a commercial rollout, and wait to lock floor mix until operating data and financing milestones are clear.[6][7][8][9]</a:t>
            </a:r>
          </a:p>
        </p:txBody>
      </p:sp>
      <p:sp>
        <p:nvSpPr>
          <p:cNvPr id="5" name="">
            <a:extLst xmlns:a="http://schemas.openxmlformats.org/drawingml/2006/main">
              <a:ext uri="{FF2B5EF4-FFF2-40B4-BE49-F238E27FC236}">
                <a16:creationId xmlns:a16="http://schemas.microsoft.com/office/drawing/2014/main" id="{2E37025B-0F6A-4C1C-9555-70A28F37D239}"/>
              </a:ext>
            </a:extLst>
          </p:cNvPr>
          <p:cNvSpPr>
            <a:spLocks xmlns:a="http://schemas.openxmlformats.org/drawingml/2006/main" noGrp="1"/>
          </p:cNvSpPr>
          <p:nvPr/>
        </p:nvSpPr>
        <p:spPr>
          <a:xfrm xmlns:a="http://schemas.openxmlformats.org/drawingml/2006/main">
            <a:off x="914400" y="3933825"/>
            <a:ext cx="10134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61"/>
                </a:solidFill>
                <a:latin typeface="Calibri"/>
                <a:ea typeface="Calibri"/>
                <a:cs typeface="Calibri"/>
              </a:defRPr>
            </a:pPr>
            <a:r>
              <a:rPr sz="1575" b="0">
                <a:solidFill>
                  <a:srgbClr val="526B61"/>
                </a:solidFill>
                <a:latin typeface="Calibri"/>
                <a:ea typeface="Calibri"/>
                <a:cs typeface="Calibri"/>
              </a:rPr>
              <a:t>•  Deepen Harbor Poker Room to peer scale. Add tables only after waitlist, daypart fill, and game mix show the extra seats will earn their keep.[10]</a:t>
            </a:r>
          </a:p>
        </p:txBody>
      </p:sp>
      <p:sp>
        <p:nvSpPr>
          <p:cNvPr id="6" name="">
            <a:extLst xmlns:a="http://schemas.openxmlformats.org/drawingml/2006/main">
              <a:ext uri="{FF2B5EF4-FFF2-40B4-BE49-F238E27FC236}">
                <a16:creationId xmlns:a16="http://schemas.microsoft.com/office/drawing/2014/main" id="{4AF98514-7014-47ED-ADC7-CAD1F68F5632}"/>
              </a:ext>
            </a:extLst>
          </p:cNvPr>
          <p:cNvSpPr>
            <a:spLocks xmlns:a="http://schemas.openxmlformats.org/drawingml/2006/main" noGrp="1"/>
          </p:cNvSpPr>
          <p:nvPr/>
        </p:nvSpPr>
        <p:spPr>
          <a:xfrm xmlns:a="http://schemas.openxmlformats.org/drawingml/2006/main">
            <a:off x="914400" y="4714875"/>
            <a:ext cx="101346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61"/>
                </a:solidFill>
                <a:latin typeface="Calibri"/>
                <a:ea typeface="Calibri"/>
                <a:cs typeface="Calibri"/>
              </a:defRPr>
            </a:pPr>
            <a:r>
              <a:rPr sz="1575" b="0">
                <a:solidFill>
                  <a:srgbClr val="526B61"/>
                </a:solidFill>
                <a:latin typeface="Calibri"/>
                <a:ea typeface="Calibri"/>
                <a:cs typeface="Calibri"/>
              </a:rPr>
              <a:t>•  Turn the temporary site into event-led visitation. Build a stepped events calendar and sell each event as a full-night visit with dining, gaming, and private-event booking tied to the larger venue plan.[13][14][15][16][17][18]</a:t>
            </a:r>
          </a:p>
        </p:txBody>
      </p:sp>
      <p:sp>
        <p:nvSpPr>
          <p:cNvPr id="7" name="">
            <a:extLst xmlns:a="http://schemas.openxmlformats.org/drawingml/2006/main">
              <a:ext uri="{FF2B5EF4-FFF2-40B4-BE49-F238E27FC236}">
                <a16:creationId xmlns:a16="http://schemas.microsoft.com/office/drawing/2014/main" id="{AECCC381-BDA5-472A-B8E1-1C1F17B545CF}"/>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56</a:t>
            </a:r>
          </a:p>
        </p:txBody>
      </p:sp>
    </p:spTree>
    <p:extLst>
      <p:ext uri="{BB962C8B-B14F-4D97-AF65-F5344CB8AC3E}">
        <p14:creationId xmlns:p14="http://schemas.microsoft.com/office/powerpoint/2010/main" val="1277688781"/>
      </p:ext>
    </p:extLst>
  </p:cSld>
</p:sld>
</file>

<file path=ppt/slides/slide57.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6818F4-16B6-42D5-A3CF-B173DCDF1081}"/>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Organic Strategy continued</a:t>
            </a:r>
          </a:p>
        </p:txBody>
      </p:sp>
      <p:sp>
        <p:nvSpPr>
          <p:cNvPr id="2" name="title-rule">
            <a:extLst xmlns:a="http://schemas.openxmlformats.org/drawingml/2006/main">
              <a:ext uri="{FF2B5EF4-FFF2-40B4-BE49-F238E27FC236}">
                <a16:creationId xmlns:a16="http://schemas.microsoft.com/office/drawing/2014/main" id="{8597DC6D-F1D0-40A8-801B-69276C039A23}"/>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FD7E9E3-EA9E-40C1-8EAF-B86EAA50B108}"/>
              </a:ext>
            </a:extLst>
          </p:cNvPr>
          <p:cNvSpPr>
            <a:spLocks xmlns:a="http://schemas.openxmlformats.org/drawingml/2006/main" noGrp="1"/>
          </p:cNvSpPr>
          <p:nvPr/>
        </p:nvSpPr>
        <p:spPr>
          <a:xfrm xmlns:a="http://schemas.openxmlformats.org/drawingml/2006/main">
            <a:off x="914400" y="1985963"/>
            <a:ext cx="101346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61"/>
                </a:solidFill>
                <a:latin typeface="Calibri"/>
                <a:ea typeface="Calibri"/>
                <a:cs typeface="Calibri"/>
              </a:defRPr>
            </a:pPr>
            <a:r>
              <a:rPr sz="1575" b="0">
                <a:solidFill>
                  <a:srgbClr val="526B61"/>
                </a:solidFill>
                <a:latin typeface="Calibri"/>
                <a:ea typeface="Calibri"/>
                <a:cs typeface="Calibri"/>
              </a:rPr>
              <a:t>•  Faster near-term cash flow. The biggest quick gain is from better use of the current asset base; August 2026 revenue was $11.40 million, below nearby peers, so even a partial share catch-up can add meaningful monthly revenue.[1][20]</a:t>
            </a:r>
          </a:p>
        </p:txBody>
      </p:sp>
      <p:sp>
        <p:nvSpPr>
          <p:cNvPr id="4" name="">
            <a:extLst xmlns:a="http://schemas.openxmlformats.org/drawingml/2006/main">
              <a:ext uri="{FF2B5EF4-FFF2-40B4-BE49-F238E27FC236}">
                <a16:creationId xmlns:a16="http://schemas.microsoft.com/office/drawing/2014/main" id="{2B829896-308F-471F-B288-9427D4DDBC60}"/>
              </a:ext>
            </a:extLst>
          </p:cNvPr>
          <p:cNvSpPr>
            <a:spLocks xmlns:a="http://schemas.openxmlformats.org/drawingml/2006/main" noGrp="1"/>
          </p:cNvSpPr>
          <p:nvPr/>
        </p:nvSpPr>
        <p:spPr>
          <a:xfrm xmlns:a="http://schemas.openxmlformats.org/drawingml/2006/main">
            <a:off x="914400" y="3024188"/>
            <a:ext cx="101346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61"/>
                </a:solidFill>
                <a:latin typeface="Calibri"/>
                <a:ea typeface="Calibri"/>
                <a:cs typeface="Calibri"/>
              </a:defRPr>
            </a:pPr>
            <a:r>
              <a:rPr sz="1575" b="0">
                <a:solidFill>
                  <a:srgbClr val="526B61"/>
                </a:solidFill>
                <a:latin typeface="Calibri"/>
                <a:ea typeface="Calibri"/>
                <a:cs typeface="Calibri"/>
              </a:rPr>
              <a:t>•  More revenue from the same site. The permanent build should add about 376 slot machines and 41 tables versus the current temporary base, but the buyer should not assume full upside until funding and delivery are proven.[19][21][68]</a:t>
            </a:r>
          </a:p>
        </p:txBody>
      </p:sp>
      <p:sp>
        <p:nvSpPr>
          <p:cNvPr id="5" name="">
            <a:extLst xmlns:a="http://schemas.openxmlformats.org/drawingml/2006/main">
              <a:ext uri="{FF2B5EF4-FFF2-40B4-BE49-F238E27FC236}">
                <a16:creationId xmlns:a16="http://schemas.microsoft.com/office/drawing/2014/main" id="{C503F8B1-FAEF-4E87-B580-C23606DE959A}"/>
              </a:ext>
            </a:extLst>
          </p:cNvPr>
          <p:cNvSpPr>
            <a:spLocks xmlns:a="http://schemas.openxmlformats.org/drawingml/2006/main" noGrp="1"/>
          </p:cNvSpPr>
          <p:nvPr/>
        </p:nvSpPr>
        <p:spPr>
          <a:xfrm xmlns:a="http://schemas.openxmlformats.org/drawingml/2006/main">
            <a:off x="914400" y="4062413"/>
            <a:ext cx="10134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61"/>
                </a:solidFill>
                <a:latin typeface="Calibri"/>
                <a:ea typeface="Calibri"/>
                <a:cs typeface="Calibri"/>
              </a:defRPr>
            </a:pPr>
            <a:r>
              <a:rPr sz="1575" b="0">
                <a:solidFill>
                  <a:srgbClr val="526B61"/>
                </a:solidFill>
                <a:latin typeface="Calibri"/>
                <a:ea typeface="Calibri"/>
                <a:cs typeface="Calibri"/>
              </a:rPr>
              <a:t>•  Higher poker yield. Moving from 6 tables toward peer scale can lift evening traffic, but only if the room proves it can fill seats and keep players coming back.[23][24][25][59][69]</a:t>
            </a:r>
          </a:p>
        </p:txBody>
      </p:sp>
      <p:sp>
        <p:nvSpPr>
          <p:cNvPr id="6" name="">
            <a:extLst xmlns:a="http://schemas.openxmlformats.org/drawingml/2006/main">
              <a:ext uri="{FF2B5EF4-FFF2-40B4-BE49-F238E27FC236}">
                <a16:creationId xmlns:a16="http://schemas.microsoft.com/office/drawing/2014/main" id="{7F9DD4B2-A50B-4C7C-B044-865B36DF1B6F}"/>
              </a:ext>
            </a:extLst>
          </p:cNvPr>
          <p:cNvSpPr>
            <a:spLocks xmlns:a="http://schemas.openxmlformats.org/drawingml/2006/main" noGrp="1"/>
          </p:cNvSpPr>
          <p:nvPr/>
        </p:nvSpPr>
        <p:spPr>
          <a:xfrm xmlns:a="http://schemas.openxmlformats.org/drawingml/2006/main">
            <a:off x="914400" y="4843463"/>
            <a:ext cx="101346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61"/>
                </a:solidFill>
                <a:latin typeface="Calibri"/>
                <a:ea typeface="Calibri"/>
                <a:cs typeface="Calibri"/>
              </a:defRPr>
            </a:pPr>
            <a:r>
              <a:rPr sz="1575" b="0">
                <a:solidFill>
                  <a:srgbClr val="526B61"/>
                </a:solidFill>
                <a:latin typeface="Calibri"/>
                <a:ea typeface="Calibri"/>
                <a:cs typeface="Calibri"/>
              </a:rPr>
              <a:t>•  New evening spend. A larger entertainment program can create extra ticket, food, gaming, and event revenue, but only if attendance and attach rates are strong enough to justify the conversion.[13][14][15][22][55][72]</a:t>
            </a:r>
          </a:p>
        </p:txBody>
      </p:sp>
      <p:sp>
        <p:nvSpPr>
          <p:cNvPr id="7" name="">
            <a:extLst xmlns:a="http://schemas.openxmlformats.org/drawingml/2006/main">
              <a:ext uri="{FF2B5EF4-FFF2-40B4-BE49-F238E27FC236}">
                <a16:creationId xmlns:a16="http://schemas.microsoft.com/office/drawing/2014/main" id="{09643F2B-AEA5-4761-AA90-E46AB638258B}"/>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57</a:t>
            </a:r>
          </a:p>
        </p:txBody>
      </p:sp>
    </p:spTree>
    <p:extLst>
      <p:ext uri="{BB962C8B-B14F-4D97-AF65-F5344CB8AC3E}">
        <p14:creationId xmlns:p14="http://schemas.microsoft.com/office/powerpoint/2010/main" val="1155045566"/>
      </p:ext>
    </p:extLst>
  </p:cSld>
</p:sld>
</file>

<file path=ppt/slides/slide58.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47BC21A-3CC9-4945-B869-6B47F0CCB6E0}"/>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Investment Implications</a:t>
            </a:r>
          </a:p>
        </p:txBody>
      </p:sp>
      <p:sp>
        <p:nvSpPr>
          <p:cNvPr id="2" name="title-rule">
            <a:extLst xmlns:a="http://schemas.openxmlformats.org/drawingml/2006/main">
              <a:ext uri="{FF2B5EF4-FFF2-40B4-BE49-F238E27FC236}">
                <a16:creationId xmlns:a16="http://schemas.microsoft.com/office/drawing/2014/main" id="{FE8F298F-C5AE-4D04-8F5E-9FCBE64459F8}"/>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6DEF8D9-61F8-43C1-B39C-2A7EC4202D64}"/>
              </a:ext>
            </a:extLst>
          </p:cNvPr>
          <p:cNvSpPr>
            <a:spLocks xmlns:a="http://schemas.openxmlformats.org/drawingml/2006/main" noGrp="1"/>
          </p:cNvSpPr>
          <p:nvPr/>
        </p:nvSpPr>
        <p:spPr>
          <a:xfrm xmlns:a="http://schemas.openxmlformats.org/drawingml/2006/main">
            <a:off x="914400" y="3481388"/>
            <a:ext cx="10134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2372A"/>
                </a:solidFill>
                <a:latin typeface="Calibri"/>
                <a:ea typeface="Calibri"/>
                <a:cs typeface="Calibri"/>
              </a:defRPr>
            </a:pPr>
            <a:r>
              <a:rPr sz="1950" b="1">
                <a:solidFill>
                  <a:srgbClr val="12372A"/>
                </a:solidFill>
                <a:latin typeface="Calibri"/>
                <a:ea typeface="Calibri"/>
                <a:cs typeface="Calibri"/>
              </a:rPr>
              <a:t>Permanent-site build and funding must close on time or the whole growth case weakens.</a:t>
            </a:r>
          </a:p>
        </p:txBody>
      </p:sp>
      <p:sp>
        <p:nvSpPr>
          <p:cNvPr id="4" name="">
            <a:extLst xmlns:a="http://schemas.openxmlformats.org/drawingml/2006/main">
              <a:ext uri="{FF2B5EF4-FFF2-40B4-BE49-F238E27FC236}">
                <a16:creationId xmlns:a16="http://schemas.microsoft.com/office/drawing/2014/main" id="{0C967570-BA42-4A7B-AB14-41C2E686CE2D}"/>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58</a:t>
            </a:r>
          </a:p>
        </p:txBody>
      </p:sp>
    </p:spTree>
    <p:extLst>
      <p:ext uri="{BB962C8B-B14F-4D97-AF65-F5344CB8AC3E}">
        <p14:creationId xmlns:p14="http://schemas.microsoft.com/office/powerpoint/2010/main" val="1495976866"/>
      </p:ext>
    </p:extLst>
  </p:cSld>
</p:sld>
</file>

<file path=ppt/slides/slide59.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DD1BF9-21CF-4B26-A6EF-28DD56054E94}"/>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Investment Strengths</a:t>
            </a:r>
          </a:p>
        </p:txBody>
      </p:sp>
      <p:sp>
        <p:nvSpPr>
          <p:cNvPr id="2" name="title-rule">
            <a:extLst xmlns:a="http://schemas.openxmlformats.org/drawingml/2006/main">
              <a:ext uri="{FF2B5EF4-FFF2-40B4-BE49-F238E27FC236}">
                <a16:creationId xmlns:a16="http://schemas.microsoft.com/office/drawing/2014/main" id="{2263AF18-2441-4F9D-9569-F6AFAB6925EC}"/>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9062FA1-9A1F-4C36-96D8-5B783FED33E1}"/>
              </a:ext>
            </a:extLst>
          </p:cNvPr>
          <p:cNvSpPr>
            <a:spLocks xmlns:a="http://schemas.openxmlformats.org/drawingml/2006/main" noGrp="1"/>
          </p:cNvSpPr>
          <p:nvPr/>
        </p:nvSpPr>
        <p:spPr>
          <a:xfrm xmlns:a="http://schemas.openxmlformats.org/drawingml/2006/main">
            <a:off x="914400" y="1847850"/>
            <a:ext cx="1013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  Adjusted EBITDA margin increased from 12.7% in 2002A to 17.3% in 2003A, 24.2% in 2004A, and 27.3% in 2005A [119].</a:t>
            </a:r>
          </a:p>
        </p:txBody>
      </p:sp>
      <p:sp>
        <p:nvSpPr>
          <p:cNvPr id="4" name="">
            <a:extLst xmlns:a="http://schemas.openxmlformats.org/drawingml/2006/main">
              <a:ext uri="{FF2B5EF4-FFF2-40B4-BE49-F238E27FC236}">
                <a16:creationId xmlns:a16="http://schemas.microsoft.com/office/drawing/2014/main" id="{7C08F1E9-2CFD-44C3-836E-9F41C68DF7D6}"/>
              </a:ext>
            </a:extLst>
          </p:cNvPr>
          <p:cNvSpPr>
            <a:spLocks xmlns:a="http://schemas.openxmlformats.org/drawingml/2006/main" noGrp="1"/>
          </p:cNvSpPr>
          <p:nvPr/>
        </p:nvSpPr>
        <p:spPr>
          <a:xfrm xmlns:a="http://schemas.openxmlformats.org/drawingml/2006/main">
            <a:off x="914400" y="2752725"/>
            <a:ext cx="10134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  Gross margin reached 55.0% in 2004A and then declined to 52.0% in 2005A [119].</a:t>
            </a:r>
          </a:p>
        </p:txBody>
      </p:sp>
      <p:sp>
        <p:nvSpPr>
          <p:cNvPr id="5" name="">
            <a:extLst xmlns:a="http://schemas.openxmlformats.org/drawingml/2006/main">
              <a:ext uri="{FF2B5EF4-FFF2-40B4-BE49-F238E27FC236}">
                <a16:creationId xmlns:a16="http://schemas.microsoft.com/office/drawing/2014/main" id="{30230FA9-32F0-43B7-923D-1EA4F102D6EB}"/>
              </a:ext>
            </a:extLst>
          </p:cNvPr>
          <p:cNvSpPr>
            <a:spLocks xmlns:a="http://schemas.openxmlformats.org/drawingml/2006/main" noGrp="1"/>
          </p:cNvSpPr>
          <p:nvPr/>
        </p:nvSpPr>
        <p:spPr>
          <a:xfrm xmlns:a="http://schemas.openxmlformats.org/drawingml/2006/main">
            <a:off x="914400" y="3381375"/>
            <a:ext cx="1013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  Selling, general and administrative expense changed by -6.3% against net revenue growth of 5.1% in 2003A [119].</a:t>
            </a:r>
          </a:p>
        </p:txBody>
      </p:sp>
      <p:sp>
        <p:nvSpPr>
          <p:cNvPr id="6" name="">
            <a:extLst xmlns:a="http://schemas.openxmlformats.org/drawingml/2006/main">
              <a:ext uri="{FF2B5EF4-FFF2-40B4-BE49-F238E27FC236}">
                <a16:creationId xmlns:a16="http://schemas.microsoft.com/office/drawing/2014/main" id="{9A6B4925-12E0-4AF4-9A5A-C1A912412E3B}"/>
              </a:ext>
            </a:extLst>
          </p:cNvPr>
          <p:cNvSpPr>
            <a:spLocks xmlns:a="http://schemas.openxmlformats.org/drawingml/2006/main" noGrp="1"/>
          </p:cNvSpPr>
          <p:nvPr/>
        </p:nvSpPr>
        <p:spPr>
          <a:xfrm xmlns:a="http://schemas.openxmlformats.org/drawingml/2006/main">
            <a:off x="914400" y="4286250"/>
            <a:ext cx="1013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  Selling, general and administrative expense rose 4.9% against 14.2% revenue growth in 2004A [119].</a:t>
            </a:r>
          </a:p>
        </p:txBody>
      </p:sp>
      <p:sp>
        <p:nvSpPr>
          <p:cNvPr id="7" name="">
            <a:extLst xmlns:a="http://schemas.openxmlformats.org/drawingml/2006/main">
              <a:ext uri="{FF2B5EF4-FFF2-40B4-BE49-F238E27FC236}">
                <a16:creationId xmlns:a16="http://schemas.microsoft.com/office/drawing/2014/main" id="{59823A71-146F-451D-AD59-2C2F40F60245}"/>
              </a:ext>
            </a:extLst>
          </p:cNvPr>
          <p:cNvSpPr>
            <a:spLocks xmlns:a="http://schemas.openxmlformats.org/drawingml/2006/main" noGrp="1"/>
          </p:cNvSpPr>
          <p:nvPr/>
        </p:nvSpPr>
        <p:spPr>
          <a:xfrm xmlns:a="http://schemas.openxmlformats.org/drawingml/2006/main">
            <a:off x="914400" y="5191125"/>
            <a:ext cx="1013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61"/>
                </a:solidFill>
                <a:latin typeface="Calibri"/>
                <a:ea typeface="Calibri"/>
                <a:cs typeface="Calibri"/>
              </a:defRPr>
            </a:pPr>
            <a:r>
              <a:rPr sz="1725" b="0">
                <a:solidFill>
                  <a:srgbClr val="526B61"/>
                </a:solidFill>
                <a:latin typeface="Calibri"/>
                <a:ea typeface="Calibri"/>
                <a:cs typeface="Calibri"/>
              </a:rPr>
              <a:t>•  Selling, general and administrative expense increased 3.3% against 9.3% revenue growth in 2005A [119].</a:t>
            </a:r>
          </a:p>
        </p:txBody>
      </p:sp>
      <p:sp>
        <p:nvSpPr>
          <p:cNvPr id="8" name="">
            <a:extLst xmlns:a="http://schemas.openxmlformats.org/drawingml/2006/main">
              <a:ext uri="{FF2B5EF4-FFF2-40B4-BE49-F238E27FC236}">
                <a16:creationId xmlns:a16="http://schemas.microsoft.com/office/drawing/2014/main" id="{63F940C2-C6E2-4561-9E12-91E63AB0D3F5}"/>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59</a:t>
            </a:r>
          </a:p>
        </p:txBody>
      </p:sp>
    </p:spTree>
    <p:extLst>
      <p:ext uri="{BB962C8B-B14F-4D97-AF65-F5344CB8AC3E}">
        <p14:creationId xmlns:p14="http://schemas.microsoft.com/office/powerpoint/2010/main" val="554383481"/>
      </p:ext>
    </p:extLst>
  </p:cSld>
</p:sld>
</file>

<file path=ppt/slides/slide60.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73208FB-D906-4315-96EA-C1784B0D218E}"/>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Risks &amp; External Considerations</a:t>
            </a:r>
          </a:p>
        </p:txBody>
      </p:sp>
      <p:sp>
        <p:nvSpPr>
          <p:cNvPr id="2" name="title-rule">
            <a:extLst xmlns:a="http://schemas.openxmlformats.org/drawingml/2006/main">
              <a:ext uri="{FF2B5EF4-FFF2-40B4-BE49-F238E27FC236}">
                <a16:creationId xmlns:a16="http://schemas.microsoft.com/office/drawing/2014/main" id="{2BB974E0-3515-4F75-91A8-D49B63E072B9}"/>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8BCE9F4-CB34-4CCD-BC45-02356AC56281}"/>
              </a:ext>
            </a:extLst>
          </p:cNvPr>
          <p:cNvSpPr>
            <a:spLocks xmlns:a="http://schemas.openxmlformats.org/drawingml/2006/main" noGrp="1"/>
          </p:cNvSpPr>
          <p:nvPr/>
        </p:nvSpPr>
        <p:spPr>
          <a:xfrm xmlns:a="http://schemas.openxmlformats.org/drawingml/2006/main">
            <a:off x="914400" y="1600200"/>
            <a:ext cx="1013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Highest-priority diligence item permanent-site execution and financing</a:t>
            </a:r>
          </a:p>
        </p:txBody>
      </p:sp>
      <p:sp>
        <p:nvSpPr>
          <p:cNvPr id="4" name="">
            <a:extLst xmlns:a="http://schemas.openxmlformats.org/drawingml/2006/main">
              <a:ext uri="{FF2B5EF4-FFF2-40B4-BE49-F238E27FC236}">
                <a16:creationId xmlns:a16="http://schemas.microsoft.com/office/drawing/2014/main" id="{6C315C95-A49D-4FD3-AAF9-785BF6F7D8F2}"/>
              </a:ext>
            </a:extLst>
          </p:cNvPr>
          <p:cNvSpPr>
            <a:spLocks xmlns:a="http://schemas.openxmlformats.org/drawingml/2006/main" noGrp="1"/>
          </p:cNvSpPr>
          <p:nvPr/>
        </p:nvSpPr>
        <p:spPr>
          <a:xfrm xmlns:a="http://schemas.openxmlformats.org/drawingml/2006/main">
            <a:off x="914400" y="2066925"/>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  The company is still running from a temporary property while the permanent build carries a $302.00M budget and an opening window that runs to February 2029.</a:t>
            </a:r>
          </a:p>
        </p:txBody>
      </p:sp>
      <p:sp>
        <p:nvSpPr>
          <p:cNvPr id="5" name="">
            <a:extLst xmlns:a="http://schemas.openxmlformats.org/drawingml/2006/main">
              <a:ext uri="{FF2B5EF4-FFF2-40B4-BE49-F238E27FC236}">
                <a16:creationId xmlns:a16="http://schemas.microsoft.com/office/drawing/2014/main" id="{4D71ABE7-4650-446B-BBC3-E6E2108012E1}"/>
              </a:ext>
            </a:extLst>
          </p:cNvPr>
          <p:cNvSpPr>
            <a:spLocks xmlns:a="http://schemas.openxmlformats.org/drawingml/2006/main" noGrp="1"/>
          </p:cNvSpPr>
          <p:nvPr/>
        </p:nvSpPr>
        <p:spPr>
          <a:xfrm xmlns:a="http://schemas.openxmlformats.org/drawingml/2006/main">
            <a:off x="914400" y="2762250"/>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  Any delay would push out the revenue ramp, keep the asset behind newer rivals, and force the buyer to underwrite a longer period of weaker cash flow.</a:t>
            </a:r>
          </a:p>
        </p:txBody>
      </p:sp>
      <p:sp>
        <p:nvSpPr>
          <p:cNvPr id="6" name="">
            <a:extLst xmlns:a="http://schemas.openxmlformats.org/drawingml/2006/main">
              <a:ext uri="{FF2B5EF4-FFF2-40B4-BE49-F238E27FC236}">
                <a16:creationId xmlns:a16="http://schemas.microsoft.com/office/drawing/2014/main" id="{0CB35C31-28DA-41DF-A3EE-8603211DE2F5}"/>
              </a:ext>
            </a:extLst>
          </p:cNvPr>
          <p:cNvSpPr>
            <a:spLocks xmlns:a="http://schemas.openxmlformats.org/drawingml/2006/main" noGrp="1"/>
          </p:cNvSpPr>
          <p:nvPr/>
        </p:nvSpPr>
        <p:spPr>
          <a:xfrm xmlns:a="http://schemas.openxmlformats.org/drawingml/2006/main">
            <a:off x="914400" y="3457575"/>
            <a:ext cx="1013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3 linked risk insights - High to Moderate</a:t>
            </a:r>
          </a:p>
        </p:txBody>
      </p:sp>
      <p:sp>
        <p:nvSpPr>
          <p:cNvPr id="7" name="">
            <a:extLst xmlns:a="http://schemas.openxmlformats.org/drawingml/2006/main">
              <a:ext uri="{FF2B5EF4-FFF2-40B4-BE49-F238E27FC236}">
                <a16:creationId xmlns:a16="http://schemas.microsoft.com/office/drawing/2014/main" id="{EE860A0A-BFAA-421C-BC7C-6B99EBF898F9}"/>
              </a:ext>
            </a:extLst>
          </p:cNvPr>
          <p:cNvSpPr>
            <a:spLocks xmlns:a="http://schemas.openxmlformats.org/drawingml/2006/main" noGrp="1"/>
          </p:cNvSpPr>
          <p:nvPr/>
        </p:nvSpPr>
        <p:spPr>
          <a:xfrm xmlns:a="http://schemas.openxmlformats.org/drawingml/2006/main">
            <a:off x="914400" y="3924300"/>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  Market position: The temporary format and smaller floor leave the asset exposed to share loss, so growth depends on proving the new site can close the gap versus better and newer competitors.</a:t>
            </a:r>
          </a:p>
        </p:txBody>
      </p:sp>
      <p:sp>
        <p:nvSpPr>
          <p:cNvPr id="8" name="">
            <a:extLst xmlns:a="http://schemas.openxmlformats.org/drawingml/2006/main">
              <a:ext uri="{FF2B5EF4-FFF2-40B4-BE49-F238E27FC236}">
                <a16:creationId xmlns:a16="http://schemas.microsoft.com/office/drawing/2014/main" id="{F0023487-09D2-40E5-B0EA-1E38A2507CAF}"/>
              </a:ext>
            </a:extLst>
          </p:cNvPr>
          <p:cNvSpPr>
            <a:spLocks xmlns:a="http://schemas.openxmlformats.org/drawingml/2006/main" noGrp="1"/>
          </p:cNvSpPr>
          <p:nvPr/>
        </p:nvSpPr>
        <p:spPr>
          <a:xfrm xmlns:a="http://schemas.openxmlformats.org/drawingml/2006/main">
            <a:off x="914400" y="4619625"/>
            <a:ext cx="1013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Watch: share loss, weaker repeat visits, or no improvement in revenue per visit after promotional spend.</a:t>
            </a:r>
          </a:p>
        </p:txBody>
      </p:sp>
      <p:sp>
        <p:nvSpPr>
          <p:cNvPr id="9" name="">
            <a:extLst xmlns:a="http://schemas.openxmlformats.org/drawingml/2006/main">
              <a:ext uri="{FF2B5EF4-FFF2-40B4-BE49-F238E27FC236}">
                <a16:creationId xmlns:a16="http://schemas.microsoft.com/office/drawing/2014/main" id="{63D44BA6-979F-41D7-8B70-09A6CF77AEC5}"/>
              </a:ext>
            </a:extLst>
          </p:cNvPr>
          <p:cNvSpPr>
            <a:spLocks xmlns:a="http://schemas.openxmlformats.org/drawingml/2006/main" noGrp="1"/>
          </p:cNvSpPr>
          <p:nvPr/>
        </p:nvSpPr>
        <p:spPr>
          <a:xfrm xmlns:a="http://schemas.openxmlformats.org/drawingml/2006/main">
            <a:off x="914400" y="5086350"/>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  Concentration: American Place delivered $124.10M of 2025 revenue, about 42.5% of group sales, so any site-level slip hits the parent fast.</a:t>
            </a:r>
          </a:p>
        </p:txBody>
      </p:sp>
      <p:sp>
        <p:nvSpPr>
          <p:cNvPr id="10" name="">
            <a:extLst xmlns:a="http://schemas.openxmlformats.org/drawingml/2006/main">
              <a:ext uri="{FF2B5EF4-FFF2-40B4-BE49-F238E27FC236}">
                <a16:creationId xmlns:a16="http://schemas.microsoft.com/office/drawing/2014/main" id="{A033A7CE-6DA2-4911-85DD-3A6FEF8243DC}"/>
              </a:ext>
            </a:extLst>
          </p:cNvPr>
          <p:cNvSpPr>
            <a:spLocks xmlns:a="http://schemas.openxmlformats.org/drawingml/2006/main" noGrp="1"/>
          </p:cNvSpPr>
          <p:nvPr/>
        </p:nvSpPr>
        <p:spPr>
          <a:xfrm xmlns:a="http://schemas.openxmlformats.org/drawingml/2006/main">
            <a:off x="914400" y="5781675"/>
            <a:ext cx="1013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Watch: Waukegan rising further as a share of group EBITDA or no offset from other assets.</a:t>
            </a:r>
          </a:p>
        </p:txBody>
      </p:sp>
      <p:sp>
        <p:nvSpPr>
          <p:cNvPr id="11" name="">
            <a:extLst xmlns:a="http://schemas.openxmlformats.org/drawingml/2006/main">
              <a:ext uri="{FF2B5EF4-FFF2-40B4-BE49-F238E27FC236}">
                <a16:creationId xmlns:a16="http://schemas.microsoft.com/office/drawing/2014/main" id="{B35E3404-359E-4031-A425-2434567489FD}"/>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60</a:t>
            </a:r>
          </a:p>
        </p:txBody>
      </p:sp>
    </p:spTree>
    <p:extLst>
      <p:ext uri="{BB962C8B-B14F-4D97-AF65-F5344CB8AC3E}">
        <p14:creationId xmlns:p14="http://schemas.microsoft.com/office/powerpoint/2010/main" val="1539297606"/>
      </p:ext>
    </p:extLst>
  </p:cSld>
</p:sld>
</file>

<file path=ppt/slides/slide61.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DAAB08F-423B-42FC-AE6B-A0672B8F0115}"/>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Risks &amp; External Considerations continued</a:t>
            </a:r>
          </a:p>
        </p:txBody>
      </p:sp>
      <p:sp>
        <p:nvSpPr>
          <p:cNvPr id="2" name="title-rule">
            <a:extLst xmlns:a="http://schemas.openxmlformats.org/drawingml/2006/main">
              <a:ext uri="{FF2B5EF4-FFF2-40B4-BE49-F238E27FC236}">
                <a16:creationId xmlns:a16="http://schemas.microsoft.com/office/drawing/2014/main" id="{560B8E1A-C1CD-4168-A0D7-E626EB84B172}"/>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2CFB0EA-446C-4148-B87A-AAF07EAD2E20}"/>
              </a:ext>
            </a:extLst>
          </p:cNvPr>
          <p:cNvSpPr>
            <a:spLocks xmlns:a="http://schemas.openxmlformats.org/drawingml/2006/main" noGrp="1"/>
          </p:cNvSpPr>
          <p:nvPr/>
        </p:nvSpPr>
        <p:spPr>
          <a:xfrm xmlns:a="http://schemas.openxmlformats.org/drawingml/2006/main">
            <a:off x="914400" y="1943100"/>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  Funding pressure: Full House had $450.00M of notes outstanding and $25.00M drawn on its credit facility, so the build may need fresh capital before completion.</a:t>
            </a:r>
          </a:p>
        </p:txBody>
      </p:sp>
      <p:sp>
        <p:nvSpPr>
          <p:cNvPr id="4" name="">
            <a:extLst xmlns:a="http://schemas.openxmlformats.org/drawingml/2006/main">
              <a:ext uri="{FF2B5EF4-FFF2-40B4-BE49-F238E27FC236}">
                <a16:creationId xmlns:a16="http://schemas.microsoft.com/office/drawing/2014/main" id="{A87C08BB-E04B-49CA-A59E-4FE49A79F6BE}"/>
              </a:ext>
            </a:extLst>
          </p:cNvPr>
          <p:cNvSpPr>
            <a:spLocks xmlns:a="http://schemas.openxmlformats.org/drawingml/2006/main" noGrp="1"/>
          </p:cNvSpPr>
          <p:nvPr/>
        </p:nvSpPr>
        <p:spPr>
          <a:xfrm xmlns:a="http://schemas.openxmlformats.org/drawingml/2006/main">
            <a:off x="914400" y="2638425"/>
            <a:ext cx="1013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Watch: no committed funding plan, covenant strain, or maturity pressure before the project is finished.</a:t>
            </a:r>
          </a:p>
        </p:txBody>
      </p:sp>
      <p:sp>
        <p:nvSpPr>
          <p:cNvPr id="5" name="">
            <a:extLst xmlns:a="http://schemas.openxmlformats.org/drawingml/2006/main">
              <a:ext uri="{FF2B5EF4-FFF2-40B4-BE49-F238E27FC236}">
                <a16:creationId xmlns:a16="http://schemas.microsoft.com/office/drawing/2014/main" id="{595BB4D3-90F5-43D2-82EC-3220A63BDBA8}"/>
              </a:ext>
            </a:extLst>
          </p:cNvPr>
          <p:cNvSpPr>
            <a:spLocks xmlns:a="http://schemas.openxmlformats.org/drawingml/2006/main" noGrp="1"/>
          </p:cNvSpPr>
          <p:nvPr/>
        </p:nvSpPr>
        <p:spPr>
          <a:xfrm xmlns:a="http://schemas.openxmlformats.org/drawingml/2006/main">
            <a:off x="914400" y="3105150"/>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  Resolve the build first: confirm the schedule, contractor commitments, and remaining sources and uses before leaning on any growth forecast.</a:t>
            </a:r>
          </a:p>
        </p:txBody>
      </p:sp>
      <p:sp>
        <p:nvSpPr>
          <p:cNvPr id="6" name="">
            <a:extLst xmlns:a="http://schemas.openxmlformats.org/drawingml/2006/main">
              <a:ext uri="{FF2B5EF4-FFF2-40B4-BE49-F238E27FC236}">
                <a16:creationId xmlns:a16="http://schemas.microsoft.com/office/drawing/2014/main" id="{88281825-8150-4D3A-B68A-FB61A94EAF3A}"/>
              </a:ext>
            </a:extLst>
          </p:cNvPr>
          <p:cNvSpPr>
            <a:spLocks xmlns:a="http://schemas.openxmlformats.org/drawingml/2006/main" noGrp="1"/>
          </p:cNvSpPr>
          <p:nvPr/>
        </p:nvSpPr>
        <p:spPr>
          <a:xfrm xmlns:a="http://schemas.openxmlformats.org/drawingml/2006/main">
            <a:off x="914400" y="3800475"/>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  Separate root cause from symptom: weak current results matter most if they come from unfinished construction and funding gaps, not just normal early-stage noise.</a:t>
            </a:r>
          </a:p>
        </p:txBody>
      </p:sp>
      <p:sp>
        <p:nvSpPr>
          <p:cNvPr id="7" name="">
            <a:extLst xmlns:a="http://schemas.openxmlformats.org/drawingml/2006/main">
              <a:ext uri="{FF2B5EF4-FFF2-40B4-BE49-F238E27FC236}">
                <a16:creationId xmlns:a16="http://schemas.microsoft.com/office/drawing/2014/main" id="{3B2CE77E-2789-4DAF-847D-3DDA5453B73F}"/>
              </a:ext>
            </a:extLst>
          </p:cNvPr>
          <p:cNvSpPr>
            <a:spLocks xmlns:a="http://schemas.openxmlformats.org/drawingml/2006/main" noGrp="1"/>
          </p:cNvSpPr>
          <p:nvPr/>
        </p:nvSpPr>
        <p:spPr>
          <a:xfrm xmlns:a="http://schemas.openxmlformats.org/drawingml/2006/main">
            <a:off x="914400" y="4495800"/>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  Buyer action: request a full critical-path plan, monthly construction reports, and a refinancing timeline, then test all three against liquidity needs.</a:t>
            </a:r>
          </a:p>
        </p:txBody>
      </p:sp>
      <p:sp>
        <p:nvSpPr>
          <p:cNvPr id="8" name="">
            <a:extLst xmlns:a="http://schemas.openxmlformats.org/drawingml/2006/main">
              <a:ext uri="{FF2B5EF4-FFF2-40B4-BE49-F238E27FC236}">
                <a16:creationId xmlns:a16="http://schemas.microsoft.com/office/drawing/2014/main" id="{611E2E3A-C449-4812-A94A-C8B6F91B409F}"/>
              </a:ext>
            </a:extLst>
          </p:cNvPr>
          <p:cNvSpPr>
            <a:spLocks xmlns:a="http://schemas.openxmlformats.org/drawingml/2006/main" noGrp="1"/>
          </p:cNvSpPr>
          <p:nvPr/>
        </p:nvSpPr>
        <p:spPr>
          <a:xfrm xmlns:a="http://schemas.openxmlformats.org/drawingml/2006/main">
            <a:off x="914400" y="5191125"/>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B61"/>
                </a:solidFill>
                <a:latin typeface="Calibri"/>
                <a:ea typeface="Calibri"/>
                <a:cs typeface="Calibri"/>
              </a:defRPr>
            </a:pPr>
            <a:r>
              <a:rPr sz="1425" b="0">
                <a:solidFill>
                  <a:srgbClr val="526B61"/>
                </a:solidFill>
                <a:latin typeface="Calibri"/>
                <a:ea typeface="Calibri"/>
                <a:cs typeface="Calibri"/>
              </a:rPr>
              <a:t>Required diligence action: reconcile budget, timing, and financing drawdowns against the latest board, lender, and contractor materials.</a:t>
            </a:r>
          </a:p>
        </p:txBody>
      </p:sp>
      <p:sp>
        <p:nvSpPr>
          <p:cNvPr id="9" name="">
            <a:extLst xmlns:a="http://schemas.openxmlformats.org/drawingml/2006/main">
              <a:ext uri="{FF2B5EF4-FFF2-40B4-BE49-F238E27FC236}">
                <a16:creationId xmlns:a16="http://schemas.microsoft.com/office/drawing/2014/main" id="{1F37C8C3-2B68-4958-8A34-BDAC1610B76D}"/>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61</a:t>
            </a:r>
          </a:p>
        </p:txBody>
      </p:sp>
    </p:spTree>
    <p:extLst>
      <p:ext uri="{BB962C8B-B14F-4D97-AF65-F5344CB8AC3E}">
        <p14:creationId xmlns:p14="http://schemas.microsoft.com/office/powerpoint/2010/main" val="430270917"/>
      </p:ext>
    </p:extLst>
  </p:cSld>
</p:sld>
</file>

<file path=ppt/slides/slide62.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EE3B3E0-EDEA-49BE-8F5B-7DF2629AB53E}"/>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Due Diligence Areas</a:t>
            </a:r>
          </a:p>
        </p:txBody>
      </p:sp>
      <p:sp>
        <p:nvSpPr>
          <p:cNvPr id="2" name="title-rule">
            <a:extLst xmlns:a="http://schemas.openxmlformats.org/drawingml/2006/main">
              <a:ext uri="{FF2B5EF4-FFF2-40B4-BE49-F238E27FC236}">
                <a16:creationId xmlns:a16="http://schemas.microsoft.com/office/drawing/2014/main" id="{E8F59607-4105-4284-9725-CD0C737C2D48}"/>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251E11C-B42A-4CBA-8783-A2C1ADBBF6B6}"/>
              </a:ext>
            </a:extLst>
          </p:cNvPr>
          <p:cNvSpPr>
            <a:spLocks xmlns:a="http://schemas.openxmlformats.org/drawingml/2006/main" noGrp="1"/>
          </p:cNvSpPr>
          <p:nvPr/>
        </p:nvSpPr>
        <p:spPr>
          <a:xfrm xmlns:a="http://schemas.openxmlformats.org/drawingml/2006/main">
            <a:off x="914400" y="3481388"/>
            <a:ext cx="10134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2372A"/>
                </a:solidFill>
                <a:latin typeface="Calibri"/>
                <a:ea typeface="Calibri"/>
                <a:cs typeface="Calibri"/>
              </a:defRPr>
            </a:pPr>
            <a:r>
              <a:rPr sz="1950" b="1">
                <a:solidFill>
                  <a:srgbClr val="12372A"/>
                </a:solidFill>
                <a:latin typeface="Calibri"/>
                <a:ea typeface="Calibri"/>
                <a:cs typeface="Calibri"/>
              </a:rPr>
              <a:t>Prove the permanent build, financing, and demand hold-up first, or the valuation and funding case weaken together.</a:t>
            </a:r>
          </a:p>
        </p:txBody>
      </p:sp>
      <p:sp>
        <p:nvSpPr>
          <p:cNvPr id="4" name="">
            <a:extLst xmlns:a="http://schemas.openxmlformats.org/drawingml/2006/main">
              <a:ext uri="{FF2B5EF4-FFF2-40B4-BE49-F238E27FC236}">
                <a16:creationId xmlns:a16="http://schemas.microsoft.com/office/drawing/2014/main" id="{ED3B2F3E-090E-41E6-BDF6-E6AEB0081E99}"/>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62</a:t>
            </a:r>
          </a:p>
        </p:txBody>
      </p:sp>
    </p:spTree>
    <p:extLst>
      <p:ext uri="{BB962C8B-B14F-4D97-AF65-F5344CB8AC3E}">
        <p14:creationId xmlns:p14="http://schemas.microsoft.com/office/powerpoint/2010/main" val="1156224269"/>
      </p:ext>
    </p:extLst>
  </p:cSld>
</p:sld>
</file>

<file path=ppt/slides/slide63.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3314BB-B068-4561-B93C-DA4E68CAE76A}"/>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Customer Segments Table</a:t>
            </a:r>
          </a:p>
        </p:txBody>
      </p:sp>
      <p:sp>
        <p:nvSpPr>
          <p:cNvPr id="2" name="title-rule">
            <a:extLst xmlns:a="http://schemas.openxmlformats.org/drawingml/2006/main">
              <a:ext uri="{FF2B5EF4-FFF2-40B4-BE49-F238E27FC236}">
                <a16:creationId xmlns:a16="http://schemas.microsoft.com/office/drawing/2014/main" id="{AEE87283-0F5C-47D6-B0ED-8B7E5EE04717}"/>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4305300"/>
        </p:xfrm>
        <a:graphic xmlns:a="http://schemas.openxmlformats.org/drawingml/2006/main">
          <a:graphicData uri="http://schemas.openxmlformats.org/drawingml/2006/table">
            <a:tbl>
              <a:tblPr firstRow="1" bandRow="1"/>
              <a:tblGrid>
                <a:gridCol w="2951018"/>
                <a:gridCol w="2623127"/>
                <a:gridCol w="2623127"/>
                <a:gridCol w="2623127"/>
              </a:tblGrid>
              <a:tr h="552450">
                <a:tc>
                  <a:txBody>
                    <a:bodyPr>
                      <a:normAutofit/>
                    </a:bodyPr>
                    <a:lstStyle/>
                    <a:p>
                      <a:r>
                        <a:rPr sz="1200" b="1">
                          <a:solidFill>
                            <a:srgbClr val="FFFFFF"/>
                          </a:solidFill>
                          <a:latin typeface="Calibri"/>
                          <a:ea typeface="Calibri"/>
                          <a:cs typeface="Calibri"/>
                        </a:rPr>
                        <a:t>Customer segment</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Current size</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Growth</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Key purchasing criteria</a:t>
                      </a:r>
                    </a:p>
                  </a:txBody>
                  <a:tcPr marL="91440" marR="91440" marT="45720" marB="45720">
                    <a:solidFill>
                      <a:srgbClr val="0F766E"/>
                    </a:solidFill>
                  </a:tcPr>
                </a:tc>
              </a:tr>
              <a:tr h="714375">
                <a:tc>
                  <a:txBody>
                    <a:bodyPr>
                      <a:normAutofit/>
                    </a:bodyPr>
                    <a:lstStyle/>
                    <a:p>
                      <a:r>
                        <a:rPr sz="1125">
                          <a:solidFill>
                            <a:srgbClr val="12372A"/>
                          </a:solidFill>
                          <a:latin typeface="Calibri"/>
                          <a:ea typeface="Calibri"/>
                          <a:cs typeface="Calibri"/>
                        </a:rPr>
                        <a:t>Local drive-in patrons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Large size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Slow</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They buy on short drive time, easy parking, 24/7 access, and fast rewards for short visits.</a:t>
                      </a:r>
                    </a:p>
                  </a:txBody>
                  <a:tcPr marL="91440" marR="91440" marT="45720" marB="45720">
                    <a:solidFill>
                      <a:srgbClr val="FFFFFF"/>
                    </a:solidFill>
                  </a:tcPr>
                </a:tc>
              </a:tr>
              <a:tr h="714375">
                <a:tc>
                  <a:txBody>
                    <a:bodyPr>
                      <a:normAutofit/>
                    </a:bodyPr>
                    <a:lstStyle/>
                    <a:p>
                      <a:r>
                        <a:rPr sz="1125">
                          <a:solidFill>
                            <a:srgbClr val="12372A"/>
                          </a:solidFill>
                          <a:latin typeface="Calibri"/>
                          <a:ea typeface="Calibri"/>
                          <a:cs typeface="Calibri"/>
                        </a:rPr>
                        <a:t>Frequent slot and table players</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Large size</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Fast</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They want accurate play tracking, host outreach, comp value, and personalized offers.</a:t>
                      </a:r>
                    </a:p>
                  </a:txBody>
                  <a:tcPr marL="91440" marR="91440" marT="45720" marB="45720">
                    <a:solidFill>
                      <a:srgbClr val="F0EEF8"/>
                    </a:solidFill>
                  </a:tcPr>
                </a:tc>
              </a:tr>
              <a:tr h="895350">
                <a:tc>
                  <a:txBody>
                    <a:bodyPr>
                      <a:normAutofit/>
                    </a:bodyPr>
                    <a:lstStyle/>
                    <a:p>
                      <a:r>
                        <a:rPr sz="1125">
                          <a:solidFill>
                            <a:srgbClr val="12372A"/>
                          </a:solidFill>
                          <a:latin typeface="Calibri"/>
                          <a:ea typeface="Calibri"/>
                          <a:cs typeface="Calibri"/>
                        </a:rPr>
                        <a:t>Sports bettors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Small size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Fastest</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They care about odds, kiosk and ticket-window access, big screens, and easy cross-sell into gaming and food [18][19][20].</a:t>
                      </a:r>
                    </a:p>
                  </a:txBody>
                  <a:tcPr marL="91440" marR="91440" marT="45720" marB="45720">
                    <a:solidFill>
                      <a:srgbClr val="FFFFFF"/>
                    </a:solidFill>
                  </a:tcPr>
                </a:tc>
              </a:tr>
              <a:tr h="714375">
                <a:tc>
                  <a:txBody>
                    <a:bodyPr>
                      <a:normAutofit/>
                    </a:bodyPr>
                    <a:lstStyle/>
                    <a:p>
                      <a:r>
                        <a:rPr sz="1125">
                          <a:solidFill>
                            <a:srgbClr val="12372A"/>
                          </a:solidFill>
                          <a:latin typeface="Calibri"/>
                          <a:ea typeface="Calibri"/>
                          <a:cs typeface="Calibri"/>
                        </a:rPr>
                        <a:t>Poker and entertainment visitors</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Medium size</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Fast</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They buy on live poker, waitlist visibility, late-night hours, and event adjacency.</a:t>
                      </a:r>
                    </a:p>
                  </a:txBody>
                  <a:tcPr marL="91440" marR="91440" marT="45720" marB="45720">
                    <a:solidFill>
                      <a:srgbClr val="F0EEF8"/>
                    </a:solidFill>
                  </a:tcPr>
                </a:tc>
              </a:tr>
              <a:tr h="714375">
                <a:tc>
                  <a:txBody>
                    <a:bodyPr>
                      <a:normAutofit/>
                    </a:bodyPr>
                    <a:lstStyle/>
                    <a:p>
                      <a:r>
                        <a:rPr sz="1125">
                          <a:solidFill>
                            <a:srgbClr val="12372A"/>
                          </a:solidFill>
                          <a:latin typeface="Calibri"/>
                          <a:ea typeface="Calibri"/>
                          <a:cs typeface="Calibri"/>
                        </a:rPr>
                        <a:t>Slot-focused regional gamers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Largest size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Slow</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They prefer machine variety, 24/7 access, denomination range, and easy rewards redemption.</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E0A7A75-9050-4A35-913D-E26DCDC8353E}"/>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63</a:t>
            </a:r>
          </a:p>
        </p:txBody>
      </p:sp>
    </p:spTree>
    <p:extLst>
      <p:ext uri="{BB962C8B-B14F-4D97-AF65-F5344CB8AC3E}">
        <p14:creationId xmlns:p14="http://schemas.microsoft.com/office/powerpoint/2010/main" val="148885163"/>
      </p:ext>
    </p:extLst>
  </p:cSld>
</p:sld>
</file>

<file path=ppt/slides/slide64.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99D751B-9183-4B26-ACB0-2D74A57F9C80}"/>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Customer Segments Table continued</a:t>
            </a:r>
          </a:p>
        </p:txBody>
      </p:sp>
      <p:sp>
        <p:nvSpPr>
          <p:cNvPr id="2" name="title-rule">
            <a:extLst xmlns:a="http://schemas.openxmlformats.org/drawingml/2006/main">
              <a:ext uri="{FF2B5EF4-FFF2-40B4-BE49-F238E27FC236}">
                <a16:creationId xmlns:a16="http://schemas.microsoft.com/office/drawing/2014/main" id="{A43E86F0-403A-4BFC-972B-A455D3549B50}"/>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3943350"/>
        </p:xfrm>
        <a:graphic xmlns:a="http://schemas.openxmlformats.org/drawingml/2006/main">
          <a:graphicData uri="http://schemas.openxmlformats.org/drawingml/2006/table">
            <a:tbl>
              <a:tblPr firstRow="1" bandRow="1"/>
              <a:tblGrid>
                <a:gridCol w="2951018"/>
                <a:gridCol w="2623127"/>
                <a:gridCol w="2623127"/>
                <a:gridCol w="2623127"/>
              </a:tblGrid>
              <a:tr h="552450">
                <a:tc>
                  <a:txBody>
                    <a:bodyPr>
                      <a:normAutofit/>
                    </a:bodyPr>
                    <a:lstStyle/>
                    <a:p>
                      <a:r>
                        <a:rPr sz="1200" b="1">
                          <a:solidFill>
                            <a:srgbClr val="FFFFFF"/>
                          </a:solidFill>
                          <a:latin typeface="Calibri"/>
                          <a:ea typeface="Calibri"/>
                          <a:cs typeface="Calibri"/>
                        </a:rPr>
                        <a:t>Customer segment</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Current size</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Growth</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Key purchasing criteria</a:t>
                      </a:r>
                    </a:p>
                  </a:txBody>
                  <a:tcPr marL="91440" marR="91440" marT="45720" marB="45720">
                    <a:solidFill>
                      <a:srgbClr val="0F766E"/>
                    </a:solidFill>
                  </a:tcPr>
                </a:tc>
              </a:tr>
              <a:tr h="714375">
                <a:tc>
                  <a:txBody>
                    <a:bodyPr>
                      <a:normAutofit/>
                    </a:bodyPr>
                    <a:lstStyle/>
                    <a:p>
                      <a:r>
                        <a:rPr sz="1125">
                          <a:solidFill>
                            <a:srgbClr val="12372A"/>
                          </a:solidFill>
                          <a:latin typeface="Calibri"/>
                          <a:ea typeface="Calibri"/>
                          <a:cs typeface="Calibri"/>
                        </a:rPr>
                        <a:t>Table-game regulars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Large size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Fast</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They look for table mix, staffed table count, low minimums, and rated-play perks.</a:t>
                      </a:r>
                    </a:p>
                  </a:txBody>
                  <a:tcPr marL="91440" marR="91440" marT="45720" marB="45720">
                    <a:solidFill>
                      <a:srgbClr val="FFFFFF"/>
                    </a:solidFill>
                  </a:tcPr>
                </a:tc>
              </a:tr>
              <a:tr h="714375">
                <a:tc>
                  <a:txBody>
                    <a:bodyPr>
                      <a:normAutofit/>
                    </a:bodyPr>
                    <a:lstStyle/>
                    <a:p>
                      <a:r>
                        <a:rPr sz="1125">
                          <a:solidFill>
                            <a:srgbClr val="12372A"/>
                          </a:solidFill>
                          <a:latin typeface="Calibri"/>
                          <a:ea typeface="Calibri"/>
                          <a:cs typeface="Calibri"/>
                        </a:rPr>
                        <a:t>Poker cash-game players</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Medium size</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Fast</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They want live cash games, waitlist visibility, late hours, and game choice.</a:t>
                      </a:r>
                    </a:p>
                  </a:txBody>
                  <a:tcPr marL="91440" marR="91440" marT="45720" marB="45720">
                    <a:solidFill>
                      <a:srgbClr val="F0EEF8"/>
                    </a:solidFill>
                  </a:tcPr>
                </a:tc>
              </a:tr>
              <a:tr h="714375">
                <a:tc>
                  <a:txBody>
                    <a:bodyPr>
                      <a:normAutofit/>
                    </a:bodyPr>
                    <a:lstStyle/>
                    <a:p>
                      <a:r>
                        <a:rPr sz="1125">
                          <a:solidFill>
                            <a:srgbClr val="12372A"/>
                          </a:solidFill>
                          <a:latin typeface="Calibri"/>
                          <a:ea typeface="Calibri"/>
                          <a:cs typeface="Calibri"/>
                        </a:rPr>
                        <a:t>Casual all-day casino diners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Largest size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Slow</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They care about long hours, familiar food, fast service, and easy walk-in access.</a:t>
                      </a:r>
                    </a:p>
                  </a:txBody>
                  <a:tcPr marL="91440" marR="91440" marT="45720" marB="45720">
                    <a:solidFill>
                      <a:srgbClr val="FFFFFF"/>
                    </a:solidFill>
                  </a:tcPr>
                </a:tc>
              </a:tr>
              <a:tr h="533400">
                <a:tc>
                  <a:txBody>
                    <a:bodyPr>
                      <a:normAutofit/>
                    </a:bodyPr>
                    <a:lstStyle/>
                    <a:p>
                      <a:r>
                        <a:rPr sz="1125">
                          <a:solidFill>
                            <a:srgbClr val="12372A"/>
                          </a:solidFill>
                          <a:latin typeface="Calibri"/>
                          <a:ea typeface="Calibri"/>
                          <a:cs typeface="Calibri"/>
                        </a:rPr>
                        <a:t>Special-occasion fine diners</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Small size</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Fastest</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They buy on steak and seafood quality, ambiance, and reservations.</a:t>
                      </a:r>
                    </a:p>
                  </a:txBody>
                  <a:tcPr marL="91440" marR="91440" marT="45720" marB="45720">
                    <a:solidFill>
                      <a:srgbClr val="F0EEF8"/>
                    </a:solidFill>
                  </a:tcPr>
                </a:tc>
              </a:tr>
              <a:tr h="714375">
                <a:tc>
                  <a:txBody>
                    <a:bodyPr>
                      <a:normAutofit/>
                    </a:bodyPr>
                    <a:lstStyle/>
                    <a:p>
                      <a:r>
                        <a:rPr sz="1125">
                          <a:solidFill>
                            <a:srgbClr val="12372A"/>
                          </a:solidFill>
                          <a:latin typeface="Calibri"/>
                          <a:ea typeface="Calibri"/>
                          <a:cs typeface="Calibri"/>
                        </a:rPr>
                        <a:t>Share-style social diners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Medium size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Slow</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They want group-friendly dishes, shared plates, and dinner reservations.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928CA8E-0CBE-47B8-92CF-0C0F0EFD72DE}"/>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64</a:t>
            </a:r>
          </a:p>
        </p:txBody>
      </p:sp>
    </p:spTree>
    <p:extLst>
      <p:ext uri="{BB962C8B-B14F-4D97-AF65-F5344CB8AC3E}">
        <p14:creationId xmlns:p14="http://schemas.microsoft.com/office/powerpoint/2010/main" val="410483624"/>
      </p:ext>
    </p:extLst>
  </p:cSld>
</p:sld>
</file>

<file path=ppt/slides/slide65.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8E28EC-EE16-453E-AB7C-EC95059B8483}"/>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Customer Segments Table continued</a:t>
            </a:r>
          </a:p>
        </p:txBody>
      </p:sp>
      <p:sp>
        <p:nvSpPr>
          <p:cNvPr id="2" name="title-rule">
            <a:extLst xmlns:a="http://schemas.openxmlformats.org/drawingml/2006/main">
              <a:ext uri="{FF2B5EF4-FFF2-40B4-BE49-F238E27FC236}">
                <a16:creationId xmlns:a16="http://schemas.microsoft.com/office/drawing/2014/main" id="{972D765C-FD78-474D-A384-8233AEFCEE2F}"/>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4124325"/>
        </p:xfrm>
        <a:graphic xmlns:a="http://schemas.openxmlformats.org/drawingml/2006/main">
          <a:graphicData uri="http://schemas.openxmlformats.org/drawingml/2006/table">
            <a:tbl>
              <a:tblPr firstRow="1" bandRow="1"/>
              <a:tblGrid>
                <a:gridCol w="2951018"/>
                <a:gridCol w="2623127"/>
                <a:gridCol w="2623127"/>
                <a:gridCol w="2623127"/>
              </a:tblGrid>
              <a:tr h="552450">
                <a:tc>
                  <a:txBody>
                    <a:bodyPr>
                      <a:normAutofit/>
                    </a:bodyPr>
                    <a:lstStyle/>
                    <a:p>
                      <a:r>
                        <a:rPr sz="1200" b="1">
                          <a:solidFill>
                            <a:srgbClr val="FFFFFF"/>
                          </a:solidFill>
                          <a:latin typeface="Calibri"/>
                          <a:ea typeface="Calibri"/>
                          <a:cs typeface="Calibri"/>
                        </a:rPr>
                        <a:t>Customer segment</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Current size</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Growth</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Key purchasing criteria</a:t>
                      </a:r>
                    </a:p>
                  </a:txBody>
                  <a:tcPr marL="91440" marR="91440" marT="45720" marB="45720">
                    <a:solidFill>
                      <a:srgbClr val="0F766E"/>
                    </a:solidFill>
                  </a:tcPr>
                </a:tc>
              </a:tr>
              <a:tr h="714375">
                <a:tc>
                  <a:txBody>
                    <a:bodyPr>
                      <a:normAutofit/>
                    </a:bodyPr>
                    <a:lstStyle/>
                    <a:p>
                      <a:r>
                        <a:rPr sz="1125">
                          <a:solidFill>
                            <a:srgbClr val="12372A"/>
                          </a:solidFill>
                          <a:latin typeface="Calibri"/>
                          <a:ea typeface="Calibri"/>
                          <a:cs typeface="Calibri"/>
                        </a:rPr>
                        <a:t>Drink-led lounge patrons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Large size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Fast</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They value cocktails, beer choice, late hours, and gaming proximity.</a:t>
                      </a:r>
                    </a:p>
                  </a:txBody>
                  <a:tcPr marL="91440" marR="91440" marT="45720" marB="45720">
                    <a:solidFill>
                      <a:srgbClr val="FFFFFF"/>
                    </a:solidFill>
                  </a:tcPr>
                </a:tc>
              </a:tr>
              <a:tr h="714375">
                <a:tc>
                  <a:txBody>
                    <a:bodyPr>
                      <a:normAutofit/>
                    </a:bodyPr>
                    <a:lstStyle/>
                    <a:p>
                      <a:r>
                        <a:rPr sz="1125">
                          <a:solidFill>
                            <a:srgbClr val="12372A"/>
                          </a:solidFill>
                          <a:latin typeface="Calibri"/>
                          <a:ea typeface="Calibri"/>
                          <a:cs typeface="Calibri"/>
                        </a:rPr>
                        <a:t>Free live-music and DJ nightlife patrons</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Largest size</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Fast</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They look for no-ticket shows, weekend cadence, drinks, and drop-in access.</a:t>
                      </a:r>
                    </a:p>
                  </a:txBody>
                  <a:tcPr marL="91440" marR="91440" marT="45720" marB="45720">
                    <a:solidFill>
                      <a:srgbClr val="F0EEF8"/>
                    </a:solidFill>
                  </a:tcPr>
                </a:tc>
              </a:tr>
              <a:tr h="714375">
                <a:tc>
                  <a:txBody>
                    <a:bodyPr>
                      <a:normAutofit/>
                    </a:bodyPr>
                    <a:lstStyle/>
                    <a:p>
                      <a:r>
                        <a:rPr sz="1125">
                          <a:solidFill>
                            <a:srgbClr val="12372A"/>
                          </a:solidFill>
                          <a:latin typeface="Calibri"/>
                          <a:ea typeface="Calibri"/>
                          <a:cs typeface="Calibri"/>
                        </a:rPr>
                        <a:t>Ticketed comedy and headline-show attendees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Small size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Fastest</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They need known acts, clear ticketing, reserved timing, and a dedicated venue.</a:t>
                      </a:r>
                    </a:p>
                  </a:txBody>
                  <a:tcPr marL="91440" marR="91440" marT="45720" marB="45720">
                    <a:solidFill>
                      <a:srgbClr val="FFFFFF"/>
                    </a:solidFill>
                  </a:tcPr>
                </a:tc>
              </a:tr>
              <a:tr h="714375">
                <a:tc>
                  <a:txBody>
                    <a:bodyPr>
                      <a:normAutofit/>
                    </a:bodyPr>
                    <a:lstStyle/>
                    <a:p>
                      <a:r>
                        <a:rPr sz="1125">
                          <a:solidFill>
                            <a:srgbClr val="12372A"/>
                          </a:solidFill>
                          <a:latin typeface="Calibri"/>
                          <a:ea typeface="Calibri"/>
                          <a:cs typeface="Calibri"/>
                        </a:rPr>
                        <a:t>Social celebration hosts</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Largest size</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Slow</a:t>
                      </a:r>
                    </a:p>
                  </a:txBody>
                  <a:tcPr marL="91440" marR="91440" marT="45720" marB="45720">
                    <a:solidFill>
                      <a:srgbClr val="F0EEF8"/>
                    </a:solidFill>
                  </a:tcPr>
                </a:tc>
                <a:tc>
                  <a:txBody>
                    <a:bodyPr>
                      <a:normAutofit/>
                    </a:bodyPr>
                    <a:lstStyle/>
                    <a:p>
                      <a:r>
                        <a:rPr sz="1125">
                          <a:solidFill>
                            <a:srgbClr val="12372A"/>
                          </a:solidFill>
                          <a:latin typeface="Calibri"/>
                          <a:ea typeface="Calibri"/>
                          <a:cs typeface="Calibri"/>
                        </a:rPr>
                        <a:t>They buy on private space, custom menus, bar options, and simple arrival logistics.</a:t>
                      </a:r>
                    </a:p>
                  </a:txBody>
                  <a:tcPr marL="91440" marR="91440" marT="45720" marB="45720">
                    <a:solidFill>
                      <a:srgbClr val="F0EEF8"/>
                    </a:solidFill>
                  </a:tcPr>
                </a:tc>
              </a:tr>
              <a:tr h="714375">
                <a:tc>
                  <a:txBody>
                    <a:bodyPr>
                      <a:normAutofit/>
                    </a:bodyPr>
                    <a:lstStyle/>
                    <a:p>
                      <a:r>
                        <a:rPr sz="1125">
                          <a:solidFill>
                            <a:srgbClr val="12372A"/>
                          </a:solidFill>
                          <a:latin typeface="Calibri"/>
                          <a:ea typeface="Calibri"/>
                          <a:cs typeface="Calibri"/>
                        </a:rPr>
                        <a:t>Corporate meeting planners</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Medium size</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Fast</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They require AV, flexible layouts, a coordinator, and reliable scheduling.</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07D8F0A-5122-436E-99CF-B0AA706EB6B3}"/>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65</a:t>
            </a:r>
          </a:p>
        </p:txBody>
      </p:sp>
    </p:spTree>
    <p:extLst>
      <p:ext uri="{BB962C8B-B14F-4D97-AF65-F5344CB8AC3E}">
        <p14:creationId xmlns:p14="http://schemas.microsoft.com/office/powerpoint/2010/main" val="1581636765"/>
      </p:ext>
    </p:extLst>
  </p:cSld>
</p:sld>
</file>

<file path=ppt/slides/slide66.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BB566A8-E83F-419F-B11A-04559B8BEBA6}"/>
              </a:ext>
            </a:extLst>
          </p:cNvPr>
          <p:cNvSpPr>
            <a:spLocks xmlns:a="http://schemas.openxmlformats.org/drawingml/2006/main" noGrp="1"/>
          </p:cNvSpPr>
          <p:nvPr/>
        </p:nvSpPr>
        <p:spPr>
          <a:xfrm xmlns:a="http://schemas.openxmlformats.org/drawingml/2006/main">
            <a:off x="685800" y="514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2372A"/>
                </a:solidFill>
                <a:latin typeface="Calibri"/>
                <a:ea typeface="Calibri"/>
                <a:cs typeface="Calibri"/>
              </a:defRPr>
            </a:pPr>
            <a:r>
              <a:rPr sz="2400" b="1">
                <a:solidFill>
                  <a:srgbClr val="12372A"/>
                </a:solidFill>
                <a:latin typeface="Calibri"/>
                <a:ea typeface="Calibri"/>
                <a:cs typeface="Calibri"/>
              </a:rPr>
              <a:t>Customer Analysis Segments Appendix</a:t>
            </a:r>
          </a:p>
        </p:txBody>
      </p:sp>
      <p:sp>
        <p:nvSpPr>
          <p:cNvPr id="2" name="title-rule">
            <a:extLst xmlns:a="http://schemas.openxmlformats.org/drawingml/2006/main">
              <a:ext uri="{FF2B5EF4-FFF2-40B4-BE49-F238E27FC236}">
                <a16:creationId xmlns:a16="http://schemas.microsoft.com/office/drawing/2014/main" id="{20EB9CC1-EE8F-454F-9217-A0B090476E34}"/>
              </a:ext>
            </a:extLst>
          </p:cNvPr>
          <p:cNvSpPr>
            <a:spLocks xmlns:a="http://schemas.openxmlformats.org/drawingml/2006/main" noGrp="1"/>
          </p:cNvSpPr>
          <p:nvPr/>
        </p:nvSpPr>
        <p:spPr>
          <a:xfrm xmlns:a="http://schemas.openxmlformats.org/drawingml/2006/main">
            <a:off x="685800" y="1257300"/>
            <a:ext cx="10820400" cy="19050"/>
          </a:xfrm>
          <a:prstGeom xmlns:a="http://schemas.openxmlformats.org/drawingml/2006/main" prst="rect">
            <a:avLst/>
          </a:prstGeom>
          <a:solidFill xmlns:a="http://schemas.openxmlformats.org/drawingml/2006/main">
            <a:srgbClr val="CFE3D8"/>
          </a:solidFill>
          <a:ln xmlns:a="http://schemas.openxmlformats.org/drawingml/2006/main" w="0">
            <a:noFill/>
          </a:ln>
        </p:spPr>
      </p:sp>
      <p:graphicFrame>
        <p:nvGraphicFramePr>
          <p:cNvPr id="7" name=""/>
          <p:cNvGraphicFramePr/>
          <p:nvPr/>
        </p:nvGraphicFramePr>
        <p:xfrm>
          <a:off xmlns:a="http://schemas.openxmlformats.org/drawingml/2006/main" x="685800" y="1562100"/>
          <a:ext xmlns:a="http://schemas.openxmlformats.org/drawingml/2006/main" cx="10820400" cy="1990725"/>
        </p:xfrm>
        <a:graphic xmlns:a="http://schemas.openxmlformats.org/drawingml/2006/main">
          <a:graphicData uri="http://schemas.openxmlformats.org/drawingml/2006/table">
            <a:tbl>
              <a:tblPr firstRow="1" bandRow="1"/>
              <a:tblGrid>
                <a:gridCol w="2951018"/>
                <a:gridCol w="2623127"/>
                <a:gridCol w="2623127"/>
                <a:gridCol w="2623127"/>
              </a:tblGrid>
              <a:tr h="552450">
                <a:tc>
                  <a:txBody>
                    <a:bodyPr>
                      <a:normAutofit/>
                    </a:bodyPr>
                    <a:lstStyle/>
                    <a:p>
                      <a:r>
                        <a:rPr sz="1200" b="1">
                          <a:solidFill>
                            <a:srgbClr val="FFFFFF"/>
                          </a:solidFill>
                          <a:latin typeface="Calibri"/>
                          <a:ea typeface="Calibri"/>
                          <a:cs typeface="Calibri"/>
                        </a:rPr>
                        <a:t>Customer segment</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Category</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What they buy</a:t>
                      </a:r>
                    </a:p>
                  </a:txBody>
                  <a:tcPr marL="91440" marR="91440" marT="45720" marB="45720">
                    <a:solidFill>
                      <a:srgbClr val="0F766E"/>
                    </a:solidFill>
                  </a:tcPr>
                </a:tc>
                <a:tc>
                  <a:txBody>
                    <a:bodyPr>
                      <a:normAutofit/>
                    </a:bodyPr>
                    <a:lstStyle/>
                    <a:p>
                      <a:r>
                        <a:rPr sz="1200" b="1">
                          <a:solidFill>
                            <a:srgbClr val="FFFFFF"/>
                          </a:solidFill>
                          <a:latin typeface="Calibri"/>
                          <a:ea typeface="Calibri"/>
                          <a:cs typeface="Calibri"/>
                        </a:rPr>
                        <a:t>Position</a:t>
                      </a:r>
                    </a:p>
                  </a:txBody>
                  <a:tcPr marL="91440" marR="91440" marT="45720" marB="45720">
                    <a:solidFill>
                      <a:srgbClr val="0F766E"/>
                    </a:solidFill>
                  </a:tcPr>
                </a:tc>
              </a:tr>
              <a:tr h="1438275">
                <a:tc>
                  <a:txBody>
                    <a:bodyPr>
                      <a:normAutofit/>
                    </a:bodyPr>
                    <a:lstStyle/>
                    <a:p>
                      <a:r>
                        <a:rPr sz="1125">
                          <a:solidFill>
                            <a:srgbClr val="12372A"/>
                          </a:solidFill>
                          <a:latin typeface="Calibri"/>
                          <a:ea typeface="Calibri"/>
                          <a:cs typeface="Calibri"/>
                        </a:rPr>
                        <a:t>Ticketed comedy and headline-show attendees · Gap</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size: small, growth: fastest</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Known acts, reserved event timing, a ticket purchase path, and a dedicated venue [16][15]</a:t>
                      </a:r>
                    </a:p>
                  </a:txBody>
                  <a:tcPr marL="91440" marR="91440" marT="45720" marB="45720">
                    <a:solidFill>
                      <a:srgbClr val="FFFFFF"/>
                    </a:solidFill>
                  </a:tcPr>
                </a:tc>
                <a:tc>
                  <a:txBody>
                    <a:bodyPr>
                      <a:normAutofit/>
                    </a:bodyPr>
                    <a:lstStyle/>
                    <a:p>
                      <a:r>
                        <a:rPr sz="1125">
                          <a:solidFill>
                            <a:srgbClr val="12372A"/>
                          </a:solidFill>
                          <a:latin typeface="Calibri"/>
                          <a:ea typeface="Calibri"/>
                          <a:cs typeface="Calibri"/>
                        </a:rPr>
                        <a:t>No current full offering leaves scheduled entertainment demand undercaptured, and entry is structurally harder because attendance depends on show dates and fixed entry times, unlike the always-on gaming floor.[16]</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12D8019-C0B1-4959-9E19-AE22C21FC269}"/>
              </a:ext>
            </a:extLst>
          </p:cNvPr>
          <p:cNvSpPr>
            <a:spLocks xmlns:a="http://schemas.openxmlformats.org/drawingml/2006/main" noGrp="1"/>
          </p:cNvSpPr>
          <p:nvPr/>
        </p:nvSpPr>
        <p:spPr>
          <a:xfrm xmlns:a="http://schemas.openxmlformats.org/drawingml/2006/main">
            <a:off x="10953750" y="6438900"/>
            <a:ext cx="552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a:solidFill>
                  <a:srgbClr val="526B61"/>
                </a:solidFill>
                <a:latin typeface="Calibri"/>
                <a:ea typeface="Calibri"/>
                <a:cs typeface="Calibri"/>
              </a:defRPr>
            </a:pPr>
            <a:r>
              <a:rPr sz="750">
                <a:solidFill>
                  <a:srgbClr val="526B61"/>
                </a:solidFill>
                <a:latin typeface="Calibri"/>
                <a:ea typeface="Calibri"/>
                <a:cs typeface="Calibri"/>
              </a:rPr>
              <a:t>66</a:t>
            </a:r>
          </a:p>
        </p:txBody>
      </p:sp>
    </p:spTree>
    <p:extLst>
      <p:ext uri="{BB962C8B-B14F-4D97-AF65-F5344CB8AC3E}">
        <p14:creationId xmlns:p14="http://schemas.microsoft.com/office/powerpoint/2010/main" val="2498945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2026-09-15T11:44:04.0980000Z</dcterms:created>
  <dcterms:modified xsi:type="dcterms:W3CDTF">2026-09-15T11:44:04.0980000Z</dcterms:modified>
</coreProperties>
</file>