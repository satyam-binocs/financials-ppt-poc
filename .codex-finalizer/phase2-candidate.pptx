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2.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5.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6.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4ef186942234f3d" /><Relationship Type="http://schemas.openxmlformats.org/officeDocument/2006/relationships/extended-properties" Target="/docProps/app.xml" Id="R56052fe1ac514996" /><Relationship Type="http://schemas.openxmlformats.org/officeDocument/2006/relationships/officeDocument" Target="/ppt/presentation.xml" Id="R1a7064d96a734692" /></Relationships>
</file>

<file path=ppt/presentation.xml><?xml version="1.0" encoding="utf-8"?>
<p:presentation xmlns:p="http://schemas.openxmlformats.org/presentationml/2006/main">
  <p:sldMasterIdLst>
    <p:sldMasterId xmlns:r="http://schemas.openxmlformats.org/officeDocument/2006/relationships" id="2147483648" r:id="Rc0adaa17904444e0"/>
  </p:sldMasterIdLst>
  <p:notesMasterIdLst>
    <p:notesMasterId xmlns:r="http://schemas.openxmlformats.org/officeDocument/2006/relationships" r:id="Re332ead3383c4cbb"/>
  </p:notesMasterIdLst>
  <p:sldIdLst>
    <p:sldId xmlns:r="http://schemas.openxmlformats.org/officeDocument/2006/relationships" id="256" r:id="R90897b98f446442f"/>
    <p:sldId xmlns:r="http://schemas.openxmlformats.org/officeDocument/2006/relationships" id="257" r:id="R015138cda1c849ec"/>
    <p:sldId xmlns:r="http://schemas.openxmlformats.org/officeDocument/2006/relationships" id="258" r:id="Rbca41b5a02384b83"/>
    <p:sldId xmlns:r="http://schemas.openxmlformats.org/officeDocument/2006/relationships" id="259" r:id="Rce765c77d47b4e06"/>
    <p:sldId xmlns:r="http://schemas.openxmlformats.org/officeDocument/2006/relationships" id="260" r:id="Rffefb1a0134d46a3"/>
    <p:sldId xmlns:r="http://schemas.openxmlformats.org/officeDocument/2006/relationships" id="261" r:id="R2cf78ddffec84442"/>
    <p:sldId xmlns:r="http://schemas.openxmlformats.org/officeDocument/2006/relationships" id="262" r:id="R65d5b913f8074d99"/>
    <p:sldId xmlns:r="http://schemas.openxmlformats.org/officeDocument/2006/relationships" id="263" r:id="Refb4b5a79ea44a4a"/>
    <p:sldId xmlns:r="http://schemas.openxmlformats.org/officeDocument/2006/relationships" id="264" r:id="R6c822a28c449492e"/>
    <p:sldId xmlns:r="http://schemas.openxmlformats.org/officeDocument/2006/relationships" id="265" r:id="R506fc8c256784ff5"/>
    <p:sldId xmlns:r="http://schemas.openxmlformats.org/officeDocument/2006/relationships" id="266" r:id="Rfde23d2bfc0e4c7a"/>
    <p:sldId xmlns:r="http://schemas.openxmlformats.org/officeDocument/2006/relationships" id="267" r:id="R0076644ead5040c5"/>
    <p:sldId xmlns:r="http://schemas.openxmlformats.org/officeDocument/2006/relationships" id="268" r:id="Re92d01935eef492e"/>
    <p:sldId xmlns:r="http://schemas.openxmlformats.org/officeDocument/2006/relationships" id="269" r:id="R0b14a27831a54a81"/>
    <p:sldId xmlns:r="http://schemas.openxmlformats.org/officeDocument/2006/relationships" id="270" r:id="Rae27a24f58864ad8"/>
    <p:sldId xmlns:r="http://schemas.openxmlformats.org/officeDocument/2006/relationships" id="271" r:id="R8811f231f87b49f3"/>
    <p:sldId xmlns:r="http://schemas.openxmlformats.org/officeDocument/2006/relationships" id="272" r:id="R272123b7f4dc4732"/>
    <p:sldId xmlns:r="http://schemas.openxmlformats.org/officeDocument/2006/relationships" id="273" r:id="Rbf0ca8762098456e"/>
    <p:sldId xmlns:r="http://schemas.openxmlformats.org/officeDocument/2006/relationships" id="274" r:id="R3e8e5f92673a44b3"/>
    <p:sldId xmlns:r="http://schemas.openxmlformats.org/officeDocument/2006/relationships" id="275" r:id="R1c7dfde7f571433c"/>
    <p:sldId xmlns:r="http://schemas.openxmlformats.org/officeDocument/2006/relationships" id="276" r:id="R7b85e96717de403a"/>
    <p:sldId xmlns:r="http://schemas.openxmlformats.org/officeDocument/2006/relationships" id="277" r:id="R468872e232da4fa2"/>
    <p:sldId xmlns:r="http://schemas.openxmlformats.org/officeDocument/2006/relationships" id="278" r:id="R415af8e58a0f4634"/>
    <p:sldId xmlns:r="http://schemas.openxmlformats.org/officeDocument/2006/relationships" id="279" r:id="R92b26db671ff46ba"/>
    <p:sldId xmlns:r="http://schemas.openxmlformats.org/officeDocument/2006/relationships" id="280" r:id="Rdc374659c14e4c5f"/>
    <p:sldId xmlns:r="http://schemas.openxmlformats.org/officeDocument/2006/relationships" id="281" r:id="R9ebb96f41b0046e6"/>
    <p:sldId xmlns:r="http://schemas.openxmlformats.org/officeDocument/2006/relationships" id="282" r:id="Rf463ec16f6984974"/>
    <p:sldId xmlns:r="http://schemas.openxmlformats.org/officeDocument/2006/relationships" id="283" r:id="R0fcd9a2896e842bb"/>
    <p:sldId xmlns:r="http://schemas.openxmlformats.org/officeDocument/2006/relationships" id="284" r:id="R98389fa39c4f48d7"/>
    <p:sldId xmlns:r="http://schemas.openxmlformats.org/officeDocument/2006/relationships" id="285" r:id="Rb1988c276b494fe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a0a469bde5847a8" /><Relationship Type="http://schemas.openxmlformats.org/officeDocument/2006/relationships/slideMaster" Target="/ppt/slideMasters/slideMaster1.xml" Id="Rc0adaa17904444e0" /><Relationship Type="http://schemas.openxmlformats.org/officeDocument/2006/relationships/notesMaster" Target="/ppt/notesMasters/notesMaster1.xml" Id="Re332ead3383c4cbb" /><Relationship Type="http://schemas.openxmlformats.org/officeDocument/2006/relationships/presProps" Target="/ppt/presProps.xml" Id="Re7ffd034e35d424a" /><Relationship Type="http://schemas.openxmlformats.org/officeDocument/2006/relationships/tableStyles" Target="/ppt/tableStyles.xml" Id="Rf0b95ae16efb45c2" /><Relationship Type="http://schemas.openxmlformats.org/officeDocument/2006/relationships/slide" Target="/ppt/slides/slide1.xml" Id="R90897b98f446442f" /><Relationship Type="http://schemas.openxmlformats.org/officeDocument/2006/relationships/slide" Target="/ppt/slides/slide2.xml" Id="R015138cda1c849ec" /><Relationship Type="http://schemas.openxmlformats.org/officeDocument/2006/relationships/slide" Target="/ppt/slides/slide3.xml" Id="Rbca41b5a02384b83" /><Relationship Type="http://schemas.openxmlformats.org/officeDocument/2006/relationships/slide" Target="/ppt/slides/slide4.xml" Id="Rce765c77d47b4e06" /><Relationship Type="http://schemas.openxmlformats.org/officeDocument/2006/relationships/slide" Target="/ppt/slides/slide5.xml" Id="Rffefb1a0134d46a3" /><Relationship Type="http://schemas.openxmlformats.org/officeDocument/2006/relationships/slide" Target="/ppt/slides/slide6.xml" Id="R2cf78ddffec84442" /><Relationship Type="http://schemas.openxmlformats.org/officeDocument/2006/relationships/slide" Target="/ppt/slides/slide7.xml" Id="R65d5b913f8074d99" /><Relationship Type="http://schemas.openxmlformats.org/officeDocument/2006/relationships/slide" Target="/ppt/slides/slide8.xml" Id="Refb4b5a79ea44a4a" /><Relationship Type="http://schemas.openxmlformats.org/officeDocument/2006/relationships/slide" Target="/ppt/slides/slide9.xml" Id="R6c822a28c449492e" /><Relationship Type="http://schemas.openxmlformats.org/officeDocument/2006/relationships/slide" Target="/ppt/slides/slide10.xml" Id="R506fc8c256784ff5" /><Relationship Type="http://schemas.openxmlformats.org/officeDocument/2006/relationships/slide" Target="/ppt/slides/slide11.xml" Id="Rfde23d2bfc0e4c7a" /><Relationship Type="http://schemas.openxmlformats.org/officeDocument/2006/relationships/slide" Target="/ppt/slides/slide12.xml" Id="R0076644ead5040c5" /><Relationship Type="http://schemas.openxmlformats.org/officeDocument/2006/relationships/slide" Target="/ppt/slides/slide13.xml" Id="Re92d01935eef492e" /><Relationship Type="http://schemas.openxmlformats.org/officeDocument/2006/relationships/slide" Target="/ppt/slides/slide14.xml" Id="R0b14a27831a54a81" /><Relationship Type="http://schemas.openxmlformats.org/officeDocument/2006/relationships/slide" Target="/ppt/slides/slide15.xml" Id="Rae27a24f58864ad8" /><Relationship Type="http://schemas.openxmlformats.org/officeDocument/2006/relationships/slide" Target="/ppt/slides/slide16.xml" Id="R8811f231f87b49f3" /><Relationship Type="http://schemas.openxmlformats.org/officeDocument/2006/relationships/slide" Target="/ppt/slides/slide17.xml" Id="R272123b7f4dc4732" /><Relationship Type="http://schemas.openxmlformats.org/officeDocument/2006/relationships/slide" Target="/ppt/slides/slide18.xml" Id="Rbf0ca8762098456e" /><Relationship Type="http://schemas.openxmlformats.org/officeDocument/2006/relationships/slide" Target="/ppt/slides/slide19.xml" Id="R3e8e5f92673a44b3" /><Relationship Type="http://schemas.openxmlformats.org/officeDocument/2006/relationships/slide" Target="/ppt/slides/slide20.xml" Id="R1c7dfde7f571433c" /><Relationship Type="http://schemas.openxmlformats.org/officeDocument/2006/relationships/slide" Target="/ppt/slides/slide21.xml" Id="R7b85e96717de403a" /><Relationship Type="http://schemas.openxmlformats.org/officeDocument/2006/relationships/slide" Target="/ppt/slides/slide22.xml" Id="R468872e232da4fa2" /><Relationship Type="http://schemas.openxmlformats.org/officeDocument/2006/relationships/slide" Target="/ppt/slides/slide23.xml" Id="R415af8e58a0f4634" /><Relationship Type="http://schemas.openxmlformats.org/officeDocument/2006/relationships/slide" Target="/ppt/slides/slide24.xml" Id="R92b26db671ff46ba" /><Relationship Type="http://schemas.openxmlformats.org/officeDocument/2006/relationships/slide" Target="/ppt/slides/slide25.xml" Id="Rdc374659c14e4c5f" /><Relationship Type="http://schemas.openxmlformats.org/officeDocument/2006/relationships/slide" Target="/ppt/slides/slide26.xml" Id="R9ebb96f41b0046e6" /><Relationship Type="http://schemas.openxmlformats.org/officeDocument/2006/relationships/slide" Target="/ppt/slides/slide27.xml" Id="Rf463ec16f6984974" /><Relationship Type="http://schemas.openxmlformats.org/officeDocument/2006/relationships/slide" Target="/ppt/slides/slide28.xml" Id="R0fcd9a2896e842bb" /><Relationship Type="http://schemas.openxmlformats.org/officeDocument/2006/relationships/slide" Target="/ppt/slides/slide29.xml" Id="R98389fa39c4f48d7" /><Relationship Type="http://schemas.openxmlformats.org/officeDocument/2006/relationships/slide" Target="/ppt/slides/slide30.xml" Id="Rb1988c276b494fe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5823c84879c484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5b7fd5f0062481f" /><Relationship Type="http://schemas.openxmlformats.org/officeDocument/2006/relationships/notesMaster" Target="/ppt/notesMasters/notesMaster1.xml" Id="Rdbdabf6332024cf3" /></Relationships>
</file>

<file path=ppt/notesSlides/_rels/notesSlide2.xml.rels>&#65279;<?xml version="1.0" encoding="utf-8"?><Relationships xmlns="http://schemas.openxmlformats.org/package/2006/relationships"><Relationship Type="http://schemas.openxmlformats.org/officeDocument/2006/relationships/slide" Target="/ppt/slides/slide2.xml" Id="R7b084e161e264cf0" /><Relationship Type="http://schemas.openxmlformats.org/officeDocument/2006/relationships/notesMaster" Target="/ppt/notesMasters/notesMaster1.xml" Id="R8615a74eff0b4b2c" /></Relationships>
</file>

<file path=ppt/notesSlides/_rels/notesSlide3.xml.rels>&#65279;<?xml version="1.0" encoding="utf-8"?><Relationships xmlns="http://schemas.openxmlformats.org/package/2006/relationships"><Relationship Type="http://schemas.openxmlformats.org/officeDocument/2006/relationships/slide" Target="/ppt/slides/slide3.xml" Id="R692edf96c9114d3a" /><Relationship Type="http://schemas.openxmlformats.org/officeDocument/2006/relationships/notesMaster" Target="/ppt/notesMasters/notesMaster1.xml" Id="Reb96b6fc0b494442" /></Relationships>
</file>

<file path=ppt/notesSlides/_rels/notesSlide4.xml.rels>&#65279;<?xml version="1.0" encoding="utf-8"?><Relationships xmlns="http://schemas.openxmlformats.org/package/2006/relationships"><Relationship Type="http://schemas.openxmlformats.org/officeDocument/2006/relationships/slide" Target="/ppt/slides/slide4.xml" Id="Rfcf1cbb02a174c0f" /><Relationship Type="http://schemas.openxmlformats.org/officeDocument/2006/relationships/notesMaster" Target="/ppt/notesMasters/notesMaster1.xml" Id="Rdae392bdaff94bc2" /></Relationships>
</file>

<file path=ppt/notesSlides/_rels/notesSlide5.xml.rels>&#65279;<?xml version="1.0" encoding="utf-8"?><Relationships xmlns="http://schemas.openxmlformats.org/package/2006/relationships"><Relationship Type="http://schemas.openxmlformats.org/officeDocument/2006/relationships/slide" Target="/ppt/slides/slide5.xml" Id="Ra40be12778e744f9" /><Relationship Type="http://schemas.openxmlformats.org/officeDocument/2006/relationships/notesMaster" Target="/ppt/notesMasters/notesMaster1.xml" Id="Rf7016a3215464ea4" /></Relationships>
</file>

<file path=ppt/notesSlides/_rels/notesSlide6.xml.rels>&#65279;<?xml version="1.0" encoding="utf-8"?><Relationships xmlns="http://schemas.openxmlformats.org/package/2006/relationships"><Relationship Type="http://schemas.openxmlformats.org/officeDocument/2006/relationships/slide" Target="/ppt/slides/slide6.xml" Id="R940bd8c756064e8d" /><Relationship Type="http://schemas.openxmlformats.org/officeDocument/2006/relationships/notesMaster" Target="/ppt/notesMasters/notesMaster1.xml" Id="R7951fd72e8494066" /></Relationships>
</file>

<file path=ppt/notesSlides/_rels/notesSlide7.xml.rels>&#65279;<?xml version="1.0" encoding="utf-8"?><Relationships xmlns="http://schemas.openxmlformats.org/package/2006/relationships"><Relationship Type="http://schemas.openxmlformats.org/officeDocument/2006/relationships/slide" Target="/ppt/slides/slide7.xml" Id="R91a306a702124319" /><Relationship Type="http://schemas.openxmlformats.org/officeDocument/2006/relationships/notesMaster" Target="/ppt/notesMasters/notesMaster1.xml" Id="R92ccc15be31842cf"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da5969e734487e" /><Relationship Type="http://schemas.openxmlformats.org/officeDocument/2006/relationships/notesMaster" Target="/ppt/notesMasters/notesMaster1.xml" Id="R3b658cdedae74ca6" /></Relationships>
</file>

<file path=ppt/notesSlides/_rels/notesSlide9.xml.rels>&#65279;<?xml version="1.0" encoding="utf-8"?><Relationships xmlns="http://schemas.openxmlformats.org/package/2006/relationships"><Relationship Type="http://schemas.openxmlformats.org/officeDocument/2006/relationships/slide" Target="/ppt/slides/slide9.xml" Id="Rfa974367416c4204" /><Relationship Type="http://schemas.openxmlformats.org/officeDocument/2006/relationships/notesMaster" Target="/ppt/notesMasters/notesMaster1.xml" Id="R30efd76533a5477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07942a40b2e402a" /><Relationship Type="http://schemas.openxmlformats.org/officeDocument/2006/relationships/notesMaster" Target="/ppt/notesMasters/notesMaster1.xml" Id="R99ae9a4378f14b5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d663f4190234b9f" /><Relationship Type="http://schemas.openxmlformats.org/officeDocument/2006/relationships/notesMaster" Target="/ppt/notesMasters/notesMaster1.xml" Id="R70a9f9f33226477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ba27ab3548448f9" /><Relationship Type="http://schemas.openxmlformats.org/officeDocument/2006/relationships/notesMaster" Target="/ppt/notesMasters/notesMaster1.xml" Id="R64214ed15a4143f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126abad53ae470a" /><Relationship Type="http://schemas.openxmlformats.org/officeDocument/2006/relationships/notesMaster" Target="/ppt/notesMasters/notesMaster1.xml" Id="Rc259f856f33140d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e2d40cde3a34c85" /><Relationship Type="http://schemas.openxmlformats.org/officeDocument/2006/relationships/notesMaster" Target="/ppt/notesMasters/notesMaster1.xml" Id="Ree5c050dc87d4b9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ce19f7a152f4849" /><Relationship Type="http://schemas.openxmlformats.org/officeDocument/2006/relationships/notesMaster" Target="/ppt/notesMasters/notesMaster1.xml" Id="Rd2867487f269434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e31a1c005ca486e" /><Relationship Type="http://schemas.openxmlformats.org/officeDocument/2006/relationships/notesMaster" Target="/ppt/notesMasters/notesMaster1.xml" Id="R83c41527efa5400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2b0eaf770f1422e" /><Relationship Type="http://schemas.openxmlformats.org/officeDocument/2006/relationships/notesMaster" Target="/ppt/notesMasters/notesMaster1.xml" Id="R862817df68d0423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a85507a4ea0448e" /><Relationship Type="http://schemas.openxmlformats.org/officeDocument/2006/relationships/notesMaster" Target="/ppt/notesMasters/notesMaster1.xml" Id="R78edbc835e7f455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22c2e476dc3427f" /><Relationship Type="http://schemas.openxmlformats.org/officeDocument/2006/relationships/notesMaster" Target="/ppt/notesMasters/notesMaster1.xml" Id="R1c982b18e819482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1d05221abbc4a81" /><Relationship Type="http://schemas.openxmlformats.org/officeDocument/2006/relationships/notesMaster" Target="/ppt/notesMasters/notesMaster1.xml" Id="R7e03ed7d0a504e3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8659d65cbce4daf" /><Relationship Type="http://schemas.openxmlformats.org/officeDocument/2006/relationships/notesMaster" Target="/ppt/notesMasters/notesMaster1.xml" Id="R5d278feeb5474ec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1431e50663543db" /><Relationship Type="http://schemas.openxmlformats.org/officeDocument/2006/relationships/notesMaster" Target="/ppt/notesMasters/notesMaster1.xml" Id="R5ae34fbbc8524c7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cb597a75a7a431c" /><Relationship Type="http://schemas.openxmlformats.org/officeDocument/2006/relationships/notesMaster" Target="/ppt/notesMasters/notesMaster1.xml" Id="R74384755c3d94a4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c13e87a862e45f7" /><Relationship Type="http://schemas.openxmlformats.org/officeDocument/2006/relationships/notesMaster" Target="/ppt/notesMasters/notesMaster1.xml" Id="R4dcca94e48e84dd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d5f26aa42824f19" /><Relationship Type="http://schemas.openxmlformats.org/officeDocument/2006/relationships/notesMaster" Target="/ppt/notesMasters/notesMaster1.xml" Id="Rdd4cdcf68f014e0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8928326d59e47f2" /><Relationship Type="http://schemas.openxmlformats.org/officeDocument/2006/relationships/notesMaster" Target="/ppt/notesMasters/notesMaster1.xml" Id="R31886f76ede34af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c7de8b62e1f448c" /><Relationship Type="http://schemas.openxmlformats.org/officeDocument/2006/relationships/notesMaster" Target="/ppt/notesMasters/notesMaster1.xml" Id="Rc72976640a50434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c192555bfde47db" /><Relationship Type="http://schemas.openxmlformats.org/officeDocument/2006/relationships/notesMaster" Target="/ppt/notesMasters/notesMaster1.xml" Id="Ra818bbc33f1e45b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d0df137bb2e4176" /><Relationship Type="http://schemas.openxmlformats.org/officeDocument/2006/relationships/notesMaster" Target="/ppt/notesMasters/notesMaster1.xml" Id="R57a8f61da55049d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107345a060340df" /><Relationship Type="http://schemas.openxmlformats.org/officeDocument/2006/relationships/notesMaster" Target="/ppt/notesMasters/notesMaster1.xml" Id="R3adc9400a7d540b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https://www.americangaming.org/resources/state-of-the-states-2026/</a:t>
            </a:r>
          </a:p>
          <a:p xmlns:a="http://schemas.openxmlformats.org/drawingml/2006/main">
            <a:r>
              <a:t>[100] https://americanplace.com/gaming/table-games/</a:t>
            </a:r>
          </a:p>
          <a:p xmlns:a="http://schemas.openxmlformats.org/drawingml/2006/main">
            <a:r>
              <a:t>[101] https://americanplace.com/faq/?utm_source=openai</a:t>
            </a:r>
          </a:p>
          <a:p xmlns:a="http://schemas.openxmlformats.org/drawingml/2006/main">
            <a:r>
              <a:t>[102] https://americanplace.com/blog/full-house-resorts-to-break-ground-on-the-permanent-american-place-casino/</a:t>
            </a:r>
          </a:p>
          <a:p xmlns:a="http://schemas.openxmlformats.org/drawingml/2006/main">
            <a:r>
              <a:t>[103] https://www.sec.gov/Archives/edgar/data/891482/000089148226000040/fll-20260902x8k.htm</a:t>
            </a:r>
          </a:p>
          <a:p xmlns:a="http://schemas.openxmlformats.org/drawingml/2006/main">
            <a:r>
              <a:t>[104] https://www.illinois.gov/content/dam/soi/en/web/illinois/iisnewsattachments/32616-061226-r-gaming-board-meeting-june-2026-final.pdf.pdf</a:t>
            </a:r>
          </a:p>
          <a:p xmlns:a="http://schemas.openxmlformats.org/drawingml/2006/main">
            <a:r>
              <a:t>[14] https://igb.illinois.gov/content/dam/soi/en/web/igb/documents/board-meetings/minutes/2024/20240912-open-meeting-minutes.pdf</a:t>
            </a:r>
          </a:p>
          <a:p xmlns:a="http://schemas.openxmlformats.org/drawingml/2006/main">
            <a:r>
              <a:t>[15] https://www.hardrock.com/blog/hard-rock-casino-rockford-reveals-grand-opening-date-for-permanent-facility</a:t>
            </a:r>
          </a:p>
          <a:p xmlns:a="http://schemas.openxmlformats.org/drawingml/2006/main">
            <a:r>
              <a:t>[16] https://windcreek.com/news/2024/11/wind-creek-chicago-southland-confirms-casino-doors-open-on-nov-11</a:t>
            </a:r>
          </a:p>
          <a:p xmlns:a="http://schemas.openxmlformats.org/drawingml/2006/main">
            <a:r>
              <a:t>[17] https://pennnationalgaming.gcs-web.com/news-releases/news-release-details/penn-entertainment-celebrates-grand-opening-hollywood-casino-and</a:t>
            </a:r>
          </a:p>
          <a:p xmlns:a="http://schemas.openxmlformats.org/drawingml/2006/main">
            <a:r>
              <a:t>[2] https://www.americangaming.org/resources/commercial-gaming-revenue-tracker/</a:t>
            </a:r>
          </a:p>
          <a:p xmlns:a="http://schemas.openxmlformats.org/drawingml/2006/main">
            <a:r>
              <a:t>[20] https://www.ballys.com/news/news-details/2024/Ballys-Announces-Refreshed-Site-Plan-that-Restores-500-room-Hotel-Tower-Plan-into-Single-Phase-Project/default.aspx</a:t>
            </a:r>
          </a:p>
          <a:p xmlns:a="http://schemas.openxmlformats.org/drawingml/2006/main">
            <a:r>
              <a:t>[36] https://investors.fullhouseresorts.com/news-events/press-releases/detail/287/full-house-resorts-announces-fourth-quarter-results</a:t>
            </a:r>
          </a:p>
          <a:p xmlns:a="http://schemas.openxmlformats.org/drawingml/2006/main">
            <a:r>
              <a:t>[37] https://americanplace.com/</a:t>
            </a:r>
          </a:p>
          <a:p xmlns:a="http://schemas.openxmlformats.org/drawingml/2006/main">
            <a:r>
              <a:t>[38] https://www.sec.gov/Archives/edgar/data/891482/000089148226000004/fll-20260303x8k.htm</a:t>
            </a:r>
          </a:p>
          <a:p xmlns:a="http://schemas.openxmlformats.org/drawingml/2006/main">
            <a:r>
              <a:t>[41] https://investors.fullhouseresorts.com/sec-filings/all-sec-filings/content/0000891482-26-000007/fll-20251231x10k.htm</a:t>
            </a:r>
          </a:p>
          <a:p xmlns:a="http://schemas.openxmlformats.org/drawingml/2006/main">
            <a:r>
              <a:t>[42] https://americanplace.com/gaming/harbor-poker-room/</a:t>
            </a:r>
          </a:p>
          <a:p xmlns:a="http://schemas.openxmlformats.org/drawingml/2006/main">
            <a:r>
              <a:t>[43] https://americanplace.com/gaming/sportsbook/</a:t>
            </a:r>
          </a:p>
          <a:p xmlns:a="http://schemas.openxmlformats.org/drawingml/2006/main">
            <a:r>
              <a:t>[45] https://americanplace.com/entertainment/</a:t>
            </a:r>
          </a:p>
          <a:p xmlns:a="http://schemas.openxmlformats.org/drawingml/2006/main">
            <a:r>
              <a:t>[49] https://americanplace.com/rewards/</a:t>
            </a:r>
          </a:p>
          <a:p xmlns:a="http://schemas.openxmlformats.org/drawingml/2006/main">
            <a:r>
              <a:t>[50] https://americanplace.com/terms-conditions-ap-rewards/</a:t>
            </a:r>
          </a:p>
          <a:p xmlns:a="http://schemas.openxmlformats.org/drawingml/2006/main">
            <a:r>
              <a:t>[51] https://americanplace.com/gaming/harbor-poker-room/</a:t>
            </a:r>
          </a:p>
          <a:p xmlns:a="http://schemas.openxmlformats.org/drawingml/2006/main">
            <a:r>
              <a:t>[57] https://americanplace.com/dining/canoe-bar/</a:t>
            </a:r>
          </a:p>
          <a:p xmlns:a="http://schemas.openxmlformats.org/drawingml/2006/main">
            <a:r>
              <a:t>[58] https://americanplace.com/entertainment/</a:t>
            </a:r>
          </a:p>
          <a:p xmlns:a="http://schemas.openxmlformats.org/drawingml/2006/main">
            <a:r>
              <a:t>[59] https://americanplace.com/entertainment/the-lighthouse/</a:t>
            </a:r>
          </a:p>
          <a:p xmlns:a="http://schemas.openxmlformats.org/drawingml/2006/main">
            <a:r>
              <a:t>[60] https://americanplace.com/meetings-and-social-events/</a:t>
            </a:r>
          </a:p>
          <a:p xmlns:a="http://schemas.openxmlformats.org/drawingml/2006/main">
            <a:r>
              <a:t>[72] https://www.illinois.gov/content/dam/soi/en/web/illinois/iisnewsattachments/31575-080425-r-advertisingrulesfinalaug2025.pdf.pdf</a:t>
            </a:r>
          </a:p>
          <a:p xmlns:a="http://schemas.openxmlformats.org/drawingml/2006/main">
            <a:r>
              <a:t>[88] https://investors.fullhouseresorts.com/sec-filings/annual-reports/content/0000891482-25-000009/0000891482-25-000009.pdf</a:t>
            </a:r>
          </a:p>
          <a:p xmlns:a="http://schemas.openxmlformats.org/drawingml/2006/main">
            <a:r>
              <a:t>[9] https://www.circasports.com/licensee-info?utm_source=openai</a:t>
            </a:r>
          </a:p>
          <a:p xmlns:a="http://schemas.openxmlformats.org/drawingml/2006/main">
            <a:r>
              <a:t>[90] https://americanplace.com/blog/full-house-resorts-to-break-ground-on-the-permanent-american-place-casino/</a:t>
            </a:r>
          </a:p>
          <a:p xmlns:a="http://schemas.openxmlformats.org/drawingml/2006/main">
            <a:r>
              <a:t>[91] https://www.sec.gov/Archives/edgar/data/891482/000089148226000040/fll-20260902xex10d1.htm</a:t>
            </a:r>
          </a:p>
          <a:p xmlns:a="http://schemas.openxmlformats.org/drawingml/2006/main">
            <a:r>
              <a:t>[99] https://americanplace.com/wp-content/uploads/2026/01/2026-AP-Rewards-Rack-Card.pdf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[64] https://doc.binocs.co/18180/CIM/American-casinos-CIM.pdf?page=7</a:t>
            </a:r>
          </a:p>
          <a:p xmlns:a="http://schemas.openxmlformats.org/drawingml/2006/main">
            <a:r>
              <a:t>[67] https://doc.binocs.co/18180/CIM/American-casinos-CIM.pdf?page=23</a:t>
            </a:r>
          </a:p>
          <a:p xmlns:a="http://schemas.openxmlformats.org/drawingml/2006/main">
            <a:r>
              <a:t>[70] https://doc.binocs.co/18180/CIM/American-casinos-CIM.pdf?page=29</a:t>
            </a:r>
          </a:p>
          <a:p xmlns:a="http://schemas.openxmlformats.org/drawingml/2006/main">
            <a:r>
              <a:t>[73] https://doc.binocs.co/18180/CIM/American-casinos-CIM.pdf?page=35</a:t>
            </a:r>
          </a:p>
          <a:p xmlns:a="http://schemas.openxmlformats.org/drawingml/2006/main">
            <a:r>
              <a:t>[74] https://doc.binocs.co/18180/CIM/American-casinos-CIM.pdf?page=36</a:t>
            </a:r>
          </a:p>
          <a:p xmlns:a="http://schemas.openxmlformats.org/drawingml/2006/main">
            <a:r>
              <a:t>[75] https://doc.binocs.co/18180/CIM/American-casinos-CIM.pdf?page=38</a:t>
            </a:r>
          </a:p>
          <a:p xmlns:a="http://schemas.openxmlformats.org/drawingml/2006/main">
            <a:r>
              <a:t>[20] https://americanplace.com/dining/</a:t>
            </a:r>
          </a:p>
          <a:p xmlns:a="http://schemas.openxmlformats.org/drawingml/2006/main">
            <a:r>
              <a:t>[21] https://americanplace.com/entertainment/</a:t>
            </a:r>
          </a:p>
          <a:p xmlns:a="http://schemas.openxmlformats.org/drawingml/2006/main">
            <a:r>
              <a:t>[28] https://doc.binocs.co/18180/CIM/American-casinos-CIM.pdf?page=24</a:t>
            </a:r>
          </a:p>
          <a:p xmlns:a="http://schemas.openxmlformats.org/drawingml/2006/main">
            <a:r>
              <a:t>[39] https://doc.binocs.co/18180/CIM/American-casinos-CIM.pdf?page=48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 https://www.illinois.gov/content/dam/soi/en/web/illinois/iisnewsattachments/26599-illinois-gaming-board-finds-chicago-casino-applicant-preliminarily-suitable.pdf</a:t>
            </a:r>
          </a:p>
          <a:p xmlns:a="http://schemas.openxmlformats.org/drawingml/2006/main">
            <a:r>
              <a:t>[14] https://investors.fullhouseresorts.com/sec-filings/all-sec-filings/content/0000891482-26-000007/fll-20251231x10k.htm</a:t>
            </a:r>
          </a:p>
          <a:p xmlns:a="http://schemas.openxmlformats.org/drawingml/2006/main">
            <a:r>
              <a:t>[15] https://americanplace.com/gaming/harbor-poker-room/</a:t>
            </a:r>
          </a:p>
          <a:p xmlns:a="http://schemas.openxmlformats.org/drawingml/2006/main">
            <a:r>
              <a:t>[16] https://americanplace.com/gaming/sportsbook/</a:t>
            </a:r>
          </a:p>
          <a:p xmlns:a="http://schemas.openxmlformats.org/drawingml/2006/main">
            <a:r>
              <a:t>[17] https://americanplace.com/#dining</a:t>
            </a:r>
          </a:p>
          <a:p xmlns:a="http://schemas.openxmlformats.org/drawingml/2006/main">
            <a:r>
              <a:t>[18] https://americanplace.com/entertainment/</a:t>
            </a:r>
          </a:p>
          <a:p xmlns:a="http://schemas.openxmlformats.org/drawingml/2006/main">
            <a:r>
              <a:t>[2] https://www.illinois.gov/content/dam/soi/en/web/illinois/iisnewsattachments/32616-061226-r-gaming-board-meeting-june-2026-final.pdf.pdf</a:t>
            </a:r>
          </a:p>
          <a:p xmlns:a="http://schemas.openxmlformats.org/drawingml/2006/main">
            <a:r>
              <a:t>[80] https://americanplace.com/meetings-and-social-events/</a:t>
            </a:r>
          </a:p>
          <a:p xmlns:a="http://schemas.openxmlformats.org/drawingml/2006/main">
            <a:r>
              <a:t>[12] https://www.sec.gov/Archives/edgar/data/891482/000089148225000018/fll-20250515xdef14a.htm</a:t>
            </a:r>
          </a:p>
          <a:p xmlns:a="http://schemas.openxmlformats.org/drawingml/2006/main">
            <a:r>
              <a:t>[20] https://www.circasports.com/illinois-locations</a:t>
            </a:r>
          </a:p>
          <a:p xmlns:a="http://schemas.openxmlformats.org/drawingml/2006/main">
            <a:r>
              <a:t>[22] https://americanplace.com/blog/full-house-resorts-to-break-ground-on-the-permanent-american-place-casino/</a:t>
            </a:r>
          </a:p>
          <a:p xmlns:a="http://schemas.openxmlformats.org/drawingml/2006/main">
            <a:r>
              <a:t>[23] https://americanplace.com/dining/canoe-bar/</a:t>
            </a:r>
          </a:p>
          <a:p xmlns:a="http://schemas.openxmlformats.org/drawingml/2006/main">
            <a:r>
              <a:t>[24] https://americanplace.com/entertainment/</a:t>
            </a:r>
          </a:p>
          <a:p xmlns:a="http://schemas.openxmlformats.org/drawingml/2006/main">
            <a:r>
              <a:t>[25] https://americanplace.com/entertainment/the-lighthouse/</a:t>
            </a:r>
          </a:p>
          <a:p xmlns:a="http://schemas.openxmlformats.org/drawingml/2006/main">
            <a:r>
              <a:t>[26] https://americanplace.com/meetings-and-social-events/</a:t>
            </a:r>
          </a:p>
          <a:p xmlns:a="http://schemas.openxmlformats.org/drawingml/2006/main">
            <a:r>
              <a:t>[51] https://doc.binocs.co/18180/CIM/American-casinos-CIM.pdf?page=35</a:t>
            </a:r>
          </a:p>
          <a:p xmlns:a="http://schemas.openxmlformats.org/drawingml/2006/main">
            <a:r>
              <a:t>[52] https://doc.binocs.co/18180/CIM/American-casinos-CIM.pdf?page=36</a:t>
            </a:r>
          </a:p>
          <a:p xmlns:a="http://schemas.openxmlformats.org/drawingml/2006/main">
            <a:r>
              <a:t>[53] https://doc.binocs.co/18180/CIM/American-casinos-CIM.pdf?page=38</a:t>
            </a:r>
          </a:p>
          <a:p xmlns:a="http://schemas.openxmlformats.org/drawingml/2006/main">
            <a:r>
              <a:t>[11] https://investors.fullhouseresorts.com/</a:t>
            </a:r>
          </a:p>
          <a:p xmlns:a="http://schemas.openxmlformats.org/drawingml/2006/main">
            <a:r>
              <a:t>[19] https://www.sec.gov/Archives/edgar/data/891482/000089148225000018/fll-20250515xdef14a.htm</a:t>
            </a:r>
          </a:p>
          <a:p xmlns:a="http://schemas.openxmlformats.org/drawingml/2006/main">
            <a:r>
              <a:t>[54] https://investors.fullhouseresorts.com/sec-filings/all-sec-filings/content/0000891482-26-000007/fll-20251231x10k.htm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https://doc.binocs.co/18180/CIM/American-casinos-CIM.pdf?page=5</a:t>
            </a:r>
          </a:p>
          <a:p xmlns:a="http://schemas.openxmlformats.org/drawingml/2006/main">
            <a:r>
              <a:t>[2] https://ielp.gcs-web.com/static-files/edea9789-34db-4478-b8da-5610a0cf526e</a:t>
            </a:r>
          </a:p>
          <a:p xmlns:a="http://schemas.openxmlformats.org/drawingml/2006/main">
            <a:r>
              <a:t>[58] https://investors.fullhouseresorts.com/sec-filings/annual-reports/content/0000891482-25-000009/0000891482-25-000009.pdf</a:t>
            </a:r>
          </a:p>
          <a:p xmlns:a="http://schemas.openxmlformats.org/drawingml/2006/main">
            <a:r>
              <a:t>[76] https://doc.binocs.co/18180/CIM/American-casinos-CIM.pdf?page=41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https://www.sec.gov/Archives/edgar/data/891482/000089148226000040/fll-20260902xex10d1.htm</a:t>
            </a:r>
          </a:p>
          <a:p xmlns:a="http://schemas.openxmlformats.org/drawingml/2006/main">
            <a:r>
              <a:t>[2] https://www.illinois.gov/content/dam/soi/en/web/illinois/iisnewsattachments/32616-061226-r-gaming-board-meeting-june-2026-final.pdf.pdf</a:t>
            </a:r>
          </a:p>
          <a:p xmlns:a="http://schemas.openxmlformats.org/drawingml/2006/main">
            <a:r>
              <a:t>[3] https://americanplace.com/blog/full-house-resorts-to-break-ground-on-the-permanent-american-place-casino/</a:t>
            </a:r>
          </a:p>
          <a:p xmlns:a="http://schemas.openxmlformats.org/drawingml/2006/main">
            <a:r>
              <a:t>[4] https://americanplace.com/full-house-resorts-and-american-place-casino-name-mario-maesano-as-assistant-general-manager/</a:t>
            </a:r>
          </a:p>
          <a:p xmlns:a="http://schemas.openxmlformats.org/drawingml/2006/main">
            <a:r>
              <a:t>[5] https://americanplace.com/gaming/harbor-poker-room/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https://igb.illinois.gov/content/dam/soi/en/web/igb/documents/reports/annual-reports/igb-annual-reports/2024-igb-annual-report.pdf</a:t>
            </a:r>
          </a:p>
          <a:p xmlns:a="http://schemas.openxmlformats.org/drawingml/2006/main">
            <a:r>
              <a:t>[11] https://investors.fullhouseresorts.com/sec-filings/all-sec-filings/content/0000891482-26-000007/fll-20251231x10k.htm</a:t>
            </a:r>
          </a:p>
          <a:p xmlns:a="http://schemas.openxmlformats.org/drawingml/2006/main">
            <a:r>
              <a:t>[12] https://americanplace.com/rewards/</a:t>
            </a:r>
          </a:p>
          <a:p xmlns:a="http://schemas.openxmlformats.org/drawingml/2006/main">
            <a:r>
              <a:t>[13] https://americanplace.com/gaming/harbor-poker-room/</a:t>
            </a:r>
          </a:p>
          <a:p xmlns:a="http://schemas.openxmlformats.org/drawingml/2006/main">
            <a:r>
              <a:t>[14] https://sportshandle.com/circa-sports-illinois-launch/</a:t>
            </a:r>
          </a:p>
          <a:p xmlns:a="http://schemas.openxmlformats.org/drawingml/2006/main">
            <a:r>
              <a:t>[15] https://igb.illinois.gov/content/dam/soi/en/web/igb/documents/reports/annual-reports/igb-annual-reports/2024-igb-annual-report.pdf</a:t>
            </a:r>
          </a:p>
          <a:p xmlns:a="http://schemas.openxmlformats.org/drawingml/2006/main">
            <a:r>
              <a:t>[1] https://investors.fullhouseresorts.com/sec-filings/all-sec-filings/content/0000891482-26-000007/fll-20251231x10k.htm</a:t>
            </a:r>
          </a:p>
          <a:p xmlns:a="http://schemas.openxmlformats.org/drawingml/2006/main">
            <a:r>
              <a:t>[3] https://americanplace.com/rewards/</a:t>
            </a:r>
          </a:p>
          <a:p xmlns:a="http://schemas.openxmlformats.org/drawingml/2006/main">
            <a:r>
              <a:t>[5] https://americanplace.com/gaming/harbor-poker-room/</a:t>
            </a:r>
          </a:p>
          <a:p xmlns:a="http://schemas.openxmlformats.org/drawingml/2006/main">
            <a:r>
              <a:t>[6] https://sportshandle.com/circa-sports-illinois-launch/</a:t>
            </a:r>
          </a:p>
          <a:p xmlns:a="http://schemas.openxmlformats.org/drawingml/2006/main">
            <a:r>
              <a:t>[7] https://igb.illinois.gov/content/dam/soi/en/web/igb/documents/reports/annual-reports/igb-annual-reports/2024-igb-annual-report.pdf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https://par.illinoiscomptroller.gov/index.cfm?AgencyNo=565&amp;FiscalYear=2024&amp;ProgramAreaGroupID=2&amp;ProgramID=1&amp;UniqueProgramID=5651</a:t>
            </a:r>
          </a:p>
          <a:p xmlns:a="http://schemas.openxmlformats.org/drawingml/2006/main">
            <a:r>
              <a:t>[10] https://www.ballys.com/news/news-details/2024/Ballys-Announces-Refreshed-Site-Plan-that-Restores-500-room-Hotel-Tower-Plan-into-Single-Phase-Project/default.aspx</a:t>
            </a:r>
          </a:p>
          <a:p xmlns:a="http://schemas.openxmlformats.org/drawingml/2006/main">
            <a:r>
              <a:t>[11] https://www.yogonet.com/international/news/2026/06/16/124089-bally-39s-chicago-gets-oneyear-extension-to-complete-permanent-casino-project</a:t>
            </a:r>
          </a:p>
          <a:p xmlns:a="http://schemas.openxmlformats.org/drawingml/2006/main">
            <a:r>
              <a:t>[12] https://www.illinois.gov/content/dam/soi/en/web/illinois/iisnewsattachments/31575-080425-r-advertisingrulesfinalaug2025.pdf.pdf</a:t>
            </a:r>
          </a:p>
          <a:p xmlns:a="http://schemas.openxmlformats.org/drawingml/2006/main">
            <a:r>
              <a:t>[13] https://www.law.cornell.edu/regulations/illinois/Ill-Admin-Code-tit-86-SS-3000.665</a:t>
            </a:r>
          </a:p>
          <a:p xmlns:a="http://schemas.openxmlformats.org/drawingml/2006/main">
            <a:r>
              <a:t>[2] https://budget.illinois.gov/content/dam/soi/en/web/budget/documents/budget-book/fy2026-budget/Fiscal-Year-2026-Operating-Budget.pdf</a:t>
            </a:r>
          </a:p>
          <a:p xmlns:a="http://schemas.openxmlformats.org/drawingml/2006/main">
            <a:r>
              <a:t>[3] https://cdcgaming.com/brief/video-gambling-revenue-collections-continue-to-grow-for-illinois-local-governments/</a:t>
            </a:r>
          </a:p>
          <a:p xmlns:a="http://schemas.openxmlformats.org/drawingml/2006/main">
            <a:r>
              <a:t>[4] https://igb.illinois.gov/content/dam/soi/en/web/igb/documents/board-meetings/minutes/2024/20240912-open-meeting-minutes.pdf</a:t>
            </a:r>
          </a:p>
          <a:p xmlns:a="http://schemas.openxmlformats.org/drawingml/2006/main">
            <a:r>
              <a:t>[5] https://www.hardrock.com/blog/hard-rock-casino-rockford-reveals-grand-opening-date-for-permanent-facility</a:t>
            </a:r>
          </a:p>
          <a:p xmlns:a="http://schemas.openxmlformats.org/drawingml/2006/main">
            <a:r>
              <a:t>[6] https://windcreek.com/news/2024/11/wind-creek-chicago-southland-confirms-casino-doors-open-on-nov-11</a:t>
            </a:r>
          </a:p>
          <a:p xmlns:a="http://schemas.openxmlformats.org/drawingml/2006/main">
            <a:r>
              <a:t>[7] https://pennnationalgaming.gcs-web.com/news-releases/news-release-details/penn-entertainment-celebrates-grand-opening-hollywood-casino-and</a:t>
            </a:r>
          </a:p>
          <a:p xmlns:a="http://schemas.openxmlformats.org/drawingml/2006/main">
            <a:r>
              <a:t>[8] https://www.nbcchicago.com/news/local/ballys-says-its-chicago-casino-will-open-on-time-despite-financial-issues/3978163/</a:t>
            </a:r>
          </a:p>
          <a:p xmlns:a="http://schemas.openxmlformats.org/drawingml/2006/main">
            <a:r>
              <a:t>[9] https://chicago.suntimes.com/news/2026/08/09/ballys-to-stop-work-on-some-amenities-at-permanent-chicago-casino-development-amid-video-gambling-dispute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https://www.americangaming.org/resources/state-of-the-states-2026/</a:t>
            </a:r>
          </a:p>
          <a:p xmlns:a="http://schemas.openxmlformats.org/drawingml/2006/main">
            <a:r>
              <a:t>[10] https://www.americangaming.org/wp-content/uploads/2026/05/Gaming-Industry-Outlook-Spring-2026.pdf?utm_source=openai</a:t>
            </a:r>
          </a:p>
          <a:p xmlns:a="http://schemas.openxmlformats.org/drawingml/2006/main">
            <a:r>
              <a:t>[11] https://www.americangaming.org/new-aga-analysis-reveals-illegal-gaming-remains-nearly-a-third-of-the-u-s-market/?utm_source=openai</a:t>
            </a:r>
          </a:p>
          <a:p xmlns:a="http://schemas.openxmlformats.org/drawingml/2006/main">
            <a:r>
              <a:t>[12] https://www.americangaming.org/resources/gaming-industry-outlook/?utm_source=openai</a:t>
            </a:r>
          </a:p>
          <a:p xmlns:a="http://schemas.openxmlformats.org/drawingml/2006/main">
            <a:r>
              <a:t>[14] https://investors.fullhouseresorts.com/sec-filings/annual-reports/content/0000891482-25-000009/0000891482-25-000009.pdf?utm_source=openai</a:t>
            </a:r>
          </a:p>
          <a:p xmlns:a="http://schemas.openxmlformats.org/drawingml/2006/main">
            <a:r>
              <a:t>[17] https://www.circasports.com/licensee-info?utm_source=openai</a:t>
            </a:r>
          </a:p>
          <a:p xmlns:a="http://schemas.openxmlformats.org/drawingml/2006/main">
            <a:r>
              <a:t>[2] https://www.americangaming.org/resources/commercial-gaming-revenue-tracker/</a:t>
            </a:r>
          </a:p>
          <a:p xmlns:a="http://schemas.openxmlformats.org/drawingml/2006/main">
            <a:r>
              <a:t>[6] https://www.americangaming.org/resources/american-attitudes-towards-gaming/?utm_source=openai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https://doc.binocs.co/18180/CIM/American-casinos-CIM.pdf?page=46</a:t>
            </a:r>
          </a:p>
          <a:p xmlns:a="http://schemas.openxmlformats.org/drawingml/2006/main">
            <a:r>
              <a:t>[2] https://doc.binocs.co/18180/CIM/American-casinos-CIM.pdf?page=48</a:t>
            </a:r>
          </a:p>
          <a:p xmlns:a="http://schemas.openxmlformats.org/drawingml/2006/main">
            <a:r>
              <a:t>[3] https://doc.binocs.co/18180/CIM/American-casinos-CIM.pdf?page=26</a:t>
            </a:r>
          </a:p>
          <a:p xmlns:a="http://schemas.openxmlformats.org/drawingml/2006/main">
            <a:r>
              <a:t>[4] https://doc.binocs.co/18180/CIM/American-casinos-CIM.pdf?page=5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https://doc.binocs.co/18180/CIM/American-casinos-CIM.pdf?page=46</a:t>
            </a:r>
          </a:p>
          <a:p xmlns:a="http://schemas.openxmlformats.org/drawingml/2006/main">
            <a:r>
              <a:t>[2] https://doc.binocs.co/18180/CIM/American-casinos-CIM.pdf?page=48</a:t>
            </a:r>
          </a:p>
          <a:p xmlns:a="http://schemas.openxmlformats.org/drawingml/2006/main">
            <a:r>
              <a:t>[3] https://doc.binocs.co/18180/CIM/American-casinos-CIM.pdf?page=26</a:t>
            </a:r>
          </a:p>
          <a:p xmlns:a="http://schemas.openxmlformats.org/drawingml/2006/main">
            <a:r>
              <a:t>[4] https://doc.binocs.co/18180/CIM/American-casinos-CIM.pdf?page=5</a:t>
            </a:r>
          </a:p>
          <a:p xmlns:a="http://schemas.openxmlformats.org/drawingml/2006/main">
            <a:r>
              <a:t>[5] https://doc.binocs.co/18180/CIM/American-casinos-CIM.pdf?page=32</a:t>
            </a:r>
          </a:p>
          <a:p xmlns:a="http://schemas.openxmlformats.org/drawingml/2006/main">
            <a:r>
              <a:t>[6] https://doc.binocs.co/18180/CIM/American-casinos-CIM.pdf?page=38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https://doc.binocs.co/18180/CIM/American-casinos-CIM.pdf?page=48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https://doc.binocs.co/18180/CIM/American-casinos-CIM.pdf?page=19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https://www.ballys.com/news/news-details/2024/Ballys-Announces-Refreshed-Site-Plan-that-Restores-500-room-Hotel-Tower-Plan-into-Single-Phase-Project/default.aspx</a:t>
            </a:r>
          </a:p>
          <a:p xmlns:a="http://schemas.openxmlformats.org/drawingml/2006/main">
            <a:r>
              <a:t>[11] https://www.yogonet.com/international/news/2026/06/16/124089-bally-39s-chicago-gets-oneyear-extension-to-complete-permanent-casino-project</a:t>
            </a:r>
          </a:p>
          <a:p xmlns:a="http://schemas.openxmlformats.org/drawingml/2006/main">
            <a:r>
              <a:t>[12] https://www.illinois.gov/content/dam/soi/en/web/illinois/iisnewsattachments/31575-080425-r-advertisingrulesfinalaug2025.pdf.pdf</a:t>
            </a:r>
          </a:p>
          <a:p xmlns:a="http://schemas.openxmlformats.org/drawingml/2006/main">
            <a:r>
              <a:t>[18] https://www.americangaming.org/resources/commercial-gaming-revenue-tracker/</a:t>
            </a:r>
          </a:p>
          <a:p xmlns:a="http://schemas.openxmlformats.org/drawingml/2006/main">
            <a:r>
              <a:t>[2] https://budget.illinois.gov/content/dam/soi/en/web/budget/documents/budget-book/fy2026-budget/Fiscal-Year-2026-Operating-Budget.pdf</a:t>
            </a:r>
          </a:p>
          <a:p xmlns:a="http://schemas.openxmlformats.org/drawingml/2006/main">
            <a:r>
              <a:t>[23] https://investors.fullhouseresorts.com/sec-filings/annual-reports/content/0000891482-25-000009/0000891482-25-000009.pdf?utm_source=openai</a:t>
            </a:r>
          </a:p>
          <a:p xmlns:a="http://schemas.openxmlformats.org/drawingml/2006/main">
            <a:r>
              <a:t>[5] https://www.hardrock.com/blog/hard-rock-casino-rockford-reveals-grand-opening-date-for-permanent-facility</a:t>
            </a:r>
          </a:p>
          <a:p xmlns:a="http://schemas.openxmlformats.org/drawingml/2006/main">
            <a:r>
              <a:t>[22] https://americanplace.com/rewards/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 https://sportshandle.com/circa-sports-illinois-launch/</a:t>
            </a:r>
          </a:p>
          <a:p xmlns:a="http://schemas.openxmlformats.org/drawingml/2006/main">
            <a:r>
              <a:t>[38] https://americanplace.com/faq/</a:t>
            </a:r>
          </a:p>
          <a:p xmlns:a="http://schemas.openxmlformats.org/drawingml/2006/main">
            <a:r>
              <a:t>[18] https://www.riversideresort.com/riverside-resort-casino-gaming-riverside-resort-casino-promotions/gaming/poker-room-riverside/</a:t>
            </a:r>
          </a:p>
          <a:p xmlns:a="http://schemas.openxmlformats.org/drawingml/2006/main">
            <a:r>
              <a:t>[23] https://edgewater-casino.com/rooms</a:t>
            </a:r>
          </a:p>
          <a:p xmlns:a="http://schemas.openxmlformats.org/drawingml/2006/main">
            <a:r>
              <a:t>[32] https://redrockresort.com/play/race-and-sports/</a:t>
            </a:r>
          </a:p>
          <a:p xmlns:a="http://schemas.openxmlformats.org/drawingml/2006/main">
            <a:r>
              <a:t>[9] https://windcreek.com/chicagosouthland/casino/slots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 https://sportshandle.com/circa-sports-illinois-launch/</a:t>
            </a:r>
          </a:p>
          <a:p xmlns:a="http://schemas.openxmlformats.org/drawingml/2006/main">
            <a:r>
              <a:t>[38] https://americanplace.com/faq/</a:t>
            </a:r>
          </a:p>
          <a:p xmlns:a="http://schemas.openxmlformats.org/drawingml/2006/main">
            <a:r>
              <a:t>[18] https://www.riversideresort.com/riverside-resort-casino-gaming-riverside-resort-casino-promotions/gaming/poker-room-riverside/</a:t>
            </a:r>
          </a:p>
          <a:p xmlns:a="http://schemas.openxmlformats.org/drawingml/2006/main">
            <a:r>
              <a:t>[23] https://edgewater-casino.com/rooms</a:t>
            </a:r>
          </a:p>
          <a:p xmlns:a="http://schemas.openxmlformats.org/drawingml/2006/main">
            <a:r>
              <a:t>[32] https://redrockresort.com/play/race-and-sports/</a:t>
            </a:r>
          </a:p>
          <a:p xmlns:a="http://schemas.openxmlformats.org/drawingml/2006/main">
            <a:r>
              <a:t>[9] https://windcreek.com/chicagosouthland/casino/slots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 https://investors.fullhouseresorts.com/sec-filings/all-sec-filings/content/0000891482-26-000007/fll-20251231x10k.htm</a:t>
            </a:r>
          </a:p>
          <a:p xmlns:a="http://schemas.openxmlformats.org/drawingml/2006/main">
            <a:r>
              <a:t>[14] https://investors.fullhouseresorts.com/sec-filings/all-sec-filings/content/0000891482-24-000010/fll-20240509xdef14a.htm</a:t>
            </a:r>
          </a:p>
          <a:p xmlns:a="http://schemas.openxmlformats.org/drawingml/2006/main">
            <a:r>
              <a:t>[15] https://americanplace.com/rewards/</a:t>
            </a:r>
          </a:p>
          <a:p xmlns:a="http://schemas.openxmlformats.org/drawingml/2006/main">
            <a:r>
              <a:t>[16] https://americanplace.com/terms-conditions-ap-rewards/</a:t>
            </a:r>
          </a:p>
          <a:p xmlns:a="http://schemas.openxmlformats.org/drawingml/2006/main">
            <a:r>
              <a:t>[17] https://americanplace.com/gaming/harbor-poker-room/</a:t>
            </a:r>
          </a:p>
          <a:p xmlns:a="http://schemas.openxmlformats.org/drawingml/2006/main">
            <a:r>
              <a:t>[18] https://sportshandle.com/circa-sports-illinois-launch/</a:t>
            </a:r>
          </a:p>
          <a:p xmlns:a="http://schemas.openxmlformats.org/drawingml/2006/main">
            <a:r>
              <a:t>[19] https://igb.illinois.gov/content/dam/soi/en/web/igb/documents/reports/annual-reports/igb-annual-reports/2024-igb-annual-report.pdf</a:t>
            </a:r>
          </a:p>
          <a:p xmlns:a="http://schemas.openxmlformats.org/drawingml/2006/main">
            <a:r>
              <a:t>[20] https://www.circasports.com/illinois-locations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 https://americanplace.com/dining/</a:t>
            </a:r>
          </a:p>
          <a:p xmlns:a="http://schemas.openxmlformats.org/drawingml/2006/main">
            <a:r>
              <a:t>[28] https://www.sec.gov/Archives/edgar/data/891482/000089148226000040/fll-20260902xex10d1.htm</a:t>
            </a:r>
          </a:p>
          <a:p xmlns:a="http://schemas.openxmlformats.org/drawingml/2006/main">
            <a:r>
              <a:t>[29] https://www.illinois.gov/content/dam/soi/en/web/illinois/iisnewsattachments/32616-061226-r-gaming-board-meeting-june-2026-final.pdf.pdf</a:t>
            </a:r>
          </a:p>
          <a:p xmlns:a="http://schemas.openxmlformats.org/drawingml/2006/main">
            <a:r>
              <a:t>[30] https://americanplace.com/blog/full-house-resorts-to-break-ground-on-the-permanent-american-place-casino/</a:t>
            </a:r>
          </a:p>
          <a:p xmlns:a="http://schemas.openxmlformats.org/drawingml/2006/main">
            <a:r>
              <a:t>[32] https://americanplace.com/gaming/harbor-poker-room/</a:t>
            </a:r>
          </a:p>
          <a:p xmlns:a="http://schemas.openxmlformats.org/drawingml/2006/main">
            <a:r>
              <a:t>[33] https://americanplace.com/entertainment/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https://cdcgaming.com/illinois-casino-revenue-rises-10-8-to-192-8-million-in-august/?utm_source=openai</a:t>
            </a:r>
          </a:p>
          <a:p xmlns:a="http://schemas.openxmlformats.org/drawingml/2006/main">
            <a:r>
              <a:t>[10] https://americanplace.com/gaming/harbor-poker-room/</a:t>
            </a:r>
          </a:p>
          <a:p xmlns:a="http://schemas.openxmlformats.org/drawingml/2006/main">
            <a:r>
              <a:t>[13] https://www.sec.gov/Archives/edgar/data/891482/000089148226000040/fll-20260902xex10d1.htm</a:t>
            </a:r>
          </a:p>
          <a:p xmlns:a="http://schemas.openxmlformats.org/drawingml/2006/main">
            <a:r>
              <a:t>[14] https://americanplace.com/entertainment/</a:t>
            </a:r>
          </a:p>
          <a:p xmlns:a="http://schemas.openxmlformats.org/drawingml/2006/main">
            <a:r>
              <a:t>[15] https://americanplace.com/entertainment/the-lighthouse/</a:t>
            </a:r>
          </a:p>
          <a:p xmlns:a="http://schemas.openxmlformats.org/drawingml/2006/main">
            <a:r>
              <a:t>[16] https://americanplace.com/meetings-and-social-events/</a:t>
            </a:r>
          </a:p>
          <a:p xmlns:a="http://schemas.openxmlformats.org/drawingml/2006/main">
            <a:r>
              <a:t>[17] https://americanplace.com/faq/</a:t>
            </a:r>
          </a:p>
          <a:p xmlns:a="http://schemas.openxmlformats.org/drawingml/2006/main">
            <a:r>
              <a:t>[18] https://americanplace.com/dining/</a:t>
            </a:r>
          </a:p>
          <a:p xmlns:a="http://schemas.openxmlformats.org/drawingml/2006/main">
            <a:r>
              <a:t>[19] https://investors.fullhouseresorts.com/sec-filings/annual-reports/content/0000891482-25-000009/0000891482-25-000009.pdf</a:t>
            </a:r>
          </a:p>
          <a:p xmlns:a="http://schemas.openxmlformats.org/drawingml/2006/main">
            <a:r>
              <a:t>[20] https://cdcgaming.com/illinois-casino-revenue-rises-10-8-to-192-8-million-in-august/?utm_source=openai</a:t>
            </a:r>
          </a:p>
          <a:p xmlns:a="http://schemas.openxmlformats.org/drawingml/2006/main">
            <a:r>
              <a:t>[21] https://americanplace.com/blog/full-house-resorts-to-break-ground-on-the-permanent-american-place-casino/</a:t>
            </a:r>
          </a:p>
          <a:p xmlns:a="http://schemas.openxmlformats.org/drawingml/2006/main">
            <a:r>
              <a:t>[22] https://www.sec.gov/Archives/edgar/data/891482/000089148226000040/fll-20260902xex10d1.htm</a:t>
            </a:r>
          </a:p>
          <a:p xmlns:a="http://schemas.openxmlformats.org/drawingml/2006/main">
            <a:r>
              <a:t>[23] https://americanplace.com/gaming/harbor-poker-room/</a:t>
            </a:r>
          </a:p>
          <a:p xmlns:a="http://schemas.openxmlformats.org/drawingml/2006/main">
            <a:r>
              <a:t>[24] https://www.riverscasino.com/desplaines/casino/poker-room</a:t>
            </a:r>
          </a:p>
          <a:p xmlns:a="http://schemas.openxmlformats.org/drawingml/2006/main">
            <a:r>
              <a:t>[25] https://windcreek.com/chicagosouthland/casino/poker</a:t>
            </a:r>
          </a:p>
          <a:p xmlns:a="http://schemas.openxmlformats.org/drawingml/2006/main">
            <a:r>
              <a:t>[3] https://americanplace.com/rewards/</a:t>
            </a:r>
          </a:p>
          <a:p xmlns:a="http://schemas.openxmlformats.org/drawingml/2006/main">
            <a:r>
              <a:t>[4] https://americanplace.com/wp-content/uploads/2026/01/2026-AP-Rewards-Rack-Card.pdf</a:t>
            </a:r>
          </a:p>
          <a:p xmlns:a="http://schemas.openxmlformats.org/drawingml/2006/main">
            <a:r>
              <a:t>[5] https://americanplace.com/gaming/table-games/</a:t>
            </a:r>
          </a:p>
          <a:p xmlns:a="http://schemas.openxmlformats.org/drawingml/2006/main">
            <a:r>
              <a:t>[55] https://www.sec.gov/Archives/edgar/data/891482/000089148226000040/fll-20260902xex10d1.htm</a:t>
            </a:r>
          </a:p>
          <a:p xmlns:a="http://schemas.openxmlformats.org/drawingml/2006/main">
            <a:r>
              <a:t>[59] https://americanplace.com/gaming/harbor-poker-room/</a:t>
            </a:r>
          </a:p>
          <a:p xmlns:a="http://schemas.openxmlformats.org/drawingml/2006/main">
            <a:r>
              <a:t>[6] https://americanplace.com/faq/?utm_source=openai</a:t>
            </a:r>
          </a:p>
          <a:p xmlns:a="http://schemas.openxmlformats.org/drawingml/2006/main">
            <a:r>
              <a:t>[68] https://investors.fullhouseresorts.com/sec-filings/all-sec-filings/content/0000891482-26-000007/fll-20251231x10k.htm</a:t>
            </a:r>
          </a:p>
          <a:p xmlns:a="http://schemas.openxmlformats.org/drawingml/2006/main">
            <a:r>
              <a:t>[69] https://americanplace.com/gaming/harbor-poker-room/</a:t>
            </a:r>
          </a:p>
          <a:p xmlns:a="http://schemas.openxmlformats.org/drawingml/2006/main">
            <a:r>
              <a:t>[7] https://americanplace.com/blog/full-house-resorts-to-break-ground-on-the-permanent-american-place-casino/</a:t>
            </a:r>
          </a:p>
          <a:p xmlns:a="http://schemas.openxmlformats.org/drawingml/2006/main">
            <a:r>
              <a:t>[72] https://americanplace.com/entertainment/</a:t>
            </a:r>
          </a:p>
          <a:p xmlns:a="http://schemas.openxmlformats.org/drawingml/2006/main">
            <a:r>
              <a:t>[8] https://www.sec.gov/Archives/edgar/data/891482/000089148226000040/fll-20260902x8k.htm</a:t>
            </a:r>
          </a:p>
          <a:p xmlns:a="http://schemas.openxmlformats.org/drawingml/2006/main">
            <a:r>
              <a:t>[9] https://www.illinois.gov/content/dam/soi/en/web/illinois/iisnewsattachments/32616-061226-r-gaming-board-meeting-june-2026-final.pdf.pdf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https://investors.fullhouseresorts.com/sec-filings/annual-reports/content/0000891482-25-000009/0000891482-25-000009.pdf</a:t>
            </a:r>
          </a:p>
          <a:p xmlns:a="http://schemas.openxmlformats.org/drawingml/2006/main">
            <a:r>
              <a:t>[11] https://www.mriaim.com/casino-player-development/</a:t>
            </a:r>
          </a:p>
          <a:p xmlns:a="http://schemas.openxmlformats.org/drawingml/2006/main">
            <a:r>
              <a:t>[13] https://www.playersoft.com/hpm</a:t>
            </a:r>
          </a:p>
          <a:p xmlns:a="http://schemas.openxmlformats.org/drawingml/2006/main">
            <a:r>
              <a:t>[16] https://www.acsgaming.com/</a:t>
            </a:r>
          </a:p>
          <a:p xmlns:a="http://schemas.openxmlformats.org/drawingml/2006/main">
            <a:r>
              <a:t>[18] https://bestbetjax.com/history</a:t>
            </a:r>
          </a:p>
          <a:p xmlns:a="http://schemas.openxmlformats.org/drawingml/2006/main">
            <a:r>
              <a:t>[2] https://americanplace.com/blog/full-house-resorts-to-break-ground-on-the-permanent-american-place-casino/</a:t>
            </a:r>
          </a:p>
          <a:p xmlns:a="http://schemas.openxmlformats.org/drawingml/2006/main">
            <a:r>
              <a:t>[21] https://bestbetjax.com/past-tournament-results</a:t>
            </a:r>
          </a:p>
          <a:p xmlns:a="http://schemas.openxmlformats.org/drawingml/2006/main">
            <a:r>
              <a:t>[22] https://www.jamusa.com/about</a:t>
            </a:r>
          </a:p>
          <a:p xmlns:a="http://schemas.openxmlformats.org/drawingml/2006/main">
            <a:r>
              <a:t>[23] https://www.mammothlive.com/about</a:t>
            </a:r>
          </a:p>
          <a:p xmlns:a="http://schemas.openxmlformats.org/drawingml/2006/main">
            <a:r>
              <a:t>[24] https://pepperentertainment.com/about/</a:t>
            </a:r>
          </a:p>
          <a:p xmlns:a="http://schemas.openxmlformats.org/drawingml/2006/main">
            <a:r>
              <a:t>[28] https://cdcgaming.com/illinois-casino-revenue-rises-10-8-to-192-8-million-in-august/?utm_source=openai</a:t>
            </a:r>
          </a:p>
          <a:p xmlns:a="http://schemas.openxmlformats.org/drawingml/2006/main">
            <a:r>
              <a:t>[29] https://www.riverscasino.com/desplaines/casino/poker-room</a:t>
            </a:r>
          </a:p>
          <a:p xmlns:a="http://schemas.openxmlformats.org/drawingml/2006/main">
            <a:r>
              <a:t>[3] https://www.sec.gov/Archives/edgar/data/891482/000089148226000040/fll-20260902xex10d1.htm</a:t>
            </a:r>
          </a:p>
          <a:p xmlns:a="http://schemas.openxmlformats.org/drawingml/2006/main">
            <a:r>
              <a:t>[30] https://windcreek.com/chicagosouthland/casino/poker</a:t>
            </a:r>
          </a:p>
          <a:p xmlns:a="http://schemas.openxmlformats.org/drawingml/2006/main">
            <a:r>
              <a:t>[4] https://americanplace.com/gaming/harbor-poker-room/</a:t>
            </a:r>
          </a:p>
          <a:p xmlns:a="http://schemas.openxmlformats.org/drawingml/2006/main">
            <a:r>
              <a:t>[5] https://www.ellisislandcasino.com/play</a:t>
            </a:r>
          </a:p>
          <a:p xmlns:a="http://schemas.openxmlformats.org/drawingml/2006/main">
            <a:r>
              <a:t>[6] https://www.ellisislandcasino.com/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[119] https://doc.binocs.co/18180/CIM/American-casinos-CIM.pdf?page=48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https://windcreek.com/news/2024/11/wind-creek-chicago-southland-confirms-casino-doors-open-on-nov-11</a:t>
            </a:r>
          </a:p>
          <a:p xmlns:a="http://schemas.openxmlformats.org/drawingml/2006/main">
            <a:r>
              <a:t>[11] https://pennnationalgaming.gcs-web.com/news-releases/news-release-details/penn-entertainment-celebrates-grand-opening-hollywood-casino-and</a:t>
            </a:r>
          </a:p>
          <a:p xmlns:a="http://schemas.openxmlformats.org/drawingml/2006/main">
            <a:r>
              <a:t>[12] https://americanplace.com/blog/full-house-resorts-to-break-ground-on-the-permanent-american-place-casino/</a:t>
            </a:r>
          </a:p>
          <a:p xmlns:a="http://schemas.openxmlformats.org/drawingml/2006/main">
            <a:r>
              <a:t>[13] https://investors.fullhouseresorts.com/sec-filings/all-sec-filings/content/0000891482-26-000007/fll-20251231x10k.htm</a:t>
            </a:r>
          </a:p>
          <a:p xmlns:a="http://schemas.openxmlformats.org/drawingml/2006/main">
            <a:r>
              <a:t>[14] https://investors.fullhouseresorts.com/sec-filings/all-sec-filings/content/0000891482-26-000015/0000891482-26-000015.pdf</a:t>
            </a:r>
          </a:p>
          <a:p xmlns:a="http://schemas.openxmlformats.org/drawingml/2006/main">
            <a:r>
              <a:t>[16] https://par.illinoiscomptroller.gov/index.cfm?AgencyNo=565&amp;FiscalYear=2024&amp;ProgramAreaGroupID=2&amp;ProgramID=1&amp;UniqueProgramID=5651</a:t>
            </a:r>
          </a:p>
          <a:p xmlns:a="http://schemas.openxmlformats.org/drawingml/2006/main">
            <a:r>
              <a:t>[17] https://budget.illinois.gov/content/dam/soi/en/web/budget/documents/budget-book/fy2026-budget/Fiscal-Year-2026-Operating-Budget.pdf</a:t>
            </a:r>
          </a:p>
          <a:p xmlns:a="http://schemas.openxmlformats.org/drawingml/2006/main">
            <a:r>
              <a:t>[18] https://cdcgaming.com/brief/video-gambling-revenue-collections-continue-to-grow-for-illinois-local-governments/</a:t>
            </a:r>
          </a:p>
          <a:p xmlns:a="http://schemas.openxmlformats.org/drawingml/2006/main">
            <a:r>
              <a:t>[19] https://www.illinois.gov/content/dam/soi/en/web/illinois/iisnewsattachments/31575-080425-r-advertisingrulesfinalaug2025.pdf.pdf</a:t>
            </a:r>
          </a:p>
          <a:p xmlns:a="http://schemas.openxmlformats.org/drawingml/2006/main">
            <a:r>
              <a:t>[2] https://investors.fullhouseresorts.com/sec-filings/all-sec-filings/content/0000891482-26-000007/fll-20251231x10k.htm</a:t>
            </a:r>
          </a:p>
          <a:p xmlns:a="http://schemas.openxmlformats.org/drawingml/2006/main">
            <a:r>
              <a:t>[21] https://investors.fullhouseresorts.com/sec-filings/all-sec-filings/content/0000891482-26-000007/fll-20251231x10k.htm</a:t>
            </a:r>
          </a:p>
          <a:p xmlns:a="http://schemas.openxmlformats.org/drawingml/2006/main">
            <a:r>
              <a:t>[22] https://investors.fullhouseresorts.com/sec-filings/all-sec-filings/content/0000891482-24-000010/fll-20240509xdef14a.htm</a:t>
            </a:r>
          </a:p>
          <a:p xmlns:a="http://schemas.openxmlformats.org/drawingml/2006/main">
            <a:r>
              <a:t>[23] https://americanplace.com/rewards/</a:t>
            </a:r>
          </a:p>
          <a:p xmlns:a="http://schemas.openxmlformats.org/drawingml/2006/main">
            <a:r>
              <a:t>[24] https://americanplace.com/terms-conditions-ap-rewards/</a:t>
            </a:r>
          </a:p>
          <a:p xmlns:a="http://schemas.openxmlformats.org/drawingml/2006/main">
            <a:r>
              <a:t>[25] https://americanplace.com/gaming/harbor-poker-room/</a:t>
            </a:r>
          </a:p>
          <a:p xmlns:a="http://schemas.openxmlformats.org/drawingml/2006/main">
            <a:r>
              <a:t>[28] https://www.sec.gov/Archives/edgar/data/891482/000089148226000036/fll-20260630x10q.htm</a:t>
            </a:r>
          </a:p>
          <a:p xmlns:a="http://schemas.openxmlformats.org/drawingml/2006/main">
            <a:r>
              <a:t>[29] https://www.sec.gov/Archives/edgar/data/891482/000089148226000040/fll-20260902x8k.htm</a:t>
            </a:r>
          </a:p>
          <a:p xmlns:a="http://schemas.openxmlformats.org/drawingml/2006/main">
            <a:r>
              <a:t>[3] https://americanplace.com/gaming/harbor-poker-room/</a:t>
            </a:r>
          </a:p>
          <a:p xmlns:a="http://schemas.openxmlformats.org/drawingml/2006/main">
            <a:r>
              <a:t>[30] https://americanplace.com/blog/full-house-resorts-to-break-ground-on-the-permanent-american-place-casino/</a:t>
            </a:r>
          </a:p>
          <a:p xmlns:a="http://schemas.openxmlformats.org/drawingml/2006/main">
            <a:r>
              <a:t>[31] https://www.sec.gov/Archives/edgar/data/891482/000089148226000018/fll-20260514xdef14a.htm</a:t>
            </a:r>
          </a:p>
          <a:p xmlns:a="http://schemas.openxmlformats.org/drawingml/2006/main">
            <a:r>
              <a:t>[32] https://www.sec.gov/Archives/edgar/data/891482/000089148226000004/fll-20260303xex99d1.htm</a:t>
            </a:r>
          </a:p>
          <a:p xmlns:a="http://schemas.openxmlformats.org/drawingml/2006/main">
            <a:r>
              <a:t>[33] https://www.sec.gov/Archives/edgar/data/891482/000089148226000034/fll-20260806xex99d1.htm</a:t>
            </a:r>
          </a:p>
          <a:p xmlns:a="http://schemas.openxmlformats.org/drawingml/2006/main">
            <a:r>
              <a:t>[5] https://par.illinoiscomptroller.gov/index.cfm?AgencyNo=565&amp;FiscalYear=2024&amp;ProgramAreaGroupID=2&amp;ProgramID=1&amp;UniqueProgramID=5651</a:t>
            </a:r>
          </a:p>
          <a:p xmlns:a="http://schemas.openxmlformats.org/drawingml/2006/main">
            <a:r>
              <a:t>[6] https://budget.illinois.gov/content/dam/soi/en/web/budget/documents/budget-book/fy2026-budget/Fiscal-Year-2026-Operating-Budget.pdf</a:t>
            </a:r>
          </a:p>
          <a:p xmlns:a="http://schemas.openxmlformats.org/drawingml/2006/main">
            <a:r>
              <a:t>[7] https://cdcgaming.com/brief/video-gambling-revenue-collections-continue-to-grow-for-illinois-local-governments/</a:t>
            </a:r>
          </a:p>
          <a:p xmlns:a="http://schemas.openxmlformats.org/drawingml/2006/main">
            <a:r>
              <a:t>[8] https://igb.illinois.gov/content/dam/soi/en/web/igb/documents/board-meetings/minutes/2024/20240912-open-meeting-minutes.pdf</a:t>
            </a:r>
          </a:p>
          <a:p xmlns:a="http://schemas.openxmlformats.org/drawingml/2006/main">
            <a:r>
              <a:t>[9] https://www.hardrock.com/blog/hard-rock-casino-rockford-reveals-grand-opening-date-for-permanent-facility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https://windcreek.com/news/2024/11/wind-creek-chicago-southland-confirms-casino-doors-open-on-nov-11</a:t>
            </a:r>
          </a:p>
          <a:p xmlns:a="http://schemas.openxmlformats.org/drawingml/2006/main">
            <a:r>
              <a:t>[11] https://pennnationalgaming.gcs-web.com/news-releases/news-release-details/penn-entertainment-celebrates-grand-opening-hollywood-casino-and</a:t>
            </a:r>
          </a:p>
          <a:p xmlns:a="http://schemas.openxmlformats.org/drawingml/2006/main">
            <a:r>
              <a:t>[12] https://americanplace.com/blog/full-house-resorts-to-break-ground-on-the-permanent-american-place-casino/</a:t>
            </a:r>
          </a:p>
          <a:p xmlns:a="http://schemas.openxmlformats.org/drawingml/2006/main">
            <a:r>
              <a:t>[13] https://investors.fullhouseresorts.com/sec-filings/all-sec-filings/content/0000891482-26-000007/fll-20251231x10k.htm</a:t>
            </a:r>
          </a:p>
          <a:p xmlns:a="http://schemas.openxmlformats.org/drawingml/2006/main">
            <a:r>
              <a:t>[14] https://investors.fullhouseresorts.com/sec-filings/all-sec-filings/content/0000891482-26-000015/0000891482-26-000015.pdf</a:t>
            </a:r>
          </a:p>
          <a:p xmlns:a="http://schemas.openxmlformats.org/drawingml/2006/main">
            <a:r>
              <a:t>[16] https://par.illinoiscomptroller.gov/index.cfm?AgencyNo=565&amp;FiscalYear=2024&amp;ProgramAreaGroupID=2&amp;ProgramID=1&amp;UniqueProgramID=5651</a:t>
            </a:r>
          </a:p>
          <a:p xmlns:a="http://schemas.openxmlformats.org/drawingml/2006/main">
            <a:r>
              <a:t>[17] https://budget.illinois.gov/content/dam/soi/en/web/budget/documents/budget-book/fy2026-budget/Fiscal-Year-2026-Operating-Budget.pdf</a:t>
            </a:r>
          </a:p>
          <a:p xmlns:a="http://schemas.openxmlformats.org/drawingml/2006/main">
            <a:r>
              <a:t>[18] https://cdcgaming.com/brief/video-gambling-revenue-collections-continue-to-grow-for-illinois-local-governments/</a:t>
            </a:r>
          </a:p>
          <a:p xmlns:a="http://schemas.openxmlformats.org/drawingml/2006/main">
            <a:r>
              <a:t>[19] https://www.illinois.gov/content/dam/soi/en/web/illinois/iisnewsattachments/31575-080425-r-advertisingrulesfinalaug2025.pdf.pdf</a:t>
            </a:r>
          </a:p>
          <a:p xmlns:a="http://schemas.openxmlformats.org/drawingml/2006/main">
            <a:r>
              <a:t>[2] https://investors.fullhouseresorts.com/sec-filings/all-sec-filings/content/0000891482-26-000007/fll-20251231x10k.htm</a:t>
            </a:r>
          </a:p>
          <a:p xmlns:a="http://schemas.openxmlformats.org/drawingml/2006/main">
            <a:r>
              <a:t>[21] https://investors.fullhouseresorts.com/sec-filings/all-sec-filings/content/0000891482-26-000007/fll-20251231x10k.htm</a:t>
            </a:r>
          </a:p>
          <a:p xmlns:a="http://schemas.openxmlformats.org/drawingml/2006/main">
            <a:r>
              <a:t>[22] https://investors.fullhouseresorts.com/sec-filings/all-sec-filings/content/0000891482-24-000010/fll-20240509xdef14a.htm</a:t>
            </a:r>
          </a:p>
          <a:p xmlns:a="http://schemas.openxmlformats.org/drawingml/2006/main">
            <a:r>
              <a:t>[23] https://americanplace.com/rewards/</a:t>
            </a:r>
          </a:p>
          <a:p xmlns:a="http://schemas.openxmlformats.org/drawingml/2006/main">
            <a:r>
              <a:t>[24] https://americanplace.com/terms-conditions-ap-rewards/</a:t>
            </a:r>
          </a:p>
          <a:p xmlns:a="http://schemas.openxmlformats.org/drawingml/2006/main">
            <a:r>
              <a:t>[25] https://americanplace.com/gaming/harbor-poker-room/</a:t>
            </a:r>
          </a:p>
          <a:p xmlns:a="http://schemas.openxmlformats.org/drawingml/2006/main">
            <a:r>
              <a:t>[28] https://www.sec.gov/Archives/edgar/data/891482/000089148226000036/fll-20260630x10q.htm</a:t>
            </a:r>
          </a:p>
          <a:p xmlns:a="http://schemas.openxmlformats.org/drawingml/2006/main">
            <a:r>
              <a:t>[29] https://www.sec.gov/Archives/edgar/data/891482/000089148226000040/fll-20260902x8k.htm</a:t>
            </a:r>
          </a:p>
          <a:p xmlns:a="http://schemas.openxmlformats.org/drawingml/2006/main">
            <a:r>
              <a:t>[3] https://americanplace.com/gaming/harbor-poker-room/</a:t>
            </a:r>
          </a:p>
          <a:p xmlns:a="http://schemas.openxmlformats.org/drawingml/2006/main">
            <a:r>
              <a:t>[30] https://americanplace.com/blog/full-house-resorts-to-break-ground-on-the-permanent-american-place-casino/</a:t>
            </a:r>
          </a:p>
          <a:p xmlns:a="http://schemas.openxmlformats.org/drawingml/2006/main">
            <a:r>
              <a:t>[31] https://www.sec.gov/Archives/edgar/data/891482/000089148226000018/fll-20260514xdef14a.htm</a:t>
            </a:r>
          </a:p>
          <a:p xmlns:a="http://schemas.openxmlformats.org/drawingml/2006/main">
            <a:r>
              <a:t>[32] https://www.sec.gov/Archives/edgar/data/891482/000089148226000004/fll-20260303xex99d1.htm</a:t>
            </a:r>
          </a:p>
          <a:p xmlns:a="http://schemas.openxmlformats.org/drawingml/2006/main">
            <a:r>
              <a:t>[33] https://www.sec.gov/Archives/edgar/data/891482/000089148226000034/fll-20260806xex99d1.htm</a:t>
            </a:r>
          </a:p>
          <a:p xmlns:a="http://schemas.openxmlformats.org/drawingml/2006/main">
            <a:r>
              <a:t>[5] https://par.illinoiscomptroller.gov/index.cfm?AgencyNo=565&amp;FiscalYear=2024&amp;ProgramAreaGroupID=2&amp;ProgramID=1&amp;UniqueProgramID=5651</a:t>
            </a:r>
          </a:p>
          <a:p xmlns:a="http://schemas.openxmlformats.org/drawingml/2006/main">
            <a:r>
              <a:t>[6] https://budget.illinois.gov/content/dam/soi/en/web/budget/documents/budget-book/fy2026-budget/Fiscal-Year-2026-Operating-Budget.pdf</a:t>
            </a:r>
          </a:p>
          <a:p xmlns:a="http://schemas.openxmlformats.org/drawingml/2006/main">
            <a:r>
              <a:t>[7] https://cdcgaming.com/brief/video-gambling-revenue-collections-continue-to-grow-for-illinois-local-governments/</a:t>
            </a:r>
          </a:p>
          <a:p xmlns:a="http://schemas.openxmlformats.org/drawingml/2006/main">
            <a:r>
              <a:t>[8] https://igb.illinois.gov/content/dam/soi/en/web/igb/documents/board-meetings/minutes/2024/20240912-open-meeting-minutes.pdf</a:t>
            </a:r>
          </a:p>
          <a:p xmlns:a="http://schemas.openxmlformats.org/drawingml/2006/main">
            <a:r>
              <a:t>[9] https://www.hardrock.com/blog/hard-rock-casino-rockford-reveals-grand-opening-date-for-permanent-facility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[52] https://www.riversideresort.com/riverside-resort-casino-gaming-riverside-resort-casino-promotions/gaming/slots/</a:t>
            </a:r>
          </a:p>
          <a:p xmlns:a="http://schemas.openxmlformats.org/drawingml/2006/main">
            <a:r>
              <a:t>[53] https://www.riversideresort.com/riverside-resort-casino-gaming-riverside-resort-casino-promotions/gaming/poker-room-riverside/</a:t>
            </a:r>
          </a:p>
          <a:p xmlns:a="http://schemas.openxmlformats.org/drawingml/2006/main">
            <a:r>
              <a:t>[54] https://www.riversideresort.com/riverside-resort-casino-gaming-riverside-resort-casino-promotions/gaming/william-hill-race-sports-book/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https://www.americangaming.org/resources/state-of-the-states-2026/</a:t>
            </a:r>
          </a:p>
          <a:p xmlns:a="http://schemas.openxmlformats.org/drawingml/2006/main">
            <a:r>
              <a:t>[2] https://www.americangaming.org/resources/commercial-gaming-revenue-tracker/</a:t>
            </a:r>
          </a:p>
          <a:p xmlns:a="http://schemas.openxmlformats.org/drawingml/2006/main">
            <a:r>
              <a:t>[3] https://www.americangaming.org/resources/american-attitudes-towards-gaming/?utm_source=openai</a:t>
            </a:r>
          </a:p>
          <a:p xmlns:a="http://schemas.openxmlformats.org/drawingml/2006/main">
            <a:r>
              <a:t>[4] https://www.americangaming.org/new-aga-analysis-reveals-illegal-gaming-remains-nearly-a-third-of-the-u-s-market/?utm_source=openai</a:t>
            </a:r>
          </a:p>
          <a:p xmlns:a="http://schemas.openxmlformats.org/drawingml/2006/main">
            <a:r>
              <a:t>[5] https://www.circasports.com/licensee-info?utm_source=openai</a:t>
            </a:r>
          </a:p>
          <a:p xmlns:a="http://schemas.openxmlformats.org/drawingml/2006/main">
            <a:r>
              <a:t>[6] https://igb.illinois.gov/content/dam/soi/en/web/igb/documents/board-meetings/minutes/2024/20240912-open-meeting-minutes.pdf</a:t>
            </a:r>
          </a:p>
          <a:p xmlns:a="http://schemas.openxmlformats.org/drawingml/2006/main">
            <a:r>
              <a:t>[7] https://www.hardrock.com/blog/hard-rock-casino-rockford-reveals-grand-opening-date-for-permanent-facility</a:t>
            </a:r>
          </a:p>
          <a:p xmlns:a="http://schemas.openxmlformats.org/drawingml/2006/main">
            <a:r>
              <a:t>[8] https://windcreek.com/news/2024/11/wind-creek-chicago-southland-confirms-casino-doors-open-on-nov-11</a:t>
            </a:r>
          </a:p>
          <a:p xmlns:a="http://schemas.openxmlformats.org/drawingml/2006/main">
            <a:r>
              <a:t>[9] https://pennnationalgaming.gcs-web.com/news-releases/news-release-details/penn-entertainment-celebrates-grand-opening-hollywood-casino-and</a:t>
            </a:r>
          </a:p>
          <a:p xmlns:a="http://schemas.openxmlformats.org/drawingml/2006/main">
            <a:r>
              <a:t>[10] https://www.ballys.com/news/news-details/2024/Ballys-Announces-Refreshed-Site-Plan-that-Restores-500-room-Hotel-Tower-Plan-into-Single-Phase-Project/default.aspx</a:t>
            </a:r>
          </a:p>
          <a:p xmlns:a="http://schemas.openxmlformats.org/drawingml/2006/main">
            <a:r>
              <a:t>[11] https://investors.fullhouseresorts.com/sec-filings/all-sec-filings/content/0000891482-26-000007/fll-20251231x10k.htm</a:t>
            </a:r>
          </a:p>
          <a:p xmlns:a="http://schemas.openxmlformats.org/drawingml/2006/main">
            <a:r>
              <a:t>[12] https://investors.fullhouseresorts.com/sec-filings/all-sec-filings/content/0000891482-24-000010/fll-20240509xdef14a.htm</a:t>
            </a:r>
          </a:p>
          <a:p xmlns:a="http://schemas.openxmlformats.org/drawingml/2006/main">
            <a:r>
              <a:t>[13] https://www.illinois.gov/content/dam/soi/en/web/illinois/iisnewsattachments/32616-061226-r-gaming-board-meeting-june-2026-final.pdf.pdf</a:t>
            </a:r>
          </a:p>
          <a:p xmlns:a="http://schemas.openxmlformats.org/drawingml/2006/main">
            <a:r>
              <a:t>[14] https://investors.fullhouseresorts.com/news-events/press-releases/detail/287/full-house-resorts-announces-fourth-quarter-results</a:t>
            </a:r>
          </a:p>
          <a:p xmlns:a="http://schemas.openxmlformats.org/drawingml/2006/main">
            <a:r>
              <a:t>[15, 51] https://americanplace.com/</a:t>
            </a:r>
          </a:p>
          <a:p xmlns:a="http://schemas.openxmlformats.org/drawingml/2006/main">
            <a:r>
              <a:t>[16] https://www.sec.gov/Archives/edgar/data/891482/000089148226000004/fll-20260303x8k.htm</a:t>
            </a:r>
          </a:p>
          <a:p xmlns:a="http://schemas.openxmlformats.org/drawingml/2006/main">
            <a:r>
              <a:t>[17] https://www.illinois.gov/content/dam/soi/en/web/illinois/iisnewsattachments/26599-illinois-gaming-board-finds-chicago-casino-applicant-preliminarily-suitable.pdf</a:t>
            </a:r>
          </a:p>
          <a:p xmlns:a="http://schemas.openxmlformats.org/drawingml/2006/main">
            <a:r>
              <a:t>[18] https://americanplace.com/gaming/harbor-poker-room/</a:t>
            </a:r>
          </a:p>
          <a:p xmlns:a="http://schemas.openxmlformats.org/drawingml/2006/main">
            <a:r>
              <a:t>[19] https://americanplace.com/gaming/sportsbook/</a:t>
            </a:r>
          </a:p>
          <a:p xmlns:a="http://schemas.openxmlformats.org/drawingml/2006/main">
            <a:r>
              <a:t>[20] https://americanplace.com/entertainment/</a:t>
            </a:r>
          </a:p>
          <a:p xmlns:a="http://schemas.openxmlformats.org/drawingml/2006/main">
            <a:r>
              <a:t>[21] https://www.sec.gov/Archives/edgar/data/891482/000089148225000018/fll-20250515xdef14a.htm</a:t>
            </a:r>
          </a:p>
          <a:p xmlns:a="http://schemas.openxmlformats.org/drawingml/2006/main">
            <a:r>
              <a:t>[22] https://americanplace.com/rewards/</a:t>
            </a:r>
          </a:p>
          <a:p xmlns:a="http://schemas.openxmlformats.org/drawingml/2006/main">
            <a:r>
              <a:t>[23] https://americanplace.com/terms-conditions-ap-rewards/</a:t>
            </a:r>
          </a:p>
          <a:p xmlns:a="http://schemas.openxmlformats.org/drawingml/2006/main">
            <a:r>
              <a:t>[24] https://americanplace.com/dining/canoe-bar/</a:t>
            </a:r>
          </a:p>
          <a:p xmlns:a="http://schemas.openxmlformats.org/drawingml/2006/main">
            <a:r>
              <a:t>[25] https://americanplace.com/entertainment/the-lighthouse/</a:t>
            </a:r>
          </a:p>
          <a:p xmlns:a="http://schemas.openxmlformats.org/drawingml/2006/main">
            <a:r>
              <a:t>[26] https://americanplace.com/meetings-and-social-events/</a:t>
            </a:r>
          </a:p>
          <a:p xmlns:a="http://schemas.openxmlformats.org/drawingml/2006/main">
            <a:r>
              <a:t>[27] https://www.illinois.gov/content/dam/soi/en/web/illinois/iisnewsattachments/31575-080425-r-advertisingrulesfinalaug2025.pdf.pdf</a:t>
            </a:r>
          </a:p>
          <a:p xmlns:a="http://schemas.openxmlformats.org/drawingml/2006/main">
            <a:r>
              <a:t>[28, 85, 88] https://investors.fullhouseresorts.com/sec-filings/annual-reports/content/0000891482-25-000009/0000891482-25-000009.pdf</a:t>
            </a:r>
          </a:p>
          <a:p xmlns:a="http://schemas.openxmlformats.org/drawingml/2006/main">
            <a:r>
              <a:t>[29] https://cdcgaming.com/illinois-casino-revenue-rises-10-8-to-192-8-million-in-august/?utm_source=openai</a:t>
            </a:r>
          </a:p>
          <a:p xmlns:a="http://schemas.openxmlformats.org/drawingml/2006/main">
            <a:r>
              <a:t>[30] https://americanplace.com/blog/full-house-resorts-to-break-ground-on-the-permanent-american-place-casino/</a:t>
            </a:r>
          </a:p>
          <a:p xmlns:a="http://schemas.openxmlformats.org/drawingml/2006/main">
            <a:r>
              <a:t>[31] https://www.sec.gov/Archives/edgar/data/891482/000089148226000040/fll-20260902xex10d1.htm</a:t>
            </a:r>
          </a:p>
          <a:p xmlns:a="http://schemas.openxmlformats.org/drawingml/2006/main">
            <a:r>
              <a:t>[32] https://www.riverscasino.com/desplaines/casino/poker-room</a:t>
            </a:r>
          </a:p>
          <a:p xmlns:a="http://schemas.openxmlformats.org/drawingml/2006/main">
            <a:r>
              <a:t>[33] https://windcreek.com/chicagosouthland/casino/poker</a:t>
            </a:r>
          </a:p>
          <a:p xmlns:a="http://schemas.openxmlformats.org/drawingml/2006/main">
            <a:r>
              <a:t>[34] https://americanplace.com/wp-content/uploads/2026/01/2026-AP-Rewards-Rack-Card.pdf</a:t>
            </a:r>
          </a:p>
          <a:p xmlns:a="http://schemas.openxmlformats.org/drawingml/2006/main">
            <a:r>
              <a:t>[35] https://americanplace.com/gaming/table-games/</a:t>
            </a:r>
          </a:p>
          <a:p xmlns:a="http://schemas.openxmlformats.org/drawingml/2006/main">
            <a:r>
              <a:t>[36, 38] https://americanplace.com/faq/?utm_source=openai</a:t>
            </a:r>
          </a:p>
          <a:p xmlns:a="http://schemas.openxmlformats.org/drawingml/2006/main">
            <a:r>
              <a:t>[37] https://www.sec.gov/Archives/edgar/data/891482/000089148226000040/fll-20260902x8k.htm</a:t>
            </a:r>
          </a:p>
          <a:p xmlns:a="http://schemas.openxmlformats.org/drawingml/2006/main">
            <a:r>
              <a:t>[39] https://americanplace.com/dining/</a:t>
            </a:r>
          </a:p>
          <a:p xmlns:a="http://schemas.openxmlformats.org/drawingml/2006/main">
            <a:r>
              <a:t>[40] https://www.ellisislandcasino.com/play</a:t>
            </a:r>
          </a:p>
          <a:p xmlns:a="http://schemas.openxmlformats.org/drawingml/2006/main">
            <a:r>
              <a:t>[41] https://www.ellisislandcasino.com/</a:t>
            </a:r>
          </a:p>
          <a:p xmlns:a="http://schemas.openxmlformats.org/drawingml/2006/main">
            <a:r>
              <a:t>[42] https://www.mriaim.com/casino-player-development/</a:t>
            </a:r>
          </a:p>
          <a:p xmlns:a="http://schemas.openxmlformats.org/drawingml/2006/main">
            <a:r>
              <a:t>[43] https://www.playersoft.com/hpm</a:t>
            </a:r>
          </a:p>
          <a:p xmlns:a="http://schemas.openxmlformats.org/drawingml/2006/main">
            <a:r>
              <a:t>[44] https://www.acsgaming.com/</a:t>
            </a:r>
          </a:p>
          <a:p xmlns:a="http://schemas.openxmlformats.org/drawingml/2006/main">
            <a:r>
              <a:t>[45] https://bestbetjax.com/history</a:t>
            </a:r>
          </a:p>
          <a:p xmlns:a="http://schemas.openxmlformats.org/drawingml/2006/main">
            <a:r>
              <a:t>[46] https://bestbetjax.com/past-tournament-results</a:t>
            </a:r>
          </a:p>
          <a:p xmlns:a="http://schemas.openxmlformats.org/drawingml/2006/main">
            <a:r>
              <a:t>[47] https://www.jamusa.com/about</a:t>
            </a:r>
          </a:p>
          <a:p xmlns:a="http://schemas.openxmlformats.org/drawingml/2006/main">
            <a:r>
              <a:t>[48] https://www.mammothlive.com/about</a:t>
            </a:r>
          </a:p>
          <a:p xmlns:a="http://schemas.openxmlformats.org/drawingml/2006/main">
            <a:r>
              <a:t>[49] https://pepperentertainment.com/about/</a:t>
            </a:r>
          </a:p>
          <a:p xmlns:a="http://schemas.openxmlformats.org/drawingml/2006/main">
            <a:r>
              <a:t>[52] https://sportshandle.com/circa-sports-illinois-launch/</a:t>
            </a:r>
          </a:p>
          <a:p xmlns:a="http://schemas.openxmlformats.org/drawingml/2006/main">
            <a:r>
              <a:t>[53] https://igb.illinois.gov/content/dam/soi/en/web/igb/documents/reports/annual-reports/igb-annual-reports/2024-igb-annual-report.pdf</a:t>
            </a:r>
          </a:p>
          <a:p xmlns:a="http://schemas.openxmlformats.org/drawingml/2006/main">
            <a:r>
              <a:t>[54] https://www.circasports.com/illinois-locations</a:t>
            </a:r>
          </a:p>
          <a:p xmlns:a="http://schemas.openxmlformats.org/drawingml/2006/main">
            <a:r>
              <a:t>[58, 60, 64, 67, 70, 73, 74, 91] https://doc.binocs.co/18180/CIM/American-casinos-CIM.pdf?page=5</a:t>
            </a:r>
          </a:p>
          <a:p xmlns:a="http://schemas.openxmlformats.org/drawingml/2006/main">
            <a:r>
              <a:t>[75] https://americanplace.com/gaming/</a:t>
            </a:r>
          </a:p>
          <a:p xmlns:a="http://schemas.openxmlformats.org/drawingml/2006/main">
            <a:r>
              <a:t>[76] https://ielp.gcs-web.com/static-files/edea9789-34db-4478-b8da-5610a0cf526e</a:t>
            </a:r>
          </a:p>
          <a:p xmlns:a="http://schemas.openxmlformats.org/drawingml/2006/main">
            <a:r>
              <a:t>[77] https://americanplace.com/full-house-resorts-and-american-place-casino-name-mario-maesano-as-assistant-general-manager/</a:t>
            </a:r>
          </a:p>
          <a:p xmlns:a="http://schemas.openxmlformats.org/drawingml/2006/main">
            <a:r>
              <a:t>[78] https://par.illinoiscomptroller.gov/index.cfm?AgencyNo=565&amp;FiscalYear=2024&amp;ProgramAreaGroupID=2&amp;ProgramID=1&amp;UniqueProgramID=5651</a:t>
            </a:r>
          </a:p>
          <a:p xmlns:a="http://schemas.openxmlformats.org/drawingml/2006/main">
            <a:r>
              <a:t>[79] https://budget.illinois.gov/content/dam/soi/en/web/budget/documents/budget-book/fy2026-budget/Fiscal-Year-2026-Operating-Budget.pdf</a:t>
            </a:r>
          </a:p>
          <a:p xmlns:a="http://schemas.openxmlformats.org/drawingml/2006/main">
            <a:r>
              <a:t>[80] https://cdcgaming.com/brief/video-gambling-revenue-collections-continue-to-grow-for-illinois-local-governments/</a:t>
            </a:r>
          </a:p>
          <a:p xmlns:a="http://schemas.openxmlformats.org/drawingml/2006/main">
            <a:r>
              <a:t>[81] https://www.nbcchicago.com/news/local/ballys-says-its-chicago-casino-will-open-on-time-despite-financial-issues/3978163/</a:t>
            </a:r>
          </a:p>
          <a:p xmlns:a="http://schemas.openxmlformats.org/drawingml/2006/main">
            <a:r>
              <a:t>[82] https://chicago.suntimes.com/news/2026/08/09/ballys-to-stop-work-on-some-amenities-at-permanent-chicago-casino-development-amid-video-gambling-dispute</a:t>
            </a:r>
          </a:p>
          <a:p xmlns:a="http://schemas.openxmlformats.org/drawingml/2006/main">
            <a:r>
              <a:t>[83] https://www.yogonet.com/international/news/2026/06/16/124089-bally-39s-chicago-gets-oneyear-extension-to-complete-permanent-casino-project</a:t>
            </a:r>
          </a:p>
          <a:p xmlns:a="http://schemas.openxmlformats.org/drawingml/2006/main">
            <a:r>
              <a:t>[84] https://www.law.cornell.edu/regulations/illinois/Ill-Admin-Code-tit-86-SS-3000.665</a:t>
            </a:r>
          </a:p>
          <a:p xmlns:a="http://schemas.openxmlformats.org/drawingml/2006/main">
            <a:r>
              <a:t>[86] https://www.americangaming.org/wp-content/uploads/2026/05/Gaming-Industry-Outlook-Spring-2026.pdf?utm_source=openai</a:t>
            </a:r>
          </a:p>
          <a:p xmlns:a="http://schemas.openxmlformats.org/drawingml/2006/main">
            <a:r>
              <a:t>[87] https://www.americangaming.org/resources/gaming-industry-outlook/?utm_source=openai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 123] https://www.sec.gov/Archives/edgar/data/891482/000089148226000036/fll-20260630x10q.htm?utm_source=openai</a:t>
            </a:r>
          </a:p>
          <a:p xmlns:a="http://schemas.openxmlformats.org/drawingml/2006/main">
            <a:r>
              <a:t>[98] https://www.riverscasino.com/desplaines/</a:t>
            </a:r>
          </a:p>
          <a:p xmlns:a="http://schemas.openxmlformats.org/drawingml/2006/main">
            <a:r>
              <a:t>[99] https://www.riverscasino.com/desplaines/casino/sportsbook</a:t>
            </a:r>
          </a:p>
          <a:p xmlns:a="http://schemas.openxmlformats.org/drawingml/2006/main">
            <a:r>
              <a:t>[101] https://windcreek.com/chicagosouthland/casino/slots</a:t>
            </a:r>
          </a:p>
          <a:p xmlns:a="http://schemas.openxmlformats.org/drawingml/2006/main">
            <a:r>
              <a:t>[102] https://windcreek.com/sites/default/files/2024-11/21874-107-WCCS-TBLG-June-Gaming_Guide-web.pdf</a:t>
            </a:r>
          </a:p>
          <a:p xmlns:a="http://schemas.openxmlformats.org/drawingml/2006/main">
            <a:r>
              <a:t>[103] https://windcreek.com/chicagosouthland/faq</a:t>
            </a:r>
          </a:p>
          <a:p xmlns:a="http://schemas.openxmlformats.org/drawingml/2006/main">
            <a:r>
              <a:t>[104] https://windcreek.com/chicagosouthland/casino/sportsbook</a:t>
            </a:r>
          </a:p>
          <a:p xmlns:a="http://schemas.openxmlformats.org/drawingml/2006/main">
            <a:r>
              <a:t>[105] https://casino.hardrock.com/northern-indiana/casino</a:t>
            </a:r>
          </a:p>
          <a:p xmlns:a="http://schemas.openxmlformats.org/drawingml/2006/main">
            <a:r>
              <a:t>[106] https://casino.hardrock.com/northern-indiana/casino/sportsbook</a:t>
            </a:r>
          </a:p>
          <a:p xmlns:a="http://schemas.openxmlformats.org/drawingml/2006/main">
            <a:r>
              <a:t>[107] https://casino.hardrock.com/northern-indiana/faq</a:t>
            </a:r>
          </a:p>
          <a:p xmlns:a="http://schemas.openxmlformats.org/drawingml/2006/main">
            <a:r>
              <a:t>[108] https://www.riversideresort.com/riverside-resort-casino-gaming-riverside-resort-casino-promotions/gaming/slots/</a:t>
            </a:r>
          </a:p>
          <a:p xmlns:a="http://schemas.openxmlformats.org/drawingml/2006/main">
            <a:r>
              <a:t>[109] https://www.riversideresort.com/riverside-resort-casino-gaming-riverside-resort-casino-promotions/gaming/poker-room-riverside/</a:t>
            </a:r>
          </a:p>
          <a:p xmlns:a="http://schemas.openxmlformats.org/drawingml/2006/main">
            <a:r>
              <a:t>[110] https://www.riversideresort.com/riverside-resort-casino-gaming-riverside-resort-casino-promotions/gaming/william-hill-race-sports-book/</a:t>
            </a:r>
          </a:p>
          <a:p xmlns:a="http://schemas.openxmlformats.org/drawingml/2006/main">
            <a:r>
              <a:t>[111] https://sunsetstation.com/play/</a:t>
            </a:r>
          </a:p>
          <a:p xmlns:a="http://schemas.openxmlformats.org/drawingml/2006/main">
            <a:r>
              <a:t>[112] https://sunsetstation.com/wp-content/uploads/2025/09/Sunset-Station-Sales-Kit-09172025.pdf</a:t>
            </a:r>
          </a:p>
          <a:p xmlns:a="http://schemas.openxmlformats.org/drawingml/2006/main">
            <a:r>
              <a:t>[113] https://edgewater-casino.com/casino</a:t>
            </a:r>
          </a:p>
          <a:p xmlns:a="http://schemas.openxmlformats.org/drawingml/2006/main">
            <a:r>
              <a:t>[114] https://edgewater-casino.com/rooms</a:t>
            </a:r>
          </a:p>
          <a:p xmlns:a="http://schemas.openxmlformats.org/drawingml/2006/main">
            <a:r>
              <a:t>[115] https://www.pennentertainment.com/hollywood-aurora/casino/sportsbook</a:t>
            </a:r>
          </a:p>
          <a:p xmlns:a="http://schemas.openxmlformats.org/drawingml/2006/main">
            <a:r>
              <a:t>[116] https://www.pennentertainment.com/hollywood-aurora/visit-us</a:t>
            </a:r>
          </a:p>
          <a:p xmlns:a="http://schemas.openxmlformats.org/drawingml/2006/main">
            <a:r>
              <a:t>[117] https://newsroom.caesars.com/Property-Fact-Sheets/Harrahs-Laughlin/</a:t>
            </a:r>
          </a:p>
          <a:p xmlns:a="http://schemas.openxmlformats.org/drawingml/2006/main">
            <a:r>
              <a:t>[118] https://boulderstation.com/</a:t>
            </a:r>
          </a:p>
          <a:p xmlns:a="http://schemas.openxmlformats.org/drawingml/2006/main">
            <a:r>
              <a:t>[119] https://redrockresort.com/play/</a:t>
            </a:r>
          </a:p>
          <a:p xmlns:a="http://schemas.openxmlformats.org/drawingml/2006/main">
            <a:r>
              <a:t>[120] https://redrockresort.com/play/table-games/</a:t>
            </a:r>
          </a:p>
          <a:p xmlns:a="http://schemas.openxmlformats.org/drawingml/2006/main">
            <a:r>
              <a:t>[121] https://redrockresort.com/table-games/poker/</a:t>
            </a:r>
          </a:p>
          <a:p xmlns:a="http://schemas.openxmlformats.org/drawingml/2006/main">
            <a:r>
              <a:t>[122] https://redrockresort.com/play/race-and-sports/</a:t>
            </a:r>
          </a:p>
          <a:p xmlns:a="http://schemas.openxmlformats.org/drawingml/2006/main">
            <a:r>
              <a:t>[125] https://www.sec.gov/Archives/edgar/data/891482/000089148226000018/fll-20260514xdef14a.htm</a:t>
            </a:r>
          </a:p>
          <a:p xmlns:a="http://schemas.openxmlformats.org/drawingml/2006/main">
            <a:r>
              <a:t>[126] https://www.sec.gov/Archives/edgar/data/891482/000089148226000004/fll-20260303xex99d1.htm</a:t>
            </a:r>
          </a:p>
          <a:p xmlns:a="http://schemas.openxmlformats.org/drawingml/2006/main">
            <a:r>
              <a:t>[127] https://www.sec.gov/Archives/edgar/data/891482/000089148226000034/fll-20260806xex99d1.htm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8fe48fb2fa9430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3f3764880f74e97" /><Relationship Type="http://schemas.openxmlformats.org/officeDocument/2006/relationships/slideLayout" Target="/ppt/slideLayouts/slideLayout1.xml" Id="R024d967ce05b42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4d967ce05b42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616b37f94fc4ba8" /><Relationship Type="http://schemas.openxmlformats.org/officeDocument/2006/relationships/notesSlide" Target="/ppt/notesSlides/notesSlide1.xml" Id="R120ab332057241f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5f6b8576b604950" /><Relationship Type="http://schemas.openxmlformats.org/officeDocument/2006/relationships/notesSlide" Target="/ppt/notesSlides/notesSlide2.xml" Id="R3b19380c9d944a9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c799c7430824527" /><Relationship Type="http://schemas.openxmlformats.org/officeDocument/2006/relationships/notesSlide" Target="/ppt/notesSlides/notesSlide3.xml" Id="R9d5a5dfcce2d4db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4729b63ed504a9f" /><Relationship Type="http://schemas.openxmlformats.org/officeDocument/2006/relationships/notesSlide" Target="/ppt/notesSlides/notesSlide4.xml" Id="R6462b4a07c61443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62db334cb374677" /><Relationship Type="http://schemas.openxmlformats.org/officeDocument/2006/relationships/notesSlide" Target="/ppt/notesSlides/notesSlide5.xml" Id="Rc80e41664ee344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7e5cf5c43044c42" /><Relationship Type="http://schemas.openxmlformats.org/officeDocument/2006/relationships/chart" Target="/ppt/slides/charts/chart1.xml" Id="R577d0ab8c24946da" /><Relationship Type="http://schemas.openxmlformats.org/officeDocument/2006/relationships/notesSlide" Target="/ppt/notesSlides/notesSlide6.xml" Id="Rddae602389354f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b83b010b3d04aac" /><Relationship Type="http://schemas.openxmlformats.org/officeDocument/2006/relationships/notesSlide" Target="/ppt/notesSlides/notesSlide7.xml" Id="R3e39f2ed7a5d4d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da35a421dae4cc1" /><Relationship Type="http://schemas.openxmlformats.org/officeDocument/2006/relationships/notesSlide" Target="/ppt/notesSlides/notesSlide8.xml" Id="R480aa687f954435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14f490cfb9e445f" /><Relationship Type="http://schemas.openxmlformats.org/officeDocument/2006/relationships/notesSlide" Target="/ppt/notesSlides/notesSlide9.xml" Id="R3fd4c63233c54a7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ea9fbdb8adb499e" /><Relationship Type="http://schemas.openxmlformats.org/officeDocument/2006/relationships/chart" Target="/ppt/slides/charts/chart2.xml" Id="Re75b6b1293604fd4" /><Relationship Type="http://schemas.openxmlformats.org/officeDocument/2006/relationships/notesSlide" Target="/ppt/notesSlides/notesSlide10.xml" Id="Raabcc204925b4eb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51406559d984465" /><Relationship Type="http://schemas.openxmlformats.org/officeDocument/2006/relationships/notesSlide" Target="/ppt/notesSlides/notesSlide11.xml" Id="R13fc6e6e8791425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124af731a5f4dce" /><Relationship Type="http://schemas.openxmlformats.org/officeDocument/2006/relationships/notesSlide" Target="/ppt/notesSlides/notesSlide12.xml" Id="R24dd6a57f1794f9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dfbbdad357e477e" /><Relationship Type="http://schemas.openxmlformats.org/officeDocument/2006/relationships/notesSlide" Target="/ppt/notesSlides/notesSlide13.xml" Id="R456c2815d2f14f4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c02805b69934114" /><Relationship Type="http://schemas.openxmlformats.org/officeDocument/2006/relationships/chart" Target="/ppt/slides/charts/chart3.xml" Id="R0f1a627155874700" /><Relationship Type="http://schemas.openxmlformats.org/officeDocument/2006/relationships/chart" Target="/ppt/slides/charts/chart4.xml" Id="Ra3721f8b4be64995" /><Relationship Type="http://schemas.openxmlformats.org/officeDocument/2006/relationships/notesSlide" Target="/ppt/notesSlides/notesSlide14.xml" Id="Reed7b69913b7496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67b2a707bd54caf" /><Relationship Type="http://schemas.openxmlformats.org/officeDocument/2006/relationships/chart" Target="/ppt/slides/charts/chart5.xml" Id="R88c18ef00c0f49d4" /><Relationship Type="http://schemas.openxmlformats.org/officeDocument/2006/relationships/notesSlide" Target="/ppt/notesSlides/notesSlide15.xml" Id="R0f0b71ec7670499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4886dc6cfc04d53" /><Relationship Type="http://schemas.openxmlformats.org/officeDocument/2006/relationships/chart" Target="/ppt/slides/charts/chart6.xml" Id="R83b07133224345ef" /><Relationship Type="http://schemas.openxmlformats.org/officeDocument/2006/relationships/notesSlide" Target="/ppt/notesSlides/notesSlide16.xml" Id="Rbd739c5d5e0444f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bfe1a551f684638" /><Relationship Type="http://schemas.openxmlformats.org/officeDocument/2006/relationships/notesSlide" Target="/ppt/notesSlides/notesSlide17.xml" Id="R600d3401436e490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db4028891a342b4" /><Relationship Type="http://schemas.openxmlformats.org/officeDocument/2006/relationships/notesSlide" Target="/ppt/notesSlides/notesSlide18.xml" Id="R9a62adeeeaae4b5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fecbd9a03ce41dd" /><Relationship Type="http://schemas.openxmlformats.org/officeDocument/2006/relationships/notesSlide" Target="/ppt/notesSlides/notesSlide19.xml" Id="Raf405f1f846b4d1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40621794b344d12" /><Relationship Type="http://schemas.openxmlformats.org/officeDocument/2006/relationships/notesSlide" Target="/ppt/notesSlides/notesSlide20.xml" Id="Rfd06c10c433b475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a66cf1ad3e24b4a" /><Relationship Type="http://schemas.openxmlformats.org/officeDocument/2006/relationships/notesSlide" Target="/ppt/notesSlides/notesSlide21.xml" Id="R3d5bf4169bda4e6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8508cd40e6b4a1b" /><Relationship Type="http://schemas.openxmlformats.org/officeDocument/2006/relationships/notesSlide" Target="/ppt/notesSlides/notesSlide22.xml" Id="Raf2521cbafa541e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5d11350bd724536" /><Relationship Type="http://schemas.openxmlformats.org/officeDocument/2006/relationships/notesSlide" Target="/ppt/notesSlides/notesSlide23.xml" Id="R62198876376e426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b3ed9eea96d45df" /><Relationship Type="http://schemas.openxmlformats.org/officeDocument/2006/relationships/notesSlide" Target="/ppt/notesSlides/notesSlide24.xml" Id="R3c4e7d05da80437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21e7baaeba64d2d" /><Relationship Type="http://schemas.openxmlformats.org/officeDocument/2006/relationships/notesSlide" Target="/ppt/notesSlides/notesSlide25.xml" Id="R3f20b9b9d63e41c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75fbfa744e7476f" /><Relationship Type="http://schemas.openxmlformats.org/officeDocument/2006/relationships/notesSlide" Target="/ppt/notesSlides/notesSlide26.xml" Id="R6b2f94d14262439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f085aabcf0f4808" /><Relationship Type="http://schemas.openxmlformats.org/officeDocument/2006/relationships/notesSlide" Target="/ppt/notesSlides/notesSlide27.xml" Id="Rb311db29de854d8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0bcd2f05bac4a6e" /><Relationship Type="http://schemas.openxmlformats.org/officeDocument/2006/relationships/notesSlide" Target="/ppt/notesSlides/notesSlide28.xml" Id="Re1b44abd71c6497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33bdd53179d49f2" /><Relationship Type="http://schemas.openxmlformats.org/officeDocument/2006/relationships/notesSlide" Target="/ppt/notesSlides/notesSlide29.xml" Id="Rae489763d9d94cf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1cfd1957fff46cb" /><Relationship Type="http://schemas.openxmlformats.org/officeDocument/2006/relationships/notesSlide" Target="/ppt/notesSlides/notesSlide30.xml" Id="Rab041c3389ae4155" /></Relationships>
</file>

<file path=ppt/slides/charts/chart1.xml><?xml version="1.0" encoding="utf-8"?>
<c:chartSpace xmlns:c="http://schemas.openxmlformats.org/drawingml/2006/chart">
  <c:lang val="en-US"/>
  <c:chart>
    <c:plotArea>
      <c:barChart>
        <c:barDir val="bar"/>
        <c:grouping val="clustered"/>
        <c:varyColors val="1"/>
        <c:ser>
          <c:idx val="0"/>
          <c:order val="0"/>
          <c:tx>
            <c:v>revenue (USD m of net revenue)</c:v>
          </c:tx>
          <c:spPr>
            <a:solidFill xmlns:a="http://schemas.openxmlformats.org/drawingml/2006/main">
              <a:srgbClr val="1F3864"/>
            </a:solidFill>
            <a:ln xmlns:a="http://schemas.openxmlformats.org/drawingml/2006/main" w="28575">
              <a:solidFill>
                <a:srgbClr val="1F3864"/>
              </a:solidFill>
              <a:prstDash val="solid"/>
            </a:ln>
          </c:spPr>
          <c:dPt>
            <c:idx val="0"/>
            <c:invertIfNegative val="0"/>
            <c:spPr>
              <a:solidFill xmlns:a="http://schemas.openxmlformats.org/drawingml/2006/main">
                <a:srgbClr val="1F3864"/>
              </a:solidFill>
            </c:spPr>
          </c:dPt>
          <c:dPt>
            <c:idx val="1"/>
            <c:invertIfNegative val="0"/>
            <c:spPr>
              <a:solidFill xmlns:a="http://schemas.openxmlformats.org/drawingml/2006/main">
                <a:srgbClr val="2E6DA4"/>
              </a:solidFill>
            </c:spPr>
          </c:dPt>
          <c:dPt>
            <c:idx val="2"/>
            <c:invertIfNegative val="0"/>
            <c:spPr>
              <a:solidFill xmlns:a="http://schemas.openxmlformats.org/drawingml/2006/main">
                <a:srgbClr val="6E9BC5"/>
              </a:solidFill>
            </c:spPr>
          </c:dPt>
          <c:dPt>
            <c:idx val="3"/>
            <c:invertIfNegative val="0"/>
            <c:spPr>
              <a:solidFill xmlns:a="http://schemas.openxmlformats.org/drawingml/2006/main">
                <a:srgbClr val="8A99AC"/>
              </a:solidFill>
            </c:spPr>
          </c:dPt>
          <c:cat>
            <c:strLit>
              <c:ptCount val="4"/>
              <c:pt idx="0">
                <c:v>Stratosphere</c:v>
              </c:pt>
              <c:pt idx="1">
                <c:v>Aquarius</c:v>
              </c:pt>
              <c:pt idx="2">
                <c:v>Arizona Charlie's Decatur</c:v>
              </c:pt>
              <c:pt idx="3">
                <c:v>Arizona Charlie's Boulder</c:v>
              </c:pt>
            </c:strLit>
          </c:cat>
          <c:val>
            <c:numLit>
              <c:formatCode>General</c:formatCode>
              <c:ptCount val="4"/>
              <c:pt idx="0">
                <c:v>197.6</c:v>
              </c:pt>
              <c:pt idx="1">
                <c:v>101.6</c:v>
              </c:pt>
              <c:pt idx="2">
                <c:v>82.5</c:v>
              </c:pt>
              <c:pt idx="3">
                <c:v>48</c:v>
              </c:pt>
            </c:numLit>
          </c:val>
        </c:ser>
        <c:dLbls>
          <c:txPr>
            <a:bodyPr xmlns:a="http://schemas.openxmlformats.org/drawingml/2006/main" anchorCtr="1"/>
            <a:lstStyle xmlns:a="http://schemas.openxmlformats.org/drawingml/2006/main"/>
            <a:p xmlns:a="http://schemas.openxmlformats.org/drawingml/2006/main">
              <a:pPr>
                <a:defRPr sz="825" b="1">
                  <a:solidFill>
                    <a:srgbClr val="1B2A41"/>
                  </a:solidFill>
                  <a:latin typeface="Calibri"/>
                  <a:ea typeface="Calibri"/>
                  <a:cs typeface="Calibri"/>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7DEE7"/>
            </a:solidFill>
            <a:prstDash val="solid"/>
          </a:ln>
        </c:spPr>
        <c:txPr>
          <a:bodyPr xmlns:a="http://schemas.openxmlformats.org/drawingml/2006/main" anchorCtr="1"/>
          <a:lstStyle xmlns:a="http://schemas.openxmlformats.org/drawingml/2006/main"/>
          <a:p xmlns:a="http://schemas.openxmlformats.org/drawingml/2006/main">
            <a:pPr>
              <a:defRPr sz="900">
                <a:solidFill>
                  <a:srgbClr val="64748B"/>
                </a:solidFill>
                <a:latin typeface="Calibri"/>
                <a:ea typeface="Calibri"/>
                <a:cs typeface="Calibri"/>
              </a:defRPr>
            </a:pPr>
          </a:p>
        </c:txPr>
        <c:crossAx val="48672768"/>
      </c:catAx>
      <c:valAx>
        <c:axId val="48672768"/>
        <c:scaling>
          <c:orientation val="minMax"/>
        </c:scaling>
        <c:delete val="0"/>
        <c:axPos val="b"/>
        <c:majorGridlines>
          <c:spPr>
            <a:ln xmlns:a="http://schemas.openxmlformats.org/drawingml/2006/main" w="9525">
              <a:solidFill>
                <a:srgbClr val="D7DEE7"/>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revenue (USD m of net revenue)</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64748B"/>
                </a:solidFill>
                <a:latin typeface="Calibri"/>
                <a:ea typeface="Calibri"/>
                <a:cs typeface="Calibri"/>
              </a:defRPr>
            </a:pPr>
          </a:p>
        </c:txPr>
        <c:crossAx val="48650112"/>
        <c:crossBetween val="between"/>
      </c:valAx>
      <c:spPr>
        <a:solidFill xmlns:a="http://schemas.openxmlformats.org/drawingml/2006/main">
          <a:srgbClr val="FFFFFF"/>
        </a:solidFill>
      </c:spPr>
    </c:plotArea>
    <c:plotVisOnly val="1"/>
    <c:dispBlanksAs val="gap"/>
  </c:chart>
  <c:spPr>
    <a:solidFill xmlns:a="http://schemas.openxmlformats.org/drawingml/2006/main">
      <a:srgbClr val="FFFFFF"/>
    </a:solidFill>
  </c:spPr>
</c:chartSpace>
</file>

<file path=ppt/slides/charts/chart2.xml><?xml version="1.0" encoding="utf-8"?>
<c:chartSpace xmlns:c="http://schemas.openxmlformats.org/drawingml/2006/chart">
  <c:lang val="en-US"/>
  <c:chart>
    <c:plotArea>
      <c:barChart>
        <c:barDir val="col"/>
        <c:grouping val="clustered"/>
        <c:varyColors val="1"/>
        <c:ser>
          <c:idx val="0"/>
          <c:order val="0"/>
          <c:tx>
            <c:v>Casino Gaming – Regional Casino Resorts</c:v>
          </c:tx>
          <c:spPr>
            <a:solidFill xmlns:a="http://schemas.openxmlformats.org/drawingml/2006/main">
              <a:srgbClr val="1F3864"/>
            </a:solidFill>
            <a:ln xmlns:a="http://schemas.openxmlformats.org/drawingml/2006/main" w="28575">
              <a:solidFill>
                <a:srgbClr val="1F3864"/>
              </a:solidFill>
              <a:prstDash val="solid"/>
            </a:ln>
          </c:spPr>
          <c:dPt>
            <c:idx val="0"/>
            <c:invertIfNegative val="0"/>
            <c:spPr>
              <a:solidFill xmlns:a="http://schemas.openxmlformats.org/drawingml/2006/main">
                <a:srgbClr val="1F3864"/>
              </a:solidFill>
            </c:spPr>
          </c:dPt>
          <c:dPt>
            <c:idx val="1"/>
            <c:invertIfNegative val="0"/>
            <c:spPr>
              <a:solidFill xmlns:a="http://schemas.openxmlformats.org/drawingml/2006/main">
                <a:srgbClr val="2E6DA4"/>
              </a:solidFill>
            </c:spPr>
          </c:dPt>
          <c:cat>
            <c:numLit>
              <c:formatCode>General</c:formatCode>
              <c:ptCount val="2"/>
              <c:pt idx="0">
                <c:v>2026</c:v>
              </c:pt>
              <c:pt idx="1">
                <c:v>2031</c:v>
              </c:pt>
            </c:numLit>
          </c:cat>
          <c:val>
            <c:numLit>
              <c:formatCode>General</c:formatCode>
              <c:ptCount val="2"/>
              <c:pt idx="0">
                <c:v>81.7</c:v>
              </c:pt>
              <c:pt idx="1">
                <c:v>91.5</c:v>
              </c:pt>
            </c:numLit>
          </c:val>
        </c:ser>
        <c:dLbls>
          <c:txPr>
            <a:bodyPr xmlns:a="http://schemas.openxmlformats.org/drawingml/2006/main" anchorCtr="1"/>
            <a:lstStyle xmlns:a="http://schemas.openxmlformats.org/drawingml/2006/main"/>
            <a:p xmlns:a="http://schemas.openxmlformats.org/drawingml/2006/main">
              <a:pPr>
                <a:defRPr sz="825" b="1">
                  <a:solidFill>
                    <a:srgbClr val="1B2A41"/>
                  </a:solidFill>
                  <a:latin typeface="Calibri"/>
                  <a:ea typeface="Calibri"/>
                  <a:cs typeface="Calibri"/>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7DEE7"/>
            </a:solidFill>
            <a:prstDash val="solid"/>
          </a:ln>
        </c:spPr>
        <c:txPr>
          <a:bodyPr xmlns:a="http://schemas.openxmlformats.org/drawingml/2006/main" anchorCtr="1"/>
          <a:lstStyle xmlns:a="http://schemas.openxmlformats.org/drawingml/2006/main"/>
          <a:p xmlns:a="http://schemas.openxmlformats.org/drawingml/2006/main">
            <a:pPr>
              <a:defRPr sz="900">
                <a:solidFill>
                  <a:srgbClr val="64748B"/>
                </a:solidFill>
                <a:latin typeface="Calibri"/>
                <a:ea typeface="Calibri"/>
                <a:cs typeface="Calibri"/>
              </a:defRPr>
            </a:pPr>
          </a:p>
        </c:txPr>
        <c:crossAx val="48672768"/>
      </c:catAx>
      <c:valAx>
        <c:axId val="48672768"/>
        <c:scaling>
          <c:orientation val="minMax"/>
        </c:scaling>
        <c:delete val="0"/>
        <c:axPos val="l"/>
        <c:majorGridlines>
          <c:spPr>
            <a:ln xmlns:a="http://schemas.openxmlformats.org/drawingml/2006/main" w="9525">
              <a:solidFill>
                <a:srgbClr val="D7DEE7"/>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Market Size ($B)</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64748B"/>
                </a:solidFill>
                <a:latin typeface="Calibri"/>
                <a:ea typeface="Calibri"/>
                <a:cs typeface="Calibri"/>
              </a:defRPr>
            </a:pPr>
          </a:p>
        </c:txPr>
        <c:crossAx val="48650112"/>
        <c:crossBetween val="between"/>
      </c:valAx>
      <c:spPr>
        <a:solidFill xmlns:a="http://schemas.openxmlformats.org/drawingml/2006/main">
          <a:srgbClr val="FFFFFF"/>
        </a:solidFill>
      </c:spPr>
    </c:plotArea>
    <c:plotVisOnly val="1"/>
    <c:dispBlanksAs val="gap"/>
  </c:chart>
  <c:spPr>
    <a:solidFill xmlns:a="http://schemas.openxmlformats.org/drawingml/2006/main">
      <a:srgbClr val="FFFFFF"/>
    </a:solidFill>
  </c:spPr>
</c:chartSpace>
</file>

<file path=ppt/slides/charts/chart3.xml><?xml version="1.0" encoding="utf-8"?>
<c:chartSpace xmlns:c="http://schemas.openxmlformats.org/drawingml/2006/chart">
  <c:lang val="en-US"/>
  <c:chart>
    <c:plotArea>
      <c:pieChart>
        <c:ser>
          <c:idx val="0"/>
          <c:order val="0"/>
          <c:tx>
            <c:v>Revenue by Geography</c:v>
          </c:tx>
          <c:dPt>
            <c:idx val="0"/>
            <c:spPr>
              <a:solidFill xmlns:a="http://schemas.openxmlformats.org/drawingml/2006/main">
                <a:srgbClr val="2E2270"/>
              </a:solidFill>
            </c:spPr>
          </c:dPt>
          <c:dPt>
            <c:idx val="1"/>
            <c:spPr>
              <a:solidFill xmlns:a="http://schemas.openxmlformats.org/drawingml/2006/main">
                <a:srgbClr val="9480FF"/>
              </a:solidFill>
            </c:spPr>
          </c:dPt>
          <c:dPt>
            <c:idx val="2"/>
            <c:spPr>
              <a:solidFill xmlns:a="http://schemas.openxmlformats.org/drawingml/2006/main">
                <a:srgbClr val="5941D9"/>
              </a:solidFill>
            </c:spPr>
          </c:dPt>
          <c:cat>
            <c:strLit>
              <c:ptCount val="3"/>
              <c:pt idx="0">
                <c:v>Las Vegas Strip / tourist market (Stratosphere)</c:v>
              </c:pt>
              <c:pt idx="1">
                <c:v>West Las Vegas locals market (Arizona Charlie's Decatur)</c:v>
              </c:pt>
              <c:pt idx="2">
                <c:v>Boulder Strip / East Las Vegas locals market (Arizona Charlie's Boulder)</c:v>
              </c:pt>
            </c:strLit>
          </c:cat>
          <c:val>
            <c:numLit>
              <c:formatCode>General</c:formatCode>
              <c:ptCount val="3"/>
              <c:pt idx="0">
                <c:v>59.8</c:v>
              </c:pt>
              <c:pt idx="1">
                <c:v>25.7</c:v>
              </c:pt>
              <c:pt idx="2">
                <c:v>14.5</c:v>
              </c:pt>
            </c:numLit>
          </c:val>
        </c:ser>
        <c:dLbls>
          <c:txPr>
            <a:bodyPr xmlns:a="http://schemas.openxmlformats.org/drawingml/2006/main" anchorCtr="1"/>
            <a:lstStyle xmlns:a="http://schemas.openxmlformats.org/drawingml/2006/main"/>
            <a:p xmlns:a="http://schemas.openxmlformats.org/drawingml/2006/main">
              <a:pPr>
                <a:defRPr sz="825" b="1">
                  <a:solidFill>
                    <a:srgbClr val="1B2A41"/>
                  </a:solidFill>
                  <a:latin typeface="Calibri"/>
                  <a:ea typeface="Calibri"/>
                  <a:cs typeface="Calibri"/>
                </a:defRPr>
              </a:pPr>
            </a:p>
          </c:txPr>
          <c:dLblPos val="outEnd"/>
          <c:showLegendKey val="0"/>
          <c:showVal val="1"/>
          <c:showCatName val="0"/>
          <c:showSerName val="0"/>
          <c:showPercent val="0"/>
          <c:showBubbleSize val="0"/>
          <c:showLeaderLines val="0"/>
        </c:dLbls>
      </c:pieChart>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825">
              <a:solidFill>
                <a:srgbClr val="64748B"/>
              </a:solidFill>
              <a:latin typeface="Calibri"/>
              <a:ea typeface="Calibri"/>
              <a:cs typeface="Calibri"/>
            </a:defRPr>
          </a:pPr>
        </a:p>
      </c:txPr>
    </c:legend>
    <c:plotVisOnly val="1"/>
  </c:chart>
  <c:spPr>
    <a:solidFill xmlns:a="http://schemas.openxmlformats.org/drawingml/2006/main">
      <a:srgbClr val="FFFFFF"/>
    </a:solidFill>
  </c:spPr>
</c:chartSpace>
</file>

<file path=ppt/slides/charts/chart4.xml><?xml version="1.0" encoding="utf-8"?>
<c:chartSpace xmlns:c="http://schemas.openxmlformats.org/drawingml/2006/chart">
  <c:lang val="en-US"/>
  <c:chart>
    <c:plotArea>
      <c:pieChart>
        <c:ser>
          <c:idx val="0"/>
          <c:order val="0"/>
          <c:tx>
            <c:v>Revenue by Product</c:v>
          </c:tx>
          <c:dPt>
            <c:idx val="0"/>
            <c:spPr>
              <a:solidFill xmlns:a="http://schemas.openxmlformats.org/drawingml/2006/main">
                <a:srgbClr val="2E2270"/>
              </a:solidFill>
            </c:spPr>
          </c:dPt>
          <c:dPt>
            <c:idx val="1"/>
            <c:spPr>
              <a:solidFill xmlns:a="http://schemas.openxmlformats.org/drawingml/2006/main">
                <a:srgbClr val="9480FF"/>
              </a:solidFill>
            </c:spPr>
          </c:dPt>
          <c:dPt>
            <c:idx val="2"/>
            <c:spPr>
              <a:solidFill xmlns:a="http://schemas.openxmlformats.org/drawingml/2006/main">
                <a:srgbClr val="5941D9"/>
              </a:solidFill>
            </c:spPr>
          </c:dPt>
          <c:dPt>
            <c:idx val="3"/>
            <c:spPr>
              <a:solidFill xmlns:a="http://schemas.openxmlformats.org/drawingml/2006/main">
                <a:srgbClr val="9082D9"/>
              </a:solidFill>
            </c:spPr>
          </c:dPt>
          <c:cat>
            <c:strLit>
              <c:ptCount val="4"/>
              <c:pt idx="0">
                <c:v>Casino</c:v>
              </c:pt>
              <c:pt idx="1">
                <c:v>Food and beverage</c:v>
              </c:pt>
              <c:pt idx="2">
                <c:v>Hotel</c:v>
              </c:pt>
              <c:pt idx="3">
                <c:v>Tower, retail and other income</c:v>
              </c:pt>
            </c:strLit>
          </c:cat>
          <c:val>
            <c:numLit>
              <c:formatCode>General</c:formatCode>
              <c:ptCount val="4"/>
              <c:pt idx="0">
                <c:v>52.2</c:v>
              </c:pt>
              <c:pt idx="1">
                <c:v>20</c:v>
              </c:pt>
              <c:pt idx="2">
                <c:v>17.7</c:v>
              </c:pt>
              <c:pt idx="3">
                <c:v>10.1</c:v>
              </c:pt>
            </c:numLit>
          </c:val>
        </c:ser>
        <c:dLbls>
          <c:txPr>
            <a:bodyPr xmlns:a="http://schemas.openxmlformats.org/drawingml/2006/main" anchorCtr="1"/>
            <a:lstStyle xmlns:a="http://schemas.openxmlformats.org/drawingml/2006/main"/>
            <a:p xmlns:a="http://schemas.openxmlformats.org/drawingml/2006/main">
              <a:pPr>
                <a:defRPr sz="825" b="1">
                  <a:solidFill>
                    <a:srgbClr val="1B2A41"/>
                  </a:solidFill>
                  <a:latin typeface="Calibri"/>
                  <a:ea typeface="Calibri"/>
                  <a:cs typeface="Calibri"/>
                </a:defRPr>
              </a:pPr>
            </a:p>
          </c:txPr>
          <c:dLblPos val="outEnd"/>
          <c:showLegendKey val="0"/>
          <c:showVal val="1"/>
          <c:showCatName val="0"/>
          <c:showSerName val="0"/>
          <c:showPercent val="0"/>
          <c:showBubbleSize val="0"/>
          <c:showLeaderLines val="0"/>
        </c:dLbls>
      </c:pieChart>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825">
              <a:solidFill>
                <a:srgbClr val="64748B"/>
              </a:solidFill>
              <a:latin typeface="Calibri"/>
              <a:ea typeface="Calibri"/>
              <a:cs typeface="Calibri"/>
            </a:defRPr>
          </a:pPr>
        </a:p>
      </c:txPr>
    </c:legend>
    <c:plotVisOnly val="1"/>
  </c:chart>
  <c:spPr>
    <a:solidFill xmlns:a="http://schemas.openxmlformats.org/drawingml/2006/main">
      <a:srgbClr val="FFFFFF"/>
    </a:solidFill>
  </c:spPr>
</c:chartSpace>
</file>

<file path=ppt/slides/charts/chart5.xml><?xml version="1.0" encoding="utf-8"?>
<c:chartSpace xmlns:c="http://schemas.openxmlformats.org/drawingml/2006/chart">
  <c:lang val="en-US"/>
  <c:chart>
    <c:plotArea>
      <c:lineChart>
        <c:grouping val="standard"/>
        <c:ser>
          <c:idx val="0"/>
          <c:order val="0"/>
          <c:tx>
            <c:v>Margin</c:v>
          </c:tx>
          <c:spPr>
            <a:solidFill xmlns:a="http://schemas.openxmlformats.org/drawingml/2006/main">
              <a:srgbClr val="1F3864"/>
            </a:solidFill>
            <a:ln xmlns:a="http://schemas.openxmlformats.org/drawingml/2006/main" w="28575">
              <a:solidFill>
                <a:srgbClr val="1F3864"/>
              </a:solidFill>
              <a:prstDash val="solid"/>
            </a:ln>
          </c:spPr>
          <c:marker>
            <c:symbol val="circle"/>
            <c:size val="7"/>
            <c:spPr>
              <a:solidFill xmlns:a="http://schemas.openxmlformats.org/drawingml/2006/main">
                <a:srgbClr val="1F3864"/>
              </a:solidFill>
            </c:spPr>
          </c:marker>
          <c:dPt>
            <c:idx val="0"/>
            <c:spPr>
              <a:solidFill xmlns:a="http://schemas.openxmlformats.org/drawingml/2006/main">
                <a:srgbClr val="1F3864"/>
              </a:solidFill>
            </c:spPr>
          </c:dPt>
          <c:dPt>
            <c:idx val="1"/>
            <c:spPr>
              <a:solidFill xmlns:a="http://schemas.openxmlformats.org/drawingml/2006/main">
                <a:srgbClr val="2E6DA4"/>
              </a:solidFill>
            </c:spPr>
          </c:dPt>
          <c:dPt>
            <c:idx val="2"/>
            <c:spPr>
              <a:solidFill xmlns:a="http://schemas.openxmlformats.org/drawingml/2006/main">
                <a:srgbClr val="6E9BC5"/>
              </a:solidFill>
            </c:spPr>
          </c:dPt>
          <c:dPt>
            <c:idx val="3"/>
            <c:spPr>
              <a:solidFill xmlns:a="http://schemas.openxmlformats.org/drawingml/2006/main">
                <a:srgbClr val="8A99AC"/>
              </a:solidFill>
            </c:spPr>
          </c:dPt>
          <c:cat>
            <c:strLit>
              <c:ptCount val="4"/>
              <c:pt idx="0">
                <c:v>2002A</c:v>
              </c:pt>
              <c:pt idx="1">
                <c:v>2003A</c:v>
              </c:pt>
              <c:pt idx="2">
                <c:v>2004A</c:v>
              </c:pt>
              <c:pt idx="3">
                <c:v>2005A</c:v>
              </c:pt>
            </c:strLit>
          </c:cat>
          <c:val>
            <c:numLit>
              <c:formatCode>0.0</c:formatCode>
              <c:ptCount val="4"/>
              <c:pt idx="0">
                <c:v>12.68</c:v>
              </c:pt>
              <c:pt idx="1">
                <c:v>17.31</c:v>
              </c:pt>
              <c:pt idx="2">
                <c:v>24.17</c:v>
              </c:pt>
              <c:pt idx="3">
                <c:v>27.26</c:v>
              </c:pt>
            </c:numLit>
          </c:val>
        </c:ser>
        <c:dLbls>
          <c:txPr>
            <a:bodyPr xmlns:a="http://schemas.openxmlformats.org/drawingml/2006/main" anchorCtr="1"/>
            <a:lstStyle xmlns:a="http://schemas.openxmlformats.org/drawingml/2006/main"/>
            <a:p xmlns:a="http://schemas.openxmlformats.org/drawingml/2006/main">
              <a:pPr>
                <a:defRPr sz="750">
                  <a:solidFill>
                    <a:srgbClr val="1B2A41"/>
                  </a:solidFill>
                  <a:latin typeface="Calibri"/>
                  <a:ea typeface="Calibri"/>
                  <a:cs typeface="Calibri"/>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7DEE7"/>
            </a:solidFill>
            <a:prstDash val="solid"/>
          </a:ln>
        </c:spPr>
        <c:txPr>
          <a:bodyPr xmlns:a="http://schemas.openxmlformats.org/drawingml/2006/main" anchorCtr="1"/>
          <a:lstStyle xmlns:a="http://schemas.openxmlformats.org/drawingml/2006/main"/>
          <a:p xmlns:a="http://schemas.openxmlformats.org/drawingml/2006/main">
            <a:pPr>
              <a:defRPr sz="900">
                <a:solidFill>
                  <a:srgbClr val="64748B"/>
                </a:solidFill>
                <a:latin typeface="Calibri"/>
                <a:ea typeface="Calibri"/>
                <a:cs typeface="Calibri"/>
              </a:defRPr>
            </a:pPr>
          </a:p>
        </c:txPr>
        <c:crossAx val="48672768"/>
      </c:catAx>
      <c:valAx>
        <c:axId val="48672768"/>
        <c:scaling>
          <c:orientation val="minMax"/>
        </c:scaling>
        <c:delete val="0"/>
        <c:axPos val="l"/>
        <c:majorGridlines>
          <c:spPr>
            <a:ln xmlns:a="http://schemas.openxmlformats.org/drawingml/2006/main" w="9525">
              <a:solidFill>
                <a:srgbClr val="D7DEE7"/>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Margin</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64748B"/>
                </a:solidFill>
                <a:latin typeface="Calibri"/>
                <a:ea typeface="Calibri"/>
                <a:cs typeface="Calibri"/>
              </a:defRPr>
            </a:pPr>
          </a:p>
        </c:txPr>
        <c:crossAx val="48650112"/>
        <c:crossBetween val="between"/>
      </c:valAx>
      <c:spPr>
        <a:solidFill xmlns:a="http://schemas.openxmlformats.org/drawingml/2006/main">
          <a:srgbClr val="FFFFFF"/>
        </a:solidFill>
      </c:spPr>
    </c:plotArea>
    <c:plotVisOnly val="1"/>
    <c:dispBlanksAs val="gap"/>
  </c:chart>
  <c:spPr>
    <a:solidFill xmlns:a="http://schemas.openxmlformats.org/drawingml/2006/main">
      <a:srgbClr val="FFFFFF"/>
    </a:solidFill>
  </c:spPr>
</c:chartSpace>
</file>

<file path=ppt/slides/charts/chart6.xml><?xml version="1.0" encoding="utf-8"?>
<c:chartSpace xmlns:c="http://schemas.openxmlformats.org/drawingml/2006/chart">
  <c:lang val="en-US"/>
  <c:chart>
    <c:plotArea>
      <c:lineChart>
        <c:grouping val="standard"/>
        <c:ser>
          <c:idx val="0"/>
          <c:order val="0"/>
          <c:tx>
            <c:v>Downside</c:v>
          </c:tx>
          <c:spPr>
            <a:solidFill xmlns:a="http://schemas.openxmlformats.org/drawingml/2006/main">
              <a:srgbClr val="1F3864"/>
            </a:solidFill>
            <a:ln xmlns:a="http://schemas.openxmlformats.org/drawingml/2006/main" w="28575">
              <a:solidFill>
                <a:srgbClr val="1F3864"/>
              </a:solidFill>
              <a:prstDash val="solid"/>
            </a:ln>
          </c:spPr>
          <c:marker>
            <c:symbol val="circle"/>
            <c:size val="7"/>
            <c:spPr>
              <a:solidFill xmlns:a="http://schemas.openxmlformats.org/drawingml/2006/main">
                <a:srgbClr val="1F3864"/>
              </a:solidFill>
            </c:spPr>
          </c:marker>
          <c:dPt>
            <c:idx val="0"/>
            <c:spPr>
              <a:solidFill xmlns:a="http://schemas.openxmlformats.org/drawingml/2006/main">
                <a:srgbClr val="1F3864"/>
              </a:solidFill>
            </c:spPr>
          </c:dPt>
          <c:dPt>
            <c:idx val="1"/>
            <c:spPr>
              <a:solidFill xmlns:a="http://schemas.openxmlformats.org/drawingml/2006/main">
                <a:srgbClr val="2E6DA4"/>
              </a:solidFill>
            </c:spPr>
          </c:dPt>
          <c:dPt>
            <c:idx val="2"/>
            <c:spPr>
              <a:solidFill xmlns:a="http://schemas.openxmlformats.org/drawingml/2006/main">
                <a:srgbClr val="6E9BC5"/>
              </a:solidFill>
            </c:spPr>
          </c:dPt>
          <c:dPt>
            <c:idx val="3"/>
            <c:spPr>
              <a:solidFill xmlns:a="http://schemas.openxmlformats.org/drawingml/2006/main">
                <a:srgbClr val="8A99AC"/>
              </a:solidFill>
            </c:spPr>
          </c:dPt>
          <c:cat>
            <c:strLit>
              <c:ptCount val="4"/>
              <c:pt idx="0">
                <c:v>2005A</c:v>
              </c:pt>
              <c:pt idx="1">
                <c:v>2006P</c:v>
              </c:pt>
              <c:pt idx="2">
                <c:v>2007P</c:v>
              </c:pt>
              <c:pt idx="3">
                <c:v>2008P</c:v>
              </c:pt>
            </c:strLit>
          </c:cat>
          <c:val>
            <c:numLit>
              <c:formatCode>$0.0"M"</c:formatCode>
              <c:ptCount val="4"/>
              <c:pt idx="0">
                <c:v>350.3</c:v>
              </c:pt>
              <c:pt idx="1">
                <c:v>377.1</c:v>
              </c:pt>
              <c:pt idx="2">
                <c:v>393.4</c:v>
              </c:pt>
              <c:pt idx="3">
                <c:v>409</c:v>
              </c:pt>
            </c:numLit>
          </c:val>
        </c:ser>
        <c:ser>
          <c:idx val="1"/>
          <c:order val="1"/>
          <c:tx>
            <c:v>Base case</c:v>
          </c:tx>
          <c:spPr>
            <a:solidFill xmlns:a="http://schemas.openxmlformats.org/drawingml/2006/main">
              <a:srgbClr val="2E6DA4"/>
            </a:solidFill>
            <a:ln xmlns:a="http://schemas.openxmlformats.org/drawingml/2006/main" w="28575">
              <a:solidFill>
                <a:srgbClr val="2E6DA4"/>
              </a:solidFill>
              <a:prstDash val="solid"/>
            </a:ln>
          </c:spPr>
          <c:marker>
            <c:symbol val="circle"/>
            <c:size val="7"/>
            <c:spPr>
              <a:solidFill xmlns:a="http://schemas.openxmlformats.org/drawingml/2006/main">
                <a:srgbClr val="2E6DA4"/>
              </a:solidFill>
            </c:spPr>
          </c:marker>
          <c:dPt>
            <c:idx val="0"/>
            <c:spPr>
              <a:solidFill xmlns:a="http://schemas.openxmlformats.org/drawingml/2006/main">
                <a:srgbClr val="2E6DA4"/>
              </a:solidFill>
            </c:spPr>
          </c:dPt>
          <c:dPt>
            <c:idx val="1"/>
            <c:spPr>
              <a:solidFill xmlns:a="http://schemas.openxmlformats.org/drawingml/2006/main">
                <a:srgbClr val="6E9BC5"/>
              </a:solidFill>
            </c:spPr>
          </c:dPt>
          <c:dPt>
            <c:idx val="2"/>
            <c:spPr>
              <a:solidFill xmlns:a="http://schemas.openxmlformats.org/drawingml/2006/main">
                <a:srgbClr val="8A99AC"/>
              </a:solidFill>
            </c:spPr>
          </c:dPt>
          <c:dPt>
            <c:idx val="3"/>
            <c:spPr>
              <a:solidFill xmlns:a="http://schemas.openxmlformats.org/drawingml/2006/main">
                <a:srgbClr val="B7791F"/>
              </a:solidFill>
            </c:spPr>
          </c:dPt>
          <c:cat>
            <c:strLit>
              <c:ptCount val="4"/>
              <c:pt idx="0">
                <c:v>2005A</c:v>
              </c:pt>
              <c:pt idx="1">
                <c:v>2006P</c:v>
              </c:pt>
              <c:pt idx="2">
                <c:v>2007P</c:v>
              </c:pt>
              <c:pt idx="3">
                <c:v>2008P</c:v>
              </c:pt>
            </c:strLit>
          </c:cat>
          <c:val>
            <c:numLit>
              <c:formatCode>$0.0"M"</c:formatCode>
              <c:ptCount val="4"/>
              <c:pt idx="0">
                <c:v>350.3</c:v>
              </c:pt>
              <c:pt idx="1">
                <c:v>382.9</c:v>
              </c:pt>
              <c:pt idx="2">
                <c:v>410.8</c:v>
              </c:pt>
              <c:pt idx="3">
                <c:v>433.9</c:v>
              </c:pt>
            </c:numLit>
          </c:val>
        </c:ser>
        <c:ser>
          <c:idx val="2"/>
          <c:order val="2"/>
          <c:tx>
            <c:v>Upside</c:v>
          </c:tx>
          <c:spPr>
            <a:solidFill xmlns:a="http://schemas.openxmlformats.org/drawingml/2006/main">
              <a:srgbClr val="6E9BC5"/>
            </a:solidFill>
            <a:ln xmlns:a="http://schemas.openxmlformats.org/drawingml/2006/main" w="28575">
              <a:solidFill>
                <a:srgbClr val="6E9BC5"/>
              </a:solidFill>
              <a:prstDash val="solid"/>
            </a:ln>
          </c:spPr>
          <c:marker>
            <c:symbol val="circle"/>
            <c:size val="7"/>
            <c:spPr>
              <a:solidFill xmlns:a="http://schemas.openxmlformats.org/drawingml/2006/main">
                <a:srgbClr val="6E9BC5"/>
              </a:solidFill>
            </c:spPr>
          </c:marker>
          <c:dPt>
            <c:idx val="0"/>
            <c:spPr>
              <a:solidFill xmlns:a="http://schemas.openxmlformats.org/drawingml/2006/main">
                <a:srgbClr val="6E9BC5"/>
              </a:solidFill>
            </c:spPr>
          </c:dPt>
          <c:dPt>
            <c:idx val="1"/>
            <c:spPr>
              <a:solidFill xmlns:a="http://schemas.openxmlformats.org/drawingml/2006/main">
                <a:srgbClr val="8A99AC"/>
              </a:solidFill>
            </c:spPr>
          </c:dPt>
          <c:dPt>
            <c:idx val="2"/>
            <c:spPr>
              <a:solidFill xmlns:a="http://schemas.openxmlformats.org/drawingml/2006/main">
                <a:srgbClr val="B7791F"/>
              </a:solidFill>
            </c:spPr>
          </c:dPt>
          <c:dPt>
            <c:idx val="3"/>
            <c:spPr>
              <a:solidFill xmlns:a="http://schemas.openxmlformats.org/drawingml/2006/main">
                <a:srgbClr val="1F3864"/>
              </a:solidFill>
            </c:spPr>
          </c:dPt>
          <c:cat>
            <c:strLit>
              <c:ptCount val="4"/>
              <c:pt idx="0">
                <c:v>2005A</c:v>
              </c:pt>
              <c:pt idx="1">
                <c:v>2006P</c:v>
              </c:pt>
              <c:pt idx="2">
                <c:v>2007P</c:v>
              </c:pt>
              <c:pt idx="3">
                <c:v>2008P</c:v>
              </c:pt>
            </c:strLit>
          </c:cat>
          <c:val>
            <c:numLit>
              <c:formatCode>$0.0"M"</c:formatCode>
              <c:ptCount val="4"/>
              <c:pt idx="0">
                <c:v>350.3</c:v>
              </c:pt>
              <c:pt idx="1">
                <c:v>389.9</c:v>
              </c:pt>
              <c:pt idx="2">
                <c:v>426.2</c:v>
              </c:pt>
              <c:pt idx="3">
                <c:v>457.3</c:v>
              </c:pt>
            </c:numLit>
          </c:val>
        </c:ser>
        <c:ser>
          <c:idx val="3"/>
          <c:order val="3"/>
          <c:tx>
            <c:v>Management plan</c:v>
          </c:tx>
          <c:spPr>
            <a:solidFill xmlns:a="http://schemas.openxmlformats.org/drawingml/2006/main">
              <a:srgbClr val="8A99AC"/>
            </a:solidFill>
            <a:ln xmlns:a="http://schemas.openxmlformats.org/drawingml/2006/main" w="28575">
              <a:solidFill>
                <a:srgbClr val="8A99AC"/>
              </a:solidFill>
              <a:prstDash val="dash"/>
            </a:ln>
          </c:spPr>
          <c:marker>
            <c:symbol val="circle"/>
            <c:size val="7"/>
            <c:spPr>
              <a:solidFill xmlns:a="http://schemas.openxmlformats.org/drawingml/2006/main">
                <a:srgbClr val="8A99AC"/>
              </a:solidFill>
            </c:spPr>
          </c:marker>
          <c:dPt>
            <c:idx val="0"/>
            <c:spPr>
              <a:solidFill xmlns:a="http://schemas.openxmlformats.org/drawingml/2006/main">
                <a:srgbClr val="8A99AC"/>
              </a:solidFill>
            </c:spPr>
          </c:dPt>
          <c:dPt>
            <c:idx val="1"/>
            <c:spPr>
              <a:solidFill xmlns:a="http://schemas.openxmlformats.org/drawingml/2006/main">
                <a:srgbClr val="B7791F"/>
              </a:solidFill>
            </c:spPr>
          </c:dPt>
          <c:dPt>
            <c:idx val="2"/>
            <c:spPr>
              <a:solidFill xmlns:a="http://schemas.openxmlformats.org/drawingml/2006/main">
                <a:srgbClr val="1F3864"/>
              </a:solidFill>
            </c:spPr>
          </c:dPt>
          <c:dPt>
            <c:idx val="3"/>
            <c:spPr>
              <a:solidFill xmlns:a="http://schemas.openxmlformats.org/drawingml/2006/main">
                <a:srgbClr val="2E6DA4"/>
              </a:solidFill>
            </c:spPr>
          </c:dPt>
          <c:cat>
            <c:strLit>
              <c:ptCount val="4"/>
              <c:pt idx="0">
                <c:v>2005A</c:v>
              </c:pt>
              <c:pt idx="1">
                <c:v>2006P</c:v>
              </c:pt>
              <c:pt idx="2">
                <c:v>2007P</c:v>
              </c:pt>
              <c:pt idx="3">
                <c:v>2008P</c:v>
              </c:pt>
            </c:strLit>
          </c:cat>
          <c:val>
            <c:numLit>
              <c:formatCode>$0.0"M"</c:formatCode>
              <c:ptCount val="4"/>
              <c:pt idx="0">
                <c:v>350.3</c:v>
              </c:pt>
              <c:pt idx="1">
                <c:v>429.7</c:v>
              </c:pt>
              <c:pt idx="2">
                <c:v>450.9</c:v>
              </c:pt>
              <c:pt idx="3">
                <c:v>472.8</c:v>
              </c:pt>
            </c:numLit>
          </c:val>
        </c:ser>
        <c:dLbls>
          <c:txPr>
            <a:bodyPr xmlns:a="http://schemas.openxmlformats.org/drawingml/2006/main" anchorCtr="1"/>
            <a:lstStyle xmlns:a="http://schemas.openxmlformats.org/drawingml/2006/main"/>
            <a:p xmlns:a="http://schemas.openxmlformats.org/drawingml/2006/main">
              <a:pPr>
                <a:defRPr sz="750">
                  <a:solidFill>
                    <a:srgbClr val="1B2A41"/>
                  </a:solidFill>
                  <a:latin typeface="Calibri"/>
                  <a:ea typeface="Calibri"/>
                  <a:cs typeface="Calibri"/>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7DEE7"/>
            </a:solidFill>
            <a:prstDash val="solid"/>
          </a:ln>
        </c:spPr>
        <c:txPr>
          <a:bodyPr xmlns:a="http://schemas.openxmlformats.org/drawingml/2006/main" anchorCtr="1"/>
          <a:lstStyle xmlns:a="http://schemas.openxmlformats.org/drawingml/2006/main"/>
          <a:p xmlns:a="http://schemas.openxmlformats.org/drawingml/2006/main">
            <a:pPr>
              <a:defRPr sz="900">
                <a:solidFill>
                  <a:srgbClr val="64748B"/>
                </a:solidFill>
                <a:latin typeface="Calibri"/>
                <a:ea typeface="Calibri"/>
                <a:cs typeface="Calibri"/>
              </a:defRPr>
            </a:pPr>
          </a:p>
        </c:txPr>
        <c:crossAx val="48672768"/>
      </c:catAx>
      <c:valAx>
        <c:axId val="48672768"/>
        <c:scaling>
          <c:orientation val="minMax"/>
        </c:scaling>
        <c:delete val="0"/>
        <c:axPos val="l"/>
        <c:majorGridlines>
          <c:spPr>
            <a:ln xmlns:a="http://schemas.openxmlformats.org/drawingml/2006/main" w="9525">
              <a:solidFill>
                <a:srgbClr val="D7DEE7"/>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Revenue</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0.0&quot;M&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64748B"/>
                </a:solidFill>
                <a:latin typeface="Calibri"/>
                <a:ea typeface="Calibri"/>
                <a:cs typeface="Calibri"/>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900">
              <a:solidFill>
                <a:srgbClr val="64748B"/>
              </a:solidFill>
              <a:latin typeface="Calibri"/>
              <a:ea typeface="Calibri"/>
              <a:cs typeface="Calibri"/>
            </a:defRPr>
          </a:pPr>
        </a:p>
      </c:txPr>
    </c:legend>
    <c:plotVisOnly val="1"/>
    <c:dispBlanksAs val="gap"/>
  </c:chart>
  <c:spPr>
    <a:solidFill xmlns:a="http://schemas.openxmlformats.org/drawingml/2006/main">
      <a:srgbClr val="FFFFFF"/>
    </a:solidFill>
  </c:spPr>
</c:chartSpace>
</file>

<file path=ppt/slides/slide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a:xfrm xmlns:a="http://schemas.openxmlformats.org/drawingml/2006/main"/>
      </p:grpSpPr>
      <p:sp>
        <p:nvSpPr>
          <p:cNvPr id="4" name="structure:cover-rail">
            <a:extLst xmlns:a="http://schemas.openxmlformats.org/drawingml/2006/main">
              <a:ext uri="{FF2B5EF4-FFF2-40B4-BE49-F238E27FC236}">
                <a16:creationId xmlns:a16="http://schemas.microsoft.com/office/drawing/2014/main" id="{D3819A5C-9971-42F3-9536-B38D50EFD05D}"/>
              </a:ext>
            </a:extLst>
          </p:cNvPr>
          <p:cNvSpPr>
            <a:spLocks xmlns:a="http://schemas.openxmlformats.org/drawingml/2006/main" noGrp="1"/>
          </p:cNvSpPr>
          <p:nvPr/>
        </p:nvSpPr>
        <p:spPr>
          <a:xfrm xmlns:a="http://schemas.openxmlformats.org/drawingml/2006/main">
            <a:off x="514350" y="971550"/>
            <a:ext cx="95250" cy="3733800"/>
          </a:xfrm>
          <a:prstGeom xmlns:a="http://schemas.openxmlformats.org/drawingml/2006/main" prst="rect">
            <a:avLst/>
          </a:prstGeom>
          <a:solidFill xmlns:a="http://schemas.openxmlformats.org/drawingml/2006/main">
            <a:srgbClr val="B7791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4AF294-8D46-400A-AE0D-0D36A65BAE35}"/>
              </a:ext>
            </a:extLst>
          </p:cNvPr>
          <p:cNvSpPr>
            <a:spLocks xmlns:a="http://schemas.openxmlformats.org/drawingml/2006/main" noGrp="1"/>
          </p:cNvSpPr>
          <p:nvPr/>
        </p:nvSpPr>
        <p:spPr>
          <a:xfrm xmlns:a="http://schemas.openxmlformats.org/drawingml/2006/main">
            <a:off x="895350" y="1790700"/>
            <a:ext cx="9525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3600" b="1">
                <a:solidFill>
                  <a:srgbClr val="FFFFFF"/>
                </a:solidFill>
                <a:latin typeface="Calibri"/>
                <a:ea typeface="Calibri"/>
                <a:cs typeface="Calibri"/>
              </a:defRPr>
            </a:pPr>
            <a:r>
              <a:rPr sz="3600" b="1">
                <a:solidFill>
                  <a:srgbClr val="FFFFFF"/>
                </a:solidFill>
                <a:latin typeface="Calibri"/>
                <a:ea typeface="Calibri"/>
                <a:cs typeface="Calibri"/>
              </a:rPr>
              <a:t>Investment Thesis and Overview</a:t>
            </a:r>
          </a:p>
        </p:txBody>
      </p:sp>
      <p:sp>
        <p:nvSpPr>
          <p:cNvPr id="3" name="">
            <a:extLst xmlns:a="http://schemas.openxmlformats.org/drawingml/2006/main">
              <a:ext uri="{FF2B5EF4-FFF2-40B4-BE49-F238E27FC236}">
                <a16:creationId xmlns:a16="http://schemas.microsoft.com/office/drawing/2014/main" id="{3DA064EB-7D5D-4D8F-A169-3293072C98D9}"/>
              </a:ext>
            </a:extLst>
          </p:cNvPr>
          <p:cNvSpPr>
            <a:spLocks xmlns:a="http://schemas.openxmlformats.org/drawingml/2006/main" noGrp="1"/>
          </p:cNvSpPr>
          <p:nvPr/>
        </p:nvSpPr>
        <p:spPr>
          <a:xfrm xmlns:a="http://schemas.openxmlformats.org/drawingml/2006/main">
            <a:off x="895350" y="33909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650">
                <a:solidFill>
                  <a:srgbClr val="C3D0E0"/>
                </a:solidFill>
                <a:latin typeface="Calibri"/>
                <a:ea typeface="Calibri"/>
                <a:cs typeface="Calibri"/>
              </a:defRPr>
            </a:pPr>
            <a:r>
              <a:rPr sz="1650">
                <a:solidFill>
                  <a:srgbClr val="C3D0E0"/>
                </a:solidFill>
                <a:latin typeface="Calibri"/>
                <a:ea typeface="Calibri"/>
                <a:cs typeface="Calibri"/>
              </a:rPr>
              <a:t>Financial analysis</a:t>
            </a:r>
          </a:p>
        </p:txBody>
      </p:sp>
    </p:spTree>
    <p:extLst>
      <p:ext uri="{BB962C8B-B14F-4D97-AF65-F5344CB8AC3E}">
        <p14:creationId xmlns:p14="http://schemas.microsoft.com/office/powerpoint/2010/main" val="81506233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50F4BB-FDCB-4EC7-9994-A3A061CF1657}"/>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Investment Thesis and Overview Content</a:t>
            </a:r>
          </a:p>
        </p:txBody>
      </p:sp>
      <p:sp>
        <p:nvSpPr>
          <p:cNvPr id="2" name="structure:prose-row">
            <a:extLst xmlns:a="http://schemas.openxmlformats.org/drawingml/2006/main">
              <a:ext uri="{FF2B5EF4-FFF2-40B4-BE49-F238E27FC236}">
                <a16:creationId xmlns:a16="http://schemas.microsoft.com/office/drawing/2014/main" id="{30CA0153-E95A-4A3C-B2F5-CE65EBD8EC99}"/>
              </a:ext>
            </a:extLst>
          </p:cNvPr>
          <p:cNvSpPr>
            <a:spLocks xmlns:a="http://schemas.openxmlformats.org/drawingml/2006/main" noGrp="1"/>
          </p:cNvSpPr>
          <p:nvPr/>
        </p:nvSpPr>
        <p:spPr>
          <a:xfrm xmlns:a="http://schemas.openxmlformats.org/drawingml/2006/main">
            <a:off x="514350" y="1066800"/>
            <a:ext cx="11163300" cy="25717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structure:row-divider">
            <a:extLst xmlns:a="http://schemas.openxmlformats.org/drawingml/2006/main">
              <a:ext uri="{FF2B5EF4-FFF2-40B4-BE49-F238E27FC236}">
                <a16:creationId xmlns:a16="http://schemas.microsoft.com/office/drawing/2014/main" id="{5D653705-80F3-4A89-B350-B334EE3A9201}"/>
              </a:ext>
            </a:extLst>
          </p:cNvPr>
          <p:cNvSpPr>
            <a:spLocks xmlns:a="http://schemas.openxmlformats.org/drawingml/2006/main" noGrp="1"/>
          </p:cNvSpPr>
          <p:nvPr/>
        </p:nvSpPr>
        <p:spPr>
          <a:xfrm xmlns:a="http://schemas.openxmlformats.org/drawingml/2006/main">
            <a:off x="514350" y="13144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97DEA66-BDB2-4DFD-9D06-99052B5C53F1}"/>
              </a:ext>
            </a:extLst>
          </p:cNvPr>
          <p:cNvSpPr>
            <a:spLocks xmlns:a="http://schemas.openxmlformats.org/drawingml/2006/main" noGrp="1"/>
          </p:cNvSpPr>
          <p:nvPr/>
        </p:nvSpPr>
        <p:spPr>
          <a:xfrm xmlns:a="http://schemas.openxmlformats.org/drawingml/2006/main">
            <a:off x="628650" y="1114425"/>
            <a:ext cx="109347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Invest with Conditions: locals-first Illinois casino using permanent expansion and CRM to close share gaps in a resetting market</a:t>
            </a:r>
          </a:p>
        </p:txBody>
      </p:sp>
      <p:sp>
        <p:nvSpPr>
          <p:cNvPr id="5" name="structure:prose-row">
            <a:extLst xmlns:a="http://schemas.openxmlformats.org/drawingml/2006/main">
              <a:ext uri="{FF2B5EF4-FFF2-40B4-BE49-F238E27FC236}">
                <a16:creationId xmlns:a16="http://schemas.microsoft.com/office/drawing/2014/main" id="{27E0341F-741F-47CE-87EE-1C2290D396FF}"/>
              </a:ext>
            </a:extLst>
          </p:cNvPr>
          <p:cNvSpPr>
            <a:spLocks xmlns:a="http://schemas.openxmlformats.org/drawingml/2006/main" noGrp="1"/>
          </p:cNvSpPr>
          <p:nvPr/>
        </p:nvSpPr>
        <p:spPr>
          <a:xfrm xmlns:a="http://schemas.openxmlformats.org/drawingml/2006/main">
            <a:off x="514350" y="1323975"/>
            <a:ext cx="11163300" cy="1047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6" name="structure:row-divider">
            <a:extLst xmlns:a="http://schemas.openxmlformats.org/drawingml/2006/main">
              <a:ext uri="{FF2B5EF4-FFF2-40B4-BE49-F238E27FC236}">
                <a16:creationId xmlns:a16="http://schemas.microsoft.com/office/drawing/2014/main" id="{6F73FAE7-5975-4552-A233-4F6379C3EF2B}"/>
              </a:ext>
            </a:extLst>
          </p:cNvPr>
          <p:cNvSpPr>
            <a:spLocks xmlns:a="http://schemas.openxmlformats.org/drawingml/2006/main" noGrp="1"/>
          </p:cNvSpPr>
          <p:nvPr/>
        </p:nvSpPr>
        <p:spPr>
          <a:xfrm xmlns:a="http://schemas.openxmlformats.org/drawingml/2006/main">
            <a:off x="514350" y="23622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B6C8EA7-E253-4774-BC06-07703F07851F}"/>
              </a:ext>
            </a:extLst>
          </p:cNvPr>
          <p:cNvSpPr>
            <a:spLocks xmlns:a="http://schemas.openxmlformats.org/drawingml/2006/main" noGrp="1"/>
          </p:cNvSpPr>
          <p:nvPr/>
        </p:nvSpPr>
        <p:spPr>
          <a:xfrm xmlns:a="http://schemas.openxmlformats.org/drawingml/2006/main">
            <a:off x="628650" y="1371600"/>
            <a:ext cx="109347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American Place Casino is a convenience-led, locals-first gaming and entertainment property in Waukegan that operates from a temporary facility while a permanent casino is developed [14][15][16][11]. Gaming is the core revenue engine, with sportsbook, poker, dining, entertainment, and events used to deepen trip frequency, dwell time, and wallet share [11][18][19][20][22][23][18][24][20][25][26]. The growth path is to tighten rated-play capture and repeat visitation on the current asset, then unlock higher earning capacity through a larger permanent floor and an event-led venue overlay [28][30][31][34][35][36][30][37][13]. The operating model has a financial baseline of $89.4M of EBITDA, with a 27.3% margin on $328.0M of revenue [10][5][1][2]. Key diligence question: whether the permanent-format transition can happen quickly enough, and with enough CRM precision, to let a temporary property close share gaps as newer Illinois casinos reset customer expectations [6][7][8][9][27].</a:t>
            </a:r>
          </a:p>
        </p:txBody>
      </p:sp>
      <p:graphicFrame>
        <p:nvGraphicFramePr>
          <p:cNvPr id="18" name=""/>
          <p:cNvGraphicFramePr/>
          <p:nvPr/>
        </p:nvGraphicFramePr>
        <p:xfrm>
          <a:off xmlns:a="http://schemas.openxmlformats.org/drawingml/2006/main" x="514350" y="2524125"/>
          <a:ext xmlns:a="http://schemas.openxmlformats.org/drawingml/2006/main" cx="11163300" cy="2495550"/>
        </p:xfrm>
        <a:graphic xmlns:a="http://schemas.openxmlformats.org/drawingml/2006/main">
          <a:graphicData uri="http://schemas.openxmlformats.org/drawingml/2006/table">
            <a:tbl>
              <a:tblPr firstRow="1" firstCol="0" bandRow="0"/>
              <a:tblGrid>
                <a:gridCol w="4094232"/>
                <a:gridCol w="3567758"/>
                <a:gridCol w="3501310"/>
              </a:tblGrid>
              <a:tr h="400050">
                <a:tc>
                  <a:txBody>
                    <a:bodyPr lIns="38100" tIns="19050" rIns="38100" bIns="19050"/>
                    <a:lstStyle/>
                    <a:p>
                      <a:pPr algn="l"/>
                      <a:r>
                        <a:rPr sz="975" b="1">
                          <a:solidFill>
                            <a:srgbClr val="1F3864"/>
                          </a:solidFill>
                          <a:latin typeface="Calibri"/>
                          <a:ea typeface="Calibri"/>
                          <a:cs typeface="Calibri"/>
                        </a:rPr>
                        <a:t>Large, expanding demand supports share capture in a fragmented but constrained casino market</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A convenience-led local property already has the operating base to deepen repeat play</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Permanent capacity, better CRM, and event-led demand can unlock the next leg of growth</a:t>
                      </a:r>
                    </a:p>
                  </a:txBody>
                  <a:tcPr marL="91440" marR="91440" marT="45720" marB="45720">
                    <a:lnR w="0">
                      <a:noFill/>
                    </a:lnR>
                    <a:lnT w="0">
                      <a:noFill/>
                    </a:lnT>
                    <a:lnB w="9525">
                      <a:solidFill>
                        <a:srgbClr val="D7DEE7"/>
                      </a:solidFill>
                      <a:prstDash val="solid"/>
                    </a:lnB>
                    <a:solidFill>
                      <a:srgbClr val="F4F6F9"/>
                    </a:solidFill>
                  </a:tcPr>
                </a:tc>
              </a:tr>
              <a:tr h="523875">
                <a:tc>
                  <a:txBody>
                    <a:bodyPr lIns="38100" tIns="19050" rIns="38100" bIns="19050"/>
                    <a:lstStyle/>
                    <a:p>
                      <a:pPr algn="l"/>
                      <a:r>
                        <a:rPr sz="900" b="1">
                          <a:solidFill>
                            <a:srgbClr val="1B2A41"/>
                          </a:solidFill>
                          <a:latin typeface="Calibri"/>
                          <a:ea typeface="Calibri"/>
                          <a:cs typeface="Calibri"/>
                        </a:rPr>
                        <a:t>The U.S. regional casino resorts and casino hotels market is large and still growing, with value rising from USD 81.7B in 2026 to USD 91.5B by 2031 at about 3.2% annual growth.</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American Place Casino is built for a locals-first, drive-in customer, using gaming, sportsbook, poker, dining, entertainment, and events to drive repeat visits and larger trip spend.</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 biggest near-term lever is the permanent buildout, which adds about 376 slots and 41 table games versus the temporary base, expanding earning capacity materially.</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Demand is already deep, with 45% of U.S. adults visiting a casino property in the prior year, 493 commercial casino locations across 27 states, and USD 51.06B of traditional commercial casino gaming revenue in 2025.</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 property is already scaled, with about 600 employees, roughly 940 slots, 48 table games, and a 6-table Harbor Poker Room on a 42-acre site.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 company can stage the transition using current operating data, then launch the larger floor progressively through AP Rewards and hosts after financing milestones are secured.</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The category is experience-led, so property quality matters: more than 60% of gaming executives expect higher capital investment over the next 6 to 12 months, supporting traffic retention and higher spend per visit.</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24-hour operation, including near-round-the-clock table games and full 24-hour table-game coverage Wednesday through Sunday, fits the short, frequent trip pattern of a convenience market.</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Organic growth should come from tighter rated-play capture, stronger offer discipline, and more targeted midweek and shoulder-period campaigns rather than broader discounting.</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The market is fragmenting but still hard to enter, with the largest operator holding only 12.0% share while licensing, approvals, capital intensity, and operating requirements limit new entrants.</a:t>
                      </a:r>
                    </a:p>
                  </a:txBody>
                  <a:tcPr marL="91440" marR="91440" marT="45720" marB="45720">
                    <a:lnL w="0">
                      <a:noFill/>
                    </a:lnL>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AP Rewards and host-led outreach create a first-party CRM base that can convert player data into repeat visitation, but the current temporary facility limits the depth of that advantage.</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Poker can become a second growth engine, with a stated plan to add 5 tables first and further expansion tied to waitlist length, daypart fill, and game-mix economics.</a:t>
                      </a:r>
                    </a:p>
                  </a:txBody>
                  <a:tcPr marL="91440" marR="91440" marT="45720" marB="45720">
                    <a:lnR w="0">
                      <a:noFill/>
                    </a:lnR>
                    <a:lnB w="0">
                      <a:noFill/>
                    </a:lnB>
                    <a:solidFill>
                      <a:srgbClr val="FFFFFF"/>
                    </a:solidFill>
                  </a:tcPr>
                </a:tc>
              </a:tr>
            </a:tbl>
          </a:graphicData>
        </a:graphic>
      </p:graphicFrame>
      <p:sp>
        <p:nvSpPr>
          <p:cNvPr id="9" name="structure:table-header-rule">
            <a:extLst xmlns:a="http://schemas.openxmlformats.org/drawingml/2006/main">
              <a:ext uri="{FF2B5EF4-FFF2-40B4-BE49-F238E27FC236}">
                <a16:creationId xmlns:a16="http://schemas.microsoft.com/office/drawing/2014/main" id="{5ED04EF4-7DB9-4423-B645-7EBD0499241F}"/>
              </a:ext>
            </a:extLst>
          </p:cNvPr>
          <p:cNvSpPr>
            <a:spLocks xmlns:a="http://schemas.openxmlformats.org/drawingml/2006/main" noGrp="1"/>
          </p:cNvSpPr>
          <p:nvPr/>
        </p:nvSpPr>
        <p:spPr>
          <a:xfrm xmlns:a="http://schemas.openxmlformats.org/drawingml/2006/main">
            <a:off x="514350" y="2914650"/>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BEF6554-1BBF-45E3-845C-206BD430E7EA}"/>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02</a:t>
            </a:r>
          </a:p>
        </p:txBody>
      </p:sp>
    </p:spTree>
    <p:extLst>
      <p:ext uri="{BB962C8B-B14F-4D97-AF65-F5344CB8AC3E}">
        <p14:creationId xmlns:p14="http://schemas.microsoft.com/office/powerpoint/2010/main" val="119597926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D56D523-6566-43A5-B1F7-3BE46A0D72CA}"/>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Company Overview Introduction</a:t>
            </a:r>
          </a:p>
        </p:txBody>
      </p:sp>
      <p:sp>
        <p:nvSpPr>
          <p:cNvPr id="2" name="structure:prose-row">
            <a:extLst xmlns:a="http://schemas.openxmlformats.org/drawingml/2006/main">
              <a:ext uri="{FF2B5EF4-FFF2-40B4-BE49-F238E27FC236}">
                <a16:creationId xmlns:a16="http://schemas.microsoft.com/office/drawing/2014/main" id="{944D718B-A2EC-4187-BBE9-5D7F07E53DE6}"/>
              </a:ext>
            </a:extLst>
          </p:cNvPr>
          <p:cNvSpPr>
            <a:spLocks xmlns:a="http://schemas.openxmlformats.org/drawingml/2006/main" noGrp="1"/>
          </p:cNvSpPr>
          <p:nvPr/>
        </p:nvSpPr>
        <p:spPr>
          <a:xfrm xmlns:a="http://schemas.openxmlformats.org/drawingml/2006/main">
            <a:off x="514350" y="1066800"/>
            <a:ext cx="11163300" cy="25717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structure:row-divider">
            <a:extLst xmlns:a="http://schemas.openxmlformats.org/drawingml/2006/main">
              <a:ext uri="{FF2B5EF4-FFF2-40B4-BE49-F238E27FC236}">
                <a16:creationId xmlns:a16="http://schemas.microsoft.com/office/drawing/2014/main" id="{D7B8FA92-95E8-4A50-A8B6-8FF6E6A2EFDB}"/>
              </a:ext>
            </a:extLst>
          </p:cNvPr>
          <p:cNvSpPr>
            <a:spLocks xmlns:a="http://schemas.openxmlformats.org/drawingml/2006/main" noGrp="1"/>
          </p:cNvSpPr>
          <p:nvPr/>
        </p:nvSpPr>
        <p:spPr>
          <a:xfrm xmlns:a="http://schemas.openxmlformats.org/drawingml/2006/main">
            <a:off x="514350" y="13144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FE81F53-094E-4BFF-9A96-2057B605B8AC}"/>
              </a:ext>
            </a:extLst>
          </p:cNvPr>
          <p:cNvSpPr>
            <a:spLocks xmlns:a="http://schemas.openxmlformats.org/drawingml/2006/main" noGrp="1"/>
          </p:cNvSpPr>
          <p:nvPr/>
        </p:nvSpPr>
        <p:spPr>
          <a:xfrm xmlns:a="http://schemas.openxmlformats.org/drawingml/2006/main">
            <a:off x="628650" y="1114425"/>
            <a:ext cx="109347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American Place Casino Operates a Locals-Focused Casino and Entertainment Property in Waukegan</a:t>
            </a:r>
          </a:p>
        </p:txBody>
      </p:sp>
      <p:sp>
        <p:nvSpPr>
          <p:cNvPr id="5" name="structure:prose-row">
            <a:extLst xmlns:a="http://schemas.openxmlformats.org/drawingml/2006/main">
              <a:ext uri="{FF2B5EF4-FFF2-40B4-BE49-F238E27FC236}">
                <a16:creationId xmlns:a16="http://schemas.microsoft.com/office/drawing/2014/main" id="{C28622D6-B151-4EA7-B56C-3530F2F076E3}"/>
              </a:ext>
            </a:extLst>
          </p:cNvPr>
          <p:cNvSpPr>
            <a:spLocks xmlns:a="http://schemas.openxmlformats.org/drawingml/2006/main" noGrp="1"/>
          </p:cNvSpPr>
          <p:nvPr/>
        </p:nvSpPr>
        <p:spPr>
          <a:xfrm xmlns:a="http://schemas.openxmlformats.org/drawingml/2006/main">
            <a:off x="514350" y="1323975"/>
            <a:ext cx="11163300" cy="419100"/>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6" name="structure:row-divider">
            <a:extLst xmlns:a="http://schemas.openxmlformats.org/drawingml/2006/main">
              <a:ext uri="{FF2B5EF4-FFF2-40B4-BE49-F238E27FC236}">
                <a16:creationId xmlns:a16="http://schemas.microsoft.com/office/drawing/2014/main" id="{978515CC-6EFF-47AD-9033-55BC0752E28A}"/>
              </a:ext>
            </a:extLst>
          </p:cNvPr>
          <p:cNvSpPr>
            <a:spLocks xmlns:a="http://schemas.openxmlformats.org/drawingml/2006/main" noGrp="1"/>
          </p:cNvSpPr>
          <p:nvPr/>
        </p:nvSpPr>
        <p:spPr>
          <a:xfrm xmlns:a="http://schemas.openxmlformats.org/drawingml/2006/main">
            <a:off x="514350" y="17335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7A78E00-EE67-434B-ABCD-AEA1DDAC0B65}"/>
              </a:ext>
            </a:extLst>
          </p:cNvPr>
          <p:cNvSpPr>
            <a:spLocks xmlns:a="http://schemas.openxmlformats.org/drawingml/2006/main" noGrp="1"/>
          </p:cNvSpPr>
          <p:nvPr/>
        </p:nvSpPr>
        <p:spPr>
          <a:xfrm xmlns:a="http://schemas.openxmlformats.org/drawingml/2006/main">
            <a:off x="628650" y="1371600"/>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American Place Casino operates a locals-focused casino and entertainment property in Waukegan, Illinois, from a temporary facility while a permanent casino is under development. Its offer includes slot machines, table games, a poker room, a retail sportsbook with mobile wagering access, food and beverage, live entertainment, and meetings and social events.</a:t>
            </a:r>
          </a:p>
        </p:txBody>
      </p:sp>
      <p:sp>
        <p:nvSpPr>
          <p:cNvPr id="8" name="structure:prose-row">
            <a:extLst xmlns:a="http://schemas.openxmlformats.org/drawingml/2006/main">
              <a:ext uri="{FF2B5EF4-FFF2-40B4-BE49-F238E27FC236}">
                <a16:creationId xmlns:a16="http://schemas.microsoft.com/office/drawing/2014/main" id="{73B51A0A-656E-493D-A258-18E1111BD85E}"/>
              </a:ext>
            </a:extLst>
          </p:cNvPr>
          <p:cNvSpPr>
            <a:spLocks xmlns:a="http://schemas.openxmlformats.org/drawingml/2006/main" noGrp="1"/>
          </p:cNvSpPr>
          <p:nvPr/>
        </p:nvSpPr>
        <p:spPr>
          <a:xfrm xmlns:a="http://schemas.openxmlformats.org/drawingml/2006/main">
            <a:off x="514350" y="1743075"/>
            <a:ext cx="11163300" cy="4191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9" name="structure:row-divider">
            <a:extLst xmlns:a="http://schemas.openxmlformats.org/drawingml/2006/main">
              <a:ext uri="{FF2B5EF4-FFF2-40B4-BE49-F238E27FC236}">
                <a16:creationId xmlns:a16="http://schemas.microsoft.com/office/drawing/2014/main" id="{A3B5237B-B45D-4400-9F6B-8A133CA65F65}"/>
              </a:ext>
            </a:extLst>
          </p:cNvPr>
          <p:cNvSpPr>
            <a:spLocks xmlns:a="http://schemas.openxmlformats.org/drawingml/2006/main" noGrp="1"/>
          </p:cNvSpPr>
          <p:nvPr/>
        </p:nvSpPr>
        <p:spPr>
          <a:xfrm xmlns:a="http://schemas.openxmlformats.org/drawingml/2006/main">
            <a:off x="514350" y="21526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2156415-40CA-4AAA-8386-A1C8DDDEA86B}"/>
              </a:ext>
            </a:extLst>
          </p:cNvPr>
          <p:cNvSpPr>
            <a:spLocks xmlns:a="http://schemas.openxmlformats.org/drawingml/2006/main" noGrp="1"/>
          </p:cNvSpPr>
          <p:nvPr/>
        </p:nvSpPr>
        <p:spPr>
          <a:xfrm xmlns:a="http://schemas.openxmlformats.org/drawingml/2006/main">
            <a:off x="628650" y="1790700"/>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The business depends on in-person visits and on-property spend, with gaming as the main revenue driver. That means the company’s results are tied to repeat local traffic, regulatory approvals, and the successful move from the temporary site to the permanent property.</a:t>
            </a:r>
          </a:p>
        </p:txBody>
      </p:sp>
      <p:graphicFrame>
        <p:nvGraphicFramePr>
          <p:cNvPr id="24" name=""/>
          <p:cNvGraphicFramePr/>
          <p:nvPr/>
        </p:nvGraphicFramePr>
        <p:xfrm>
          <a:off xmlns:a="http://schemas.openxmlformats.org/drawingml/2006/main" x="514350" y="2314575"/>
          <a:ext xmlns:a="http://schemas.openxmlformats.org/drawingml/2006/main" cx="11163300" cy="1409700"/>
        </p:xfrm>
        <a:graphic xmlns:a="http://schemas.openxmlformats.org/drawingml/2006/main">
          <a:graphicData uri="http://schemas.openxmlformats.org/drawingml/2006/table">
            <a:tbl>
              <a:tblPr firstRow="1" firstCol="0" bandRow="0"/>
              <a:tblGrid>
                <a:gridCol w="3934767"/>
                <a:gridCol w="2928887"/>
                <a:gridCol w="4299646"/>
              </a:tblGrid>
              <a:tr h="304800">
                <a:tc>
                  <a:txBody>
                    <a:bodyPr lIns="38100" tIns="19050" rIns="38100" bIns="19050"/>
                    <a:lstStyle/>
                    <a:p>
                      <a:pPr algn="l"/>
                      <a:r>
                        <a:rPr sz="975" b="1">
                          <a:solidFill>
                            <a:srgbClr val="1F3864"/>
                          </a:solidFill>
                          <a:latin typeface="Calibri"/>
                          <a:ea typeface="Calibri"/>
                          <a:cs typeface="Calibri"/>
                        </a:rPr>
                        <a:t>Company &amp; Offering</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Customers &amp; Route to Market</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Operating Model &amp; Scale</a:t>
                      </a:r>
                    </a:p>
                  </a:txBody>
                  <a:tcPr marL="91440" marR="91440" marT="45720" marB="45720">
                    <a:lnR w="0">
                      <a:noFill/>
                    </a:lnR>
                    <a:lnT w="0">
                      <a:noFill/>
                    </a:lnT>
                    <a:lnB w="9525">
                      <a:solidFill>
                        <a:srgbClr val="D7DEE7"/>
                      </a:solidFill>
                      <a:prstDash val="solid"/>
                    </a:lnB>
                    <a:solidFill>
                      <a:srgbClr val="F4F6F9"/>
                    </a:solidFill>
                  </a:tcPr>
                </a:tc>
              </a:tr>
              <a:tr h="1104900">
                <a:tc>
                  <a:txBody>
                    <a:bodyPr lIns="38100" tIns="19050" rIns="38100" bIns="19050"/>
                    <a:lstStyle/>
                    <a:p>
                      <a:pPr algn="l"/>
                      <a:r>
                        <a:rPr sz="900" b="1">
                          <a:solidFill>
                            <a:srgbClr val="1B2A41"/>
                          </a:solidFill>
                          <a:latin typeface="Calibri"/>
                          <a:ea typeface="Calibri"/>
                          <a:cs typeface="Calibri"/>
                        </a:rPr>
                        <a:t>- American Place Casino is a land-based casino in Waukegan, Illinois, operated by Full House Resorts in a temporary facility.</a:t>
                      </a:r>
                    </a:p>
                    <a:p>
                      <a:pPr algn="l"/>
                      <a:r>
                        <a:rPr sz="900" b="1">
                          <a:solidFill>
                            <a:srgbClr val="1B2A41"/>
                          </a:solidFill>
                          <a:latin typeface="Calibri"/>
                          <a:ea typeface="Calibri"/>
                          <a:cs typeface="Calibri"/>
                        </a:rPr>
                        <a:t>- The offering combines casino gaming, poker, on-site and mobile sportsbook, multiple restaurants and bars, live entertainment, and a loyalty program.</a:t>
                      </a:r>
                    </a:p>
                    <a:p>
                      <a:pPr algn="l"/>
                      <a:r>
                        <a:rPr sz="900" b="1">
                          <a:solidFill>
                            <a:srgbClr val="1B2A41"/>
                          </a:solidFill>
                          <a:latin typeface="Calibri"/>
                          <a:ea typeface="Calibri"/>
                          <a:cs typeface="Calibri"/>
                        </a:rPr>
                        <a:t>- Revenue is primarily driven by casino gaming, indicating concentration of earnings in core on-premise gaming operations.</a:t>
                      </a:r>
                    </a:p>
                  </a:txBody>
                  <a:tcPr marL="91440" marR="91440" marT="45720" marB="45720">
                    <a:lnL w="0">
                      <a:noFill/>
                    </a:lnL>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 Casino patrons and entertainment guests visit American Place primarily for on-premise gaming, poker, dining, live events, and loyalty benefits.</a:t>
                      </a:r>
                    </a:p>
                    <a:p>
                      <a:pPr algn="l"/>
                      <a:r>
                        <a:rPr sz="900" b="0">
                          <a:solidFill>
                            <a:srgbClr val="1B2A41"/>
                          </a:solidFill>
                          <a:latin typeface="Calibri"/>
                          <a:ea typeface="Calibri"/>
                          <a:cs typeface="Calibri"/>
                        </a:rPr>
                        <a:t>- Delivery is primarily direct and on-premise at the casino property, supplemented by partner platforms for sportsbook, ticketing, and poker waitlists.</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 Core casino, poker, food, entertainment, loyalty, and temporary-facility operations are internally managed, with sportsbook, ticketing, and poker platforms partner-managed.</a:t>
                      </a:r>
                    </a:p>
                    <a:p>
                      <a:pPr algn="l"/>
                      <a:r>
                        <a:rPr sz="900" b="0">
                          <a:solidFill>
                            <a:srgbClr val="1B2A41"/>
                          </a:solidFill>
                          <a:latin typeface="Calibri"/>
                          <a:ea typeface="Calibri"/>
                          <a:cs typeface="Calibri"/>
                        </a:rPr>
                        <a:t>- Operations run on an approximately 42-acre Waukegan site, combining owned land with a 99-year ground lease from the City.</a:t>
                      </a:r>
                    </a:p>
                    <a:p>
                      <a:pPr algn="l"/>
                      <a:r>
                        <a:rPr sz="900" b="0">
                          <a:solidFill>
                            <a:srgbClr val="1B2A41"/>
                          </a:solidFill>
                          <a:latin typeface="Calibri"/>
                          <a:ea typeface="Calibri"/>
                          <a:cs typeface="Calibri"/>
                        </a:rPr>
                        <a:t>- The property employs approximately 600 people as of December 31, 2025, indicating meaningful operating scale at the temporary facility.</a:t>
                      </a:r>
                    </a:p>
                  </a:txBody>
                  <a:tcPr marL="91440" marR="91440" marT="45720" marB="45720">
                    <a:lnR w="0">
                      <a:noFill/>
                    </a:lnR>
                    <a:lnB w="0">
                      <a:noFill/>
                    </a:lnB>
                    <a:solidFill>
                      <a:srgbClr val="FFFFFF"/>
                    </a:solidFill>
                  </a:tcPr>
                </a:tc>
              </a:tr>
            </a:tbl>
          </a:graphicData>
        </a:graphic>
      </p:graphicFrame>
      <p:sp>
        <p:nvSpPr>
          <p:cNvPr id="12" name="structure:table-header-rule">
            <a:extLst xmlns:a="http://schemas.openxmlformats.org/drawingml/2006/main">
              <a:ext uri="{FF2B5EF4-FFF2-40B4-BE49-F238E27FC236}">
                <a16:creationId xmlns:a16="http://schemas.microsoft.com/office/drawing/2014/main" id="{83C28A6B-999A-4B11-82C9-B70558224031}"/>
              </a:ext>
            </a:extLst>
          </p:cNvPr>
          <p:cNvSpPr>
            <a:spLocks xmlns:a="http://schemas.openxmlformats.org/drawingml/2006/main" noGrp="1"/>
          </p:cNvSpPr>
          <p:nvPr/>
        </p:nvSpPr>
        <p:spPr>
          <a:xfrm xmlns:a="http://schemas.openxmlformats.org/drawingml/2006/main">
            <a:off x="514350" y="2609850"/>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4C436AB-155C-4FB3-AC14-4FDFEC514541}"/>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03</a:t>
            </a:r>
          </a:p>
        </p:txBody>
      </p:sp>
    </p:spTree>
    <p:extLst>
      <p:ext uri="{BB962C8B-B14F-4D97-AF65-F5344CB8AC3E}">
        <p14:creationId xmlns:p14="http://schemas.microsoft.com/office/powerpoint/2010/main" val="82593242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257EE3D-7452-4108-8195-6FB857F7F0A4}"/>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Products and Services</a:t>
            </a:r>
          </a:p>
        </p:txBody>
      </p:sp>
      <p:sp>
        <p:nvSpPr>
          <p:cNvPr id="2" name="">
            <a:extLst xmlns:a="http://schemas.openxmlformats.org/drawingml/2006/main">
              <a:ext uri="{FF2B5EF4-FFF2-40B4-BE49-F238E27FC236}">
                <a16:creationId xmlns:a16="http://schemas.microsoft.com/office/drawing/2014/main" id="{35BEF25C-B200-4EFE-BC99-24180064A55E}"/>
              </a:ext>
            </a:extLst>
          </p:cNvPr>
          <p:cNvSpPr>
            <a:spLocks xmlns:a="http://schemas.openxmlformats.org/drawingml/2006/main" noGrp="1"/>
          </p:cNvSpPr>
          <p:nvPr/>
        </p:nvSpPr>
        <p:spPr>
          <a:xfrm xmlns:a="http://schemas.openxmlformats.org/drawingml/2006/main">
            <a:off x="628650" y="111442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The company’s revenue is concentrated in a few large properties, so performance depends heavily on a small set of assets. Stratosphere is the flagship, while Aquarius and Arizona Charlie's Decatur are also meaningful drivers. Boulder adds growth, but the core portfolio is still led by Strip and locals casinos, which means swings at one property can affect the whole business.</a:t>
            </a:r>
          </a:p>
        </p:txBody>
      </p:sp>
      <p:graphicFrame>
        <p:nvGraphicFramePr>
          <p:cNvPr id="8" name=""/>
          <p:cNvGraphicFramePr/>
          <p:nvPr/>
        </p:nvGraphicFramePr>
        <p:xfrm>
          <a:off xmlns:a="http://schemas.openxmlformats.org/drawingml/2006/main" x="514350" y="1790700"/>
          <a:ext xmlns:a="http://schemas.openxmlformats.org/drawingml/2006/main" cx="11163300" cy="3362325"/>
        </p:xfrm>
        <a:graphic xmlns:a="http://schemas.openxmlformats.org/drawingml/2006/main">
          <a:graphicData uri="http://schemas.openxmlformats.org/drawingml/2006/table">
            <a:tbl>
              <a:tblPr firstRow="1" firstCol="0" bandRow="0"/>
              <a:tblGrid>
                <a:gridCol w="1110036"/>
                <a:gridCol w="1699385"/>
                <a:gridCol w="1733716"/>
                <a:gridCol w="6620163"/>
              </a:tblGrid>
              <a:tr h="304800">
                <a:tc>
                  <a:txBody>
                    <a:bodyPr lIns="38100" tIns="19050" rIns="38100" bIns="19050"/>
                    <a:lstStyle/>
                    <a:p>
                      <a:pPr algn="l"/>
                      <a:r>
                        <a:rPr sz="975" b="1">
                          <a:solidFill>
                            <a:srgbClr val="1F3864"/>
                          </a:solidFill>
                          <a:latin typeface="Calibri"/>
                          <a:ea typeface="Calibri"/>
                          <a:cs typeface="Calibri"/>
                        </a:rPr>
                        <a:t>Offering</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What It Is</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Scale &amp; Traction Evidence</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Role</a:t>
                      </a:r>
                    </a:p>
                  </a:txBody>
                  <a:tcPr marL="91440" marR="91440" marT="45720" marB="45720">
                    <a:lnR w="0">
                      <a:noFill/>
                    </a:lnR>
                    <a:lnT w="0">
                      <a:noFill/>
                    </a:lnT>
                    <a:lnB w="9525">
                      <a:solidFill>
                        <a:srgbClr val="D7DEE7"/>
                      </a:solidFill>
                      <a:prstDash val="solid"/>
                    </a:lnB>
                    <a:solidFill>
                      <a:srgbClr val="F4F6F9"/>
                    </a:solidFill>
                  </a:tcPr>
                </a:tc>
              </a:tr>
              <a:tr h="523875">
                <a:tc>
                  <a:txBody>
                    <a:bodyPr lIns="38100" tIns="19050" rIns="38100" bIns="19050"/>
                    <a:lstStyle/>
                    <a:p>
                      <a:pPr algn="l"/>
                      <a:r>
                        <a:rPr sz="900" b="1">
                          <a:solidFill>
                            <a:srgbClr val="1B2A41"/>
                          </a:solidFill>
                          <a:latin typeface="Calibri"/>
                          <a:ea typeface="Calibri"/>
                          <a:cs typeface="Calibri"/>
                        </a:rPr>
                        <a:t>Stratosphere Casino Hotel &amp; Tower · Core</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Tourist Strip casino, hotel, tower, and entertainment hub.</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45.10% of 2005A revenue; 8.42% CAGR.</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Stratosphere contributed 59.8% of 2005A total revenue based on $196.2 million at the property versus $328.0 million company revenue.[64][74]</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Aquarius Casino Resort · Core</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Laughlin resort for value-conscious visitors.</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24.60% of 2005A revenue; -1.05% CAGR.</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Aquarius contributed 32.6% of 2005A total revenue based on $107.0 million at the property versus $328.0 million company revenue.[73][74]</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Arizona Charlie's Decatur · Core</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Off-Strip locals casino and hotel.</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19.38% of 2005A revenue; 3.52% CAGR.</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Arizona Charlie's Decatur contributed 25.7% of 2005A total revenue based on $84.3 million at the property versus $328.0 million company revenue.[67][74]</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Gaming · Core</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Slots, table games, poker, sportsbook.</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About 940 slot machines and 48 table games.</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American Place is Full House Resorts’ largest revenue contributor, and the property’s current offer is organized around slots, table games, poker, and sportsbook gaming.[75][21]</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Arizona Charlie's Boulder · Secondary</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Value-oriented locals casino, hotel, and RV park.</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10.92% of 2005A revenue; 14.64% CAGR.</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Arizona Charlie's Boulder contributed 14.5% of 2005A total revenue based on $47.5 million at the property versus $328.0 million company revenue.[70][74]</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Dining · Ancillary</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Casino food and beverage outlets.</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Includes one fine-dining restaurant, two full-service restaurants.</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Dining is delivered as inside-the-casino food-and-beverage outlets, and no dining-specific revenue share or structural-dominance metric is disclosed for American Place in the cited sources.[28][39]</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Entertainment · Ancillary</a:t>
                      </a:r>
                    </a:p>
                  </a:txBody>
                  <a:tcPr marL="91440" marR="91440" marT="45720" marB="45720">
                    <a:lnL w="0">
                      <a:noFill/>
                    </a:lnL>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Live music, DJ sets, and ticketed shows.</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DJ sets run Fridays &amp; Saturdays 7:00 PM-1:00 AM.</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Entertainment is offered as on-property programming around the casino, and no entertainment-specific revenue share or structural-dominance metric is disclosed for American Place in the cited sources.[20]</a:t>
                      </a:r>
                    </a:p>
                  </a:txBody>
                  <a:tcPr marL="91440" marR="91440" marT="45720" marB="45720">
                    <a:lnR w="0">
                      <a:noFill/>
                    </a:lnR>
                    <a:lnB w="0">
                      <a:noFill/>
                    </a:lnB>
                    <a:solidFill>
                      <a:srgbClr val="FFFFFF"/>
                    </a:solidFill>
                  </a:tcPr>
                </a:tc>
              </a:tr>
            </a:tbl>
          </a:graphicData>
        </a:graphic>
      </p:graphicFrame>
      <p:sp>
        <p:nvSpPr>
          <p:cNvPr id="4" name="structure:table-header-rule">
            <a:extLst xmlns:a="http://schemas.openxmlformats.org/drawingml/2006/main">
              <a:ext uri="{FF2B5EF4-FFF2-40B4-BE49-F238E27FC236}">
                <a16:creationId xmlns:a16="http://schemas.microsoft.com/office/drawing/2014/main" id="{725800B6-8E89-4B5F-84ED-DE53B4837B57}"/>
              </a:ext>
            </a:extLst>
          </p:cNvPr>
          <p:cNvSpPr>
            <a:spLocks xmlns:a="http://schemas.openxmlformats.org/drawingml/2006/main" noGrp="1"/>
          </p:cNvSpPr>
          <p:nvPr/>
        </p:nvSpPr>
        <p:spPr>
          <a:xfrm xmlns:a="http://schemas.openxmlformats.org/drawingml/2006/main">
            <a:off x="514350" y="2085975"/>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238931-B8DC-4853-BBCB-8AE2388FA720}"/>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04</a:t>
            </a:r>
          </a:p>
        </p:txBody>
      </p:sp>
    </p:spTree>
    <p:extLst>
      <p:ext uri="{BB962C8B-B14F-4D97-AF65-F5344CB8AC3E}">
        <p14:creationId xmlns:p14="http://schemas.microsoft.com/office/powerpoint/2010/main" val="174991007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0217B06-015F-4472-BADE-EF9EF4700D22}"/>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Business Model</a:t>
            </a:r>
          </a:p>
        </p:txBody>
      </p:sp>
      <p:sp>
        <p:nvSpPr>
          <p:cNvPr id="2" name="">
            <a:extLst xmlns:a="http://schemas.openxmlformats.org/drawingml/2006/main">
              <a:ext uri="{FF2B5EF4-FFF2-40B4-BE49-F238E27FC236}">
                <a16:creationId xmlns:a16="http://schemas.microsoft.com/office/drawing/2014/main" id="{D7890433-4F8A-4AFB-A617-A67D05E6307A}"/>
              </a:ext>
            </a:extLst>
          </p:cNvPr>
          <p:cNvSpPr>
            <a:spLocks xmlns:a="http://schemas.openxmlformats.org/drawingml/2006/main" noGrp="1"/>
          </p:cNvSpPr>
          <p:nvPr/>
        </p:nvSpPr>
        <p:spPr>
          <a:xfrm xmlns:a="http://schemas.openxmlformats.org/drawingml/2006/main">
            <a:off x="628650" y="111442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American Place is a locals-first casino built to turn repeat visits into on-site spending. It makes money mainly from casino gaming [11][18], then adds revenue from sports wagering, poker, dining, entertainment, and private events [19][51][20][26]. The model works because local drive-in guests can be pushed to stay longer and spend more across the property, so the buyer should view the business as dependent on repeat regional demand and on the permanent casino plan being delivered on time [13][17][11].</a:t>
            </a:r>
          </a:p>
        </p:txBody>
      </p:sp>
      <p:graphicFrame>
        <p:nvGraphicFramePr>
          <p:cNvPr id="8" name=""/>
          <p:cNvGraphicFramePr/>
          <p:nvPr/>
        </p:nvGraphicFramePr>
        <p:xfrm>
          <a:off xmlns:a="http://schemas.openxmlformats.org/drawingml/2006/main" x="514350" y="1790700"/>
          <a:ext xmlns:a="http://schemas.openxmlformats.org/drawingml/2006/main" cx="11163300" cy="2781300"/>
        </p:xfrm>
        <a:graphic xmlns:a="http://schemas.openxmlformats.org/drawingml/2006/main">
          <a:graphicData uri="http://schemas.openxmlformats.org/drawingml/2006/table">
            <a:tbl>
              <a:tblPr firstRow="1" firstCol="0" bandRow="0"/>
              <a:tblGrid>
                <a:gridCol w="990600"/>
                <a:gridCol w="2608844"/>
                <a:gridCol w="3552087"/>
                <a:gridCol w="4011769"/>
              </a:tblGrid>
              <a:tr h="400050">
                <a:tc>
                  <a:txBody>
                    <a:bodyPr lIns="38100" tIns="19050" rIns="38100" bIns="19050"/>
                    <a:lstStyle/>
                    <a:p>
                      <a:pPr algn="l"/>
                      <a:r>
                        <a:rPr sz="975" b="1">
                          <a:solidFill>
                            <a:srgbClr val="1F3864"/>
                          </a:solidFill>
                          <a:latin typeface="Calibri"/>
                          <a:ea typeface="Calibri"/>
                          <a:cs typeface="Calibri"/>
                        </a:rPr>
                        <a:t>Revenue Mechanism</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Customer Segments</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Revenue Model</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Growth Drivers</a:t>
                      </a:r>
                    </a:p>
                  </a:txBody>
                  <a:tcPr marL="91440" marR="91440" marT="45720" marB="45720">
                    <a:lnR w="0">
                      <a:noFill/>
                    </a:lnR>
                    <a:lnT w="0">
                      <a:noFill/>
                    </a:lnT>
                    <a:lnB w="9525">
                      <a:solidFill>
                        <a:srgbClr val="D7DEE7"/>
                      </a:solidFill>
                      <a:prstDash val="solid"/>
                    </a:lnB>
                    <a:solidFill>
                      <a:srgbClr val="F4F6F9"/>
                    </a:solidFill>
                  </a:tcPr>
                </a:tc>
              </a:tr>
              <a:tr h="371475">
                <a:tc>
                  <a:txBody>
                    <a:bodyPr lIns="38100" tIns="19050" rIns="38100" bIns="19050"/>
                    <a:lstStyle/>
                    <a:p>
                      <a:pPr algn="l"/>
                      <a:r>
                        <a:rPr sz="900" b="1">
                          <a:solidFill>
                            <a:srgbClr val="1B2A41"/>
                          </a:solidFill>
                          <a:latin typeface="Calibri"/>
                          <a:ea typeface="Calibri"/>
                          <a:cs typeface="Calibri"/>
                        </a:rPr>
                        <a:t>Casino Gaming</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Local drive-in patrons and frequent slot and table players [11][12][22][23][18].</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 property earns gaming win from slot machines and table games, making this the core cash engine [11][18].</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More visits, longer stays, and better wallet share from repeat gaming guests drive this revenue [11][22][23][18].</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Sportsbook</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Sports bettors who use the retail book or statewide mobile wagering access [19][52][53][54].</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 company earns revenue when sports wagers are settled, with the book acting as a linked gaming offer [19].</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Growth comes from cross-selling to casino guests and bringing in bettors who may also spend on property [52][53][54].</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Poker</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Poker players and gaming customers who extend their visit [18][22][23][18].</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Poker-room play generates gaming revenue through the Harbor Poker Room [18].</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It grows by keeping players on site longer and making the property more useful for regular gaming trips [22][23][18].</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Food and Beverage</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Casino guests, dining patrons, and social visitors [16][51].</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Restaurants and bars sell food and drinks on property, capturing spend around gaming and social visits [16][51].</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Growth depends on turning gaming trips into longer visits and on adding spend around meals and drinks [16][51].</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Entertainment</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Live-event guests and ticketed performance visitors [20][24][20][25].</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 company earns from ticket sales and related event spend tied to shows and venue use [20][24][20][25].</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It grows by using events to bring in more visitors who can then spend on gaming, food, and drinks [24][20][25].</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Meetings and Social Events</a:t>
                      </a:r>
                    </a:p>
                  </a:txBody>
                  <a:tcPr marL="91440" marR="91440" marT="45720" marB="45720">
                    <a:lnL w="0">
                      <a:noFill/>
                    </a:lnL>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Social celebration hosts and corporate meeting planners [26].</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The property earns venue and hosting fees, plus related food and beverage sales [26].</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Growth comes from winning more group bookings and making the site useful for non-gaming occasions [26].</a:t>
                      </a:r>
                    </a:p>
                  </a:txBody>
                  <a:tcPr marL="91440" marR="91440" marT="45720" marB="45720">
                    <a:lnR w="0">
                      <a:noFill/>
                    </a:lnR>
                    <a:lnB w="0">
                      <a:noFill/>
                    </a:lnB>
                    <a:solidFill>
                      <a:srgbClr val="FFFFFF"/>
                    </a:solidFill>
                  </a:tcPr>
                </a:tc>
              </a:tr>
            </a:tbl>
          </a:graphicData>
        </a:graphic>
      </p:graphicFrame>
      <p:sp>
        <p:nvSpPr>
          <p:cNvPr id="4" name="structure:table-header-rule">
            <a:extLst xmlns:a="http://schemas.openxmlformats.org/drawingml/2006/main">
              <a:ext uri="{FF2B5EF4-FFF2-40B4-BE49-F238E27FC236}">
                <a16:creationId xmlns:a16="http://schemas.microsoft.com/office/drawing/2014/main" id="{A90D12BE-047E-4B67-A47F-92478931829A}"/>
              </a:ext>
            </a:extLst>
          </p:cNvPr>
          <p:cNvSpPr>
            <a:spLocks xmlns:a="http://schemas.openxmlformats.org/drawingml/2006/main" noGrp="1"/>
          </p:cNvSpPr>
          <p:nvPr/>
        </p:nvSpPr>
        <p:spPr>
          <a:xfrm xmlns:a="http://schemas.openxmlformats.org/drawingml/2006/main">
            <a:off x="514350" y="2181225"/>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FB7715-3AA3-4A82-8D76-249501F0940B}"/>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05</a:t>
            </a:r>
          </a:p>
        </p:txBody>
      </p:sp>
    </p:spTree>
    <p:extLst>
      <p:ext uri="{BB962C8B-B14F-4D97-AF65-F5344CB8AC3E}">
        <p14:creationId xmlns:p14="http://schemas.microsoft.com/office/powerpoint/2010/main" val="28896449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F398E4F-11CE-4F6B-A10E-08C11CCE4CC6}"/>
              </a:ext>
            </a:extLst>
          </p:cNvPr>
          <p:cNvSpPr>
            <a:spLocks xmlns:a="http://schemas.openxmlformats.org/drawingml/2006/main" noGrp="1"/>
          </p:cNvSpPr>
          <p:nvPr/>
        </p:nvSpPr>
        <p:spPr>
          <a:xfrm xmlns:a="http://schemas.openxmlformats.org/drawingml/2006/main">
            <a:off x="514350" y="266700"/>
            <a:ext cx="6667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b="1">
                <a:solidFill>
                  <a:srgbClr val="1F3864"/>
                </a:solidFill>
                <a:latin typeface="Calibri"/>
                <a:ea typeface="Calibri"/>
                <a:cs typeface="Calibri"/>
              </a:defRPr>
            </a:pPr>
            <a:r>
              <a:rPr sz="825" b="1">
                <a:solidFill>
                  <a:srgbClr val="1F3864"/>
                </a:solidFill>
                <a:latin typeface="Calibri"/>
                <a:ea typeface="Calibri"/>
                <a:cs typeface="Calibri"/>
              </a:rPr>
              <a:t>Geographical Footprint</a:t>
            </a:r>
          </a:p>
        </p:txBody>
      </p:sp>
      <p:sp>
        <p:nvSpPr>
          <p:cNvPr id="2" name="">
            <a:extLst xmlns:a="http://schemas.openxmlformats.org/drawingml/2006/main">
              <a:ext uri="{FF2B5EF4-FFF2-40B4-BE49-F238E27FC236}">
                <a16:creationId xmlns:a16="http://schemas.microsoft.com/office/drawing/2014/main" id="{289736B0-E015-47BC-8BFA-1397E6682A83}"/>
              </a:ext>
            </a:extLst>
          </p:cNvPr>
          <p:cNvSpPr>
            <a:spLocks xmlns:a="http://schemas.openxmlformats.org/drawingml/2006/main" noGrp="1"/>
          </p:cNvSpPr>
          <p:nvPr/>
        </p:nvSpPr>
        <p:spPr>
          <a:xfrm xmlns:a="http://schemas.openxmlformats.org/drawingml/2006/main">
            <a:off x="514350" y="45720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American Casino — United States geographic footprint</a:t>
            </a:r>
          </a:p>
        </p:txBody>
      </p:sp>
      <p:sp>
        <p:nvSpPr>
          <p:cNvPr id="3" name="">
            <a:extLst xmlns:a="http://schemas.openxmlformats.org/drawingml/2006/main">
              <a:ext uri="{FF2B5EF4-FFF2-40B4-BE49-F238E27FC236}">
                <a16:creationId xmlns:a16="http://schemas.microsoft.com/office/drawing/2014/main" id="{6E7CDB74-5A07-471F-AA32-0969A353A047}"/>
              </a:ext>
            </a:extLst>
          </p:cNvPr>
          <p:cNvSpPr>
            <a:spLocks xmlns:a="http://schemas.openxmlformats.org/drawingml/2006/main" noGrp="1"/>
          </p:cNvSpPr>
          <p:nvPr/>
        </p:nvSpPr>
        <p:spPr>
          <a:xfrm xmlns:a="http://schemas.openxmlformats.org/drawingml/2006/main">
            <a:off x="628650" y="1114425"/>
            <a:ext cx="109347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As of 2006E PF, visibility sits in Las Vegas and Laughlin rather than a broad U.S. base, with only four disclosed properties. [58][76]</a:t>
            </a:r>
          </a:p>
        </p:txBody>
      </p:sp>
      <p:graphicFrame>
        <p:nvGraphicFramePr>
          <p:cNvPr id="11" name="Chart"/>
          <p:cNvGraphicFramePr/>
          <p:nvPr/>
        </p:nvGraphicFramePr>
        <p:xfrm>
          <a:off xmlns:a="http://schemas.openxmlformats.org/drawingml/2006/main" x="514350" y="1476375"/>
          <a:ext xmlns:a="http://schemas.openxmlformats.org/drawingml/2006/main" cx="11163300" cy="2971800"/>
        </p:xfrm>
        <a:graphic xmlns:a="http://schemas.openxmlformats.org/drawingml/2006/main">
          <a:graphicData uri="http://schemas.openxmlformats.org/drawingml/2006/chart">
            <c:chart xmlns:r="http://schemas.openxmlformats.org/officeDocument/2006/relationships" xmlns:c="http://schemas.openxmlformats.org/drawingml/2006/chart" r:id="R577d0ab8c24946da"/>
          </a:graphicData>
        </a:graphic>
      </p:graphicFrame>
      <p:graphicFrame>
        <p:nvGraphicFramePr>
          <p:cNvPr id="12" name=""/>
          <p:cNvGraphicFramePr/>
          <p:nvPr/>
        </p:nvGraphicFramePr>
        <p:xfrm>
          <a:off xmlns:a="http://schemas.openxmlformats.org/drawingml/2006/main" x="514350" y="4600575"/>
          <a:ext xmlns:a="http://schemas.openxmlformats.org/drawingml/2006/main" cx="11163300" cy="1762125"/>
        </p:xfrm>
        <a:graphic xmlns:a="http://schemas.openxmlformats.org/drawingml/2006/main">
          <a:graphicData uri="http://schemas.openxmlformats.org/drawingml/2006/table">
            <a:tbl>
              <a:tblPr firstRow="1" firstCol="0" bandRow="0"/>
              <a:tblGrid>
                <a:gridCol w="990600"/>
                <a:gridCol w="1166863"/>
                <a:gridCol w="990600"/>
                <a:gridCol w="8015237"/>
              </a:tblGrid>
              <a:tr h="400050">
                <a:tc>
                  <a:txBody>
                    <a:bodyPr lIns="38100" tIns="19050" rIns="38100" bIns="19050"/>
                    <a:lstStyle/>
                    <a:p>
                      <a:pPr algn="l"/>
                      <a:r>
                        <a:rPr sz="975" b="1">
                          <a:solidFill>
                            <a:srgbClr val="1F3864"/>
                          </a:solidFill>
                          <a:latin typeface="Calibri"/>
                          <a:ea typeface="Calibri"/>
                          <a:cs typeface="Calibri"/>
                        </a:rPr>
                        <a:t>Region</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Key Markets / Cluster</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Presence</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Strategic Role / Footprint Summary</a:t>
                      </a:r>
                    </a:p>
                  </a:txBody>
                  <a:tcPr marL="91440" marR="91440" marT="45720" marB="45720">
                    <a:lnR w="0">
                      <a:noFill/>
                    </a:lnR>
                    <a:lnT w="0">
                      <a:noFill/>
                    </a:lnT>
                    <a:lnB w="9525">
                      <a:solidFill>
                        <a:srgbClr val="D7DEE7"/>
                      </a:solidFill>
                      <a:prstDash val="solid"/>
                    </a:lnB>
                    <a:solidFill>
                      <a:srgbClr val="F4F6F9"/>
                    </a:solidFill>
                  </a:tcPr>
                </a:tc>
              </a:tr>
              <a:tr h="247650">
                <a:tc>
                  <a:txBody>
                    <a:bodyPr lIns="38100" tIns="19050" rIns="38100" bIns="19050"/>
                    <a:lstStyle/>
                    <a:p>
                      <a:pPr algn="l"/>
                      <a:r>
                        <a:rPr sz="900" b="1">
                          <a:solidFill>
                            <a:srgbClr val="1B2A41"/>
                          </a:solidFill>
                          <a:latin typeface="Calibri"/>
                          <a:ea typeface="Calibri"/>
                          <a:cs typeface="Calibri"/>
                        </a:rPr>
                        <a:t>Stratosphere</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Las Vegas Strip</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Major</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Strip destination anchored by its observation tower, retail and showroom, marketed to value-minded Las Vegas visitors. [58][76]</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Aquarius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Laughlin</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Moderate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Recently acquired Laughlin destination and largest local hotel, with 2006 casino upgrades and added amenities supporting tourist and resident traffic. [58][76]</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Arizona Charlie's Decatur</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West Las Vegas</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Moderate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West Las Vegas locals casino focused on video poker; bingo, keno and sportsbook mainly attract customers for higher-volume slot play. [58][76]</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Arizona Charlie's Boulder</a:t>
                      </a:r>
                    </a:p>
                  </a:txBody>
                  <a:tcPr marL="91440" marR="91440" marT="45720" marB="45720">
                    <a:lnL w="0">
                      <a:noFill/>
                    </a:lnL>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Boulder Strip</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Minor</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East Las Vegas locals casino with RV park; June 2006 gaming expansion increased capacity, while video poker remains its core traffic driver. [58][76]</a:t>
                      </a:r>
                    </a:p>
                  </a:txBody>
                  <a:tcPr marL="91440" marR="91440" marT="45720" marB="45720">
                    <a:lnR w="0">
                      <a:noFill/>
                    </a:lnR>
                    <a:lnB w="0">
                      <a:noFill/>
                    </a:lnB>
                    <a:solidFill>
                      <a:srgbClr val="FFFFFF"/>
                    </a:solidFill>
                  </a:tcPr>
                </a:tc>
              </a:tr>
            </a:tbl>
          </a:graphicData>
        </a:graphic>
      </p:graphicFrame>
      <p:sp>
        <p:nvSpPr>
          <p:cNvPr id="6" name="structure:table-header-rule">
            <a:extLst xmlns:a="http://schemas.openxmlformats.org/drawingml/2006/main">
              <a:ext uri="{FF2B5EF4-FFF2-40B4-BE49-F238E27FC236}">
                <a16:creationId xmlns:a16="http://schemas.microsoft.com/office/drawing/2014/main" id="{0EF93E25-4093-4E67-B839-AA5FA6A3A621}"/>
              </a:ext>
            </a:extLst>
          </p:cNvPr>
          <p:cNvSpPr>
            <a:spLocks xmlns:a="http://schemas.openxmlformats.org/drawingml/2006/main" noGrp="1"/>
          </p:cNvSpPr>
          <p:nvPr/>
        </p:nvSpPr>
        <p:spPr>
          <a:xfrm xmlns:a="http://schemas.openxmlformats.org/drawingml/2006/main">
            <a:off x="514350" y="4991100"/>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73DD0A3-F364-4DCE-94BA-7A0B1644346D}"/>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06</a:t>
            </a:r>
          </a:p>
        </p:txBody>
      </p:sp>
    </p:spTree>
    <p:extLst>
      <p:ext uri="{BB962C8B-B14F-4D97-AF65-F5344CB8AC3E}">
        <p14:creationId xmlns:p14="http://schemas.microsoft.com/office/powerpoint/2010/main" val="69129718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061141D-F9DA-4498-904B-31CABAFA5047}"/>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Recent Strategic Developments</a:t>
            </a:r>
          </a:p>
        </p:txBody>
      </p:sp>
      <p:sp>
        <p:nvSpPr>
          <p:cNvPr id="2" name="structure:prose-row">
            <a:extLst xmlns:a="http://schemas.openxmlformats.org/drawingml/2006/main">
              <a:ext uri="{FF2B5EF4-FFF2-40B4-BE49-F238E27FC236}">
                <a16:creationId xmlns:a16="http://schemas.microsoft.com/office/drawing/2014/main" id="{395C6979-4D4E-4D0E-BF96-ADF0EEA9149A}"/>
              </a:ext>
            </a:extLst>
          </p:cNvPr>
          <p:cNvSpPr>
            <a:spLocks xmlns:a="http://schemas.openxmlformats.org/drawingml/2006/main" noGrp="1"/>
          </p:cNvSpPr>
          <p:nvPr/>
        </p:nvSpPr>
        <p:spPr>
          <a:xfrm xmlns:a="http://schemas.openxmlformats.org/drawingml/2006/main">
            <a:off x="514350" y="1066800"/>
            <a:ext cx="11163300" cy="25717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structure:row-divider">
            <a:extLst xmlns:a="http://schemas.openxmlformats.org/drawingml/2006/main">
              <a:ext uri="{FF2B5EF4-FFF2-40B4-BE49-F238E27FC236}">
                <a16:creationId xmlns:a16="http://schemas.microsoft.com/office/drawing/2014/main" id="{EB897523-8338-485B-9246-3890F663015D}"/>
              </a:ext>
            </a:extLst>
          </p:cNvPr>
          <p:cNvSpPr>
            <a:spLocks xmlns:a="http://schemas.openxmlformats.org/drawingml/2006/main" noGrp="1"/>
          </p:cNvSpPr>
          <p:nvPr/>
        </p:nvSpPr>
        <p:spPr>
          <a:xfrm xmlns:a="http://schemas.openxmlformats.org/drawingml/2006/main">
            <a:off x="514350" y="13144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1EFA7B8-EF98-449D-9A6B-12DEE54AD6EB}"/>
              </a:ext>
            </a:extLst>
          </p:cNvPr>
          <p:cNvSpPr>
            <a:spLocks xmlns:a="http://schemas.openxmlformats.org/drawingml/2006/main" noGrp="1"/>
          </p:cNvSpPr>
          <p:nvPr/>
        </p:nvSpPr>
        <p:spPr>
          <a:xfrm xmlns:a="http://schemas.openxmlformats.org/drawingml/2006/main">
            <a:off x="628650" y="1114425"/>
            <a:ext cx="109347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On March 24, 2026, American Place appointed Mario Maesano as Assistant General Manager.[77] No economics were disclosed.</a:t>
            </a:r>
          </a:p>
        </p:txBody>
      </p:sp>
      <p:sp>
        <p:nvSpPr>
          <p:cNvPr id="5" name="structure:prose-row">
            <a:extLst xmlns:a="http://schemas.openxmlformats.org/drawingml/2006/main">
              <a:ext uri="{FF2B5EF4-FFF2-40B4-BE49-F238E27FC236}">
                <a16:creationId xmlns:a16="http://schemas.microsoft.com/office/drawing/2014/main" id="{4C03632E-BA08-4887-8F12-26D171022E15}"/>
              </a:ext>
            </a:extLst>
          </p:cNvPr>
          <p:cNvSpPr>
            <a:spLocks xmlns:a="http://schemas.openxmlformats.org/drawingml/2006/main" noGrp="1"/>
          </p:cNvSpPr>
          <p:nvPr/>
        </p:nvSpPr>
        <p:spPr>
          <a:xfrm xmlns:a="http://schemas.openxmlformats.org/drawingml/2006/main">
            <a:off x="514350" y="1323975"/>
            <a:ext cx="11163300" cy="419100"/>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6" name="structure:row-divider">
            <a:extLst xmlns:a="http://schemas.openxmlformats.org/drawingml/2006/main">
              <a:ext uri="{FF2B5EF4-FFF2-40B4-BE49-F238E27FC236}">
                <a16:creationId xmlns:a16="http://schemas.microsoft.com/office/drawing/2014/main" id="{190C5B0C-6359-45B9-87AD-4F0FEA9A62A3}"/>
              </a:ext>
            </a:extLst>
          </p:cNvPr>
          <p:cNvSpPr>
            <a:spLocks xmlns:a="http://schemas.openxmlformats.org/drawingml/2006/main" noGrp="1"/>
          </p:cNvSpPr>
          <p:nvPr/>
        </p:nvSpPr>
        <p:spPr>
          <a:xfrm xmlns:a="http://schemas.openxmlformats.org/drawingml/2006/main">
            <a:off x="514350" y="17335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ACC6AAF-2FD8-44BC-AB55-24BB82AC1293}"/>
              </a:ext>
            </a:extLst>
          </p:cNvPr>
          <p:cNvSpPr>
            <a:spLocks xmlns:a="http://schemas.openxmlformats.org/drawingml/2006/main" noGrp="1"/>
          </p:cNvSpPr>
          <p:nvPr/>
        </p:nvSpPr>
        <p:spPr>
          <a:xfrm xmlns:a="http://schemas.openxmlformats.org/drawingml/2006/main">
            <a:off x="628650" y="1371600"/>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On June 3, 2026, American Place started construction of a USD 302.00M permanent casino on a 42-acre site with Power Construction, Powers &amp; Sons Construction, WATG, and the City of Waukegan.[30] The project is about twice the size of the temporary casino, with about 40% more slot machines and 85% more table games, and is targeted to open in about two years.[30]</a:t>
            </a:r>
          </a:p>
        </p:txBody>
      </p:sp>
      <p:sp>
        <p:nvSpPr>
          <p:cNvPr id="8" name="structure:prose-row">
            <a:extLst xmlns:a="http://schemas.openxmlformats.org/drawingml/2006/main">
              <a:ext uri="{FF2B5EF4-FFF2-40B4-BE49-F238E27FC236}">
                <a16:creationId xmlns:a16="http://schemas.microsoft.com/office/drawing/2014/main" id="{73D1B9D2-A8B4-49F2-9C35-51FD95CB334F}"/>
              </a:ext>
            </a:extLst>
          </p:cNvPr>
          <p:cNvSpPr>
            <a:spLocks xmlns:a="http://schemas.openxmlformats.org/drawingml/2006/main" noGrp="1"/>
          </p:cNvSpPr>
          <p:nvPr/>
        </p:nvSpPr>
        <p:spPr>
          <a:xfrm xmlns:a="http://schemas.openxmlformats.org/drawingml/2006/main">
            <a:off x="514350" y="1743075"/>
            <a:ext cx="11163300" cy="4191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9" name="structure:row-divider">
            <a:extLst xmlns:a="http://schemas.openxmlformats.org/drawingml/2006/main">
              <a:ext uri="{FF2B5EF4-FFF2-40B4-BE49-F238E27FC236}">
                <a16:creationId xmlns:a16="http://schemas.microsoft.com/office/drawing/2014/main" id="{821414D2-A61C-4403-8677-5D2950FB2B82}"/>
              </a:ext>
            </a:extLst>
          </p:cNvPr>
          <p:cNvSpPr>
            <a:spLocks xmlns:a="http://schemas.openxmlformats.org/drawingml/2006/main" noGrp="1"/>
          </p:cNvSpPr>
          <p:nvPr/>
        </p:nvSpPr>
        <p:spPr>
          <a:xfrm xmlns:a="http://schemas.openxmlformats.org/drawingml/2006/main">
            <a:off x="514350" y="21526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53544DA-1891-43F9-B56C-035B66B72DC8}"/>
              </a:ext>
            </a:extLst>
          </p:cNvPr>
          <p:cNvSpPr>
            <a:spLocks xmlns:a="http://schemas.openxmlformats.org/drawingml/2006/main" noGrp="1"/>
          </p:cNvSpPr>
          <p:nvPr/>
        </p:nvSpPr>
        <p:spPr>
          <a:xfrm xmlns:a="http://schemas.openxmlformats.org/drawingml/2006/main">
            <a:off x="628650" y="1790700"/>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In August 2025, with a ribbon-cutting on August 20, 2025, American Place opened the 6-table Harbor Poker Room inside its temporary casino.[18] The room offers Texas Hold'em and Omaha and added 11 poker-specific hires, with plans for 5 more.[18]</a:t>
            </a:r>
          </a:p>
        </p:txBody>
      </p:sp>
      <p:sp>
        <p:nvSpPr>
          <p:cNvPr id="11" name="structure:prose-row">
            <a:extLst xmlns:a="http://schemas.openxmlformats.org/drawingml/2006/main">
              <a:ext uri="{FF2B5EF4-FFF2-40B4-BE49-F238E27FC236}">
                <a16:creationId xmlns:a16="http://schemas.microsoft.com/office/drawing/2014/main" id="{CD4FDB90-BF69-4B0E-A430-3D9EBB70F74F}"/>
              </a:ext>
            </a:extLst>
          </p:cNvPr>
          <p:cNvSpPr>
            <a:spLocks xmlns:a="http://schemas.openxmlformats.org/drawingml/2006/main" noGrp="1"/>
          </p:cNvSpPr>
          <p:nvPr/>
        </p:nvSpPr>
        <p:spPr>
          <a:xfrm xmlns:a="http://schemas.openxmlformats.org/drawingml/2006/main">
            <a:off x="514350" y="2162175"/>
            <a:ext cx="11163300" cy="7334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12" name="structure:row-divider">
            <a:extLst xmlns:a="http://schemas.openxmlformats.org/drawingml/2006/main">
              <a:ext uri="{FF2B5EF4-FFF2-40B4-BE49-F238E27FC236}">
                <a16:creationId xmlns:a16="http://schemas.microsoft.com/office/drawing/2014/main" id="{869D2A9B-9CA8-4267-82B8-735765649914}"/>
              </a:ext>
            </a:extLst>
          </p:cNvPr>
          <p:cNvSpPr>
            <a:spLocks xmlns:a="http://schemas.openxmlformats.org/drawingml/2006/main" noGrp="1"/>
          </p:cNvSpPr>
          <p:nvPr/>
        </p:nvSpPr>
        <p:spPr>
          <a:xfrm xmlns:a="http://schemas.openxmlformats.org/drawingml/2006/main">
            <a:off x="514350" y="28860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D23F8EA-504A-4C2A-AFC7-B60AFF85F2CB}"/>
              </a:ext>
            </a:extLst>
          </p:cNvPr>
          <p:cNvSpPr>
            <a:spLocks xmlns:a="http://schemas.openxmlformats.org/drawingml/2006/main" noGrp="1"/>
          </p:cNvSpPr>
          <p:nvPr/>
        </p:nvSpPr>
        <p:spPr>
          <a:xfrm xmlns:a="http://schemas.openxmlformats.org/drawingml/2006/main">
            <a:off x="628650" y="2209800"/>
            <a:ext cx="109347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On September 2, 2026, FHR-Illinois LLC and the City of Waukegan amended the Development and Host Community Agreement for American Place.[31] The deal extended the temporary-facility deadline to February 17, 2029, let part of the temporary facility become an entertainment venue for about 1,500 attendees, and replaced the boutique hotel opening obligation with a USD 750.00 per day late-opening fee after Phase 1 opens.[31] On June 12, 2026, the Illinois Gaming Board also approved an 18-month extension for the temporary casino to operate through February 17, 2029.[13]</a:t>
            </a:r>
          </a:p>
        </p:txBody>
      </p:sp>
      <p:sp>
        <p:nvSpPr>
          <p:cNvPr id="14" name="">
            <a:extLst xmlns:a="http://schemas.openxmlformats.org/drawingml/2006/main">
              <a:ext uri="{FF2B5EF4-FFF2-40B4-BE49-F238E27FC236}">
                <a16:creationId xmlns:a16="http://schemas.microsoft.com/office/drawing/2014/main" id="{84FF7BBE-D633-4CAB-AF30-3FB857D8F454}"/>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07</a:t>
            </a:r>
          </a:p>
        </p:txBody>
      </p:sp>
    </p:spTree>
    <p:extLst>
      <p:ext uri="{BB962C8B-B14F-4D97-AF65-F5344CB8AC3E}">
        <p14:creationId xmlns:p14="http://schemas.microsoft.com/office/powerpoint/2010/main" val="4111844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85253C8-3213-44A2-B93F-B2B89B9A8908}"/>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Customer Segments</a:t>
            </a:r>
          </a:p>
        </p:txBody>
      </p:sp>
      <p:sp>
        <p:nvSpPr>
          <p:cNvPr id="2" name="structure:prose-row">
            <a:extLst xmlns:a="http://schemas.openxmlformats.org/drawingml/2006/main">
              <a:ext uri="{FF2B5EF4-FFF2-40B4-BE49-F238E27FC236}">
                <a16:creationId xmlns:a16="http://schemas.microsoft.com/office/drawing/2014/main" id="{1056D17C-6FAB-402E-8A23-771CF634CF06}"/>
              </a:ext>
            </a:extLst>
          </p:cNvPr>
          <p:cNvSpPr>
            <a:spLocks xmlns:a="http://schemas.openxmlformats.org/drawingml/2006/main" noGrp="1"/>
          </p:cNvSpPr>
          <p:nvPr/>
        </p:nvSpPr>
        <p:spPr>
          <a:xfrm xmlns:a="http://schemas.openxmlformats.org/drawingml/2006/main">
            <a:off x="514350" y="1066800"/>
            <a:ext cx="11163300" cy="25717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structure:row-divider">
            <a:extLst xmlns:a="http://schemas.openxmlformats.org/drawingml/2006/main">
              <a:ext uri="{FF2B5EF4-FFF2-40B4-BE49-F238E27FC236}">
                <a16:creationId xmlns:a16="http://schemas.microsoft.com/office/drawing/2014/main" id="{E633F2A5-FAB2-4F6D-BB01-240F85D10121}"/>
              </a:ext>
            </a:extLst>
          </p:cNvPr>
          <p:cNvSpPr>
            <a:spLocks xmlns:a="http://schemas.openxmlformats.org/drawingml/2006/main" noGrp="1"/>
          </p:cNvSpPr>
          <p:nvPr/>
        </p:nvSpPr>
        <p:spPr>
          <a:xfrm xmlns:a="http://schemas.openxmlformats.org/drawingml/2006/main">
            <a:off x="514350" y="13144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98C64C9-91B0-4EA1-B286-4DEC1D3C7356}"/>
              </a:ext>
            </a:extLst>
          </p:cNvPr>
          <p:cNvSpPr>
            <a:spLocks xmlns:a="http://schemas.openxmlformats.org/drawingml/2006/main" noGrp="1"/>
          </p:cNvSpPr>
          <p:nvPr/>
        </p:nvSpPr>
        <p:spPr>
          <a:xfrm xmlns:a="http://schemas.openxmlformats.org/drawingml/2006/main">
            <a:off x="628650" y="1114425"/>
            <a:ext cx="109347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Customer base is centered on full-presence gaming, food and beverage, and group events</a:t>
            </a:r>
          </a:p>
        </p:txBody>
      </p:sp>
      <p:sp>
        <p:nvSpPr>
          <p:cNvPr id="5" name="structure:prose-row">
            <a:extLst xmlns:a="http://schemas.openxmlformats.org/drawingml/2006/main">
              <a:ext uri="{FF2B5EF4-FFF2-40B4-BE49-F238E27FC236}">
                <a16:creationId xmlns:a16="http://schemas.microsoft.com/office/drawing/2014/main" id="{28BF1A30-2EF7-4B2E-BD3C-AC03A1F26740}"/>
              </a:ext>
            </a:extLst>
          </p:cNvPr>
          <p:cNvSpPr>
            <a:spLocks xmlns:a="http://schemas.openxmlformats.org/drawingml/2006/main" noGrp="1"/>
          </p:cNvSpPr>
          <p:nvPr/>
        </p:nvSpPr>
        <p:spPr>
          <a:xfrm xmlns:a="http://schemas.openxmlformats.org/drawingml/2006/main">
            <a:off x="514350" y="1323975"/>
            <a:ext cx="11163300" cy="1047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6" name="structure:row-divider">
            <a:extLst xmlns:a="http://schemas.openxmlformats.org/drawingml/2006/main">
              <a:ext uri="{FF2B5EF4-FFF2-40B4-BE49-F238E27FC236}">
                <a16:creationId xmlns:a16="http://schemas.microsoft.com/office/drawing/2014/main" id="{7766DF70-8436-45D4-8413-F966E2EC1E28}"/>
              </a:ext>
            </a:extLst>
          </p:cNvPr>
          <p:cNvSpPr>
            <a:spLocks xmlns:a="http://schemas.openxmlformats.org/drawingml/2006/main" noGrp="1"/>
          </p:cNvSpPr>
          <p:nvPr/>
        </p:nvSpPr>
        <p:spPr>
          <a:xfrm xmlns:a="http://schemas.openxmlformats.org/drawingml/2006/main">
            <a:off x="514350" y="23622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3C97917-5BFC-465B-917A-9E7F93FB64C9}"/>
              </a:ext>
            </a:extLst>
          </p:cNvPr>
          <p:cNvSpPr>
            <a:spLocks xmlns:a="http://schemas.openxmlformats.org/drawingml/2006/main" noGrp="1"/>
          </p:cNvSpPr>
          <p:nvPr/>
        </p:nvSpPr>
        <p:spPr>
          <a:xfrm xmlns:a="http://schemas.openxmlformats.org/drawingml/2006/main">
            <a:off x="628650" y="1371600"/>
            <a:ext cx="109347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The mix is anchored by largest or large full-presence segments that depend on always-available casino traffic, not a single product line. Slot-focused regional gamers, casual all-day casino diners, nightlife patrons, social hosts, table-game regulars, drink-led lounge patrons, and corporate meeting planners all help keep guests on site and spending across gaming, dining, and events.[11][22][18][53][52][53][17] Faster growth is more visible in partial-presence expansion pockets like poker cash-game players, sports bettors, special-occasion fine diners, and share-style social diners, which shows demand exists but the offer is not yet fully developed.[52][53][11][22][18] The one disclosed Gap is ticketed comedy and headline-show attendees, pointing to a missing scheduled-entertainment offer that does not behave like the always-on gaming floor.[16][53] Overall, the customer mix supports a broad core with faster-growing adjacencies that matter most for incremental visit occasions and wallet share.[18][52][53][11][16]</a:t>
            </a:r>
          </a:p>
        </p:txBody>
      </p:sp>
      <p:graphicFrame>
        <p:nvGraphicFramePr>
          <p:cNvPr id="18" name=""/>
          <p:cNvGraphicFramePr/>
          <p:nvPr/>
        </p:nvGraphicFramePr>
        <p:xfrm>
          <a:off xmlns:a="http://schemas.openxmlformats.org/drawingml/2006/main" x="514350" y="2524125"/>
          <a:ext xmlns:a="http://schemas.openxmlformats.org/drawingml/2006/main" cx="11163300" cy="3057525"/>
        </p:xfrm>
        <a:graphic xmlns:a="http://schemas.openxmlformats.org/drawingml/2006/main">
          <a:graphicData uri="http://schemas.openxmlformats.org/drawingml/2006/table">
            <a:tbl>
              <a:tblPr firstRow="1" firstCol="0" bandRow="0"/>
              <a:tblGrid>
                <a:gridCol w="1346387"/>
                <a:gridCol w="990600"/>
                <a:gridCol w="3136226"/>
                <a:gridCol w="5690087"/>
              </a:tblGrid>
              <a:tr h="304800">
                <a:tc>
                  <a:txBody>
                    <a:bodyPr lIns="38100" tIns="19050" rIns="38100" bIns="19050"/>
                    <a:lstStyle/>
                    <a:p>
                      <a:pPr algn="l"/>
                      <a:r>
                        <a:rPr sz="975" b="1">
                          <a:solidFill>
                            <a:srgbClr val="1F3864"/>
                          </a:solidFill>
                          <a:latin typeface="Calibri"/>
                          <a:ea typeface="Calibri"/>
                          <a:cs typeface="Calibri"/>
                        </a:rPr>
                        <a:t>Customer segment</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Category</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What they buy</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Position</a:t>
                      </a:r>
                    </a:p>
                  </a:txBody>
                  <a:tcPr marL="91440" marR="91440" marT="45720" marB="45720">
                    <a:lnR w="0">
                      <a:noFill/>
                    </a:lnR>
                    <a:lnT w="0">
                      <a:noFill/>
                    </a:lnT>
                    <a:lnB w="9525">
                      <a:solidFill>
                        <a:srgbClr val="D7DEE7"/>
                      </a:solidFill>
                      <a:prstDash val="solid"/>
                    </a:lnB>
                    <a:solidFill>
                      <a:srgbClr val="F4F6F9"/>
                    </a:solidFill>
                  </a:tcPr>
                </a:tc>
              </a:tr>
              <a:tr h="371475">
                <a:tc>
                  <a:txBody>
                    <a:bodyPr lIns="38100" tIns="19050" rIns="38100" bIns="19050"/>
                    <a:lstStyle/>
                    <a:p>
                      <a:pPr algn="l"/>
                      <a:r>
                        <a:rPr sz="900" b="1">
                          <a:solidFill>
                            <a:srgbClr val="1B2A41"/>
                          </a:solidFill>
                          <a:latin typeface="Calibri"/>
                          <a:ea typeface="Calibri"/>
                          <a:cs typeface="Calibri"/>
                        </a:rPr>
                        <a:t>Slot-focused regional gamers · Anchor</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size: largest, growth: slow</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High machine variety, 24/7 access, low-friction play, and loyalty rewards [11][22]</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This segment defends the core gaming traffic base and supports repeat visitation around convenience and rewards, making it central to day-to-day floor utilization.[11][22]</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Free live-music and DJ nightlife patrons · Anchor</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size: largest, growth: fast</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No-ticket programming, weekend nightlife, drinks, and easy drop-in access [53][52]</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This segment extends the property beyond gaming into high-traffic nightlife demand, helping fill the venue with drop-in visits and beverage-led spend.[53][52]</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Social celebration hosts · Anchor</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size: largest, growth: slow</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Private gathering space, customizable menus, bar options, and easy parking [17]</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This segment gives the business a stable group-occasion demand base that monetizes space, food, and bar spend beyond individual customer visits.[17]</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Casual all-day casino diners · Anchor</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size: largest, growth: slow</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Broad operating hours, comfort food, quick sit-down meals, and shareables [53]</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This segment supports all-day dwell time on property, reinforcing casino convenience and capturing meal occasions that keep guests on site.[53]</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Drink-led lounge patrons · Anchor</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size: large, growth: fast</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Cocktails and beer, a central meetup point, extended late hours, and entertainment adjacency [52][53]</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This segment is a high-velocity adjacent spend pool that benefits from late-night traffic and the property’s role as a social meeting point.[52][53]</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Table-game regulars · Anchor</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size: large, growth: fast</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Game variety, staffed tables, extended hours, and rated-play benefits [18][22]</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This segment anchors a high-value rated-play cohort whose importance is tied to staffed-table availability and benefits that reinforce repeat spend.[18][22]</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Corporate meeting planners · Anchor</a:t>
                      </a:r>
                    </a:p>
                  </a:txBody>
                  <a:tcPr marL="91440" marR="91440" marT="45720" marB="45720">
                    <a:lnL w="0">
                      <a:noFill/>
                    </a:lnL>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size: medium, growth: fast</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AV capability, flexible room layouts, a dedicated coordinator, and on-site parking [17]</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This segment broadens the business into organized weekday and event-led demand, helping diversify traffic beyond pure leisure visitation.[17]</a:t>
                      </a:r>
                    </a:p>
                  </a:txBody>
                  <a:tcPr marL="91440" marR="91440" marT="45720" marB="45720">
                    <a:lnR w="0">
                      <a:noFill/>
                    </a:lnR>
                    <a:lnB w="0">
                      <a:noFill/>
                    </a:lnB>
                    <a:solidFill>
                      <a:srgbClr val="FFFFFF"/>
                    </a:solidFill>
                  </a:tcPr>
                </a:tc>
              </a:tr>
            </a:tbl>
          </a:graphicData>
        </a:graphic>
      </p:graphicFrame>
      <p:sp>
        <p:nvSpPr>
          <p:cNvPr id="9" name="structure:table-header-rule">
            <a:extLst xmlns:a="http://schemas.openxmlformats.org/drawingml/2006/main">
              <a:ext uri="{FF2B5EF4-FFF2-40B4-BE49-F238E27FC236}">
                <a16:creationId xmlns:a16="http://schemas.microsoft.com/office/drawing/2014/main" id="{8BFC3B86-70F5-4595-9DC9-27F6B7D71BFA}"/>
              </a:ext>
            </a:extLst>
          </p:cNvPr>
          <p:cNvSpPr>
            <a:spLocks xmlns:a="http://schemas.openxmlformats.org/drawingml/2006/main" noGrp="1"/>
          </p:cNvSpPr>
          <p:nvPr/>
        </p:nvSpPr>
        <p:spPr>
          <a:xfrm xmlns:a="http://schemas.openxmlformats.org/drawingml/2006/main">
            <a:off x="514350" y="2819400"/>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E17CB7D-9C83-4633-A851-C0BFA0995169}"/>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08</a:t>
            </a:r>
          </a:p>
        </p:txBody>
      </p:sp>
    </p:spTree>
    <p:extLst>
      <p:ext uri="{BB962C8B-B14F-4D97-AF65-F5344CB8AC3E}">
        <p14:creationId xmlns:p14="http://schemas.microsoft.com/office/powerpoint/2010/main" val="22203890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CD8E45A-1F8B-408C-B77F-9E0A4E412FCD}"/>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Key Purchasing Criteria</a:t>
            </a:r>
          </a:p>
        </p:txBody>
      </p:sp>
      <p:sp>
        <p:nvSpPr>
          <p:cNvPr id="2" name="structure:prose-row">
            <a:extLst xmlns:a="http://schemas.openxmlformats.org/drawingml/2006/main">
              <a:ext uri="{FF2B5EF4-FFF2-40B4-BE49-F238E27FC236}">
                <a16:creationId xmlns:a16="http://schemas.microsoft.com/office/drawing/2014/main" id="{BD53F274-2207-455A-BBBA-BE9275869C5F}"/>
              </a:ext>
            </a:extLst>
          </p:cNvPr>
          <p:cNvSpPr>
            <a:spLocks xmlns:a="http://schemas.openxmlformats.org/drawingml/2006/main" noGrp="1"/>
          </p:cNvSpPr>
          <p:nvPr/>
        </p:nvSpPr>
        <p:spPr>
          <a:xfrm xmlns:a="http://schemas.openxmlformats.org/drawingml/2006/main">
            <a:off x="514350" y="1066800"/>
            <a:ext cx="11163300" cy="25717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structure:row-divider">
            <a:extLst xmlns:a="http://schemas.openxmlformats.org/drawingml/2006/main">
              <a:ext uri="{FF2B5EF4-FFF2-40B4-BE49-F238E27FC236}">
                <a16:creationId xmlns:a16="http://schemas.microsoft.com/office/drawing/2014/main" id="{3D793857-2F4D-4E2D-90AE-7C46CDE3F5BE}"/>
              </a:ext>
            </a:extLst>
          </p:cNvPr>
          <p:cNvSpPr>
            <a:spLocks xmlns:a="http://schemas.openxmlformats.org/drawingml/2006/main" noGrp="1"/>
          </p:cNvSpPr>
          <p:nvPr/>
        </p:nvSpPr>
        <p:spPr>
          <a:xfrm xmlns:a="http://schemas.openxmlformats.org/drawingml/2006/main">
            <a:off x="514350" y="13144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255351B-5F19-447D-8BA7-E2D604450042}"/>
              </a:ext>
            </a:extLst>
          </p:cNvPr>
          <p:cNvSpPr>
            <a:spLocks xmlns:a="http://schemas.openxmlformats.org/drawingml/2006/main" noGrp="1"/>
          </p:cNvSpPr>
          <p:nvPr/>
        </p:nvSpPr>
        <p:spPr>
          <a:xfrm xmlns:a="http://schemas.openxmlformats.org/drawingml/2006/main">
            <a:off x="628650" y="1114425"/>
            <a:ext cx="109347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Buyers value easy access, dependable hours, and a simple rewards and betting offer</a:t>
            </a:r>
          </a:p>
        </p:txBody>
      </p:sp>
      <p:sp>
        <p:nvSpPr>
          <p:cNvPr id="5" name="structure:prose-row">
            <a:extLst xmlns:a="http://schemas.openxmlformats.org/drawingml/2006/main">
              <a:ext uri="{FF2B5EF4-FFF2-40B4-BE49-F238E27FC236}">
                <a16:creationId xmlns:a16="http://schemas.microsoft.com/office/drawing/2014/main" id="{CC487BCE-0FB7-429C-8350-F7BDB78E7526}"/>
              </a:ext>
            </a:extLst>
          </p:cNvPr>
          <p:cNvSpPr>
            <a:spLocks xmlns:a="http://schemas.openxmlformats.org/drawingml/2006/main" noGrp="1"/>
          </p:cNvSpPr>
          <p:nvPr/>
        </p:nvSpPr>
        <p:spPr>
          <a:xfrm xmlns:a="http://schemas.openxmlformats.org/drawingml/2006/main">
            <a:off x="514350" y="1323975"/>
            <a:ext cx="11163300" cy="4191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6" name="structure:row-divider">
            <a:extLst xmlns:a="http://schemas.openxmlformats.org/drawingml/2006/main">
              <a:ext uri="{FF2B5EF4-FFF2-40B4-BE49-F238E27FC236}">
                <a16:creationId xmlns:a16="http://schemas.microsoft.com/office/drawing/2014/main" id="{BCB92E41-CC12-45DA-98FE-CDAE6EED6E7E}"/>
              </a:ext>
            </a:extLst>
          </p:cNvPr>
          <p:cNvSpPr>
            <a:spLocks xmlns:a="http://schemas.openxmlformats.org/drawingml/2006/main" noGrp="1"/>
          </p:cNvSpPr>
          <p:nvPr/>
        </p:nvSpPr>
        <p:spPr>
          <a:xfrm xmlns:a="http://schemas.openxmlformats.org/drawingml/2006/main">
            <a:off x="514350" y="17335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463565C-2956-41E2-8163-61400E762BA9}"/>
              </a:ext>
            </a:extLst>
          </p:cNvPr>
          <p:cNvSpPr>
            <a:spLocks xmlns:a="http://schemas.openxmlformats.org/drawingml/2006/main" noGrp="1"/>
          </p:cNvSpPr>
          <p:nvPr/>
        </p:nvSpPr>
        <p:spPr>
          <a:xfrm xmlns:a="http://schemas.openxmlformats.org/drawingml/2006/main">
            <a:off x="628650" y="1371600"/>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Friction reduction and reliability matter most: if access, hours, pricing, or loyalty rules are unclear, buyers are more likely to stay away or spend less. The strongest implication is that the company must prove its experience is easy to understand and easy to use before it can win more wallet share.</a:t>
            </a:r>
          </a:p>
        </p:txBody>
      </p:sp>
      <p:graphicFrame>
        <p:nvGraphicFramePr>
          <p:cNvPr id="18" name=""/>
          <p:cNvGraphicFramePr/>
          <p:nvPr/>
        </p:nvGraphicFramePr>
        <p:xfrm>
          <a:off xmlns:a="http://schemas.openxmlformats.org/drawingml/2006/main" x="514350" y="1895475"/>
          <a:ext xmlns:a="http://schemas.openxmlformats.org/drawingml/2006/main" cx="11163300" cy="3086100"/>
        </p:xfrm>
        <a:graphic xmlns:a="http://schemas.openxmlformats.org/drawingml/2006/main">
          <a:graphicData uri="http://schemas.openxmlformats.org/drawingml/2006/table">
            <a:tbl>
              <a:tblPr firstRow="1" firstCol="0" bandRow="0"/>
              <a:tblGrid>
                <a:gridCol w="1102213"/>
                <a:gridCol w="2383603"/>
                <a:gridCol w="3350076"/>
                <a:gridCol w="4327408"/>
              </a:tblGrid>
              <a:tr h="400050">
                <a:tc>
                  <a:txBody>
                    <a:bodyPr lIns="38100" tIns="19050" rIns="38100" bIns="19050"/>
                    <a:lstStyle/>
                    <a:p>
                      <a:pPr algn="l"/>
                      <a:r>
                        <a:rPr sz="975" b="1">
                          <a:solidFill>
                            <a:srgbClr val="1F3864"/>
                          </a:solidFill>
                          <a:latin typeface="Calibri"/>
                          <a:ea typeface="Calibri"/>
                          <a:cs typeface="Calibri"/>
                        </a:rPr>
                        <a:t>KPC (buyer decision driver)</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What buyers are really asking</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Why it matters</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Implications</a:t>
                      </a:r>
                    </a:p>
                  </a:txBody>
                  <a:tcPr marL="91440" marR="91440" marT="45720" marB="45720">
                    <a:lnR w="0">
                      <a:noFill/>
                    </a:lnR>
                    <a:lnT w="0">
                      <a:noFill/>
                    </a:lnT>
                    <a:lnB w="9525">
                      <a:solidFill>
                        <a:srgbClr val="D7DEE7"/>
                      </a:solidFill>
                      <a:prstDash val="solid"/>
                    </a:lnB>
                    <a:solidFill>
                      <a:srgbClr val="F4F6F9"/>
                    </a:solidFill>
                  </a:tcPr>
                </a:tc>
              </a:tr>
              <a:tr h="371475">
                <a:tc>
                  <a:txBody>
                    <a:bodyPr lIns="38100" tIns="19050" rIns="38100" bIns="19050"/>
                    <a:lstStyle/>
                    <a:p>
                      <a:pPr algn="l"/>
                      <a:r>
                        <a:rPr sz="900" b="1">
                          <a:solidFill>
                            <a:srgbClr val="1B2A41"/>
                          </a:solidFill>
                          <a:latin typeface="Calibri"/>
                          <a:ea typeface="Calibri"/>
                          <a:cs typeface="Calibri"/>
                        </a:rPr>
                        <a:t>Legal access &amp; entry rules · Highest</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Is it 21+ only, what IDs are accepted, and is entry friction predictable?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Avoids wasted trips; reduces compliance incidents; improves conversion from first visit to repeat.</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Tighten pre-visit comms on 21+ and ID list; ID friction can deter casual diners; mystery-shop door denial rates and peak queues</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Hours &amp; availability · Highest</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Are gaming, tables, poker, and club services open when I actually play?</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Drives share-of-wallet; reduces churn to competitors; impacts labor scheduling and service levels.</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Market 24/7 casino and posted table/poker hours; table-hour gaps risk defection; analyze demand by hour and table hold by shift</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Pricing · High</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What are the minimums, redemption thresholds, and promo value; are there hidden constraints?</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Determines trip economics; affects perceived fairness; drives promo efficiency and margin protection.</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Communicate mins and points-to-free-play ratios; promo dependency can compress margins; review offer terms, redemption behavior, and host overrides</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Sportsbook experience (retail + mobile) · High</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Can I place bets easily, watch games comfortably, and use mobile statewide?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Sports bettors are high-frequency; cross-sell to casino/F&amp;B; poor UX shifts handle to other apps.</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Co-market retail + statewide app access; brand may not fit casual bettors; segment handle by channel and track cross-play uplift</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Loyalty program &amp; reinvestment value · High</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How fast do I earn, what can I redeem, and do points expire?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Underwrites retention; enables targeted offers; breakage/expiration affects perceived fairness and reactivation.</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Package rewards earn/burn simply; complex rules can trigger distrust; test offer ROI by segment and audit points expiry/complaints</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Core gaming mix &amp; freshness · High</a:t>
                      </a:r>
                    </a:p>
                  </a:txBody>
                  <a:tcPr marL="91440" marR="91440" marT="45720" marB="45720">
                    <a:lnL w="0">
                      <a:noFill/>
                    </a:lnL>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Do you have the games I want, and do you refresh floor/leases often?</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Main visit driver; variety increases visit frequency; newer mix supports higher coin-in and lower substitution.</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Lead with breadth of slots/tables; limited specialty inventory could be deal-breaker; pull slot change-log vs play trends and vendor terms</a:t>
                      </a:r>
                    </a:p>
                  </a:txBody>
                  <a:tcPr marL="91440" marR="91440" marT="45720" marB="45720">
                    <a:lnR w="0">
                      <a:noFill/>
                    </a:lnR>
                    <a:lnB w="0">
                      <a:noFill/>
                    </a:lnB>
                    <a:solidFill>
                      <a:srgbClr val="FFFFFF"/>
                    </a:solidFill>
                  </a:tcPr>
                </a:tc>
              </a:tr>
            </a:tbl>
          </a:graphicData>
        </a:graphic>
      </p:graphicFrame>
      <p:sp>
        <p:nvSpPr>
          <p:cNvPr id="9" name="structure:table-header-rule">
            <a:extLst xmlns:a="http://schemas.openxmlformats.org/drawingml/2006/main">
              <a:ext uri="{FF2B5EF4-FFF2-40B4-BE49-F238E27FC236}">
                <a16:creationId xmlns:a16="http://schemas.microsoft.com/office/drawing/2014/main" id="{17ADB7AA-4028-400E-BAE6-5C5414448F01}"/>
              </a:ext>
            </a:extLst>
          </p:cNvPr>
          <p:cNvSpPr>
            <a:spLocks xmlns:a="http://schemas.openxmlformats.org/drawingml/2006/main" noGrp="1"/>
          </p:cNvSpPr>
          <p:nvPr/>
        </p:nvSpPr>
        <p:spPr>
          <a:xfrm xmlns:a="http://schemas.openxmlformats.org/drawingml/2006/main">
            <a:off x="514350" y="2286000"/>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41880CC-A01B-496F-9ADB-499E0D7C58D5}"/>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09</a:t>
            </a:r>
          </a:p>
        </p:txBody>
      </p:sp>
    </p:spTree>
    <p:extLst>
      <p:ext uri="{BB962C8B-B14F-4D97-AF65-F5344CB8AC3E}">
        <p14:creationId xmlns:p14="http://schemas.microsoft.com/office/powerpoint/2010/main" val="117990314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ADDB4B9-1592-4580-9C2E-3C435688C803}"/>
              </a:ext>
            </a:extLst>
          </p:cNvPr>
          <p:cNvSpPr>
            <a:spLocks xmlns:a="http://schemas.openxmlformats.org/drawingml/2006/main" noGrp="1"/>
          </p:cNvSpPr>
          <p:nvPr/>
        </p:nvSpPr>
        <p:spPr>
          <a:xfrm xmlns:a="http://schemas.openxmlformats.org/drawingml/2006/main">
            <a:off x="514350" y="266700"/>
            <a:ext cx="6667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b="1">
                <a:solidFill>
                  <a:srgbClr val="1F3864"/>
                </a:solidFill>
                <a:latin typeface="Calibri"/>
                <a:ea typeface="Calibri"/>
                <a:cs typeface="Calibri"/>
              </a:defRPr>
            </a:pPr>
            <a:r>
              <a:rPr sz="825" b="1">
                <a:solidFill>
                  <a:srgbClr val="1F3864"/>
                </a:solidFill>
                <a:latin typeface="Calibri"/>
                <a:ea typeface="Calibri"/>
                <a:cs typeface="Calibri"/>
              </a:rPr>
              <a:t>Casino Gaming – Regional Casino Resorts</a:t>
            </a:r>
          </a:p>
        </p:txBody>
      </p:sp>
      <p:sp>
        <p:nvSpPr>
          <p:cNvPr id="2" name="">
            <a:extLst xmlns:a="http://schemas.openxmlformats.org/drawingml/2006/main">
              <a:ext uri="{FF2B5EF4-FFF2-40B4-BE49-F238E27FC236}">
                <a16:creationId xmlns:a16="http://schemas.microsoft.com/office/drawing/2014/main" id="{8388B1AA-8DC3-475B-B83B-E19BF2C3BEA5}"/>
              </a:ext>
            </a:extLst>
          </p:cNvPr>
          <p:cNvSpPr>
            <a:spLocks xmlns:a="http://schemas.openxmlformats.org/drawingml/2006/main" noGrp="1"/>
          </p:cNvSpPr>
          <p:nvPr/>
        </p:nvSpPr>
        <p:spPr>
          <a:xfrm xmlns:a="http://schemas.openxmlformats.org/drawingml/2006/main">
            <a:off x="514350" y="45720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Market Size Projection (2026–2031)</a:t>
            </a:r>
          </a:p>
        </p:txBody>
      </p:sp>
      <p:sp>
        <p:nvSpPr>
          <p:cNvPr id="3" name="">
            <a:extLst xmlns:a="http://schemas.openxmlformats.org/drawingml/2006/main">
              <a:ext uri="{FF2B5EF4-FFF2-40B4-BE49-F238E27FC236}">
                <a16:creationId xmlns:a16="http://schemas.microsoft.com/office/drawing/2014/main" id="{C640AED4-B207-40F0-B68E-812F59BF0A44}"/>
              </a:ext>
            </a:extLst>
          </p:cNvPr>
          <p:cNvSpPr>
            <a:spLocks xmlns:a="http://schemas.openxmlformats.org/drawingml/2006/main" noGrp="1"/>
          </p:cNvSpPr>
          <p:nvPr/>
        </p:nvSpPr>
        <p:spPr>
          <a:xfrm xmlns:a="http://schemas.openxmlformats.org/drawingml/2006/main">
            <a:off x="628650" y="1114425"/>
            <a:ext cx="10934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125">
                <a:solidFill>
                  <a:srgbClr val="1B2A41"/>
                </a:solidFill>
                <a:latin typeface="Calibri"/>
                <a:ea typeface="Calibri"/>
                <a:cs typeface="Calibri"/>
              </a:defRPr>
            </a:pPr>
            <a:r>
              <a:rPr sz="1125">
                <a:solidFill>
                  <a:srgbClr val="1B2A41"/>
                </a:solidFill>
                <a:latin typeface="Calibri"/>
                <a:ea typeface="Calibri"/>
                <a:cs typeface="Calibri"/>
              </a:rPr>
              <a:t>Smaller Illinois casinos win by adding freshness, cashless tools, and CRM before convenience and new resorts take share.</a:t>
            </a:r>
          </a:p>
        </p:txBody>
      </p:sp>
      <p:graphicFrame>
        <p:nvGraphicFramePr>
          <p:cNvPr id="9" name="Chart"/>
          <p:cNvGraphicFramePr/>
          <p:nvPr/>
        </p:nvGraphicFramePr>
        <p:xfrm>
          <a:off xmlns:a="http://schemas.openxmlformats.org/drawingml/2006/main" x="647700" y="1600200"/>
          <a:ext xmlns:a="http://schemas.openxmlformats.org/drawingml/2006/main" cx="10896600" cy="4762500"/>
        </p:xfrm>
        <a:graphic xmlns:a="http://schemas.openxmlformats.org/drawingml/2006/main">
          <a:graphicData uri="http://schemas.openxmlformats.org/drawingml/2006/chart">
            <c:chart xmlns:r="http://schemas.openxmlformats.org/officeDocument/2006/relationships" xmlns:c="http://schemas.openxmlformats.org/drawingml/2006/chart" r:id="Re75b6b1293604fd4"/>
          </a:graphicData>
        </a:graphic>
      </p:graphicFrame>
      <p:sp>
        <p:nvSpPr>
          <p:cNvPr id="5" name="">
            <a:extLst xmlns:a="http://schemas.openxmlformats.org/drawingml/2006/main">
              <a:ext uri="{FF2B5EF4-FFF2-40B4-BE49-F238E27FC236}">
                <a16:creationId xmlns:a16="http://schemas.microsoft.com/office/drawing/2014/main" id="{3570AD03-ED36-43F0-B846-5CB632FC02FC}"/>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10</a:t>
            </a:r>
          </a:p>
        </p:txBody>
      </p:sp>
    </p:spTree>
    <p:extLst>
      <p:ext uri="{BB962C8B-B14F-4D97-AF65-F5344CB8AC3E}">
        <p14:creationId xmlns:p14="http://schemas.microsoft.com/office/powerpoint/2010/main" val="69760762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 name="">
            <a:extLst xmlns:a="http://schemas.openxmlformats.org/drawingml/2006/main">
              <a:ext uri="{FF2B5EF4-FFF2-40B4-BE49-F238E27FC236}">
                <a16:creationId xmlns:a16="http://schemas.microsoft.com/office/drawing/2014/main" id="{001B3E6C-67B2-4F81-AB0C-9CF9C1EE1973}"/>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Market Overview Industry 1 Heading</a:t>
            </a:r>
          </a:p>
        </p:txBody>
      </p:sp>
      <p:sp>
        <p:nvSpPr>
          <p:cNvPr id="2" name="structure:prose-row">
            <a:extLst xmlns:a="http://schemas.openxmlformats.org/drawingml/2006/main">
              <a:ext uri="{FF2B5EF4-FFF2-40B4-BE49-F238E27FC236}">
                <a16:creationId xmlns:a16="http://schemas.microsoft.com/office/drawing/2014/main" id="{F3EABEF3-4D89-4BEC-A900-675AFADFBDBE}"/>
              </a:ext>
            </a:extLst>
          </p:cNvPr>
          <p:cNvSpPr>
            <a:spLocks xmlns:a="http://schemas.openxmlformats.org/drawingml/2006/main" noGrp="1"/>
          </p:cNvSpPr>
          <p:nvPr/>
        </p:nvSpPr>
        <p:spPr>
          <a:xfrm xmlns:a="http://schemas.openxmlformats.org/drawingml/2006/main">
            <a:off x="514350" y="1066800"/>
            <a:ext cx="11163300" cy="2000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structure:row-divider">
            <a:extLst xmlns:a="http://schemas.openxmlformats.org/drawingml/2006/main">
              <a:ext uri="{FF2B5EF4-FFF2-40B4-BE49-F238E27FC236}">
                <a16:creationId xmlns:a16="http://schemas.microsoft.com/office/drawing/2014/main" id="{2D8D4FE0-5014-4BAA-BC55-F7F27F45CAFC}"/>
              </a:ext>
            </a:extLst>
          </p:cNvPr>
          <p:cNvSpPr>
            <a:spLocks xmlns:a="http://schemas.openxmlformats.org/drawingml/2006/main" noGrp="1"/>
          </p:cNvSpPr>
          <p:nvPr/>
        </p:nvSpPr>
        <p:spPr>
          <a:xfrm xmlns:a="http://schemas.openxmlformats.org/drawingml/2006/main">
            <a:off x="514350" y="12573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C091DCD-F13C-4CF9-A53E-D68773813859}"/>
              </a:ext>
            </a:extLst>
          </p:cNvPr>
          <p:cNvSpPr>
            <a:spLocks xmlns:a="http://schemas.openxmlformats.org/drawingml/2006/main" noGrp="1"/>
          </p:cNvSpPr>
          <p:nvPr/>
        </p:nvSpPr>
        <p:spPr>
          <a:xfrm xmlns:a="http://schemas.openxmlformats.org/drawingml/2006/main">
            <a:off x="628650" y="1095375"/>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Fragmented Regional Casino Resorts Poised for Upside from Capital-Fueled Upgrades</a:t>
            </a:r>
          </a:p>
        </p:txBody>
      </p:sp>
      <p:sp>
        <p:nvSpPr>
          <p:cNvPr id="5" name="">
            <a:extLst xmlns:a="http://schemas.openxmlformats.org/drawingml/2006/main">
              <a:ext uri="{FF2B5EF4-FFF2-40B4-BE49-F238E27FC236}">
                <a16:creationId xmlns:a16="http://schemas.microsoft.com/office/drawing/2014/main" id="{9DF80097-810B-41A5-8770-21FB70C5CCA7}"/>
              </a:ext>
            </a:extLst>
          </p:cNvPr>
          <p:cNvSpPr>
            <a:spLocks xmlns:a="http://schemas.openxmlformats.org/drawingml/2006/main" noGrp="1"/>
          </p:cNvSpPr>
          <p:nvPr/>
        </p:nvSpPr>
        <p:spPr>
          <a:xfrm xmlns:a="http://schemas.openxmlformats.org/drawingml/2006/main">
            <a:off x="514350" y="1343025"/>
            <a:ext cx="11163300" cy="209550"/>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521179F-4968-4DBB-9DC9-8BC52BCB97E5}"/>
              </a:ext>
            </a:extLst>
          </p:cNvPr>
          <p:cNvSpPr>
            <a:spLocks xmlns:a="http://schemas.openxmlformats.org/drawingml/2006/main" noGrp="1"/>
          </p:cNvSpPr>
          <p:nvPr/>
        </p:nvSpPr>
        <p:spPr>
          <a:xfrm xmlns:a="http://schemas.openxmlformats.org/drawingml/2006/main">
            <a:off x="628650" y="1371600"/>
            <a:ext cx="109347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1">
                <a:solidFill>
                  <a:srgbClr val="FFFFFF"/>
                </a:solidFill>
                <a:latin typeface="Calibri"/>
                <a:ea typeface="Calibri"/>
                <a:cs typeface="Calibri"/>
              </a:defRPr>
            </a:pPr>
            <a:r>
              <a:rPr sz="900" b="1">
                <a:solidFill>
                  <a:srgbClr val="FFFFFF"/>
                </a:solidFill>
                <a:latin typeface="Calibri"/>
                <a:ea typeface="Calibri"/>
                <a:cs typeface="Calibri"/>
              </a:rPr>
              <a:t>Market Overview Industry 1 Insights</a:t>
            </a:r>
          </a:p>
        </p:txBody>
      </p:sp>
      <p:sp>
        <p:nvSpPr>
          <p:cNvPr id="7" name="structure:prose-row">
            <a:extLst xmlns:a="http://schemas.openxmlformats.org/drawingml/2006/main">
              <a:ext uri="{FF2B5EF4-FFF2-40B4-BE49-F238E27FC236}">
                <a16:creationId xmlns:a16="http://schemas.microsoft.com/office/drawing/2014/main" id="{8E6A61BE-AB0E-4FCB-A474-929CD7AB1761}"/>
              </a:ext>
            </a:extLst>
          </p:cNvPr>
          <p:cNvSpPr>
            <a:spLocks xmlns:a="http://schemas.openxmlformats.org/drawingml/2006/main" noGrp="1"/>
          </p:cNvSpPr>
          <p:nvPr/>
        </p:nvSpPr>
        <p:spPr>
          <a:xfrm xmlns:a="http://schemas.openxmlformats.org/drawingml/2006/main">
            <a:off x="514350" y="1552575"/>
            <a:ext cx="11163300" cy="33337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structure:row-divider">
            <a:extLst xmlns:a="http://schemas.openxmlformats.org/drawingml/2006/main">
              <a:ext uri="{FF2B5EF4-FFF2-40B4-BE49-F238E27FC236}">
                <a16:creationId xmlns:a16="http://schemas.microsoft.com/office/drawing/2014/main" id="{58501C85-A8A4-45C4-BC2C-88E5C75CB218}"/>
              </a:ext>
            </a:extLst>
          </p:cNvPr>
          <p:cNvSpPr>
            <a:spLocks xmlns:a="http://schemas.openxmlformats.org/drawingml/2006/main" noGrp="1"/>
          </p:cNvSpPr>
          <p:nvPr/>
        </p:nvSpPr>
        <p:spPr>
          <a:xfrm xmlns:a="http://schemas.openxmlformats.org/drawingml/2006/main">
            <a:off x="514350" y="187642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F3DC9DC-7FDA-4198-968B-800CD4795BEC}"/>
              </a:ext>
            </a:extLst>
          </p:cNvPr>
          <p:cNvSpPr>
            <a:spLocks xmlns:a="http://schemas.openxmlformats.org/drawingml/2006/main" noGrp="1"/>
          </p:cNvSpPr>
          <p:nvPr/>
        </p:nvSpPr>
        <p:spPr>
          <a:xfrm xmlns:a="http://schemas.openxmlformats.org/drawingml/2006/main">
            <a:off x="628650" y="1581150"/>
            <a:ext cx="10934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Mature, Large TAM with Frequency- and Mix-Driven Growth: The U.S. regional casino resort / casino hotel market is a large, mature leisure category where growth is driven more by visit frequency, wallet share, and property selection than by first-time adoption. Roughly half of U.S. adults already visit casinos, and a reconciled TAM of USD 81.7B in 2026 anchors a sizable opportunity set across commercial and tribal formats.</a:t>
            </a:r>
          </a:p>
        </p:txBody>
      </p:sp>
      <p:sp>
        <p:nvSpPr>
          <p:cNvPr id="10" name="structure:prose-row">
            <a:extLst xmlns:a="http://schemas.openxmlformats.org/drawingml/2006/main">
              <a:ext uri="{FF2B5EF4-FFF2-40B4-BE49-F238E27FC236}">
                <a16:creationId xmlns:a16="http://schemas.microsoft.com/office/drawing/2014/main" id="{647DF1D9-A6C9-4FE2-89F9-F9698DA7A6B4}"/>
              </a:ext>
            </a:extLst>
          </p:cNvPr>
          <p:cNvSpPr>
            <a:spLocks xmlns:a="http://schemas.openxmlformats.org/drawingml/2006/main" noGrp="1"/>
          </p:cNvSpPr>
          <p:nvPr/>
        </p:nvSpPr>
        <p:spPr>
          <a:xfrm xmlns:a="http://schemas.openxmlformats.org/drawingml/2006/main">
            <a:off x="514350" y="1885950"/>
            <a:ext cx="11163300" cy="33337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11" name="structure:row-divider">
            <a:extLst xmlns:a="http://schemas.openxmlformats.org/drawingml/2006/main">
              <a:ext uri="{FF2B5EF4-FFF2-40B4-BE49-F238E27FC236}">
                <a16:creationId xmlns:a16="http://schemas.microsoft.com/office/drawing/2014/main" id="{FC2E7798-1838-4663-90D9-F9C69A824948}"/>
              </a:ext>
            </a:extLst>
          </p:cNvPr>
          <p:cNvSpPr>
            <a:spLocks xmlns:a="http://schemas.openxmlformats.org/drawingml/2006/main" noGrp="1"/>
          </p:cNvSpPr>
          <p:nvPr/>
        </p:nvSpPr>
        <p:spPr>
          <a:xfrm xmlns:a="http://schemas.openxmlformats.org/drawingml/2006/main">
            <a:off x="514350" y="22098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4FF944F-9C2E-4486-A213-FE9C50701B31}"/>
              </a:ext>
            </a:extLst>
          </p:cNvPr>
          <p:cNvSpPr>
            <a:spLocks xmlns:a="http://schemas.openxmlformats.org/drawingml/2006/main" noGrp="1"/>
          </p:cNvSpPr>
          <p:nvPr/>
        </p:nvSpPr>
        <p:spPr>
          <a:xfrm xmlns:a="http://schemas.openxmlformats.org/drawingml/2006/main">
            <a:off x="628650" y="1914525"/>
            <a:ext cx="10934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Experience-Led Integrated Resorts Deepen Monetization: Capital reinvestment in rooms, casino floors, equipment, and IT upgrades, combined with broader integrated resort amenities, drives traffic retention and higher spend per visit. Non-gaming revenue already represents over a quarter of gaming revenue for leading operators, underscoring the value of full-property offerings.</a:t>
            </a:r>
          </a:p>
        </p:txBody>
      </p:sp>
      <p:sp>
        <p:nvSpPr>
          <p:cNvPr id="13" name="structure:prose-row">
            <a:extLst xmlns:a="http://schemas.openxmlformats.org/drawingml/2006/main">
              <a:ext uri="{FF2B5EF4-FFF2-40B4-BE49-F238E27FC236}">
                <a16:creationId xmlns:a16="http://schemas.microsoft.com/office/drawing/2014/main" id="{B448117A-8E42-4339-905E-1954A633B77C}"/>
              </a:ext>
            </a:extLst>
          </p:cNvPr>
          <p:cNvSpPr>
            <a:spLocks xmlns:a="http://schemas.openxmlformats.org/drawingml/2006/main" noGrp="1"/>
          </p:cNvSpPr>
          <p:nvPr/>
        </p:nvSpPr>
        <p:spPr>
          <a:xfrm xmlns:a="http://schemas.openxmlformats.org/drawingml/2006/main">
            <a:off x="514350" y="2219325"/>
            <a:ext cx="11163300" cy="4667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4" name="structure:row-divider">
            <a:extLst xmlns:a="http://schemas.openxmlformats.org/drawingml/2006/main">
              <a:ext uri="{FF2B5EF4-FFF2-40B4-BE49-F238E27FC236}">
                <a16:creationId xmlns:a16="http://schemas.microsoft.com/office/drawing/2014/main" id="{2CFF6ADA-A817-4EAB-996A-DCFEEC99EEBE}"/>
              </a:ext>
            </a:extLst>
          </p:cNvPr>
          <p:cNvSpPr>
            <a:spLocks xmlns:a="http://schemas.openxmlformats.org/drawingml/2006/main" noGrp="1"/>
          </p:cNvSpPr>
          <p:nvPr/>
        </p:nvSpPr>
        <p:spPr>
          <a:xfrm xmlns:a="http://schemas.openxmlformats.org/drawingml/2006/main">
            <a:off x="514350" y="267652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188C2EC-8E63-4545-AFA9-789F63F15CD5}"/>
              </a:ext>
            </a:extLst>
          </p:cNvPr>
          <p:cNvSpPr>
            <a:spLocks xmlns:a="http://schemas.openxmlformats.org/drawingml/2006/main" noGrp="1"/>
          </p:cNvSpPr>
          <p:nvPr/>
        </p:nvSpPr>
        <p:spPr>
          <a:xfrm xmlns:a="http://schemas.openxmlformats.org/drawingml/2006/main">
            <a:off x="628650" y="2247900"/>
            <a:ext cx="10934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Format Evolution and Tribal Partnerships Expand Addressability: Scarce racino licenses and regulatory catalysts such as riverboat-to-land relocations support durable local traffic and enable property upgrades. Rapidly growing third-party tribal management contracts, where tribes outsource development, operations, systems, and compliance to external operators, expand the addressable pool for asset-light operating and management fee income.</a:t>
            </a:r>
          </a:p>
        </p:txBody>
      </p:sp>
      <p:sp>
        <p:nvSpPr>
          <p:cNvPr id="16" name="structure:prose-row">
            <a:extLst xmlns:a="http://schemas.openxmlformats.org/drawingml/2006/main">
              <a:ext uri="{FF2B5EF4-FFF2-40B4-BE49-F238E27FC236}">
                <a16:creationId xmlns:a16="http://schemas.microsoft.com/office/drawing/2014/main" id="{A04F4927-FA5D-474B-AB32-CF3A215E7098}"/>
              </a:ext>
            </a:extLst>
          </p:cNvPr>
          <p:cNvSpPr>
            <a:spLocks xmlns:a="http://schemas.openxmlformats.org/drawingml/2006/main" noGrp="1"/>
          </p:cNvSpPr>
          <p:nvPr/>
        </p:nvSpPr>
        <p:spPr>
          <a:xfrm xmlns:a="http://schemas.openxmlformats.org/drawingml/2006/main">
            <a:off x="514350" y="2686050"/>
            <a:ext cx="11163300" cy="4667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17" name="structure:row-divider">
            <a:extLst xmlns:a="http://schemas.openxmlformats.org/drawingml/2006/main">
              <a:ext uri="{FF2B5EF4-FFF2-40B4-BE49-F238E27FC236}">
                <a16:creationId xmlns:a16="http://schemas.microsoft.com/office/drawing/2014/main" id="{C1386684-71BD-46EB-9C81-FFD1CA1FA0E0}"/>
              </a:ext>
            </a:extLst>
          </p:cNvPr>
          <p:cNvSpPr>
            <a:spLocks xmlns:a="http://schemas.openxmlformats.org/drawingml/2006/main" noGrp="1"/>
          </p:cNvSpPr>
          <p:nvPr/>
        </p:nvSpPr>
        <p:spPr>
          <a:xfrm xmlns:a="http://schemas.openxmlformats.org/drawingml/2006/main">
            <a:off x="514350" y="31432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26D8E49-B204-48FA-899D-8C49C866B562}"/>
              </a:ext>
            </a:extLst>
          </p:cNvPr>
          <p:cNvSpPr>
            <a:spLocks xmlns:a="http://schemas.openxmlformats.org/drawingml/2006/main" noGrp="1"/>
          </p:cNvSpPr>
          <p:nvPr/>
        </p:nvSpPr>
        <p:spPr>
          <a:xfrm xmlns:a="http://schemas.openxmlformats.org/drawingml/2006/main">
            <a:off x="628650" y="2714625"/>
            <a:ext cx="10934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Fragmented Market with High Barriers Favors Capable Consolidators: No single operator controls the market, creating room for share gains and consolidation despite licensing, capital, tribal relationship, and regulatory barriers that protect incumbents. Operators with regulatory access, tribal and compliance expertise, strong local databases and loyalty programs, and disciplined reinvestment into integrated amenities are positioned to capture outsized share of a fragmented USD 81.7B TAM.</a:t>
            </a:r>
          </a:p>
        </p:txBody>
      </p:sp>
      <p:sp>
        <p:nvSpPr>
          <p:cNvPr id="19" name="">
            <a:extLst xmlns:a="http://schemas.openxmlformats.org/drawingml/2006/main">
              <a:ext uri="{FF2B5EF4-FFF2-40B4-BE49-F238E27FC236}">
                <a16:creationId xmlns:a16="http://schemas.microsoft.com/office/drawing/2014/main" id="{B2CFBF88-8277-4BA3-8B70-8353F70200C3}"/>
              </a:ext>
            </a:extLst>
          </p:cNvPr>
          <p:cNvSpPr>
            <a:spLocks xmlns:a="http://schemas.openxmlformats.org/drawingml/2006/main" noGrp="1"/>
          </p:cNvSpPr>
          <p:nvPr/>
        </p:nvSpPr>
        <p:spPr>
          <a:xfrm xmlns:a="http://schemas.openxmlformats.org/drawingml/2006/main">
            <a:off x="514350" y="3228975"/>
            <a:ext cx="11163300" cy="209550"/>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C302C2C-45FC-4B97-B1B4-7CD57279584B}"/>
              </a:ext>
            </a:extLst>
          </p:cNvPr>
          <p:cNvSpPr>
            <a:spLocks xmlns:a="http://schemas.openxmlformats.org/drawingml/2006/main" noGrp="1"/>
          </p:cNvSpPr>
          <p:nvPr/>
        </p:nvSpPr>
        <p:spPr>
          <a:xfrm xmlns:a="http://schemas.openxmlformats.org/drawingml/2006/main">
            <a:off x="628650" y="3257550"/>
            <a:ext cx="109347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1">
                <a:solidFill>
                  <a:srgbClr val="FFFFFF"/>
                </a:solidFill>
                <a:latin typeface="Calibri"/>
                <a:ea typeface="Calibri"/>
                <a:cs typeface="Calibri"/>
              </a:defRPr>
            </a:pPr>
            <a:r>
              <a:rPr sz="900" b="1">
                <a:solidFill>
                  <a:srgbClr val="FFFFFF"/>
                </a:solidFill>
                <a:latin typeface="Calibri"/>
                <a:ea typeface="Calibri"/>
                <a:cs typeface="Calibri"/>
              </a:rPr>
              <a:t>Industry Shifts</a:t>
            </a:r>
          </a:p>
        </p:txBody>
      </p:sp>
      <p:sp>
        <p:nvSpPr>
          <p:cNvPr id="21" name="structure:prose-row">
            <a:extLst xmlns:a="http://schemas.openxmlformats.org/drawingml/2006/main">
              <a:ext uri="{FF2B5EF4-FFF2-40B4-BE49-F238E27FC236}">
                <a16:creationId xmlns:a16="http://schemas.microsoft.com/office/drawing/2014/main" id="{F9BCF6BE-17EE-461D-AD7D-7621A1D8B786}"/>
              </a:ext>
            </a:extLst>
          </p:cNvPr>
          <p:cNvSpPr>
            <a:spLocks xmlns:a="http://schemas.openxmlformats.org/drawingml/2006/main" noGrp="1"/>
          </p:cNvSpPr>
          <p:nvPr/>
        </p:nvSpPr>
        <p:spPr>
          <a:xfrm xmlns:a="http://schemas.openxmlformats.org/drawingml/2006/main">
            <a:off x="514350" y="3438525"/>
            <a:ext cx="11163300" cy="33337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2" name="structure:row-divider">
            <a:extLst xmlns:a="http://schemas.openxmlformats.org/drawingml/2006/main">
              <a:ext uri="{FF2B5EF4-FFF2-40B4-BE49-F238E27FC236}">
                <a16:creationId xmlns:a16="http://schemas.microsoft.com/office/drawing/2014/main" id="{A1CCD38F-B72D-4344-B5F7-57EFE89E485C}"/>
              </a:ext>
            </a:extLst>
          </p:cNvPr>
          <p:cNvSpPr>
            <a:spLocks xmlns:a="http://schemas.openxmlformats.org/drawingml/2006/main" noGrp="1"/>
          </p:cNvSpPr>
          <p:nvPr/>
        </p:nvSpPr>
        <p:spPr>
          <a:xfrm xmlns:a="http://schemas.openxmlformats.org/drawingml/2006/main">
            <a:off x="514350" y="37623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195AB01-CD2C-4EFE-B6CE-2DCF2D527F3B}"/>
              </a:ext>
            </a:extLst>
          </p:cNvPr>
          <p:cNvSpPr>
            <a:spLocks xmlns:a="http://schemas.openxmlformats.org/drawingml/2006/main" noGrp="1"/>
          </p:cNvSpPr>
          <p:nvPr/>
        </p:nvSpPr>
        <p:spPr>
          <a:xfrm xmlns:a="http://schemas.openxmlformats.org/drawingml/2006/main">
            <a:off x="628650" y="3467100"/>
            <a:ext cx="10934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Illinois’ VGT network is projected at c. 49,800–51,500 terminals in FY2025–FY2026, pushing gambling into bars, restaurants, and VFWs and pulling casual slot play away from casinos.[78][79][80] The buyer takeaway is that convenience now beats destination trips for low-stakes play, so casinos must win on experience and hosts, not just access.[78][79][80]</a:t>
            </a:r>
          </a:p>
        </p:txBody>
      </p:sp>
      <p:sp>
        <p:nvSpPr>
          <p:cNvPr id="24" name="structure:prose-row">
            <a:extLst xmlns:a="http://schemas.openxmlformats.org/drawingml/2006/main">
              <a:ext uri="{FF2B5EF4-FFF2-40B4-BE49-F238E27FC236}">
                <a16:creationId xmlns:a16="http://schemas.microsoft.com/office/drawing/2014/main" id="{5E970760-0C1D-44E4-964D-AABF347E687B}"/>
              </a:ext>
            </a:extLst>
          </p:cNvPr>
          <p:cNvSpPr>
            <a:spLocks xmlns:a="http://schemas.openxmlformats.org/drawingml/2006/main" noGrp="1"/>
          </p:cNvSpPr>
          <p:nvPr/>
        </p:nvSpPr>
        <p:spPr>
          <a:xfrm xmlns:a="http://schemas.openxmlformats.org/drawingml/2006/main">
            <a:off x="514350" y="3771900"/>
            <a:ext cx="11163300" cy="2000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25" name="structure:row-divider">
            <a:extLst xmlns:a="http://schemas.openxmlformats.org/drawingml/2006/main">
              <a:ext uri="{FF2B5EF4-FFF2-40B4-BE49-F238E27FC236}">
                <a16:creationId xmlns:a16="http://schemas.microsoft.com/office/drawing/2014/main" id="{66D9CF5D-5A10-4604-B2C0-4ABB3BA3CA16}"/>
              </a:ext>
            </a:extLst>
          </p:cNvPr>
          <p:cNvSpPr>
            <a:spLocks xmlns:a="http://schemas.openxmlformats.org/drawingml/2006/main" noGrp="1"/>
          </p:cNvSpPr>
          <p:nvPr/>
        </p:nvSpPr>
        <p:spPr>
          <a:xfrm xmlns:a="http://schemas.openxmlformats.org/drawingml/2006/main">
            <a:off x="514350" y="39624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10833F4A-F89C-4C86-A15A-2C9E52C11DA5}"/>
              </a:ext>
            </a:extLst>
          </p:cNvPr>
          <p:cNvSpPr>
            <a:spLocks xmlns:a="http://schemas.openxmlformats.org/drawingml/2006/main" noGrp="1"/>
          </p:cNvSpPr>
          <p:nvPr/>
        </p:nvSpPr>
        <p:spPr>
          <a:xfrm xmlns:a="http://schemas.openxmlformats.org/drawingml/2006/main">
            <a:off x="628650" y="3800475"/>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Smaller casinos should expect slot leakage unless they offer a stronger reason to leave the neighborhood.</a:t>
            </a:r>
          </a:p>
        </p:txBody>
      </p:sp>
      <p:sp>
        <p:nvSpPr>
          <p:cNvPr id="27" name="structure:prose-row">
            <a:extLst xmlns:a="http://schemas.openxmlformats.org/drawingml/2006/main">
              <a:ext uri="{FF2B5EF4-FFF2-40B4-BE49-F238E27FC236}">
                <a16:creationId xmlns:a16="http://schemas.microsoft.com/office/drawing/2014/main" id="{8D097150-017E-4008-AE50-91D1E9C3D193}"/>
              </a:ext>
            </a:extLst>
          </p:cNvPr>
          <p:cNvSpPr>
            <a:spLocks xmlns:a="http://schemas.openxmlformats.org/drawingml/2006/main" noGrp="1"/>
          </p:cNvSpPr>
          <p:nvPr/>
        </p:nvSpPr>
        <p:spPr>
          <a:xfrm xmlns:a="http://schemas.openxmlformats.org/drawingml/2006/main">
            <a:off x="514350" y="3971925"/>
            <a:ext cx="11163300" cy="33337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8" name="structure:row-divider">
            <a:extLst xmlns:a="http://schemas.openxmlformats.org/drawingml/2006/main">
              <a:ext uri="{FF2B5EF4-FFF2-40B4-BE49-F238E27FC236}">
                <a16:creationId xmlns:a16="http://schemas.microsoft.com/office/drawing/2014/main" id="{997DC942-5E15-4307-B5B2-41FB734B28C6}"/>
              </a:ext>
            </a:extLst>
          </p:cNvPr>
          <p:cNvSpPr>
            <a:spLocks xmlns:a="http://schemas.openxmlformats.org/drawingml/2006/main" noGrp="1"/>
          </p:cNvSpPr>
          <p:nvPr/>
        </p:nvSpPr>
        <p:spPr>
          <a:xfrm xmlns:a="http://schemas.openxmlformats.org/drawingml/2006/main">
            <a:off x="514350" y="42957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880475B3-7826-4E02-B5B1-4173A8AC86F1}"/>
              </a:ext>
            </a:extLst>
          </p:cNvPr>
          <p:cNvSpPr>
            <a:spLocks xmlns:a="http://schemas.openxmlformats.org/drawingml/2006/main" noGrp="1"/>
          </p:cNvSpPr>
          <p:nvPr/>
        </p:nvSpPr>
        <p:spPr>
          <a:xfrm xmlns:a="http://schemas.openxmlformats.org/drawingml/2006/main">
            <a:off x="628650" y="4000500"/>
            <a:ext cx="10934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Hard Rock Rockford, Wind Creek Chicago Southland, and Hollywood Casino Aurora have refreshed Illinois supply with new or upgraded floors, parking, food, and entertainment.[6][7][8][9] This raises the bar for what guests expect, and older or temporary properties risk looking second-rate unless they match the capex and amenity set.[6][7][8][9]</a:t>
            </a:r>
          </a:p>
        </p:txBody>
      </p:sp>
      <p:sp>
        <p:nvSpPr>
          <p:cNvPr id="30" name="structure:prose-row">
            <a:extLst xmlns:a="http://schemas.openxmlformats.org/drawingml/2006/main">
              <a:ext uri="{FF2B5EF4-FFF2-40B4-BE49-F238E27FC236}">
                <a16:creationId xmlns:a16="http://schemas.microsoft.com/office/drawing/2014/main" id="{01314214-6A90-4F77-81FF-33EE96EEA062}"/>
              </a:ext>
            </a:extLst>
          </p:cNvPr>
          <p:cNvSpPr>
            <a:spLocks xmlns:a="http://schemas.openxmlformats.org/drawingml/2006/main" noGrp="1"/>
          </p:cNvSpPr>
          <p:nvPr/>
        </p:nvSpPr>
        <p:spPr>
          <a:xfrm xmlns:a="http://schemas.openxmlformats.org/drawingml/2006/main">
            <a:off x="514350" y="4305300"/>
            <a:ext cx="11163300" cy="2000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31" name="structure:row-divider">
            <a:extLst xmlns:a="http://schemas.openxmlformats.org/drawingml/2006/main">
              <a:ext uri="{FF2B5EF4-FFF2-40B4-BE49-F238E27FC236}">
                <a16:creationId xmlns:a16="http://schemas.microsoft.com/office/drawing/2014/main" id="{D6E91C91-CE2F-45FC-B548-50C6EC87EC2B}"/>
              </a:ext>
            </a:extLst>
          </p:cNvPr>
          <p:cNvSpPr>
            <a:spLocks xmlns:a="http://schemas.openxmlformats.org/drawingml/2006/main" noGrp="1"/>
          </p:cNvSpPr>
          <p:nvPr/>
        </p:nvSpPr>
        <p:spPr>
          <a:xfrm xmlns:a="http://schemas.openxmlformats.org/drawingml/2006/main">
            <a:off x="514350" y="44958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D390F30C-65EE-45E9-8590-E7B1FC0D5B90}"/>
              </a:ext>
            </a:extLst>
          </p:cNvPr>
          <p:cNvSpPr>
            <a:spLocks xmlns:a="http://schemas.openxmlformats.org/drawingml/2006/main" noGrp="1"/>
          </p:cNvSpPr>
          <p:nvPr/>
        </p:nvSpPr>
        <p:spPr>
          <a:xfrm xmlns:a="http://schemas.openxmlformats.org/drawingml/2006/main">
            <a:off x="628650" y="4333875"/>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Temporary casinos face pressure to prove they can catch up before newer rivals lock in repeat visits.</a:t>
            </a:r>
          </a:p>
        </p:txBody>
      </p:sp>
      <p:sp>
        <p:nvSpPr>
          <p:cNvPr id="33" name="structure:prose-row">
            <a:extLst xmlns:a="http://schemas.openxmlformats.org/drawingml/2006/main">
              <a:ext uri="{FF2B5EF4-FFF2-40B4-BE49-F238E27FC236}">
                <a16:creationId xmlns:a16="http://schemas.microsoft.com/office/drawing/2014/main" id="{02B5FFC5-EDA2-4274-9FDB-2FAAC79AB8E3}"/>
              </a:ext>
            </a:extLst>
          </p:cNvPr>
          <p:cNvSpPr>
            <a:spLocks xmlns:a="http://schemas.openxmlformats.org/drawingml/2006/main" noGrp="1"/>
          </p:cNvSpPr>
          <p:nvPr/>
        </p:nvSpPr>
        <p:spPr>
          <a:xfrm xmlns:a="http://schemas.openxmlformats.org/drawingml/2006/main">
            <a:off x="514350" y="4505325"/>
            <a:ext cx="11163300" cy="33337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4" name="structure:row-divider">
            <a:extLst xmlns:a="http://schemas.openxmlformats.org/drawingml/2006/main">
              <a:ext uri="{FF2B5EF4-FFF2-40B4-BE49-F238E27FC236}">
                <a16:creationId xmlns:a16="http://schemas.microsoft.com/office/drawing/2014/main" id="{6DBDE351-CF63-42F0-9D5E-CF44468FEC94}"/>
              </a:ext>
            </a:extLst>
          </p:cNvPr>
          <p:cNvSpPr>
            <a:spLocks xmlns:a="http://schemas.openxmlformats.org/drawingml/2006/main" noGrp="1"/>
          </p:cNvSpPr>
          <p:nvPr/>
        </p:nvSpPr>
        <p:spPr>
          <a:xfrm xmlns:a="http://schemas.openxmlformats.org/drawingml/2006/main">
            <a:off x="514350" y="48291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42BB5E7A-C5E7-42AE-9306-C91EB22FD69C}"/>
              </a:ext>
            </a:extLst>
          </p:cNvPr>
          <p:cNvSpPr>
            <a:spLocks xmlns:a="http://schemas.openxmlformats.org/drawingml/2006/main" noGrp="1"/>
          </p:cNvSpPr>
          <p:nvPr/>
        </p:nvSpPr>
        <p:spPr>
          <a:xfrm xmlns:a="http://schemas.openxmlformats.org/drawingml/2006/main">
            <a:off x="628650" y="4533900"/>
            <a:ext cx="10934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Bally’s permanent Chicago resort has slipped to a likely 2027 opening, while the temporary Medinah Temple site keeps operating.[81][82][10][83] That creates a short window for nearby casinos to build loyalty and premium relationships now, but they may face stronger competition once the full resort opens.[81][82][10][83]</a:t>
            </a:r>
          </a:p>
        </p:txBody>
      </p:sp>
      <p:sp>
        <p:nvSpPr>
          <p:cNvPr id="36" name="structure:prose-row">
            <a:extLst xmlns:a="http://schemas.openxmlformats.org/drawingml/2006/main">
              <a:ext uri="{FF2B5EF4-FFF2-40B4-BE49-F238E27FC236}">
                <a16:creationId xmlns:a16="http://schemas.microsoft.com/office/drawing/2014/main" id="{B1112B7C-BBA6-4813-9EF1-8A09FFE667B2}"/>
              </a:ext>
            </a:extLst>
          </p:cNvPr>
          <p:cNvSpPr>
            <a:spLocks xmlns:a="http://schemas.openxmlformats.org/drawingml/2006/main" noGrp="1"/>
          </p:cNvSpPr>
          <p:nvPr/>
        </p:nvSpPr>
        <p:spPr>
          <a:xfrm xmlns:a="http://schemas.openxmlformats.org/drawingml/2006/main">
            <a:off x="514350" y="4838700"/>
            <a:ext cx="11163300" cy="2000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37" name="structure:row-divider">
            <a:extLst xmlns:a="http://schemas.openxmlformats.org/drawingml/2006/main">
              <a:ext uri="{FF2B5EF4-FFF2-40B4-BE49-F238E27FC236}">
                <a16:creationId xmlns:a16="http://schemas.microsoft.com/office/drawing/2014/main" id="{36456B12-7ECC-47C5-8B9E-35C3A07ECD9F}"/>
              </a:ext>
            </a:extLst>
          </p:cNvPr>
          <p:cNvSpPr>
            <a:spLocks xmlns:a="http://schemas.openxmlformats.org/drawingml/2006/main" noGrp="1"/>
          </p:cNvSpPr>
          <p:nvPr/>
        </p:nvSpPr>
        <p:spPr>
          <a:xfrm xmlns:a="http://schemas.openxmlformats.org/drawingml/2006/main">
            <a:off x="514350" y="50292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4D45B7B7-B43A-41B3-A080-9BD9776E3A14}"/>
              </a:ext>
            </a:extLst>
          </p:cNvPr>
          <p:cNvSpPr>
            <a:spLocks xmlns:a="http://schemas.openxmlformats.org/drawingml/2006/main" noGrp="1"/>
          </p:cNvSpPr>
          <p:nvPr/>
        </p:nvSpPr>
        <p:spPr>
          <a:xfrm xmlns:a="http://schemas.openxmlformats.org/drawingml/2006/main">
            <a:off x="628650" y="4867275"/>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American Place can gain share now, but that gain may fade if Bally’s opens with a complete destination offer.</a:t>
            </a:r>
          </a:p>
        </p:txBody>
      </p:sp>
      <p:sp>
        <p:nvSpPr>
          <p:cNvPr id="39" name="structure:prose-row">
            <a:extLst xmlns:a="http://schemas.openxmlformats.org/drawingml/2006/main">
              <a:ext uri="{FF2B5EF4-FFF2-40B4-BE49-F238E27FC236}">
                <a16:creationId xmlns:a16="http://schemas.microsoft.com/office/drawing/2014/main" id="{C63D75C1-00D8-4A82-AA05-A4C1166E1FEA}"/>
              </a:ext>
            </a:extLst>
          </p:cNvPr>
          <p:cNvSpPr>
            <a:spLocks xmlns:a="http://schemas.openxmlformats.org/drawingml/2006/main" noGrp="1"/>
          </p:cNvSpPr>
          <p:nvPr/>
        </p:nvSpPr>
        <p:spPr>
          <a:xfrm xmlns:a="http://schemas.openxmlformats.org/drawingml/2006/main">
            <a:off x="514350" y="5038725"/>
            <a:ext cx="11163300" cy="33337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0" name="structure:row-divider">
            <a:extLst xmlns:a="http://schemas.openxmlformats.org/drawingml/2006/main">
              <a:ext uri="{FF2B5EF4-FFF2-40B4-BE49-F238E27FC236}">
                <a16:creationId xmlns:a16="http://schemas.microsoft.com/office/drawing/2014/main" id="{1D4004E5-B55B-42BE-A8C9-034F5462A2D9}"/>
              </a:ext>
            </a:extLst>
          </p:cNvPr>
          <p:cNvSpPr>
            <a:spLocks xmlns:a="http://schemas.openxmlformats.org/drawingml/2006/main" noGrp="1"/>
          </p:cNvSpPr>
          <p:nvPr/>
        </p:nvSpPr>
        <p:spPr>
          <a:xfrm xmlns:a="http://schemas.openxmlformats.org/drawingml/2006/main">
            <a:off x="514350" y="53625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D07D1493-1AE0-41DB-8D57-65B9C9FF96B3}"/>
              </a:ext>
            </a:extLst>
          </p:cNvPr>
          <p:cNvSpPr>
            <a:spLocks xmlns:a="http://schemas.openxmlformats.org/drawingml/2006/main" noGrp="1"/>
          </p:cNvSpPr>
          <p:nvPr/>
        </p:nvSpPr>
        <p:spPr>
          <a:xfrm xmlns:a="http://schemas.openxmlformats.org/drawingml/2006/main">
            <a:off x="628650" y="5067300"/>
            <a:ext cx="10934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Illinois’ mid-2025 advertising rules tightened casino, sports betting, and VGT promotion.[27] Paid media should become less efficient, so operators with strong first-party data, CRM, and host-led outreach will be better able to keep visits coming without relying on broad promotions.[27]</a:t>
            </a:r>
          </a:p>
        </p:txBody>
      </p:sp>
      <p:sp>
        <p:nvSpPr>
          <p:cNvPr id="42" name="structure:prose-row">
            <a:extLst xmlns:a="http://schemas.openxmlformats.org/drawingml/2006/main">
              <a:ext uri="{FF2B5EF4-FFF2-40B4-BE49-F238E27FC236}">
                <a16:creationId xmlns:a16="http://schemas.microsoft.com/office/drawing/2014/main" id="{5706EABD-4582-4ACA-A5BE-2A155A9D9CCE}"/>
              </a:ext>
            </a:extLst>
          </p:cNvPr>
          <p:cNvSpPr>
            <a:spLocks xmlns:a="http://schemas.openxmlformats.org/drawingml/2006/main" noGrp="1"/>
          </p:cNvSpPr>
          <p:nvPr/>
        </p:nvSpPr>
        <p:spPr>
          <a:xfrm xmlns:a="http://schemas.openxmlformats.org/drawingml/2006/main">
            <a:off x="514350" y="5372100"/>
            <a:ext cx="11163300" cy="2000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43" name="structure:row-divider">
            <a:extLst xmlns:a="http://schemas.openxmlformats.org/drawingml/2006/main">
              <a:ext uri="{FF2B5EF4-FFF2-40B4-BE49-F238E27FC236}">
                <a16:creationId xmlns:a16="http://schemas.microsoft.com/office/drawing/2014/main" id="{77BF08BE-FF81-4F2A-B025-9C1E7047A9B1}"/>
              </a:ext>
            </a:extLst>
          </p:cNvPr>
          <p:cNvSpPr>
            <a:spLocks xmlns:a="http://schemas.openxmlformats.org/drawingml/2006/main" noGrp="1"/>
          </p:cNvSpPr>
          <p:nvPr/>
        </p:nvSpPr>
        <p:spPr>
          <a:xfrm xmlns:a="http://schemas.openxmlformats.org/drawingml/2006/main">
            <a:off x="514350" y="55626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42CD50F0-3842-4A49-9CCA-DBCFA5BDFB75}"/>
              </a:ext>
            </a:extLst>
          </p:cNvPr>
          <p:cNvSpPr>
            <a:spLocks xmlns:a="http://schemas.openxmlformats.org/drawingml/2006/main" noGrp="1"/>
          </p:cNvSpPr>
          <p:nvPr/>
        </p:nvSpPr>
        <p:spPr>
          <a:xfrm xmlns:a="http://schemas.openxmlformats.org/drawingml/2006/main">
            <a:off x="628650" y="5400675"/>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Smaller operators need a real customer database, or they will spend more to get the same traffic.</a:t>
            </a:r>
          </a:p>
        </p:txBody>
      </p:sp>
      <p:sp>
        <p:nvSpPr>
          <p:cNvPr id="45" name="structure:prose-row">
            <a:extLst xmlns:a="http://schemas.openxmlformats.org/drawingml/2006/main">
              <a:ext uri="{FF2B5EF4-FFF2-40B4-BE49-F238E27FC236}">
                <a16:creationId xmlns:a16="http://schemas.microsoft.com/office/drawing/2014/main" id="{E7511EA8-14C2-4447-84AF-E861449B09A4}"/>
              </a:ext>
            </a:extLst>
          </p:cNvPr>
          <p:cNvSpPr>
            <a:spLocks xmlns:a="http://schemas.openxmlformats.org/drawingml/2006/main" noGrp="1"/>
          </p:cNvSpPr>
          <p:nvPr/>
        </p:nvSpPr>
        <p:spPr>
          <a:xfrm xmlns:a="http://schemas.openxmlformats.org/drawingml/2006/main">
            <a:off x="514350" y="5572125"/>
            <a:ext cx="11163300" cy="33337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6" name="structure:row-divider">
            <a:extLst xmlns:a="http://schemas.openxmlformats.org/drawingml/2006/main">
              <a:ext uri="{FF2B5EF4-FFF2-40B4-BE49-F238E27FC236}">
                <a16:creationId xmlns:a16="http://schemas.microsoft.com/office/drawing/2014/main" id="{6381BD6F-7ACE-4630-A3B4-EE99E13E174C}"/>
              </a:ext>
            </a:extLst>
          </p:cNvPr>
          <p:cNvSpPr>
            <a:spLocks xmlns:a="http://schemas.openxmlformats.org/drawingml/2006/main" noGrp="1"/>
          </p:cNvSpPr>
          <p:nvPr/>
        </p:nvSpPr>
        <p:spPr>
          <a:xfrm xmlns:a="http://schemas.openxmlformats.org/drawingml/2006/main">
            <a:off x="514350" y="58959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C156B796-77F6-4D11-967B-625196C467BC}"/>
              </a:ext>
            </a:extLst>
          </p:cNvPr>
          <p:cNvSpPr>
            <a:spLocks xmlns:a="http://schemas.openxmlformats.org/drawingml/2006/main" noGrp="1"/>
          </p:cNvSpPr>
          <p:nvPr/>
        </p:nvSpPr>
        <p:spPr>
          <a:xfrm xmlns:a="http://schemas.openxmlformats.org/drawingml/2006/main">
            <a:off x="628650" y="5600700"/>
            <a:ext cx="10934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Illinois is formalizing electronic credits and virtual wagering account features, making cashless play closer to the operating norm.[84] That lowers cage friction, speeds comps, and gives operators better data for reinvestment and anti-money-laundering control.[84] American Place still appears more dependent on standard cage and ATM access, which leaves it behind peers with integrated wallets.[6][84]</a:t>
            </a:r>
          </a:p>
        </p:txBody>
      </p:sp>
      <p:sp>
        <p:nvSpPr>
          <p:cNvPr id="48" name="structure:prose-row">
            <a:extLst xmlns:a="http://schemas.openxmlformats.org/drawingml/2006/main">
              <a:ext uri="{FF2B5EF4-FFF2-40B4-BE49-F238E27FC236}">
                <a16:creationId xmlns:a16="http://schemas.microsoft.com/office/drawing/2014/main" id="{CF5EC10B-6256-48DE-90D6-10E3BF215280}"/>
              </a:ext>
            </a:extLst>
          </p:cNvPr>
          <p:cNvSpPr>
            <a:spLocks xmlns:a="http://schemas.openxmlformats.org/drawingml/2006/main" noGrp="1"/>
          </p:cNvSpPr>
          <p:nvPr/>
        </p:nvSpPr>
        <p:spPr>
          <a:xfrm xmlns:a="http://schemas.openxmlformats.org/drawingml/2006/main">
            <a:off x="514350" y="5905500"/>
            <a:ext cx="11163300" cy="2000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49" name="structure:row-divider">
            <a:extLst xmlns:a="http://schemas.openxmlformats.org/drawingml/2006/main">
              <a:ext uri="{FF2B5EF4-FFF2-40B4-BE49-F238E27FC236}">
                <a16:creationId xmlns:a16="http://schemas.microsoft.com/office/drawing/2014/main" id="{C35F474E-E74D-4D4D-B951-0B0711C69622}"/>
              </a:ext>
            </a:extLst>
          </p:cNvPr>
          <p:cNvSpPr>
            <a:spLocks xmlns:a="http://schemas.openxmlformats.org/drawingml/2006/main" noGrp="1"/>
          </p:cNvSpPr>
          <p:nvPr/>
        </p:nvSpPr>
        <p:spPr>
          <a:xfrm xmlns:a="http://schemas.openxmlformats.org/drawingml/2006/main">
            <a:off x="514350" y="60960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50" name="">
            <a:extLst xmlns:a="http://schemas.openxmlformats.org/drawingml/2006/main">
              <a:ext uri="{FF2B5EF4-FFF2-40B4-BE49-F238E27FC236}">
                <a16:creationId xmlns:a16="http://schemas.microsoft.com/office/drawing/2014/main" id="{9FB926DB-E33E-4B1D-8B52-9EC19D13D4B2}"/>
              </a:ext>
            </a:extLst>
          </p:cNvPr>
          <p:cNvSpPr>
            <a:spLocks xmlns:a="http://schemas.openxmlformats.org/drawingml/2006/main" noGrp="1"/>
          </p:cNvSpPr>
          <p:nvPr/>
        </p:nvSpPr>
        <p:spPr>
          <a:xfrm xmlns:a="http://schemas.openxmlformats.org/drawingml/2006/main">
            <a:off x="628650" y="5934075"/>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Cashless tools are becoming table stakes, and laggards may lose both convenience and personalization.</a:t>
            </a:r>
          </a:p>
        </p:txBody>
      </p:sp>
      <p:sp>
        <p:nvSpPr>
          <p:cNvPr id="51" name="">
            <a:extLst xmlns:a="http://schemas.openxmlformats.org/drawingml/2006/main">
              <a:ext uri="{FF2B5EF4-FFF2-40B4-BE49-F238E27FC236}">
                <a16:creationId xmlns:a16="http://schemas.microsoft.com/office/drawing/2014/main" id="{0640EDB4-7126-4BC2-ACF7-98E0B77C39BB}"/>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11</a:t>
            </a:r>
          </a:p>
        </p:txBody>
      </p:sp>
    </p:spTree>
    <p:extLst>
      <p:ext uri="{BB962C8B-B14F-4D97-AF65-F5344CB8AC3E}">
        <p14:creationId xmlns:p14="http://schemas.microsoft.com/office/powerpoint/2010/main" val="200314244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6D7236F-C025-434A-9538-DF70AF47A53B}"/>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Demand Factors</a:t>
            </a:r>
          </a:p>
        </p:txBody>
      </p:sp>
      <p:sp>
        <p:nvSpPr>
          <p:cNvPr id="2" name="structure:card">
            <a:extLst xmlns:a="http://schemas.openxmlformats.org/drawingml/2006/main">
              <a:ext uri="{FF2B5EF4-FFF2-40B4-BE49-F238E27FC236}">
                <a16:creationId xmlns:a16="http://schemas.microsoft.com/office/drawing/2014/main" id="{D730E6F9-96EB-46AC-8DAE-1845093B779A}"/>
              </a:ext>
            </a:extLst>
          </p:cNvPr>
          <p:cNvSpPr>
            <a:spLocks xmlns:a="http://schemas.openxmlformats.org/drawingml/2006/main" noGrp="1"/>
          </p:cNvSpPr>
          <p:nvPr/>
        </p:nvSpPr>
        <p:spPr>
          <a:xfrm xmlns:a="http://schemas.openxmlformats.org/drawingml/2006/main">
            <a:off x="514350" y="1066800"/>
            <a:ext cx="550545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3" name="">
            <a:extLst xmlns:a="http://schemas.openxmlformats.org/drawingml/2006/main">
              <a:ext uri="{FF2B5EF4-FFF2-40B4-BE49-F238E27FC236}">
                <a16:creationId xmlns:a16="http://schemas.microsoft.com/office/drawing/2014/main" id="{A647F359-D15D-464F-9443-D2620DF9C4CE}"/>
              </a:ext>
            </a:extLst>
          </p:cNvPr>
          <p:cNvSpPr>
            <a:spLocks xmlns:a="http://schemas.openxmlformats.org/drawingml/2006/main" noGrp="1"/>
          </p:cNvSpPr>
          <p:nvPr/>
        </p:nvSpPr>
        <p:spPr>
          <a:xfrm xmlns:a="http://schemas.openxmlformats.org/drawingml/2006/main">
            <a:off x="628650" y="1162050"/>
            <a:ext cx="5276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1. Slots still drive spend</a:t>
            </a:r>
          </a:p>
        </p:txBody>
      </p:sp>
      <p:sp>
        <p:nvSpPr>
          <p:cNvPr id="4" name="">
            <a:extLst xmlns:a="http://schemas.openxmlformats.org/drawingml/2006/main">
              <a:ext uri="{FF2B5EF4-FFF2-40B4-BE49-F238E27FC236}">
                <a16:creationId xmlns:a16="http://schemas.microsoft.com/office/drawing/2014/main" id="{C4359BF8-24FA-472F-8235-B8E595103B93}"/>
              </a:ext>
            </a:extLst>
          </p:cNvPr>
          <p:cNvSpPr>
            <a:spLocks xmlns:a="http://schemas.openxmlformats.org/drawingml/2006/main" noGrp="1"/>
          </p:cNvSpPr>
          <p:nvPr/>
        </p:nvSpPr>
        <p:spPr>
          <a:xfrm xmlns:a="http://schemas.openxmlformats.org/drawingml/2006/main">
            <a:off x="628650" y="1390650"/>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High · Durable · Visible</a:t>
            </a:r>
          </a:p>
        </p:txBody>
      </p:sp>
      <p:sp>
        <p:nvSpPr>
          <p:cNvPr id="5" name="">
            <a:extLst xmlns:a="http://schemas.openxmlformats.org/drawingml/2006/main">
              <a:ext uri="{FF2B5EF4-FFF2-40B4-BE49-F238E27FC236}">
                <a16:creationId xmlns:a16="http://schemas.microsoft.com/office/drawing/2014/main" id="{E847423D-969E-4859-B6F8-4092A07F4AAA}"/>
              </a:ext>
            </a:extLst>
          </p:cNvPr>
          <p:cNvSpPr>
            <a:spLocks xmlns:a="http://schemas.openxmlformats.org/drawingml/2006/main" noGrp="1"/>
          </p:cNvSpPr>
          <p:nvPr/>
        </p:nvSpPr>
        <p:spPr>
          <a:xfrm xmlns:a="http://schemas.openxmlformats.org/drawingml/2006/main">
            <a:off x="628650" y="1571625"/>
            <a:ext cx="5276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Regional gaming demand still favors slots: in Q2 2026, U.S. slot machines generated $9.77B versus $2.60B from table games, and in June 2026 slot revenue rose 1.9% while table-game revenue fell 1.2% [2]. American Place is built for that mix, with about 940 slots versus 48 table games [88].</a:t>
            </a:r>
          </a:p>
        </p:txBody>
      </p:sp>
      <p:sp>
        <p:nvSpPr>
          <p:cNvPr id="6" name="">
            <a:extLst xmlns:a="http://schemas.openxmlformats.org/drawingml/2006/main">
              <a:ext uri="{FF2B5EF4-FFF2-40B4-BE49-F238E27FC236}">
                <a16:creationId xmlns:a16="http://schemas.microsoft.com/office/drawing/2014/main" id="{F8682DF0-88BF-4226-9A76-CB6BE68AAD28}"/>
              </a:ext>
            </a:extLst>
          </p:cNvPr>
          <p:cNvSpPr>
            <a:spLocks xmlns:a="http://schemas.openxmlformats.org/drawingml/2006/main" noGrp="1"/>
          </p:cNvSpPr>
          <p:nvPr/>
        </p:nvSpPr>
        <p:spPr>
          <a:xfrm xmlns:a="http://schemas.openxmlformats.org/drawingml/2006/main">
            <a:off x="628650" y="2219325"/>
            <a:ext cx="5276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Alignment: American Place’s floor is slot-heavy, so it is aimed at the biggest buyer wallet pool in local gaming.</a:t>
            </a:r>
          </a:p>
        </p:txBody>
      </p:sp>
      <p:sp>
        <p:nvSpPr>
          <p:cNvPr id="7" name="structure:card">
            <a:extLst xmlns:a="http://schemas.openxmlformats.org/drawingml/2006/main">
              <a:ext uri="{FF2B5EF4-FFF2-40B4-BE49-F238E27FC236}">
                <a16:creationId xmlns:a16="http://schemas.microsoft.com/office/drawing/2014/main" id="{776B4792-64AD-4896-8B0F-54CB01FC0793}"/>
              </a:ext>
            </a:extLst>
          </p:cNvPr>
          <p:cNvSpPr>
            <a:spLocks xmlns:a="http://schemas.openxmlformats.org/drawingml/2006/main" noGrp="1"/>
          </p:cNvSpPr>
          <p:nvPr/>
        </p:nvSpPr>
        <p:spPr>
          <a:xfrm xmlns:a="http://schemas.openxmlformats.org/drawingml/2006/main">
            <a:off x="6172200" y="1066800"/>
            <a:ext cx="550545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8" name="">
            <a:extLst xmlns:a="http://schemas.openxmlformats.org/drawingml/2006/main">
              <a:ext uri="{FF2B5EF4-FFF2-40B4-BE49-F238E27FC236}">
                <a16:creationId xmlns:a16="http://schemas.microsoft.com/office/drawing/2014/main" id="{17E4BF3F-0D3C-4E9C-8EEE-55EC4BE95A33}"/>
              </a:ext>
            </a:extLst>
          </p:cNvPr>
          <p:cNvSpPr>
            <a:spLocks xmlns:a="http://schemas.openxmlformats.org/drawingml/2006/main" noGrp="1"/>
          </p:cNvSpPr>
          <p:nvPr/>
        </p:nvSpPr>
        <p:spPr>
          <a:xfrm xmlns:a="http://schemas.openxmlformats.org/drawingml/2006/main">
            <a:off x="6286500" y="1162050"/>
            <a:ext cx="5276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2. More people visit casinos</a:t>
            </a:r>
          </a:p>
        </p:txBody>
      </p:sp>
      <p:sp>
        <p:nvSpPr>
          <p:cNvPr id="9" name="">
            <a:extLst xmlns:a="http://schemas.openxmlformats.org/drawingml/2006/main">
              <a:ext uri="{FF2B5EF4-FFF2-40B4-BE49-F238E27FC236}">
                <a16:creationId xmlns:a16="http://schemas.microsoft.com/office/drawing/2014/main" id="{0E635B17-7BD0-415C-A271-76C0D302F7EE}"/>
              </a:ext>
            </a:extLst>
          </p:cNvPr>
          <p:cNvSpPr>
            <a:spLocks xmlns:a="http://schemas.openxmlformats.org/drawingml/2006/main" noGrp="1"/>
          </p:cNvSpPr>
          <p:nvPr/>
        </p:nvSpPr>
        <p:spPr>
          <a:xfrm xmlns:a="http://schemas.openxmlformats.org/drawingml/2006/main">
            <a:off x="6286500" y="1390650"/>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Medium-high · Durable · Visible</a:t>
            </a:r>
          </a:p>
        </p:txBody>
      </p:sp>
      <p:sp>
        <p:nvSpPr>
          <p:cNvPr id="10" name="">
            <a:extLst xmlns:a="http://schemas.openxmlformats.org/drawingml/2006/main">
              <a:ext uri="{FF2B5EF4-FFF2-40B4-BE49-F238E27FC236}">
                <a16:creationId xmlns:a16="http://schemas.microsoft.com/office/drawing/2014/main" id="{F1D209FF-85E3-49AF-BDD5-CC31782F1CB6}"/>
              </a:ext>
            </a:extLst>
          </p:cNvPr>
          <p:cNvSpPr>
            <a:spLocks xmlns:a="http://schemas.openxmlformats.org/drawingml/2006/main" noGrp="1"/>
          </p:cNvSpPr>
          <p:nvPr/>
        </p:nvSpPr>
        <p:spPr>
          <a:xfrm xmlns:a="http://schemas.openxmlformats.org/drawingml/2006/main">
            <a:off x="6286500" y="1571625"/>
            <a:ext cx="5276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Casino visitation is widening: in 2025, 134M U.S. adults, or 53% of the population, visited a casino in the prior 12 months, and the average age of past-year visitors fell to 42.4 [3]. That supports a larger pool of entertainment-led guests, not just older gambling-only players [3].</a:t>
            </a:r>
          </a:p>
        </p:txBody>
      </p:sp>
      <p:sp>
        <p:nvSpPr>
          <p:cNvPr id="11" name="">
            <a:extLst xmlns:a="http://schemas.openxmlformats.org/drawingml/2006/main">
              <a:ext uri="{FF2B5EF4-FFF2-40B4-BE49-F238E27FC236}">
                <a16:creationId xmlns:a16="http://schemas.microsoft.com/office/drawing/2014/main" id="{DE7C5BE2-0ABD-485E-A81B-01C370A862A1}"/>
              </a:ext>
            </a:extLst>
          </p:cNvPr>
          <p:cNvSpPr>
            <a:spLocks xmlns:a="http://schemas.openxmlformats.org/drawingml/2006/main" noGrp="1"/>
          </p:cNvSpPr>
          <p:nvPr/>
        </p:nvSpPr>
        <p:spPr>
          <a:xfrm xmlns:a="http://schemas.openxmlformats.org/drawingml/2006/main">
            <a:off x="6286500" y="2076450"/>
            <a:ext cx="5276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Alignment: American Place can benefit through gaming, poker, dining, bar, and sportsbook offerings [88].</a:t>
            </a:r>
          </a:p>
        </p:txBody>
      </p:sp>
      <p:sp>
        <p:nvSpPr>
          <p:cNvPr id="12" name="structure:card">
            <a:extLst xmlns:a="http://schemas.openxmlformats.org/drawingml/2006/main">
              <a:ext uri="{FF2B5EF4-FFF2-40B4-BE49-F238E27FC236}">
                <a16:creationId xmlns:a16="http://schemas.microsoft.com/office/drawing/2014/main" id="{76DE716B-9AC9-47E2-834B-B80530A2F775}"/>
              </a:ext>
            </a:extLst>
          </p:cNvPr>
          <p:cNvSpPr>
            <a:spLocks xmlns:a="http://schemas.openxmlformats.org/drawingml/2006/main" noGrp="1"/>
          </p:cNvSpPr>
          <p:nvPr/>
        </p:nvSpPr>
        <p:spPr>
          <a:xfrm xmlns:a="http://schemas.openxmlformats.org/drawingml/2006/main">
            <a:off x="514350" y="2924175"/>
            <a:ext cx="550545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13" name="">
            <a:extLst xmlns:a="http://schemas.openxmlformats.org/drawingml/2006/main">
              <a:ext uri="{FF2B5EF4-FFF2-40B4-BE49-F238E27FC236}">
                <a16:creationId xmlns:a16="http://schemas.microsoft.com/office/drawing/2014/main" id="{184A6B80-BD04-4877-8B7C-1E70E330C760}"/>
              </a:ext>
            </a:extLst>
          </p:cNvPr>
          <p:cNvSpPr>
            <a:spLocks xmlns:a="http://schemas.openxmlformats.org/drawingml/2006/main" noGrp="1"/>
          </p:cNvSpPr>
          <p:nvPr/>
        </p:nvSpPr>
        <p:spPr>
          <a:xfrm xmlns:a="http://schemas.openxmlformats.org/drawingml/2006/main">
            <a:off x="628650" y="3019425"/>
            <a:ext cx="5276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3. Regulated wagering gains share</a:t>
            </a:r>
          </a:p>
        </p:txBody>
      </p:sp>
      <p:sp>
        <p:nvSpPr>
          <p:cNvPr id="14" name="">
            <a:extLst xmlns:a="http://schemas.openxmlformats.org/drawingml/2006/main">
              <a:ext uri="{FF2B5EF4-FFF2-40B4-BE49-F238E27FC236}">
                <a16:creationId xmlns:a16="http://schemas.microsoft.com/office/drawing/2014/main" id="{EA0EA859-B5D6-4E56-A47A-F96E32591F3B}"/>
              </a:ext>
            </a:extLst>
          </p:cNvPr>
          <p:cNvSpPr>
            <a:spLocks xmlns:a="http://schemas.openxmlformats.org/drawingml/2006/main" noGrp="1"/>
          </p:cNvSpPr>
          <p:nvPr/>
        </p:nvSpPr>
        <p:spPr>
          <a:xfrm xmlns:a="http://schemas.openxmlformats.org/drawingml/2006/main">
            <a:off x="628650" y="3248025"/>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Medium-high · Durable · Visible</a:t>
            </a:r>
          </a:p>
        </p:txBody>
      </p:sp>
      <p:sp>
        <p:nvSpPr>
          <p:cNvPr id="15" name="">
            <a:extLst xmlns:a="http://schemas.openxmlformats.org/drawingml/2006/main">
              <a:ext uri="{FF2B5EF4-FFF2-40B4-BE49-F238E27FC236}">
                <a16:creationId xmlns:a16="http://schemas.microsoft.com/office/drawing/2014/main" id="{144B4AA2-C9AC-45E8-AF6D-5027F1966964}"/>
              </a:ext>
            </a:extLst>
          </p:cNvPr>
          <p:cNvSpPr>
            <a:spLocks xmlns:a="http://schemas.openxmlformats.org/drawingml/2006/main" noGrp="1"/>
          </p:cNvSpPr>
          <p:nvPr/>
        </p:nvSpPr>
        <p:spPr>
          <a:xfrm xmlns:a="http://schemas.openxmlformats.org/drawingml/2006/main">
            <a:off x="628650" y="3429000"/>
            <a:ext cx="5276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Omnichannel betting is taking a bigger share of wallet: commercial sports betting revenue rose 22.6% to $16.89B in 2025, U.S. iGaming revenue climbed 27.6% to $10.73B [1], and Q2 2026 iGaming revenue increased 16.5% to $3.03B [2].</a:t>
            </a:r>
          </a:p>
        </p:txBody>
      </p:sp>
      <p:sp>
        <p:nvSpPr>
          <p:cNvPr id="16" name="">
            <a:extLst xmlns:a="http://schemas.openxmlformats.org/drawingml/2006/main">
              <a:ext uri="{FF2B5EF4-FFF2-40B4-BE49-F238E27FC236}">
                <a16:creationId xmlns:a16="http://schemas.microsoft.com/office/drawing/2014/main" id="{8194831B-AD02-4EA1-B8A8-CA1509C18820}"/>
              </a:ext>
            </a:extLst>
          </p:cNvPr>
          <p:cNvSpPr>
            <a:spLocks xmlns:a="http://schemas.openxmlformats.org/drawingml/2006/main" noGrp="1"/>
          </p:cNvSpPr>
          <p:nvPr/>
        </p:nvSpPr>
        <p:spPr>
          <a:xfrm xmlns:a="http://schemas.openxmlformats.org/drawingml/2006/main">
            <a:off x="628650" y="3933825"/>
            <a:ext cx="5276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Alignment: American Place offers retail and mobile sports wagering through Circa under Illinois licensing [5].</a:t>
            </a:r>
          </a:p>
        </p:txBody>
      </p:sp>
      <p:sp>
        <p:nvSpPr>
          <p:cNvPr id="17" name="structure:card">
            <a:extLst xmlns:a="http://schemas.openxmlformats.org/drawingml/2006/main">
              <a:ext uri="{FF2B5EF4-FFF2-40B4-BE49-F238E27FC236}">
                <a16:creationId xmlns:a16="http://schemas.microsoft.com/office/drawing/2014/main" id="{B084A056-E5DE-46FA-B707-E9092E791CB2}"/>
              </a:ext>
            </a:extLst>
          </p:cNvPr>
          <p:cNvSpPr>
            <a:spLocks xmlns:a="http://schemas.openxmlformats.org/drawingml/2006/main" noGrp="1"/>
          </p:cNvSpPr>
          <p:nvPr/>
        </p:nvSpPr>
        <p:spPr>
          <a:xfrm xmlns:a="http://schemas.openxmlformats.org/drawingml/2006/main">
            <a:off x="6172200" y="2924175"/>
            <a:ext cx="550545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18" name="">
            <a:extLst xmlns:a="http://schemas.openxmlformats.org/drawingml/2006/main">
              <a:ext uri="{FF2B5EF4-FFF2-40B4-BE49-F238E27FC236}">
                <a16:creationId xmlns:a16="http://schemas.microsoft.com/office/drawing/2014/main" id="{494DD091-9B43-450A-A46F-52A3BB06904D}"/>
              </a:ext>
            </a:extLst>
          </p:cNvPr>
          <p:cNvSpPr>
            <a:spLocks xmlns:a="http://schemas.openxmlformats.org/drawingml/2006/main" noGrp="1"/>
          </p:cNvSpPr>
          <p:nvPr/>
        </p:nvSpPr>
        <p:spPr>
          <a:xfrm xmlns:a="http://schemas.openxmlformats.org/drawingml/2006/main">
            <a:off x="6286500" y="3019425"/>
            <a:ext cx="5276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1. Lower-income pressure hurts trips</a:t>
            </a:r>
          </a:p>
        </p:txBody>
      </p:sp>
      <p:sp>
        <p:nvSpPr>
          <p:cNvPr id="19" name="">
            <a:extLst xmlns:a="http://schemas.openxmlformats.org/drawingml/2006/main">
              <a:ext uri="{FF2B5EF4-FFF2-40B4-BE49-F238E27FC236}">
                <a16:creationId xmlns:a16="http://schemas.microsoft.com/office/drawing/2014/main" id="{33351840-78D3-4EF0-AC43-191AADB9C9A1}"/>
              </a:ext>
            </a:extLst>
          </p:cNvPr>
          <p:cNvSpPr>
            <a:spLocks xmlns:a="http://schemas.openxmlformats.org/drawingml/2006/main" noGrp="1"/>
          </p:cNvSpPr>
          <p:nvPr/>
        </p:nvSpPr>
        <p:spPr>
          <a:xfrm xmlns:a="http://schemas.openxmlformats.org/drawingml/2006/main">
            <a:off x="6286500" y="3248025"/>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Medium-high · Cyclical · Visible</a:t>
            </a:r>
          </a:p>
        </p:txBody>
      </p:sp>
      <p:sp>
        <p:nvSpPr>
          <p:cNvPr id="20" name="">
            <a:extLst xmlns:a="http://schemas.openxmlformats.org/drawingml/2006/main">
              <a:ext uri="{FF2B5EF4-FFF2-40B4-BE49-F238E27FC236}">
                <a16:creationId xmlns:a16="http://schemas.microsoft.com/office/drawing/2014/main" id="{8F7169B3-1052-4E1C-AE45-F33C123A4743}"/>
              </a:ext>
            </a:extLst>
          </p:cNvPr>
          <p:cNvSpPr>
            <a:spLocks xmlns:a="http://schemas.openxmlformats.org/drawingml/2006/main" noGrp="1"/>
          </p:cNvSpPr>
          <p:nvPr/>
        </p:nvSpPr>
        <p:spPr>
          <a:xfrm xmlns:a="http://schemas.openxmlformats.org/drawingml/2006/main">
            <a:off x="6286500" y="3429000"/>
            <a:ext cx="5276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AGA flagged “a more polarized consumer backdrop,” with pressure on lower-income households even as higher-income spending stayed positive [87]. Even though the Gaming Conditions Index showed real industry activity up 1.5% year over year in Q1 2026 [87], inflation and fuel costs can still cut visit frequency and spend.</a:t>
            </a:r>
          </a:p>
        </p:txBody>
      </p:sp>
      <p:sp>
        <p:nvSpPr>
          <p:cNvPr id="21" name="">
            <a:extLst xmlns:a="http://schemas.openxmlformats.org/drawingml/2006/main">
              <a:ext uri="{FF2B5EF4-FFF2-40B4-BE49-F238E27FC236}">
                <a16:creationId xmlns:a16="http://schemas.microsoft.com/office/drawing/2014/main" id="{2AB056C4-AAFE-4D67-9DB9-9980BCCCA354}"/>
              </a:ext>
            </a:extLst>
          </p:cNvPr>
          <p:cNvSpPr>
            <a:spLocks xmlns:a="http://schemas.openxmlformats.org/drawingml/2006/main" noGrp="1"/>
          </p:cNvSpPr>
          <p:nvPr/>
        </p:nvSpPr>
        <p:spPr>
          <a:xfrm xmlns:a="http://schemas.openxmlformats.org/drawingml/2006/main">
            <a:off x="6286500" y="4076700"/>
            <a:ext cx="5276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Exposure: American Place depends on regional drive-in guests, so budget stress can reduce trips and wallet per visit.</a:t>
            </a:r>
          </a:p>
        </p:txBody>
      </p:sp>
      <p:sp>
        <p:nvSpPr>
          <p:cNvPr id="22" name="structure:card">
            <a:extLst xmlns:a="http://schemas.openxmlformats.org/drawingml/2006/main">
              <a:ext uri="{FF2B5EF4-FFF2-40B4-BE49-F238E27FC236}">
                <a16:creationId xmlns:a16="http://schemas.microsoft.com/office/drawing/2014/main" id="{467DDAFB-4825-4035-B008-B31667D9E11B}"/>
              </a:ext>
            </a:extLst>
          </p:cNvPr>
          <p:cNvSpPr>
            <a:spLocks xmlns:a="http://schemas.openxmlformats.org/drawingml/2006/main" noGrp="1"/>
          </p:cNvSpPr>
          <p:nvPr/>
        </p:nvSpPr>
        <p:spPr>
          <a:xfrm xmlns:a="http://schemas.openxmlformats.org/drawingml/2006/main">
            <a:off x="514350" y="4781550"/>
            <a:ext cx="550545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23" name="">
            <a:extLst xmlns:a="http://schemas.openxmlformats.org/drawingml/2006/main">
              <a:ext uri="{FF2B5EF4-FFF2-40B4-BE49-F238E27FC236}">
                <a16:creationId xmlns:a16="http://schemas.microsoft.com/office/drawing/2014/main" id="{E19C02C9-68CB-4460-A2A6-990B7B225791}"/>
              </a:ext>
            </a:extLst>
          </p:cNvPr>
          <p:cNvSpPr>
            <a:spLocks xmlns:a="http://schemas.openxmlformats.org/drawingml/2006/main" noGrp="1"/>
          </p:cNvSpPr>
          <p:nvPr/>
        </p:nvSpPr>
        <p:spPr>
          <a:xfrm xmlns:a="http://schemas.openxmlformats.org/drawingml/2006/main">
            <a:off x="628650" y="4876800"/>
            <a:ext cx="5276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2. Illegal play still leaks wallet</a:t>
            </a:r>
          </a:p>
        </p:txBody>
      </p:sp>
      <p:sp>
        <p:nvSpPr>
          <p:cNvPr id="24" name="">
            <a:extLst xmlns:a="http://schemas.openxmlformats.org/drawingml/2006/main">
              <a:ext uri="{FF2B5EF4-FFF2-40B4-BE49-F238E27FC236}">
                <a16:creationId xmlns:a16="http://schemas.microsoft.com/office/drawing/2014/main" id="{C857C669-0072-4A15-A037-4B4585A85705}"/>
              </a:ext>
            </a:extLst>
          </p:cNvPr>
          <p:cNvSpPr>
            <a:spLocks xmlns:a="http://schemas.openxmlformats.org/drawingml/2006/main" noGrp="1"/>
          </p:cNvSpPr>
          <p:nvPr/>
        </p:nvSpPr>
        <p:spPr>
          <a:xfrm xmlns:a="http://schemas.openxmlformats.org/drawingml/2006/main">
            <a:off x="628650" y="5105400"/>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Medium-high · Durable · Visible</a:t>
            </a:r>
          </a:p>
        </p:txBody>
      </p:sp>
      <p:sp>
        <p:nvSpPr>
          <p:cNvPr id="25" name="">
            <a:extLst xmlns:a="http://schemas.openxmlformats.org/drawingml/2006/main">
              <a:ext uri="{FF2B5EF4-FFF2-40B4-BE49-F238E27FC236}">
                <a16:creationId xmlns:a16="http://schemas.microsoft.com/office/drawing/2014/main" id="{28FB9E9E-EB7F-4E8C-8FA3-69991A0BA535}"/>
              </a:ext>
            </a:extLst>
          </p:cNvPr>
          <p:cNvSpPr>
            <a:spLocks xmlns:a="http://schemas.openxmlformats.org/drawingml/2006/main" noGrp="1"/>
          </p:cNvSpPr>
          <p:nvPr/>
        </p:nvSpPr>
        <p:spPr>
          <a:xfrm xmlns:a="http://schemas.openxmlformats.org/drawingml/2006/main">
            <a:off x="628650" y="5286375"/>
            <a:ext cx="5276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Illegal alternatives remain large, with AGA estimating $53.90B of annual revenue from illegal devices, offshore sportsbooks, and illegal online casinos as of August 2025 [4]. 81% of gaming executives also saw prediction markets as a very significant threat [86].</a:t>
            </a:r>
          </a:p>
        </p:txBody>
      </p:sp>
      <p:sp>
        <p:nvSpPr>
          <p:cNvPr id="26" name="">
            <a:extLst xmlns:a="http://schemas.openxmlformats.org/drawingml/2006/main">
              <a:ext uri="{FF2B5EF4-FFF2-40B4-BE49-F238E27FC236}">
                <a16:creationId xmlns:a16="http://schemas.microsoft.com/office/drawing/2014/main" id="{54DF3A7F-9B23-4323-B757-136F4B6FBFE2}"/>
              </a:ext>
            </a:extLst>
          </p:cNvPr>
          <p:cNvSpPr>
            <a:spLocks xmlns:a="http://schemas.openxmlformats.org/drawingml/2006/main" noGrp="1"/>
          </p:cNvSpPr>
          <p:nvPr/>
        </p:nvSpPr>
        <p:spPr>
          <a:xfrm xmlns:a="http://schemas.openxmlformats.org/drawingml/2006/main">
            <a:off x="628650" y="5791200"/>
            <a:ext cx="5276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Exposure: American Place competes for the same gambling wallet as other licensed operators, but it lacks a disclosed edge that would stop leakage.</a:t>
            </a:r>
          </a:p>
        </p:txBody>
      </p:sp>
      <p:sp>
        <p:nvSpPr>
          <p:cNvPr id="27" name="structure:card">
            <a:extLst xmlns:a="http://schemas.openxmlformats.org/drawingml/2006/main">
              <a:ext uri="{FF2B5EF4-FFF2-40B4-BE49-F238E27FC236}">
                <a16:creationId xmlns:a16="http://schemas.microsoft.com/office/drawing/2014/main" id="{CDF03E18-42CC-4918-87B4-A9012E1F98FE}"/>
              </a:ext>
            </a:extLst>
          </p:cNvPr>
          <p:cNvSpPr>
            <a:spLocks xmlns:a="http://schemas.openxmlformats.org/drawingml/2006/main" noGrp="1"/>
          </p:cNvSpPr>
          <p:nvPr/>
        </p:nvSpPr>
        <p:spPr>
          <a:xfrm xmlns:a="http://schemas.openxmlformats.org/drawingml/2006/main">
            <a:off x="6172200" y="4781550"/>
            <a:ext cx="550545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28" name="">
            <a:extLst xmlns:a="http://schemas.openxmlformats.org/drawingml/2006/main">
              <a:ext uri="{FF2B5EF4-FFF2-40B4-BE49-F238E27FC236}">
                <a16:creationId xmlns:a16="http://schemas.microsoft.com/office/drawing/2014/main" id="{B209EC8E-5DC8-43C4-BB88-AEFA4AC8F32E}"/>
              </a:ext>
            </a:extLst>
          </p:cNvPr>
          <p:cNvSpPr>
            <a:spLocks xmlns:a="http://schemas.openxmlformats.org/drawingml/2006/main" noGrp="1"/>
          </p:cNvSpPr>
          <p:nvPr/>
        </p:nvSpPr>
        <p:spPr>
          <a:xfrm xmlns:a="http://schemas.openxmlformats.org/drawingml/2006/main">
            <a:off x="6286500" y="4876800"/>
            <a:ext cx="5276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3. Tables lag the floor mix</a:t>
            </a:r>
          </a:p>
        </p:txBody>
      </p:sp>
      <p:sp>
        <p:nvSpPr>
          <p:cNvPr id="29" name="">
            <a:extLst xmlns:a="http://schemas.openxmlformats.org/drawingml/2006/main">
              <a:ext uri="{FF2B5EF4-FFF2-40B4-BE49-F238E27FC236}">
                <a16:creationId xmlns:a16="http://schemas.microsoft.com/office/drawing/2014/main" id="{F2EA61E5-65B3-4772-A95A-751138B4D9B4}"/>
              </a:ext>
            </a:extLst>
          </p:cNvPr>
          <p:cNvSpPr>
            <a:spLocks xmlns:a="http://schemas.openxmlformats.org/drawingml/2006/main" noGrp="1"/>
          </p:cNvSpPr>
          <p:nvPr/>
        </p:nvSpPr>
        <p:spPr>
          <a:xfrm xmlns:a="http://schemas.openxmlformats.org/drawingml/2006/main">
            <a:off x="6286500" y="5105400"/>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Medium · Cycle-linked · Visible</a:t>
            </a:r>
          </a:p>
        </p:txBody>
      </p:sp>
      <p:sp>
        <p:nvSpPr>
          <p:cNvPr id="30" name="">
            <a:extLst xmlns:a="http://schemas.openxmlformats.org/drawingml/2006/main">
              <a:ext uri="{FF2B5EF4-FFF2-40B4-BE49-F238E27FC236}">
                <a16:creationId xmlns:a16="http://schemas.microsoft.com/office/drawing/2014/main" id="{BA39CFFA-45AE-44E3-831D-7392122BC75A}"/>
              </a:ext>
            </a:extLst>
          </p:cNvPr>
          <p:cNvSpPr>
            <a:spLocks xmlns:a="http://schemas.openxmlformats.org/drawingml/2006/main" noGrp="1"/>
          </p:cNvSpPr>
          <p:nvPr/>
        </p:nvSpPr>
        <p:spPr>
          <a:xfrm xmlns:a="http://schemas.openxmlformats.org/drawingml/2006/main">
            <a:off x="6286500" y="5286375"/>
            <a:ext cx="5276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Table-game demand is weaker than slots: in Q2 2026, slots generated $9.77B versus $2.60B for table games, and in June 2026 slot revenue rose 1.9% while table-game revenue fell 1.2% [2]. American Place still has 48 table games [88].</a:t>
            </a:r>
          </a:p>
        </p:txBody>
      </p:sp>
      <p:sp>
        <p:nvSpPr>
          <p:cNvPr id="31" name="">
            <a:extLst xmlns:a="http://schemas.openxmlformats.org/drawingml/2006/main">
              <a:ext uri="{FF2B5EF4-FFF2-40B4-BE49-F238E27FC236}">
                <a16:creationId xmlns:a16="http://schemas.microsoft.com/office/drawing/2014/main" id="{C1E3FDAD-86F1-44CF-B7C1-4994A1EC07FB}"/>
              </a:ext>
            </a:extLst>
          </p:cNvPr>
          <p:cNvSpPr>
            <a:spLocks xmlns:a="http://schemas.openxmlformats.org/drawingml/2006/main" noGrp="1"/>
          </p:cNvSpPr>
          <p:nvPr/>
        </p:nvSpPr>
        <p:spPr>
          <a:xfrm xmlns:a="http://schemas.openxmlformats.org/drawingml/2006/main">
            <a:off x="6286500" y="5791200"/>
            <a:ext cx="5276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Exposure: Softer table demand limits growth in that product line, even if the larger slot base helps offset it.</a:t>
            </a:r>
          </a:p>
        </p:txBody>
      </p:sp>
      <p:sp>
        <p:nvSpPr>
          <p:cNvPr id="32" name="">
            <a:extLst xmlns:a="http://schemas.openxmlformats.org/drawingml/2006/main">
              <a:ext uri="{FF2B5EF4-FFF2-40B4-BE49-F238E27FC236}">
                <a16:creationId xmlns:a16="http://schemas.microsoft.com/office/drawing/2014/main" id="{31C09672-19C5-4DDD-963A-1D5984256F26}"/>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12</a:t>
            </a:r>
          </a:p>
        </p:txBody>
      </p:sp>
    </p:spTree>
    <p:extLst>
      <p:ext uri="{BB962C8B-B14F-4D97-AF65-F5344CB8AC3E}">
        <p14:creationId xmlns:p14="http://schemas.microsoft.com/office/powerpoint/2010/main" val="153504333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B007C7C-5414-467F-93B8-5824A0438EFC}"/>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Financial Analysis Headline</a:t>
            </a:r>
          </a:p>
        </p:txBody>
      </p:sp>
      <p:sp>
        <p:nvSpPr>
          <p:cNvPr id="2" name="structure:prose-row">
            <a:extLst xmlns:a="http://schemas.openxmlformats.org/drawingml/2006/main">
              <a:ext uri="{FF2B5EF4-FFF2-40B4-BE49-F238E27FC236}">
                <a16:creationId xmlns:a16="http://schemas.microsoft.com/office/drawing/2014/main" id="{0F54C611-129C-4B82-B768-3106443010F3}"/>
              </a:ext>
            </a:extLst>
          </p:cNvPr>
          <p:cNvSpPr>
            <a:spLocks xmlns:a="http://schemas.openxmlformats.org/drawingml/2006/main" noGrp="1"/>
          </p:cNvSpPr>
          <p:nvPr/>
        </p:nvSpPr>
        <p:spPr>
          <a:xfrm xmlns:a="http://schemas.openxmlformats.org/drawingml/2006/main">
            <a:off x="514350" y="1066800"/>
            <a:ext cx="111633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structure:row-divider">
            <a:extLst xmlns:a="http://schemas.openxmlformats.org/drawingml/2006/main">
              <a:ext uri="{FF2B5EF4-FFF2-40B4-BE49-F238E27FC236}">
                <a16:creationId xmlns:a16="http://schemas.microsoft.com/office/drawing/2014/main" id="{93A59A95-8E3A-43B0-9CA5-6CF979BF5C4D}"/>
              </a:ext>
            </a:extLst>
          </p:cNvPr>
          <p:cNvSpPr>
            <a:spLocks xmlns:a="http://schemas.openxmlformats.org/drawingml/2006/main" noGrp="1"/>
          </p:cNvSpPr>
          <p:nvPr/>
        </p:nvSpPr>
        <p:spPr>
          <a:xfrm xmlns:a="http://schemas.openxmlformats.org/drawingml/2006/main">
            <a:off x="514350" y="17907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8350453-F947-4D02-B99A-8D6A73110049}"/>
              </a:ext>
            </a:extLst>
          </p:cNvPr>
          <p:cNvSpPr>
            <a:spLocks xmlns:a="http://schemas.openxmlformats.org/drawingml/2006/main" noGrp="1"/>
          </p:cNvSpPr>
          <p:nvPr/>
        </p:nvSpPr>
        <p:spPr>
          <a:xfrm xmlns:a="http://schemas.openxmlformats.org/drawingml/2006/main">
            <a:off x="628650" y="1114425"/>
            <a:ext cx="109347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American Casino reached $328.0M of net revenue in 2005A, but the 7.8% CAGR masks an uneven path that peaked at 14.2% in 2004A before easing to 9.3% in 2005A. Growth was still concentrated: Stratosphere accounted for 49.8% of the achieved increase from 2003A to 2005A, so the revenue base broadened only modestly. Profitability improved to a 27.3% adjusted EBITDA margin, and the nil identified add-backs in 2005A suggest the latest earnings are backed by booked performance rather than adjustment-heavy reporting. Looking ahead, management's 2008 plan of $472.8M would need acquisition-led upside and sustained operating acceleration to close the gap to the published base and upside cases.</a:t>
            </a:r>
          </a:p>
        </p:txBody>
      </p:sp>
      <p:sp>
        <p:nvSpPr>
          <p:cNvPr id="5" name="">
            <a:extLst xmlns:a="http://schemas.openxmlformats.org/drawingml/2006/main">
              <a:ext uri="{FF2B5EF4-FFF2-40B4-BE49-F238E27FC236}">
                <a16:creationId xmlns:a16="http://schemas.microsoft.com/office/drawing/2014/main" id="{CC2FBF06-8628-4C13-B0BB-7AE510EE0DCB}"/>
              </a:ext>
            </a:extLst>
          </p:cNvPr>
          <p:cNvSpPr>
            <a:spLocks xmlns:a="http://schemas.openxmlformats.org/drawingml/2006/main" noGrp="1"/>
          </p:cNvSpPr>
          <p:nvPr/>
        </p:nvSpPr>
        <p:spPr>
          <a:xfrm xmlns:a="http://schemas.openxmlformats.org/drawingml/2006/main">
            <a:off x="514350" y="1914525"/>
            <a:ext cx="11163300" cy="266700"/>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AA92835-6FB9-49E8-A0FC-7021F8FC783D}"/>
              </a:ext>
            </a:extLst>
          </p:cNvPr>
          <p:cNvSpPr>
            <a:spLocks xmlns:a="http://schemas.openxmlformats.org/drawingml/2006/main" noGrp="1"/>
          </p:cNvSpPr>
          <p:nvPr/>
        </p:nvSpPr>
        <p:spPr>
          <a:xfrm xmlns:a="http://schemas.openxmlformats.org/drawingml/2006/main">
            <a:off x="628650" y="1962150"/>
            <a:ext cx="109347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FFFFFF"/>
                </a:solidFill>
                <a:latin typeface="Calibri"/>
                <a:ea typeface="Calibri"/>
                <a:cs typeface="Calibri"/>
              </a:defRPr>
            </a:pPr>
            <a:r>
              <a:rPr sz="1050" b="1">
                <a:solidFill>
                  <a:srgbClr val="FFFFFF"/>
                </a:solidFill>
                <a:latin typeface="Calibri"/>
                <a:ea typeface="Calibri"/>
                <a:cs typeface="Calibri"/>
              </a:rPr>
              <a:t>Historical Financial Analysis</a:t>
            </a:r>
          </a:p>
        </p:txBody>
      </p:sp>
      <p:sp>
        <p:nvSpPr>
          <p:cNvPr id="7" name="structure:prose-row">
            <a:extLst xmlns:a="http://schemas.openxmlformats.org/drawingml/2006/main">
              <a:ext uri="{FF2B5EF4-FFF2-40B4-BE49-F238E27FC236}">
                <a16:creationId xmlns:a16="http://schemas.microsoft.com/office/drawing/2014/main" id="{01993720-5A36-4938-AC91-F9009BC6BA7D}"/>
              </a:ext>
            </a:extLst>
          </p:cNvPr>
          <p:cNvSpPr>
            <a:spLocks xmlns:a="http://schemas.openxmlformats.org/drawingml/2006/main" noGrp="1"/>
          </p:cNvSpPr>
          <p:nvPr/>
        </p:nvSpPr>
        <p:spPr>
          <a:xfrm xmlns:a="http://schemas.openxmlformats.org/drawingml/2006/main">
            <a:off x="514350" y="2181225"/>
            <a:ext cx="11163300" cy="4191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structure:row-divider">
            <a:extLst xmlns:a="http://schemas.openxmlformats.org/drawingml/2006/main">
              <a:ext uri="{FF2B5EF4-FFF2-40B4-BE49-F238E27FC236}">
                <a16:creationId xmlns:a16="http://schemas.microsoft.com/office/drawing/2014/main" id="{693399BC-AA60-48FC-B267-5B90C2B1DEB8}"/>
              </a:ext>
            </a:extLst>
          </p:cNvPr>
          <p:cNvSpPr>
            <a:spLocks xmlns:a="http://schemas.openxmlformats.org/drawingml/2006/main" noGrp="1"/>
          </p:cNvSpPr>
          <p:nvPr/>
        </p:nvSpPr>
        <p:spPr>
          <a:xfrm xmlns:a="http://schemas.openxmlformats.org/drawingml/2006/main">
            <a:off x="514350" y="25908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3337538-AF6D-4CB0-AA42-2F7B6CFBBE28}"/>
              </a:ext>
            </a:extLst>
          </p:cNvPr>
          <p:cNvSpPr>
            <a:spLocks xmlns:a="http://schemas.openxmlformats.org/drawingml/2006/main" noGrp="1"/>
          </p:cNvSpPr>
          <p:nvPr/>
        </p:nvSpPr>
        <p:spPr>
          <a:xfrm xmlns:a="http://schemas.openxmlformats.org/drawingml/2006/main">
            <a:off x="628650" y="2228850"/>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Revenue grew from $242.5M in 2001A to $328.0M in 2005A, a 7.8% annual rate, but the shape was not a steady acceleration: growth was 3.1% in 2002A, 5.1% in 2003A, peaked at 14.2% in 2004A, and then eased to 9.3% in 2005A [91][74].</a:t>
            </a:r>
          </a:p>
        </p:txBody>
      </p:sp>
      <p:sp>
        <p:nvSpPr>
          <p:cNvPr id="10" name="structure:prose-row">
            <a:extLst xmlns:a="http://schemas.openxmlformats.org/drawingml/2006/main">
              <a:ext uri="{FF2B5EF4-FFF2-40B4-BE49-F238E27FC236}">
                <a16:creationId xmlns:a16="http://schemas.microsoft.com/office/drawing/2014/main" id="{5BA44E3D-AEDC-40EF-84E6-72BDC53CA337}"/>
              </a:ext>
            </a:extLst>
          </p:cNvPr>
          <p:cNvSpPr>
            <a:spLocks xmlns:a="http://schemas.openxmlformats.org/drawingml/2006/main" noGrp="1"/>
          </p:cNvSpPr>
          <p:nvPr/>
        </p:nvSpPr>
        <p:spPr>
          <a:xfrm xmlns:a="http://schemas.openxmlformats.org/drawingml/2006/main">
            <a:off x="514350" y="2600325"/>
            <a:ext cx="11163300" cy="419100"/>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11" name="structure:row-divider">
            <a:extLst xmlns:a="http://schemas.openxmlformats.org/drawingml/2006/main">
              <a:ext uri="{FF2B5EF4-FFF2-40B4-BE49-F238E27FC236}">
                <a16:creationId xmlns:a16="http://schemas.microsoft.com/office/drawing/2014/main" id="{A9B64AA3-28B5-4AE5-B9AC-0E273329B2EF}"/>
              </a:ext>
            </a:extLst>
          </p:cNvPr>
          <p:cNvSpPr>
            <a:spLocks xmlns:a="http://schemas.openxmlformats.org/drawingml/2006/main" noGrp="1"/>
          </p:cNvSpPr>
          <p:nvPr/>
        </p:nvSpPr>
        <p:spPr>
          <a:xfrm xmlns:a="http://schemas.openxmlformats.org/drawingml/2006/main">
            <a:off x="514350" y="30099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C5BBA5D-B56C-426E-8CFE-BF2F92476952}"/>
              </a:ext>
            </a:extLst>
          </p:cNvPr>
          <p:cNvSpPr>
            <a:spLocks xmlns:a="http://schemas.openxmlformats.org/drawingml/2006/main" noGrp="1"/>
          </p:cNvSpPr>
          <p:nvPr/>
        </p:nvSpPr>
        <p:spPr>
          <a:xfrm xmlns:a="http://schemas.openxmlformats.org/drawingml/2006/main">
            <a:off x="628650" y="2647950"/>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The growth came mainly from the core estate rather than from broad diversification: Stratosphere was the main closed-period growth engine by name, while Casino was the largest product contributor by name [64][74].</a:t>
            </a:r>
          </a:p>
        </p:txBody>
      </p:sp>
      <p:sp>
        <p:nvSpPr>
          <p:cNvPr id="13" name="structure:prose-row">
            <a:extLst xmlns:a="http://schemas.openxmlformats.org/drawingml/2006/main">
              <a:ext uri="{FF2B5EF4-FFF2-40B4-BE49-F238E27FC236}">
                <a16:creationId xmlns:a16="http://schemas.microsoft.com/office/drawing/2014/main" id="{BD144B9B-0256-4624-AC04-21F07556DB3E}"/>
              </a:ext>
            </a:extLst>
          </p:cNvPr>
          <p:cNvSpPr>
            <a:spLocks xmlns:a="http://schemas.openxmlformats.org/drawingml/2006/main" noGrp="1"/>
          </p:cNvSpPr>
          <p:nvPr/>
        </p:nvSpPr>
        <p:spPr>
          <a:xfrm xmlns:a="http://schemas.openxmlformats.org/drawingml/2006/main">
            <a:off x="514350" y="3019425"/>
            <a:ext cx="11163300" cy="25717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4" name="structure:row-divider">
            <a:extLst xmlns:a="http://schemas.openxmlformats.org/drawingml/2006/main">
              <a:ext uri="{FF2B5EF4-FFF2-40B4-BE49-F238E27FC236}">
                <a16:creationId xmlns:a16="http://schemas.microsoft.com/office/drawing/2014/main" id="{1B43962A-3F43-4FA2-A659-2893537F2B3F}"/>
              </a:ext>
            </a:extLst>
          </p:cNvPr>
          <p:cNvSpPr>
            <a:spLocks xmlns:a="http://schemas.openxmlformats.org/drawingml/2006/main" noGrp="1"/>
          </p:cNvSpPr>
          <p:nvPr/>
        </p:nvSpPr>
        <p:spPr>
          <a:xfrm xmlns:a="http://schemas.openxmlformats.org/drawingml/2006/main">
            <a:off x="514350" y="32670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A52A325-C3FA-4A24-8850-ABA6F223F01E}"/>
              </a:ext>
            </a:extLst>
          </p:cNvPr>
          <p:cNvSpPr>
            <a:spLocks xmlns:a="http://schemas.openxmlformats.org/drawingml/2006/main" noGrp="1"/>
          </p:cNvSpPr>
          <p:nvPr/>
        </p:nvSpPr>
        <p:spPr>
          <a:xfrm xmlns:a="http://schemas.openxmlformats.org/drawingml/2006/main">
            <a:off x="628650" y="3067050"/>
            <a:ext cx="109347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The next visible step-up is described as acquisition-led rather than a faster run-rate from the existing properties [58][91][74].</a:t>
            </a:r>
          </a:p>
        </p:txBody>
      </p:sp>
      <p:graphicFrame>
        <p:nvGraphicFramePr>
          <p:cNvPr id="34" name=""/>
          <p:cNvGraphicFramePr/>
          <p:nvPr/>
        </p:nvGraphicFramePr>
        <p:xfrm>
          <a:off xmlns:a="http://schemas.openxmlformats.org/drawingml/2006/main" x="514350" y="3429000"/>
          <a:ext xmlns:a="http://schemas.openxmlformats.org/drawingml/2006/main" cx="11163300" cy="2314575"/>
        </p:xfrm>
        <a:graphic xmlns:a="http://schemas.openxmlformats.org/drawingml/2006/main">
          <a:graphicData uri="http://schemas.openxmlformats.org/drawingml/2006/table">
            <a:tbl>
              <a:tblPr firstRow="1" firstCol="0" bandRow="0"/>
              <a:tblGrid>
                <a:gridCol w="990600"/>
                <a:gridCol w="1497192"/>
                <a:gridCol w="1609994"/>
                <a:gridCol w="7065514"/>
              </a:tblGrid>
              <a:tr h="304800">
                <a:tc>
                  <a:txBody>
                    <a:bodyPr lIns="38100" tIns="19050" rIns="38100" bIns="19050"/>
                    <a:lstStyle/>
                    <a:p>
                      <a:r>
                        <a:rPr sz="975" b="1">
                          <a:solidFill>
                            <a:srgbClr val="1F3864"/>
                          </a:solidFill>
                          <a:latin typeface="Calibri"/>
                          <a:ea typeface="Calibri"/>
                          <a:cs typeface="Calibri"/>
                        </a:rPr>
                        <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2005A</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vs 2002A</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Key Insight</a:t>
                      </a:r>
                    </a:p>
                  </a:txBody>
                  <a:tcPr marL="91440" marR="91440" marT="45720" marB="45720">
                    <a:lnR w="0">
                      <a:noFill/>
                    </a:lnR>
                    <a:lnT w="0">
                      <a:noFill/>
                    </a:lnT>
                    <a:lnB w="9525">
                      <a:solidFill>
                        <a:srgbClr val="D7DEE7"/>
                      </a:solidFill>
                      <a:prstDash val="solid"/>
                    </a:lnB>
                    <a:solidFill>
                      <a:srgbClr val="F4F6F9"/>
                    </a:solidFill>
                  </a:tcPr>
                </a:tc>
              </a:tr>
              <a:tr h="371475">
                <a:tc>
                  <a:txBody>
                    <a:bodyPr lIns="38100" tIns="19050" rIns="38100" bIns="19050"/>
                    <a:lstStyle/>
                    <a:p>
                      <a:pPr algn="l"/>
                      <a:r>
                        <a:rPr sz="900" b="1">
                          <a:solidFill>
                            <a:srgbClr val="1B2A41"/>
                          </a:solidFill>
                          <a:latin typeface="Calibri"/>
                          <a:ea typeface="Calibri"/>
                          <a:cs typeface="Calibri"/>
                        </a:rPr>
                        <a:t>Revenue</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$328.0M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from $250.0M in 2002A</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 later step-up is projected to come mostly from Aquarius, so the closed-period run-rate had already slowed before that acquisition year.</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Profit (EBITDA)</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$89.4M adjusted EBITDA, 27.3% margin</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from $31.7M, 12.7% margin in 2002A</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Latest-year profit improved through overhead leverage, not further direct-margin expansion, and it was not dependent on a latest-year add-back.</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Biggest concentration</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Stratosphere market: $196.2M, 59.8% of revenue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share eased from 62.3% in 2003A</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Stratosphere was both the biggest market and the main growth engine, so the business remained exposed to one Strip asset and tourist demand pool.</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Gross margin</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52.0%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from 44.7% in 2002A</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Gross margin weakened in the latest year even as EBITDA margin rose, showing profits depended more on cost discipline than another margin lift.</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Adjustments claimed</a:t>
                      </a:r>
                    </a:p>
                  </a:txBody>
                  <a:tcPr marL="91440" marR="91440" marT="45720" marB="45720">
                    <a:lnL w="0">
                      <a:noFill/>
                    </a:lnL>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$89.4M adjusted; $89.4M reported; $89.4M recommended</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from $31.7M adjusted and $31.3M recommended in 2002A</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No uplift survives in 2005A, so the latest-year earnings base reads as booked profit rather than adjustment-led EBITDA.</a:t>
                      </a:r>
                    </a:p>
                  </a:txBody>
                  <a:tcPr marL="91440" marR="91440" marT="45720" marB="45720">
                    <a:lnR w="0">
                      <a:noFill/>
                    </a:lnR>
                    <a:lnB w="0">
                      <a:noFill/>
                    </a:lnB>
                    <a:solidFill>
                      <a:srgbClr val="FFFFFF"/>
                    </a:solidFill>
                  </a:tcPr>
                </a:tc>
              </a:tr>
            </a:tbl>
          </a:graphicData>
        </a:graphic>
      </p:graphicFrame>
      <p:sp>
        <p:nvSpPr>
          <p:cNvPr id="17" name="structure:table-header-rule">
            <a:extLst xmlns:a="http://schemas.openxmlformats.org/drawingml/2006/main">
              <a:ext uri="{FF2B5EF4-FFF2-40B4-BE49-F238E27FC236}">
                <a16:creationId xmlns:a16="http://schemas.microsoft.com/office/drawing/2014/main" id="{304371E4-7966-40FF-AB4C-F6EA244205B1}"/>
              </a:ext>
            </a:extLst>
          </p:cNvPr>
          <p:cNvSpPr>
            <a:spLocks xmlns:a="http://schemas.openxmlformats.org/drawingml/2006/main" noGrp="1"/>
          </p:cNvSpPr>
          <p:nvPr/>
        </p:nvSpPr>
        <p:spPr>
          <a:xfrm xmlns:a="http://schemas.openxmlformats.org/drawingml/2006/main">
            <a:off x="514350" y="3724275"/>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F8D0658-1F3F-4827-A8FF-8F7A862B9889}"/>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13</a:t>
            </a:r>
          </a:p>
        </p:txBody>
      </p:sp>
    </p:spTree>
    <p:extLst>
      <p:ext uri="{BB962C8B-B14F-4D97-AF65-F5344CB8AC3E}">
        <p14:creationId xmlns:p14="http://schemas.microsoft.com/office/powerpoint/2010/main" val="207650654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634A6FC-5794-4C59-A14E-A660A2E18E27}"/>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Revenue Segments</a:t>
            </a:r>
          </a:p>
        </p:txBody>
      </p:sp>
      <p:sp>
        <p:nvSpPr>
          <p:cNvPr id="2" name="structure:prose-row">
            <a:extLst xmlns:a="http://schemas.openxmlformats.org/drawingml/2006/main">
              <a:ext uri="{FF2B5EF4-FFF2-40B4-BE49-F238E27FC236}">
                <a16:creationId xmlns:a16="http://schemas.microsoft.com/office/drawing/2014/main" id="{B8FEF2E1-AA74-407A-A81E-944AF747EC42}"/>
              </a:ext>
            </a:extLst>
          </p:cNvPr>
          <p:cNvSpPr>
            <a:spLocks xmlns:a="http://schemas.openxmlformats.org/drawingml/2006/main" noGrp="1"/>
          </p:cNvSpPr>
          <p:nvPr/>
        </p:nvSpPr>
        <p:spPr>
          <a:xfrm xmlns:a="http://schemas.openxmlformats.org/drawingml/2006/main">
            <a:off x="514350" y="1066800"/>
            <a:ext cx="11163300" cy="4191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structure:row-divider">
            <a:extLst xmlns:a="http://schemas.openxmlformats.org/drawingml/2006/main">
              <a:ext uri="{FF2B5EF4-FFF2-40B4-BE49-F238E27FC236}">
                <a16:creationId xmlns:a16="http://schemas.microsoft.com/office/drawing/2014/main" id="{02A7B261-F57A-45B6-A59A-8783EC6C7B31}"/>
              </a:ext>
            </a:extLst>
          </p:cNvPr>
          <p:cNvSpPr>
            <a:spLocks xmlns:a="http://schemas.openxmlformats.org/drawingml/2006/main" noGrp="1"/>
          </p:cNvSpPr>
          <p:nvPr/>
        </p:nvSpPr>
        <p:spPr>
          <a:xfrm xmlns:a="http://schemas.openxmlformats.org/drawingml/2006/main">
            <a:off x="514350" y="14763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47A6557-BA94-4C94-BB1D-61320D3D51BA}"/>
              </a:ext>
            </a:extLst>
          </p:cNvPr>
          <p:cNvSpPr>
            <a:spLocks xmlns:a="http://schemas.openxmlformats.org/drawingml/2006/main" noGrp="1"/>
          </p:cNvSpPr>
          <p:nvPr/>
        </p:nvSpPr>
        <p:spPr>
          <a:xfrm xmlns:a="http://schemas.openxmlformats.org/drawingml/2006/main">
            <a:off x="628650" y="1114425"/>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Concentration eases only in the projected year: Stratosphere falls to 46.0% from 62.3% as Aquarius enters at 23.6%, so diversification is projected rather than demonstrated in the achieved history.</a:t>
            </a:r>
          </a:p>
        </p:txBody>
      </p:sp>
      <p:sp>
        <p:nvSpPr>
          <p:cNvPr id="5" name="structure:prose-row">
            <a:extLst xmlns:a="http://schemas.openxmlformats.org/drawingml/2006/main">
              <a:ext uri="{FF2B5EF4-FFF2-40B4-BE49-F238E27FC236}">
                <a16:creationId xmlns:a16="http://schemas.microsoft.com/office/drawing/2014/main" id="{43BB1E94-D900-4205-ABC9-AA3CB51A6449}"/>
              </a:ext>
            </a:extLst>
          </p:cNvPr>
          <p:cNvSpPr>
            <a:spLocks xmlns:a="http://schemas.openxmlformats.org/drawingml/2006/main" noGrp="1"/>
          </p:cNvSpPr>
          <p:nvPr/>
        </p:nvSpPr>
        <p:spPr>
          <a:xfrm xmlns:a="http://schemas.openxmlformats.org/drawingml/2006/main">
            <a:off x="514350" y="1485900"/>
            <a:ext cx="11163300" cy="4191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6" name="structure:row-divider">
            <a:extLst xmlns:a="http://schemas.openxmlformats.org/drawingml/2006/main">
              <a:ext uri="{FF2B5EF4-FFF2-40B4-BE49-F238E27FC236}">
                <a16:creationId xmlns:a16="http://schemas.microsoft.com/office/drawing/2014/main" id="{E10F7887-9C61-4A8C-971A-268D7CF30A8B}"/>
              </a:ext>
            </a:extLst>
          </p:cNvPr>
          <p:cNvSpPr>
            <a:spLocks xmlns:a="http://schemas.openxmlformats.org/drawingml/2006/main" noGrp="1"/>
          </p:cNvSpPr>
          <p:nvPr/>
        </p:nvSpPr>
        <p:spPr>
          <a:xfrm xmlns:a="http://schemas.openxmlformats.org/drawingml/2006/main">
            <a:off x="514350" y="18954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B7F6061-3FAF-46AD-A154-E78AA1304B2C}"/>
              </a:ext>
            </a:extLst>
          </p:cNvPr>
          <p:cNvSpPr>
            <a:spLocks xmlns:a="http://schemas.openxmlformats.org/drawingml/2006/main" noGrp="1"/>
          </p:cNvSpPr>
          <p:nvPr/>
        </p:nvSpPr>
        <p:spPr>
          <a:xfrm xmlns:a="http://schemas.openxmlformats.org/drawingml/2006/main">
            <a:off x="628650" y="1533525"/>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The legacy base entered the acquisition year with little same-property momentum, so durability rests more on acquisition and normalization than on demonstrated organic breadth [58][64][67][70][91][74].</a:t>
            </a:r>
          </a:p>
        </p:txBody>
      </p:sp>
      <p:sp>
        <p:nvSpPr>
          <p:cNvPr id="8" name="">
            <a:extLst xmlns:a="http://schemas.openxmlformats.org/drawingml/2006/main">
              <a:ext uri="{FF2B5EF4-FFF2-40B4-BE49-F238E27FC236}">
                <a16:creationId xmlns:a16="http://schemas.microsoft.com/office/drawing/2014/main" id="{922D8BCD-2AB8-44C1-8666-FE89C6DAD0AF}"/>
              </a:ext>
            </a:extLst>
          </p:cNvPr>
          <p:cNvSpPr>
            <a:spLocks xmlns:a="http://schemas.openxmlformats.org/drawingml/2006/main" noGrp="1"/>
          </p:cNvSpPr>
          <p:nvPr/>
        </p:nvSpPr>
        <p:spPr>
          <a:xfrm xmlns:a="http://schemas.openxmlformats.org/drawingml/2006/main">
            <a:off x="514350" y="2057400"/>
            <a:ext cx="5505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b="1">
                <a:solidFill>
                  <a:srgbClr val="1B2A41"/>
                </a:solidFill>
                <a:latin typeface="Calibri"/>
                <a:ea typeface="Calibri"/>
                <a:cs typeface="Calibri"/>
              </a:defRPr>
            </a:pPr>
            <a:r>
              <a:rPr sz="975" b="1">
                <a:solidFill>
                  <a:srgbClr val="1B2A41"/>
                </a:solidFill>
                <a:latin typeface="Calibri"/>
                <a:ea typeface="Calibri"/>
                <a:cs typeface="Calibri"/>
              </a:rPr>
              <a:t>Revenue by Geography</a:t>
            </a:r>
          </a:p>
        </p:txBody>
      </p:sp>
      <p:graphicFrame>
        <p:nvGraphicFramePr>
          <p:cNvPr id="21" name="Chart"/>
          <p:cNvGraphicFramePr/>
          <p:nvPr/>
        </p:nvGraphicFramePr>
        <p:xfrm>
          <a:off xmlns:a="http://schemas.openxmlformats.org/drawingml/2006/main" x="514350" y="2343150"/>
          <a:ext xmlns:a="http://schemas.openxmlformats.org/drawingml/2006/main" cx="5505450" cy="4019550"/>
        </p:xfrm>
        <a:graphic xmlns:a="http://schemas.openxmlformats.org/drawingml/2006/main">
          <a:graphicData uri="http://schemas.openxmlformats.org/drawingml/2006/chart">
            <c:chart xmlns:r="http://schemas.openxmlformats.org/officeDocument/2006/relationships" xmlns:c="http://schemas.openxmlformats.org/drawingml/2006/chart" r:id="R0f1a627155874700"/>
          </a:graphicData>
        </a:graphic>
      </p:graphicFrame>
      <p:sp>
        <p:nvSpPr>
          <p:cNvPr id="10" name="">
            <a:extLst xmlns:a="http://schemas.openxmlformats.org/drawingml/2006/main">
              <a:ext uri="{FF2B5EF4-FFF2-40B4-BE49-F238E27FC236}">
                <a16:creationId xmlns:a16="http://schemas.microsoft.com/office/drawing/2014/main" id="{CFB1DC3F-CBC0-46B1-9452-238DF35A041D}"/>
              </a:ext>
            </a:extLst>
          </p:cNvPr>
          <p:cNvSpPr>
            <a:spLocks xmlns:a="http://schemas.openxmlformats.org/drawingml/2006/main" noGrp="1"/>
          </p:cNvSpPr>
          <p:nvPr/>
        </p:nvSpPr>
        <p:spPr>
          <a:xfrm xmlns:a="http://schemas.openxmlformats.org/drawingml/2006/main">
            <a:off x="6172200" y="2057400"/>
            <a:ext cx="5505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b="1">
                <a:solidFill>
                  <a:srgbClr val="1B2A41"/>
                </a:solidFill>
                <a:latin typeface="Calibri"/>
                <a:ea typeface="Calibri"/>
                <a:cs typeface="Calibri"/>
              </a:defRPr>
            </a:pPr>
            <a:r>
              <a:rPr sz="975" b="1">
                <a:solidFill>
                  <a:srgbClr val="1B2A41"/>
                </a:solidFill>
                <a:latin typeface="Calibri"/>
                <a:ea typeface="Calibri"/>
                <a:cs typeface="Calibri"/>
              </a:rPr>
              <a:t>Revenue by Product</a:t>
            </a:r>
          </a:p>
        </p:txBody>
      </p:sp>
      <p:graphicFrame>
        <p:nvGraphicFramePr>
          <p:cNvPr id="23" name="Chart"/>
          <p:cNvGraphicFramePr/>
          <p:nvPr/>
        </p:nvGraphicFramePr>
        <p:xfrm>
          <a:off xmlns:a="http://schemas.openxmlformats.org/drawingml/2006/main" x="6172200" y="2343150"/>
          <a:ext xmlns:a="http://schemas.openxmlformats.org/drawingml/2006/main" cx="5505450" cy="4019550"/>
        </p:xfrm>
        <a:graphic xmlns:a="http://schemas.openxmlformats.org/drawingml/2006/main">
          <a:graphicData uri="http://schemas.openxmlformats.org/drawingml/2006/chart">
            <c:chart xmlns:r="http://schemas.openxmlformats.org/officeDocument/2006/relationships" xmlns:c="http://schemas.openxmlformats.org/drawingml/2006/chart" r:id="Ra3721f8b4be64995"/>
          </a:graphicData>
        </a:graphic>
      </p:graphicFrame>
      <p:sp>
        <p:nvSpPr>
          <p:cNvPr id="12" name="">
            <a:extLst xmlns:a="http://schemas.openxmlformats.org/drawingml/2006/main">
              <a:ext uri="{FF2B5EF4-FFF2-40B4-BE49-F238E27FC236}">
                <a16:creationId xmlns:a16="http://schemas.microsoft.com/office/drawing/2014/main" id="{68FE2740-5DD1-404A-8E9C-795205169DE8}"/>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14</a:t>
            </a:r>
          </a:p>
        </p:txBody>
      </p:sp>
    </p:spTree>
    <p:extLst>
      <p:ext uri="{BB962C8B-B14F-4D97-AF65-F5344CB8AC3E}">
        <p14:creationId xmlns:p14="http://schemas.microsoft.com/office/powerpoint/2010/main" val="68807400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F3776D5-9A03-4A8E-ADBB-307CA0C4B62B}"/>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Revenue Segments</a:t>
            </a:r>
          </a:p>
        </p:txBody>
      </p:sp>
      <p:graphicFrame>
        <p:nvGraphicFramePr>
          <p:cNvPr id="17" name=""/>
          <p:cNvGraphicFramePr/>
          <p:nvPr/>
        </p:nvGraphicFramePr>
        <p:xfrm>
          <a:off xmlns:a="http://schemas.openxmlformats.org/drawingml/2006/main" x="514350" y="1066800"/>
          <a:ext xmlns:a="http://schemas.openxmlformats.org/drawingml/2006/main" cx="11163300" cy="676275"/>
        </p:xfrm>
        <a:graphic xmlns:a="http://schemas.openxmlformats.org/drawingml/2006/main">
          <a:graphicData uri="http://schemas.openxmlformats.org/drawingml/2006/table">
            <a:tbl>
              <a:tblPr firstRow="1" firstCol="0" bandRow="0"/>
              <a:tblGrid>
                <a:gridCol w="6633265"/>
                <a:gridCol w="4530035"/>
              </a:tblGrid>
              <a:tr h="304800">
                <a:tc>
                  <a:txBody>
                    <a:bodyPr lIns="38100" tIns="19050" rIns="38100" bIns="19050"/>
                    <a:lstStyle/>
                    <a:p>
                      <a:pPr algn="l"/>
                      <a:r>
                        <a:rPr sz="975" b="1">
                          <a:solidFill>
                            <a:srgbClr val="1F3864"/>
                          </a:solidFill>
                          <a:latin typeface="Calibri"/>
                          <a:ea typeface="Calibri"/>
                          <a:cs typeface="Calibri"/>
                        </a:rPr>
                        <a:t>Revenue by Geography</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Revenue by Product</a:t>
                      </a:r>
                    </a:p>
                  </a:txBody>
                  <a:tcPr marL="91440" marR="91440" marT="45720" marB="45720">
                    <a:lnR w="0">
                      <a:noFill/>
                    </a:lnR>
                    <a:lnT w="0">
                      <a:noFill/>
                    </a:lnT>
                    <a:lnB w="9525">
                      <a:solidFill>
                        <a:srgbClr val="D7DEE7"/>
                      </a:solidFill>
                      <a:prstDash val="solid"/>
                    </a:lnB>
                    <a:solidFill>
                      <a:srgbClr val="F4F6F9"/>
                    </a:solidFill>
                  </a:tcPr>
                </a:tc>
              </a:tr>
              <a:tr h="371475">
                <a:tc>
                  <a:txBody>
                    <a:bodyPr lIns="38100" tIns="19050" rIns="38100" bIns="19050"/>
                    <a:lstStyle/>
                    <a:p>
                      <a:pPr algn="l"/>
                      <a:r>
                        <a:rPr sz="900" b="1">
                          <a:solidFill>
                            <a:srgbClr val="1B2A41"/>
                          </a:solidFill>
                          <a:latin typeface="Calibri"/>
                          <a:ea typeface="Calibri"/>
                          <a:cs typeface="Calibri"/>
                        </a:rPr>
                        <a:t>Las Vegas Strip / tourist market (Stratosphere) is the single largest dependency at $196.2M, or 59.8% of 2005A net revenue.</a:t>
                      </a:r>
                    </a:p>
                  </a:txBody>
                  <a:tcPr marL="91440" marR="91440" marT="45720" marB="45720">
                    <a:lnL w="0">
                      <a:noFill/>
                    </a:lnL>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Casino is the single largest dependency at $182.9M, or 52.2% of 2005A gross revenue.</a:t>
                      </a:r>
                    </a:p>
                  </a:txBody>
                  <a:tcPr marL="91440" marR="91440" marT="45720" marB="45720">
                    <a:lnR w="0">
                      <a:noFill/>
                    </a:lnR>
                    <a:lnB w="0">
                      <a:noFill/>
                    </a:lnB>
                    <a:solidFill>
                      <a:srgbClr val="FFFFFF"/>
                    </a:solidFill>
                  </a:tcPr>
                </a:tc>
              </a:tr>
            </a:tbl>
          </a:graphicData>
        </a:graphic>
      </p:graphicFrame>
      <p:sp>
        <p:nvSpPr>
          <p:cNvPr id="3" name="structure:table-header-rule">
            <a:extLst xmlns:a="http://schemas.openxmlformats.org/drawingml/2006/main">
              <a:ext uri="{FF2B5EF4-FFF2-40B4-BE49-F238E27FC236}">
                <a16:creationId xmlns:a16="http://schemas.microsoft.com/office/drawing/2014/main" id="{8CF48C0F-059B-4CEE-BB1B-00E0D4C56A67}"/>
              </a:ext>
            </a:extLst>
          </p:cNvPr>
          <p:cNvSpPr>
            <a:spLocks xmlns:a="http://schemas.openxmlformats.org/drawingml/2006/main" noGrp="1"/>
          </p:cNvSpPr>
          <p:nvPr/>
        </p:nvSpPr>
        <p:spPr>
          <a:xfrm xmlns:a="http://schemas.openxmlformats.org/drawingml/2006/main">
            <a:off x="514350" y="1362075"/>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A216F0F-E58B-4AD7-AB18-948F87C82F52}"/>
              </a:ext>
            </a:extLst>
          </p:cNvPr>
          <p:cNvSpPr>
            <a:spLocks xmlns:a="http://schemas.openxmlformats.org/drawingml/2006/main" noGrp="1"/>
          </p:cNvSpPr>
          <p:nvPr/>
        </p:nvSpPr>
        <p:spPr>
          <a:xfrm xmlns:a="http://schemas.openxmlformats.org/drawingml/2006/main">
            <a:off x="514350" y="1819275"/>
            <a:ext cx="111633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1">
                <a:solidFill>
                  <a:srgbClr val="1F3864"/>
                </a:solidFill>
                <a:latin typeface="Calibri"/>
                <a:ea typeface="Calibri"/>
                <a:cs typeface="Calibri"/>
              </a:defRPr>
            </a:pPr>
            <a:r>
              <a:rPr sz="900" b="1">
                <a:solidFill>
                  <a:srgbClr val="1F3864"/>
                </a:solidFill>
                <a:latin typeface="Calibri"/>
                <a:ea typeface="Calibri"/>
                <a:cs typeface="Calibri"/>
              </a:rPr>
              <a:t>Margin Trend</a:t>
            </a:r>
          </a:p>
        </p:txBody>
      </p:sp>
      <p:sp>
        <p:nvSpPr>
          <p:cNvPr id="5" name="structure:prose-row">
            <a:extLst xmlns:a="http://schemas.openxmlformats.org/drawingml/2006/main">
              <a:ext uri="{FF2B5EF4-FFF2-40B4-BE49-F238E27FC236}">
                <a16:creationId xmlns:a16="http://schemas.microsoft.com/office/drawing/2014/main" id="{62560EE2-05DB-488D-BEA7-21796F1365AD}"/>
              </a:ext>
            </a:extLst>
          </p:cNvPr>
          <p:cNvSpPr>
            <a:spLocks xmlns:a="http://schemas.openxmlformats.org/drawingml/2006/main" noGrp="1"/>
          </p:cNvSpPr>
          <p:nvPr/>
        </p:nvSpPr>
        <p:spPr>
          <a:xfrm xmlns:a="http://schemas.openxmlformats.org/drawingml/2006/main">
            <a:off x="514350" y="2009775"/>
            <a:ext cx="11163300" cy="5715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6" name="structure:row-divider">
            <a:extLst xmlns:a="http://schemas.openxmlformats.org/drawingml/2006/main">
              <a:ext uri="{FF2B5EF4-FFF2-40B4-BE49-F238E27FC236}">
                <a16:creationId xmlns:a16="http://schemas.microsoft.com/office/drawing/2014/main" id="{F2BED236-6854-4664-977F-35A1E0B3DBB5}"/>
              </a:ext>
            </a:extLst>
          </p:cNvPr>
          <p:cNvSpPr>
            <a:spLocks xmlns:a="http://schemas.openxmlformats.org/drawingml/2006/main" noGrp="1"/>
          </p:cNvSpPr>
          <p:nvPr/>
        </p:nvSpPr>
        <p:spPr>
          <a:xfrm xmlns:a="http://schemas.openxmlformats.org/drawingml/2006/main">
            <a:off x="514350" y="25717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84E10A3-7221-4ADB-9798-A2F24D866244}"/>
              </a:ext>
            </a:extLst>
          </p:cNvPr>
          <p:cNvSpPr>
            <a:spLocks xmlns:a="http://schemas.openxmlformats.org/drawingml/2006/main" noGrp="1"/>
          </p:cNvSpPr>
          <p:nvPr/>
        </p:nvSpPr>
        <p:spPr>
          <a:xfrm xmlns:a="http://schemas.openxmlformats.org/drawingml/2006/main">
            <a:off x="628650" y="2057400"/>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Recurring overhead leverage was the biggest reason profit improved: selling, general and administrative expense lagged the business in every closed year after 2002A, at -6.3% in 2003A, +4.9% in 2004A, and +3.3% in 2005A [74]. The clearest counterfactual is 2005A: gross margin moved the wrong way by 300 bps, yet EBITDA margin still increased by 3.1 percentage points, so without tighter overhead absorption the year would not have shown the same profit lift [74].</a:t>
            </a:r>
          </a:p>
        </p:txBody>
      </p:sp>
      <p:sp>
        <p:nvSpPr>
          <p:cNvPr id="8" name="structure:prose-row">
            <a:extLst xmlns:a="http://schemas.openxmlformats.org/drawingml/2006/main">
              <a:ext uri="{FF2B5EF4-FFF2-40B4-BE49-F238E27FC236}">
                <a16:creationId xmlns:a16="http://schemas.microsoft.com/office/drawing/2014/main" id="{CC5CAE14-B891-4CCB-9D3D-4204339EEA4A}"/>
              </a:ext>
            </a:extLst>
          </p:cNvPr>
          <p:cNvSpPr>
            <a:spLocks xmlns:a="http://schemas.openxmlformats.org/drawingml/2006/main" noGrp="1"/>
          </p:cNvSpPr>
          <p:nvPr/>
        </p:nvSpPr>
        <p:spPr>
          <a:xfrm xmlns:a="http://schemas.openxmlformats.org/drawingml/2006/main">
            <a:off x="514350" y="2581275"/>
            <a:ext cx="11163300" cy="571500"/>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9" name="structure:row-divider">
            <a:extLst xmlns:a="http://schemas.openxmlformats.org/drawingml/2006/main">
              <a:ext uri="{FF2B5EF4-FFF2-40B4-BE49-F238E27FC236}">
                <a16:creationId xmlns:a16="http://schemas.microsoft.com/office/drawing/2014/main" id="{2EC483AA-8585-4B59-85DC-A87B6C31D57B}"/>
              </a:ext>
            </a:extLst>
          </p:cNvPr>
          <p:cNvSpPr>
            <a:spLocks xmlns:a="http://schemas.openxmlformats.org/drawingml/2006/main" noGrp="1"/>
          </p:cNvSpPr>
          <p:nvPr/>
        </p:nvSpPr>
        <p:spPr>
          <a:xfrm xmlns:a="http://schemas.openxmlformats.org/drawingml/2006/main">
            <a:off x="514350" y="31432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EF2C237-3453-4690-9E7A-0A5EC08FF8FF}"/>
              </a:ext>
            </a:extLst>
          </p:cNvPr>
          <p:cNvSpPr>
            <a:spLocks xmlns:a="http://schemas.openxmlformats.org/drawingml/2006/main" noGrp="1"/>
          </p:cNvSpPr>
          <p:nvPr/>
        </p:nvSpPr>
        <p:spPr>
          <a:xfrm xmlns:a="http://schemas.openxmlformats.org/drawingml/2006/main">
            <a:off x="628650" y="2628900"/>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That driver looks structural rather than temporary because the overhead pattern repeated across multiple closed years, not just one year [74]. By contrast, the 2003A to 2004A direct-margin jump included a 730 bps EBITDA margin expansion that did not fully hold, as gross margin then fell by 300 bps from 2004A to 2005A [74]. For a buyer, that means the profit level appears to rest more on scalable overhead control than on assuming another direct-margin jump [74].</a:t>
            </a:r>
          </a:p>
        </p:txBody>
      </p:sp>
      <p:sp>
        <p:nvSpPr>
          <p:cNvPr id="11" name="structure:prose-row">
            <a:extLst xmlns:a="http://schemas.openxmlformats.org/drawingml/2006/main">
              <a:ext uri="{FF2B5EF4-FFF2-40B4-BE49-F238E27FC236}">
                <a16:creationId xmlns:a16="http://schemas.microsoft.com/office/drawing/2014/main" id="{406E2152-84B3-4457-9280-EF2342F6C4BB}"/>
              </a:ext>
            </a:extLst>
          </p:cNvPr>
          <p:cNvSpPr>
            <a:spLocks xmlns:a="http://schemas.openxmlformats.org/drawingml/2006/main" noGrp="1"/>
          </p:cNvSpPr>
          <p:nvPr/>
        </p:nvSpPr>
        <p:spPr>
          <a:xfrm xmlns:a="http://schemas.openxmlformats.org/drawingml/2006/main">
            <a:off x="514350" y="3152775"/>
            <a:ext cx="111633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structure:row-divider">
            <a:extLst xmlns:a="http://schemas.openxmlformats.org/drawingml/2006/main">
              <a:ext uri="{FF2B5EF4-FFF2-40B4-BE49-F238E27FC236}">
                <a16:creationId xmlns:a16="http://schemas.microsoft.com/office/drawing/2014/main" id="{DBBF3C68-780A-499C-9BA9-BF08040C42FE}"/>
              </a:ext>
            </a:extLst>
          </p:cNvPr>
          <p:cNvSpPr>
            <a:spLocks xmlns:a="http://schemas.openxmlformats.org/drawingml/2006/main" noGrp="1"/>
          </p:cNvSpPr>
          <p:nvPr/>
        </p:nvSpPr>
        <p:spPr>
          <a:xfrm xmlns:a="http://schemas.openxmlformats.org/drawingml/2006/main">
            <a:off x="514350" y="38766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A5C2223-DB60-4667-8ED2-E8064C105D41}"/>
              </a:ext>
            </a:extLst>
          </p:cNvPr>
          <p:cNvSpPr>
            <a:spLocks xmlns:a="http://schemas.openxmlformats.org/drawingml/2006/main" noGrp="1"/>
          </p:cNvSpPr>
          <p:nvPr/>
        </p:nvSpPr>
        <p:spPr>
          <a:xfrm xmlns:a="http://schemas.openxmlformats.org/drawingml/2006/main">
            <a:off x="628650" y="3200400"/>
            <a:ext cx="109347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Earnings quality is strong in the latest closed year because recommended EBITDA and management-adjusted EBITDA are both $89.4M in 2005A, with nil identified add-backs, so there is no meaningful gap to underwrite away [74]. Earlier differences were small and mostly limited to 2003A, where recommended EBITDA is $45.0M versus management-adjusted EBITDA of $45.5M because only $0.9M of the asset-disposal loss supports normalization [74]. For a buyer, that means the latest closed-year EBITDA appears to be booked earnings rather than adjustment-driven profit [74].</a:t>
            </a:r>
          </a:p>
        </p:txBody>
      </p:sp>
      <p:graphicFrame>
        <p:nvGraphicFramePr>
          <p:cNvPr id="29" name="Chart"/>
          <p:cNvGraphicFramePr/>
          <p:nvPr/>
        </p:nvGraphicFramePr>
        <p:xfrm>
          <a:off xmlns:a="http://schemas.openxmlformats.org/drawingml/2006/main" x="514350" y="4038600"/>
          <a:ext xmlns:a="http://schemas.openxmlformats.org/drawingml/2006/main" cx="11163300" cy="2324100"/>
        </p:xfrm>
        <a:graphic xmlns:a="http://schemas.openxmlformats.org/drawingml/2006/main">
          <a:graphicData uri="http://schemas.openxmlformats.org/drawingml/2006/chart">
            <c:chart xmlns:r="http://schemas.openxmlformats.org/officeDocument/2006/relationships" xmlns:c="http://schemas.openxmlformats.org/drawingml/2006/chart" r:id="R88c18ef00c0f49d4"/>
          </a:graphicData>
        </a:graphic>
      </p:graphicFrame>
      <p:sp>
        <p:nvSpPr>
          <p:cNvPr id="15" name="">
            <a:extLst xmlns:a="http://schemas.openxmlformats.org/drawingml/2006/main">
              <a:ext uri="{FF2B5EF4-FFF2-40B4-BE49-F238E27FC236}">
                <a16:creationId xmlns:a16="http://schemas.microsoft.com/office/drawing/2014/main" id="{791170EC-A3F9-40EF-B1F1-6D15A15C1B20}"/>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15</a:t>
            </a:r>
          </a:p>
        </p:txBody>
      </p:sp>
    </p:spTree>
    <p:extLst>
      <p:ext uri="{BB962C8B-B14F-4D97-AF65-F5344CB8AC3E}">
        <p14:creationId xmlns:p14="http://schemas.microsoft.com/office/powerpoint/2010/main" val="205448020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2AAD45B2-A481-4054-9274-6B213932A12B}"/>
              </a:ext>
            </a:extLst>
          </p:cNvPr>
          <p:cNvSpPr>
            <a:spLocks xmlns:a="http://schemas.openxmlformats.org/drawingml/2006/main" noGrp="1"/>
          </p:cNvSpPr>
          <p:nvPr/>
        </p:nvSpPr>
        <p:spPr>
          <a:xfrm xmlns:a="http://schemas.openxmlformats.org/drawingml/2006/main">
            <a:off x="514350" y="266700"/>
            <a:ext cx="6667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b="1">
                <a:solidFill>
                  <a:srgbClr val="1F3864"/>
                </a:solidFill>
                <a:latin typeface="Calibri"/>
                <a:ea typeface="Calibri"/>
                <a:cs typeface="Calibri"/>
              </a:defRPr>
            </a:pPr>
            <a:r>
              <a:rPr sz="825" b="1">
                <a:solidFill>
                  <a:srgbClr val="1F3864"/>
                </a:solidFill>
                <a:latin typeface="Calibri"/>
                <a:ea typeface="Calibri"/>
                <a:cs typeface="Calibri"/>
              </a:rPr>
              <a:t>Projected Revenue Analysis</a:t>
            </a:r>
          </a:p>
        </p:txBody>
      </p:sp>
      <p:sp>
        <p:nvSpPr>
          <p:cNvPr id="2" name="">
            <a:extLst xmlns:a="http://schemas.openxmlformats.org/drawingml/2006/main">
              <a:ext uri="{FF2B5EF4-FFF2-40B4-BE49-F238E27FC236}">
                <a16:creationId xmlns:a16="http://schemas.microsoft.com/office/drawing/2014/main" id="{FEF27DD7-3F62-4C01-A3B3-B040887297A0}"/>
              </a:ext>
            </a:extLst>
          </p:cNvPr>
          <p:cNvSpPr>
            <a:spLocks xmlns:a="http://schemas.openxmlformats.org/drawingml/2006/main" noGrp="1"/>
          </p:cNvSpPr>
          <p:nvPr/>
        </p:nvSpPr>
        <p:spPr>
          <a:xfrm xmlns:a="http://schemas.openxmlformats.org/drawingml/2006/main">
            <a:off x="514350" y="45720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Net revenue, scenario paths against the management plan</a:t>
            </a:r>
          </a:p>
        </p:txBody>
      </p:sp>
      <p:sp>
        <p:nvSpPr>
          <p:cNvPr id="3" name="structure:prose-row">
            <a:extLst xmlns:a="http://schemas.openxmlformats.org/drawingml/2006/main">
              <a:ext uri="{FF2B5EF4-FFF2-40B4-BE49-F238E27FC236}">
                <a16:creationId xmlns:a16="http://schemas.microsoft.com/office/drawing/2014/main" id="{7D64AAD3-BC47-409B-AC86-58F9EB9CA3E3}"/>
              </a:ext>
            </a:extLst>
          </p:cNvPr>
          <p:cNvSpPr>
            <a:spLocks xmlns:a="http://schemas.openxmlformats.org/drawingml/2006/main" noGrp="1"/>
          </p:cNvSpPr>
          <p:nvPr/>
        </p:nvSpPr>
        <p:spPr>
          <a:xfrm xmlns:a="http://schemas.openxmlformats.org/drawingml/2006/main">
            <a:off x="514350" y="1066800"/>
            <a:ext cx="3771900" cy="1047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 name="structure:row-divider">
            <a:extLst xmlns:a="http://schemas.openxmlformats.org/drawingml/2006/main">
              <a:ext uri="{FF2B5EF4-FFF2-40B4-BE49-F238E27FC236}">
                <a16:creationId xmlns:a16="http://schemas.microsoft.com/office/drawing/2014/main" id="{979E3F9A-1028-4315-A74B-C7B7FDED0CF2}"/>
              </a:ext>
            </a:extLst>
          </p:cNvPr>
          <p:cNvSpPr>
            <a:spLocks xmlns:a="http://schemas.openxmlformats.org/drawingml/2006/main" noGrp="1"/>
          </p:cNvSpPr>
          <p:nvPr/>
        </p:nvSpPr>
        <p:spPr>
          <a:xfrm xmlns:a="http://schemas.openxmlformats.org/drawingml/2006/main">
            <a:off x="514350" y="2105025"/>
            <a:ext cx="37719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AB70B7-1008-48C8-981F-C6495281C727}"/>
              </a:ext>
            </a:extLst>
          </p:cNvPr>
          <p:cNvSpPr>
            <a:spLocks xmlns:a="http://schemas.openxmlformats.org/drawingml/2006/main" noGrp="1"/>
          </p:cNvSpPr>
          <p:nvPr/>
        </p:nvSpPr>
        <p:spPr>
          <a:xfrm xmlns:a="http://schemas.openxmlformats.org/drawingml/2006/main">
            <a:off x="628650" y="1114425"/>
            <a:ext cx="35433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Management's plan sits above our base case of $382.9M in 2006, $410.8M in 2007, and $433.9M in 2008, and above our upside case of $389.9M in 2006, $426.2M in 2007, and $457.4M in 2008. That is the plan-credibility finding, and it holds across all three years without turning the gap into a tested disagreement with management.</a:t>
            </a:r>
          </a:p>
        </p:txBody>
      </p:sp>
      <p:sp>
        <p:nvSpPr>
          <p:cNvPr id="6" name="structure:prose-row">
            <a:extLst xmlns:a="http://schemas.openxmlformats.org/drawingml/2006/main">
              <a:ext uri="{FF2B5EF4-FFF2-40B4-BE49-F238E27FC236}">
                <a16:creationId xmlns:a16="http://schemas.microsoft.com/office/drawing/2014/main" id="{DE30DFB0-5C34-415C-BD4D-7B836FE1D51A}"/>
              </a:ext>
            </a:extLst>
          </p:cNvPr>
          <p:cNvSpPr>
            <a:spLocks xmlns:a="http://schemas.openxmlformats.org/drawingml/2006/main" noGrp="1"/>
          </p:cNvSpPr>
          <p:nvPr/>
        </p:nvSpPr>
        <p:spPr>
          <a:xfrm xmlns:a="http://schemas.openxmlformats.org/drawingml/2006/main">
            <a:off x="514350" y="2114550"/>
            <a:ext cx="3771900" cy="120967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7" name="structure:row-divider">
            <a:extLst xmlns:a="http://schemas.openxmlformats.org/drawingml/2006/main">
              <a:ext uri="{FF2B5EF4-FFF2-40B4-BE49-F238E27FC236}">
                <a16:creationId xmlns:a16="http://schemas.microsoft.com/office/drawing/2014/main" id="{DD35B8B5-66C7-46BD-8FF8-633792272032}"/>
              </a:ext>
            </a:extLst>
          </p:cNvPr>
          <p:cNvSpPr>
            <a:spLocks xmlns:a="http://schemas.openxmlformats.org/drawingml/2006/main" noGrp="1"/>
          </p:cNvSpPr>
          <p:nvPr/>
        </p:nvSpPr>
        <p:spPr>
          <a:xfrm xmlns:a="http://schemas.openxmlformats.org/drawingml/2006/main">
            <a:off x="514350" y="3314700"/>
            <a:ext cx="37719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E7FF9BB-C157-4408-B131-808A57D2E75C}"/>
              </a:ext>
            </a:extLst>
          </p:cNvPr>
          <p:cNvSpPr>
            <a:spLocks xmlns:a="http://schemas.openxmlformats.org/drawingml/2006/main" noGrp="1"/>
          </p:cNvSpPr>
          <p:nvPr/>
        </p:nvSpPr>
        <p:spPr>
          <a:xfrm xmlns:a="http://schemas.openxmlformats.org/drawingml/2006/main">
            <a:off x="628650" y="2162175"/>
            <a:ext cx="35433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For the plan to land, the business has to deliver beyond the published upside build: the upper end of the stated line-level growth range must hold, and the Aquarius-led portfolio change must translate into sustained operating acceleration[60]. In other words, the forecast only works if the operating build is stronger than the disclosed upside case already assumes.</a:t>
            </a:r>
          </a:p>
        </p:txBody>
      </p:sp>
      <p:graphicFrame>
        <p:nvGraphicFramePr>
          <p:cNvPr id="53" name="Chart"/>
          <p:cNvGraphicFramePr/>
          <p:nvPr/>
        </p:nvGraphicFramePr>
        <p:xfrm>
          <a:off xmlns:a="http://schemas.openxmlformats.org/drawingml/2006/main" x="4514850" y="1066800"/>
          <a:ext xmlns:a="http://schemas.openxmlformats.org/drawingml/2006/main" cx="7162800" cy="2800350"/>
        </p:xfrm>
        <a:graphic xmlns:a="http://schemas.openxmlformats.org/drawingml/2006/main">
          <a:graphicData uri="http://schemas.openxmlformats.org/drawingml/2006/chart">
            <c:chart xmlns:r="http://schemas.openxmlformats.org/officeDocument/2006/relationships" xmlns:c="http://schemas.openxmlformats.org/drawingml/2006/chart" r:id="R83b07133224345ef"/>
          </a:graphicData>
        </a:graphic>
      </p:graphicFrame>
      <p:sp>
        <p:nvSpPr>
          <p:cNvPr id="10" name="">
            <a:extLst xmlns:a="http://schemas.openxmlformats.org/drawingml/2006/main">
              <a:ext uri="{FF2B5EF4-FFF2-40B4-BE49-F238E27FC236}">
                <a16:creationId xmlns:a16="http://schemas.microsoft.com/office/drawing/2014/main" id="{6CC6099B-0F51-4EFB-BDE7-99FADAD265CA}"/>
              </a:ext>
            </a:extLst>
          </p:cNvPr>
          <p:cNvSpPr>
            <a:spLocks xmlns:a="http://schemas.openxmlformats.org/drawingml/2006/main" noGrp="1"/>
          </p:cNvSpPr>
          <p:nvPr/>
        </p:nvSpPr>
        <p:spPr>
          <a:xfrm xmlns:a="http://schemas.openxmlformats.org/drawingml/2006/main">
            <a:off x="6096000" y="1721320"/>
            <a:ext cx="76200" cy="0"/>
          </a:xfrm>
          <a:prstGeom xmlns:a="http://schemas.openxmlformats.org/drawingml/2006/main" prst="line">
            <a:avLst/>
          </a:prstGeom>
          <a:noFill xmlns:a="http://schemas.openxmlformats.org/drawingml/2006/main"/>
          <a:ln xmlns:a="http://schemas.openxmlformats.org/drawingml/2006/main" w="9525">
            <a:solidFill>
              <a:srgbClr val="1F3864"/>
            </a:solidFill>
            <a:prstDash val="solid"/>
          </a:ln>
        </p:spPr>
      </p:sp>
      <p:sp>
        <p:nvSpPr>
          <p:cNvPr id="11" name="">
            <a:extLst xmlns:a="http://schemas.openxmlformats.org/drawingml/2006/main">
              <a:ext uri="{FF2B5EF4-FFF2-40B4-BE49-F238E27FC236}">
                <a16:creationId xmlns:a16="http://schemas.microsoft.com/office/drawing/2014/main" id="{F0C127A6-CE0C-4251-8A28-E048304347CB}"/>
              </a:ext>
            </a:extLst>
          </p:cNvPr>
          <p:cNvSpPr>
            <a:spLocks xmlns:a="http://schemas.openxmlformats.org/drawingml/2006/main" noGrp="1"/>
          </p:cNvSpPr>
          <p:nvPr/>
        </p:nvSpPr>
        <p:spPr>
          <a:xfrm xmlns:a="http://schemas.openxmlformats.org/drawingml/2006/main">
            <a:off x="6172200" y="1616545"/>
            <a:ext cx="752475"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1F3864"/>
                </a:solidFill>
                <a:latin typeface="Calibri"/>
                <a:ea typeface="Calibri"/>
                <a:cs typeface="Calibri"/>
              </a:defRPr>
            </a:pPr>
            <a:r>
              <a:rPr sz="825" b="1">
                <a:solidFill>
                  <a:srgbClr val="1F3864"/>
                </a:solidFill>
                <a:latin typeface="Calibri"/>
                <a:ea typeface="Calibri"/>
                <a:cs typeface="Calibri"/>
              </a:rPr>
              <a:t>Down $350.3M</a:t>
            </a:r>
          </a:p>
        </p:txBody>
      </p:sp>
      <p:sp>
        <p:nvSpPr>
          <p:cNvPr id="12" name="">
            <a:extLst xmlns:a="http://schemas.openxmlformats.org/drawingml/2006/main">
              <a:ext uri="{FF2B5EF4-FFF2-40B4-BE49-F238E27FC236}">
                <a16:creationId xmlns:a16="http://schemas.microsoft.com/office/drawing/2014/main" id="{01559AE0-E4D7-4F82-8285-B7A948D43B2E}"/>
              </a:ext>
            </a:extLst>
          </p:cNvPr>
          <p:cNvSpPr>
            <a:spLocks xmlns:a="http://schemas.openxmlformats.org/drawingml/2006/main" noGrp="1"/>
          </p:cNvSpPr>
          <p:nvPr/>
        </p:nvSpPr>
        <p:spPr>
          <a:xfrm xmlns:a="http://schemas.openxmlformats.org/drawingml/2006/main">
            <a:off x="6096000" y="1721320"/>
            <a:ext cx="76200" cy="238125"/>
          </a:xfrm>
          <a:prstGeom xmlns:a="http://schemas.openxmlformats.org/drawingml/2006/main" prst="line">
            <a:avLst/>
          </a:prstGeom>
          <a:noFill xmlns:a="http://schemas.openxmlformats.org/drawingml/2006/main"/>
          <a:ln xmlns:a="http://schemas.openxmlformats.org/drawingml/2006/main" w="9525">
            <a:solidFill>
              <a:srgbClr val="2E6DA4"/>
            </a:solidFill>
            <a:prstDash val="solid"/>
          </a:ln>
        </p:spPr>
      </p:sp>
      <p:sp>
        <p:nvSpPr>
          <p:cNvPr id="13" name="">
            <a:extLst xmlns:a="http://schemas.openxmlformats.org/drawingml/2006/main">
              <a:ext uri="{FF2B5EF4-FFF2-40B4-BE49-F238E27FC236}">
                <a16:creationId xmlns:a16="http://schemas.microsoft.com/office/drawing/2014/main" id="{D614B941-1055-4DE4-B483-724667203A72}"/>
              </a:ext>
            </a:extLst>
          </p:cNvPr>
          <p:cNvSpPr>
            <a:spLocks xmlns:a="http://schemas.openxmlformats.org/drawingml/2006/main" noGrp="1"/>
          </p:cNvSpPr>
          <p:nvPr/>
        </p:nvSpPr>
        <p:spPr>
          <a:xfrm xmlns:a="http://schemas.openxmlformats.org/drawingml/2006/main">
            <a:off x="6172200" y="1854670"/>
            <a:ext cx="752475"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2E6DA4"/>
                </a:solidFill>
                <a:latin typeface="Calibri"/>
                <a:ea typeface="Calibri"/>
                <a:cs typeface="Calibri"/>
              </a:defRPr>
            </a:pPr>
            <a:r>
              <a:rPr sz="825" b="1">
                <a:solidFill>
                  <a:srgbClr val="2E6DA4"/>
                </a:solidFill>
                <a:latin typeface="Calibri"/>
                <a:ea typeface="Calibri"/>
                <a:cs typeface="Calibri"/>
              </a:rPr>
              <a:t>Base $350.3M</a:t>
            </a:r>
          </a:p>
        </p:txBody>
      </p:sp>
      <p:sp>
        <p:nvSpPr>
          <p:cNvPr id="14" name="">
            <a:extLst xmlns:a="http://schemas.openxmlformats.org/drawingml/2006/main">
              <a:ext uri="{FF2B5EF4-FFF2-40B4-BE49-F238E27FC236}">
                <a16:creationId xmlns:a16="http://schemas.microsoft.com/office/drawing/2014/main" id="{CA743613-7F0E-40C1-990B-2D3922961AE0}"/>
              </a:ext>
            </a:extLst>
          </p:cNvPr>
          <p:cNvSpPr>
            <a:spLocks xmlns:a="http://schemas.openxmlformats.org/drawingml/2006/main" noGrp="1"/>
          </p:cNvSpPr>
          <p:nvPr/>
        </p:nvSpPr>
        <p:spPr>
          <a:xfrm xmlns:a="http://schemas.openxmlformats.org/drawingml/2006/main">
            <a:off x="6096000" y="1721320"/>
            <a:ext cx="76200" cy="476250"/>
          </a:xfrm>
          <a:prstGeom xmlns:a="http://schemas.openxmlformats.org/drawingml/2006/main" prst="line">
            <a:avLst/>
          </a:prstGeom>
          <a:noFill xmlns:a="http://schemas.openxmlformats.org/drawingml/2006/main"/>
          <a:ln xmlns:a="http://schemas.openxmlformats.org/drawingml/2006/main" w="9525">
            <a:solidFill>
              <a:srgbClr val="6E9BC5"/>
            </a:solidFill>
            <a:prstDash val="solid"/>
          </a:ln>
        </p:spPr>
      </p:sp>
      <p:sp>
        <p:nvSpPr>
          <p:cNvPr id="15" name="">
            <a:extLst xmlns:a="http://schemas.openxmlformats.org/drawingml/2006/main">
              <a:ext uri="{FF2B5EF4-FFF2-40B4-BE49-F238E27FC236}">
                <a16:creationId xmlns:a16="http://schemas.microsoft.com/office/drawing/2014/main" id="{E800A7F2-E841-469B-966E-9CE8E19A0BE4}"/>
              </a:ext>
            </a:extLst>
          </p:cNvPr>
          <p:cNvSpPr>
            <a:spLocks xmlns:a="http://schemas.openxmlformats.org/drawingml/2006/main" noGrp="1"/>
          </p:cNvSpPr>
          <p:nvPr/>
        </p:nvSpPr>
        <p:spPr>
          <a:xfrm xmlns:a="http://schemas.openxmlformats.org/drawingml/2006/main">
            <a:off x="6172200" y="2092795"/>
            <a:ext cx="647700"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6E9BC5"/>
                </a:solidFill>
                <a:latin typeface="Calibri"/>
                <a:ea typeface="Calibri"/>
                <a:cs typeface="Calibri"/>
              </a:defRPr>
            </a:pPr>
            <a:r>
              <a:rPr sz="825" b="1">
                <a:solidFill>
                  <a:srgbClr val="6E9BC5"/>
                </a:solidFill>
                <a:latin typeface="Calibri"/>
                <a:ea typeface="Calibri"/>
                <a:cs typeface="Calibri"/>
              </a:rPr>
              <a:t>Up $350.3M</a:t>
            </a:r>
          </a:p>
        </p:txBody>
      </p:sp>
      <p:sp>
        <p:nvSpPr>
          <p:cNvPr id="16" name="">
            <a:extLst xmlns:a="http://schemas.openxmlformats.org/drawingml/2006/main">
              <a:ext uri="{FF2B5EF4-FFF2-40B4-BE49-F238E27FC236}">
                <a16:creationId xmlns:a16="http://schemas.microsoft.com/office/drawing/2014/main" id="{EA6E681C-B975-4D50-A8C2-4A1F6D7F0DFF}"/>
              </a:ext>
            </a:extLst>
          </p:cNvPr>
          <p:cNvSpPr>
            <a:spLocks xmlns:a="http://schemas.openxmlformats.org/drawingml/2006/main" noGrp="1"/>
          </p:cNvSpPr>
          <p:nvPr/>
        </p:nvSpPr>
        <p:spPr>
          <a:xfrm xmlns:a="http://schemas.openxmlformats.org/drawingml/2006/main">
            <a:off x="6096000" y="1721320"/>
            <a:ext cx="76200" cy="714375"/>
          </a:xfrm>
          <a:prstGeom xmlns:a="http://schemas.openxmlformats.org/drawingml/2006/main" prst="line">
            <a:avLst/>
          </a:prstGeom>
          <a:noFill xmlns:a="http://schemas.openxmlformats.org/drawingml/2006/main"/>
          <a:ln xmlns:a="http://schemas.openxmlformats.org/drawingml/2006/main" w="9525">
            <a:solidFill>
              <a:srgbClr val="8A99AC"/>
            </a:solidFill>
            <a:prstDash val="solid"/>
          </a:ln>
        </p:spPr>
      </p:sp>
      <p:sp>
        <p:nvSpPr>
          <p:cNvPr id="17" name="">
            <a:extLst xmlns:a="http://schemas.openxmlformats.org/drawingml/2006/main">
              <a:ext uri="{FF2B5EF4-FFF2-40B4-BE49-F238E27FC236}">
                <a16:creationId xmlns:a16="http://schemas.microsoft.com/office/drawing/2014/main" id="{FE1668A2-3B5B-405D-B7EA-D41B218BCB24}"/>
              </a:ext>
            </a:extLst>
          </p:cNvPr>
          <p:cNvSpPr>
            <a:spLocks xmlns:a="http://schemas.openxmlformats.org/drawingml/2006/main" noGrp="1"/>
          </p:cNvSpPr>
          <p:nvPr/>
        </p:nvSpPr>
        <p:spPr>
          <a:xfrm xmlns:a="http://schemas.openxmlformats.org/drawingml/2006/main">
            <a:off x="6172200" y="2330920"/>
            <a:ext cx="752475"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8A99AC"/>
                </a:solidFill>
                <a:latin typeface="Calibri"/>
                <a:ea typeface="Calibri"/>
                <a:cs typeface="Calibri"/>
              </a:defRPr>
            </a:pPr>
            <a:r>
              <a:rPr sz="825" b="1">
                <a:solidFill>
                  <a:srgbClr val="8A99AC"/>
                </a:solidFill>
                <a:latin typeface="Calibri"/>
                <a:ea typeface="Calibri"/>
                <a:cs typeface="Calibri"/>
              </a:rPr>
              <a:t>Mgmt $350.3M</a:t>
            </a:r>
          </a:p>
        </p:txBody>
      </p:sp>
      <p:sp>
        <p:nvSpPr>
          <p:cNvPr id="18" name="">
            <a:extLst xmlns:a="http://schemas.openxmlformats.org/drawingml/2006/main">
              <a:ext uri="{FF2B5EF4-FFF2-40B4-BE49-F238E27FC236}">
                <a16:creationId xmlns:a16="http://schemas.microsoft.com/office/drawing/2014/main" id="{28F3B3CB-467A-414E-84D5-315BAB13D1CF}"/>
              </a:ext>
            </a:extLst>
          </p:cNvPr>
          <p:cNvSpPr>
            <a:spLocks xmlns:a="http://schemas.openxmlformats.org/drawingml/2006/main" noGrp="1"/>
          </p:cNvSpPr>
          <p:nvPr/>
        </p:nvSpPr>
        <p:spPr>
          <a:xfrm xmlns:a="http://schemas.openxmlformats.org/drawingml/2006/main">
            <a:off x="7639050" y="1373114"/>
            <a:ext cx="76200" cy="0"/>
          </a:xfrm>
          <a:prstGeom xmlns:a="http://schemas.openxmlformats.org/drawingml/2006/main" prst="line">
            <a:avLst/>
          </a:prstGeom>
          <a:noFill xmlns:a="http://schemas.openxmlformats.org/drawingml/2006/main"/>
          <a:ln xmlns:a="http://schemas.openxmlformats.org/drawingml/2006/main" w="9525">
            <a:solidFill>
              <a:srgbClr val="8A99AC"/>
            </a:solidFill>
            <a:prstDash val="solid"/>
          </a:ln>
        </p:spPr>
      </p:sp>
      <p:sp>
        <p:nvSpPr>
          <p:cNvPr id="19" name="">
            <a:extLst xmlns:a="http://schemas.openxmlformats.org/drawingml/2006/main">
              <a:ext uri="{FF2B5EF4-FFF2-40B4-BE49-F238E27FC236}">
                <a16:creationId xmlns:a16="http://schemas.microsoft.com/office/drawing/2014/main" id="{6358081B-31B5-4148-BB89-7CA77B70E779}"/>
              </a:ext>
            </a:extLst>
          </p:cNvPr>
          <p:cNvSpPr>
            <a:spLocks xmlns:a="http://schemas.openxmlformats.org/drawingml/2006/main" noGrp="1"/>
          </p:cNvSpPr>
          <p:nvPr/>
        </p:nvSpPr>
        <p:spPr>
          <a:xfrm xmlns:a="http://schemas.openxmlformats.org/drawingml/2006/main">
            <a:off x="7715250" y="1268339"/>
            <a:ext cx="752475"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8A99AC"/>
                </a:solidFill>
                <a:latin typeface="Calibri"/>
                <a:ea typeface="Calibri"/>
                <a:cs typeface="Calibri"/>
              </a:defRPr>
            </a:pPr>
            <a:r>
              <a:rPr sz="825" b="1">
                <a:solidFill>
                  <a:srgbClr val="8A99AC"/>
                </a:solidFill>
                <a:latin typeface="Calibri"/>
                <a:ea typeface="Calibri"/>
                <a:cs typeface="Calibri"/>
              </a:rPr>
              <a:t>Mgmt $429.7M</a:t>
            </a:r>
          </a:p>
        </p:txBody>
      </p:sp>
      <p:sp>
        <p:nvSpPr>
          <p:cNvPr id="20" name="">
            <a:extLst xmlns:a="http://schemas.openxmlformats.org/drawingml/2006/main">
              <a:ext uri="{FF2B5EF4-FFF2-40B4-BE49-F238E27FC236}">
                <a16:creationId xmlns:a16="http://schemas.microsoft.com/office/drawing/2014/main" id="{8488ED2E-58A6-44B0-9FC1-49A59406962D}"/>
              </a:ext>
            </a:extLst>
          </p:cNvPr>
          <p:cNvSpPr>
            <a:spLocks xmlns:a="http://schemas.openxmlformats.org/drawingml/2006/main" noGrp="1"/>
          </p:cNvSpPr>
          <p:nvPr/>
        </p:nvSpPr>
        <p:spPr>
          <a:xfrm xmlns:a="http://schemas.openxmlformats.org/drawingml/2006/main">
            <a:off x="7639050" y="1547656"/>
            <a:ext cx="76200" cy="63583"/>
          </a:xfrm>
          <a:prstGeom xmlns:a="http://schemas.openxmlformats.org/drawingml/2006/main" prst="line">
            <a:avLst/>
          </a:prstGeom>
          <a:noFill xmlns:a="http://schemas.openxmlformats.org/drawingml/2006/main"/>
          <a:ln xmlns:a="http://schemas.openxmlformats.org/drawingml/2006/main" w="9525">
            <a:solidFill>
              <a:srgbClr val="6E9BC5"/>
            </a:solidFill>
            <a:prstDash val="solid"/>
          </a:ln>
        </p:spPr>
      </p:sp>
      <p:sp>
        <p:nvSpPr>
          <p:cNvPr id="21" name="">
            <a:extLst xmlns:a="http://schemas.openxmlformats.org/drawingml/2006/main">
              <a:ext uri="{FF2B5EF4-FFF2-40B4-BE49-F238E27FC236}">
                <a16:creationId xmlns:a16="http://schemas.microsoft.com/office/drawing/2014/main" id="{BCFF47FE-9458-4E25-974A-7CFE8168F3C2}"/>
              </a:ext>
            </a:extLst>
          </p:cNvPr>
          <p:cNvSpPr>
            <a:spLocks xmlns:a="http://schemas.openxmlformats.org/drawingml/2006/main" noGrp="1"/>
          </p:cNvSpPr>
          <p:nvPr/>
        </p:nvSpPr>
        <p:spPr>
          <a:xfrm xmlns:a="http://schemas.openxmlformats.org/drawingml/2006/main">
            <a:off x="7715250" y="1506464"/>
            <a:ext cx="647700"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6E9BC5"/>
                </a:solidFill>
                <a:latin typeface="Calibri"/>
                <a:ea typeface="Calibri"/>
                <a:cs typeface="Calibri"/>
              </a:defRPr>
            </a:pPr>
            <a:r>
              <a:rPr sz="825" b="1">
                <a:solidFill>
                  <a:srgbClr val="6E9BC5"/>
                </a:solidFill>
                <a:latin typeface="Calibri"/>
                <a:ea typeface="Calibri"/>
                <a:cs typeface="Calibri"/>
              </a:rPr>
              <a:t>Up $389.9M</a:t>
            </a:r>
          </a:p>
        </p:txBody>
      </p:sp>
      <p:sp>
        <p:nvSpPr>
          <p:cNvPr id="22" name="">
            <a:extLst xmlns:a="http://schemas.openxmlformats.org/drawingml/2006/main">
              <a:ext uri="{FF2B5EF4-FFF2-40B4-BE49-F238E27FC236}">
                <a16:creationId xmlns:a16="http://schemas.microsoft.com/office/drawing/2014/main" id="{D01B95A0-721A-4362-9975-0006B56BD9E9}"/>
              </a:ext>
            </a:extLst>
          </p:cNvPr>
          <p:cNvSpPr>
            <a:spLocks xmlns:a="http://schemas.openxmlformats.org/drawingml/2006/main" noGrp="1"/>
          </p:cNvSpPr>
          <p:nvPr/>
        </p:nvSpPr>
        <p:spPr>
          <a:xfrm xmlns:a="http://schemas.openxmlformats.org/drawingml/2006/main">
            <a:off x="7639050" y="1578354"/>
            <a:ext cx="76200" cy="271010"/>
          </a:xfrm>
          <a:prstGeom xmlns:a="http://schemas.openxmlformats.org/drawingml/2006/main" prst="line">
            <a:avLst/>
          </a:prstGeom>
          <a:noFill xmlns:a="http://schemas.openxmlformats.org/drawingml/2006/main"/>
          <a:ln xmlns:a="http://schemas.openxmlformats.org/drawingml/2006/main" w="9525">
            <a:solidFill>
              <a:srgbClr val="2E6DA4"/>
            </a:solidFill>
            <a:prstDash val="solid"/>
          </a:ln>
        </p:spPr>
      </p:sp>
      <p:sp>
        <p:nvSpPr>
          <p:cNvPr id="23" name="">
            <a:extLst xmlns:a="http://schemas.openxmlformats.org/drawingml/2006/main">
              <a:ext uri="{FF2B5EF4-FFF2-40B4-BE49-F238E27FC236}">
                <a16:creationId xmlns:a16="http://schemas.microsoft.com/office/drawing/2014/main" id="{D70C5C45-8818-4874-994A-0A0BDC46A5CC}"/>
              </a:ext>
            </a:extLst>
          </p:cNvPr>
          <p:cNvSpPr>
            <a:spLocks xmlns:a="http://schemas.openxmlformats.org/drawingml/2006/main" noGrp="1"/>
          </p:cNvSpPr>
          <p:nvPr/>
        </p:nvSpPr>
        <p:spPr>
          <a:xfrm xmlns:a="http://schemas.openxmlformats.org/drawingml/2006/main">
            <a:off x="7715250" y="1744589"/>
            <a:ext cx="752475"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2E6DA4"/>
                </a:solidFill>
                <a:latin typeface="Calibri"/>
                <a:ea typeface="Calibri"/>
                <a:cs typeface="Calibri"/>
              </a:defRPr>
            </a:pPr>
            <a:r>
              <a:rPr sz="825" b="1">
                <a:solidFill>
                  <a:srgbClr val="2E6DA4"/>
                </a:solidFill>
                <a:latin typeface="Calibri"/>
                <a:ea typeface="Calibri"/>
                <a:cs typeface="Calibri"/>
              </a:rPr>
              <a:t>Base $382.9M</a:t>
            </a:r>
          </a:p>
        </p:txBody>
      </p:sp>
      <p:sp>
        <p:nvSpPr>
          <p:cNvPr id="24" name="">
            <a:extLst xmlns:a="http://schemas.openxmlformats.org/drawingml/2006/main">
              <a:ext uri="{FF2B5EF4-FFF2-40B4-BE49-F238E27FC236}">
                <a16:creationId xmlns:a16="http://schemas.microsoft.com/office/drawing/2014/main" id="{1EBA14C1-1AD8-4097-B55F-16E10E7AE529}"/>
              </a:ext>
            </a:extLst>
          </p:cNvPr>
          <p:cNvSpPr>
            <a:spLocks xmlns:a="http://schemas.openxmlformats.org/drawingml/2006/main" noGrp="1"/>
          </p:cNvSpPr>
          <p:nvPr/>
        </p:nvSpPr>
        <p:spPr>
          <a:xfrm xmlns:a="http://schemas.openxmlformats.org/drawingml/2006/main">
            <a:off x="7639050" y="1603790"/>
            <a:ext cx="76200" cy="483699"/>
          </a:xfrm>
          <a:prstGeom xmlns:a="http://schemas.openxmlformats.org/drawingml/2006/main" prst="line">
            <a:avLst/>
          </a:prstGeom>
          <a:noFill xmlns:a="http://schemas.openxmlformats.org/drawingml/2006/main"/>
          <a:ln xmlns:a="http://schemas.openxmlformats.org/drawingml/2006/main" w="9525">
            <a:solidFill>
              <a:srgbClr val="1F3864"/>
            </a:solidFill>
            <a:prstDash val="solid"/>
          </a:ln>
        </p:spPr>
      </p:sp>
      <p:sp>
        <p:nvSpPr>
          <p:cNvPr id="25" name="">
            <a:extLst xmlns:a="http://schemas.openxmlformats.org/drawingml/2006/main">
              <a:ext uri="{FF2B5EF4-FFF2-40B4-BE49-F238E27FC236}">
                <a16:creationId xmlns:a16="http://schemas.microsoft.com/office/drawing/2014/main" id="{3077E6C9-D4FB-4889-B0FD-CBAF4BD9373F}"/>
              </a:ext>
            </a:extLst>
          </p:cNvPr>
          <p:cNvSpPr>
            <a:spLocks xmlns:a="http://schemas.openxmlformats.org/drawingml/2006/main" noGrp="1"/>
          </p:cNvSpPr>
          <p:nvPr/>
        </p:nvSpPr>
        <p:spPr>
          <a:xfrm xmlns:a="http://schemas.openxmlformats.org/drawingml/2006/main">
            <a:off x="7715250" y="1982714"/>
            <a:ext cx="752475"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1F3864"/>
                </a:solidFill>
                <a:latin typeface="Calibri"/>
                <a:ea typeface="Calibri"/>
                <a:cs typeface="Calibri"/>
              </a:defRPr>
            </a:pPr>
            <a:r>
              <a:rPr sz="825" b="1">
                <a:solidFill>
                  <a:srgbClr val="1F3864"/>
                </a:solidFill>
                <a:latin typeface="Calibri"/>
                <a:ea typeface="Calibri"/>
                <a:cs typeface="Calibri"/>
              </a:rPr>
              <a:t>Down $377.1M</a:t>
            </a:r>
          </a:p>
        </p:txBody>
      </p:sp>
      <p:sp>
        <p:nvSpPr>
          <p:cNvPr id="26" name="">
            <a:extLst xmlns:a="http://schemas.openxmlformats.org/drawingml/2006/main">
              <a:ext uri="{FF2B5EF4-FFF2-40B4-BE49-F238E27FC236}">
                <a16:creationId xmlns:a16="http://schemas.microsoft.com/office/drawing/2014/main" id="{16AA0FE8-0BC7-417C-B351-1563AC8FFC72}"/>
              </a:ext>
            </a:extLst>
          </p:cNvPr>
          <p:cNvSpPr>
            <a:spLocks xmlns:a="http://schemas.openxmlformats.org/drawingml/2006/main" noGrp="1"/>
          </p:cNvSpPr>
          <p:nvPr/>
        </p:nvSpPr>
        <p:spPr>
          <a:xfrm xmlns:a="http://schemas.openxmlformats.org/drawingml/2006/main">
            <a:off x="9182100" y="1280142"/>
            <a:ext cx="76200" cy="0"/>
          </a:xfrm>
          <a:prstGeom xmlns:a="http://schemas.openxmlformats.org/drawingml/2006/main" prst="line">
            <a:avLst/>
          </a:prstGeom>
          <a:noFill xmlns:a="http://schemas.openxmlformats.org/drawingml/2006/main"/>
          <a:ln xmlns:a="http://schemas.openxmlformats.org/drawingml/2006/main" w="9525">
            <a:solidFill>
              <a:srgbClr val="8A99AC"/>
            </a:solidFill>
            <a:prstDash val="solid"/>
          </a:ln>
        </p:spPr>
      </p:sp>
      <p:sp>
        <p:nvSpPr>
          <p:cNvPr id="27" name="">
            <a:extLst xmlns:a="http://schemas.openxmlformats.org/drawingml/2006/main">
              <a:ext uri="{FF2B5EF4-FFF2-40B4-BE49-F238E27FC236}">
                <a16:creationId xmlns:a16="http://schemas.microsoft.com/office/drawing/2014/main" id="{85E309A6-EB73-4CB9-946D-C124B5E24BA1}"/>
              </a:ext>
            </a:extLst>
          </p:cNvPr>
          <p:cNvSpPr>
            <a:spLocks xmlns:a="http://schemas.openxmlformats.org/drawingml/2006/main" noGrp="1"/>
          </p:cNvSpPr>
          <p:nvPr/>
        </p:nvSpPr>
        <p:spPr>
          <a:xfrm xmlns:a="http://schemas.openxmlformats.org/drawingml/2006/main">
            <a:off x="9258300" y="1175367"/>
            <a:ext cx="752475"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8A99AC"/>
                </a:solidFill>
                <a:latin typeface="Calibri"/>
                <a:ea typeface="Calibri"/>
                <a:cs typeface="Calibri"/>
              </a:defRPr>
            </a:pPr>
            <a:r>
              <a:rPr sz="825" b="1">
                <a:solidFill>
                  <a:srgbClr val="8A99AC"/>
                </a:solidFill>
                <a:latin typeface="Calibri"/>
                <a:ea typeface="Calibri"/>
                <a:cs typeface="Calibri"/>
              </a:rPr>
              <a:t>Mgmt $450.9M</a:t>
            </a:r>
          </a:p>
        </p:txBody>
      </p:sp>
      <p:sp>
        <p:nvSpPr>
          <p:cNvPr id="28" name="">
            <a:extLst xmlns:a="http://schemas.openxmlformats.org/drawingml/2006/main">
              <a:ext uri="{FF2B5EF4-FFF2-40B4-BE49-F238E27FC236}">
                <a16:creationId xmlns:a16="http://schemas.microsoft.com/office/drawing/2014/main" id="{D845E5DB-D36A-43F8-986C-C7BEE8D347D6}"/>
              </a:ext>
            </a:extLst>
          </p:cNvPr>
          <p:cNvSpPr>
            <a:spLocks xmlns:a="http://schemas.openxmlformats.org/drawingml/2006/main" noGrp="1"/>
          </p:cNvSpPr>
          <p:nvPr/>
        </p:nvSpPr>
        <p:spPr>
          <a:xfrm xmlns:a="http://schemas.openxmlformats.org/drawingml/2006/main">
            <a:off x="9182100" y="1388463"/>
            <a:ext cx="76200" cy="129804"/>
          </a:xfrm>
          <a:prstGeom xmlns:a="http://schemas.openxmlformats.org/drawingml/2006/main" prst="line">
            <a:avLst/>
          </a:prstGeom>
          <a:noFill xmlns:a="http://schemas.openxmlformats.org/drawingml/2006/main"/>
          <a:ln xmlns:a="http://schemas.openxmlformats.org/drawingml/2006/main" w="9525">
            <a:solidFill>
              <a:srgbClr val="6E9BC5"/>
            </a:solidFill>
            <a:prstDash val="solid"/>
          </a:ln>
        </p:spPr>
      </p:sp>
      <p:sp>
        <p:nvSpPr>
          <p:cNvPr id="29" name="">
            <a:extLst xmlns:a="http://schemas.openxmlformats.org/drawingml/2006/main">
              <a:ext uri="{FF2B5EF4-FFF2-40B4-BE49-F238E27FC236}">
                <a16:creationId xmlns:a16="http://schemas.microsoft.com/office/drawing/2014/main" id="{FED15F21-877F-4BCB-93EA-42F4A563498B}"/>
              </a:ext>
            </a:extLst>
          </p:cNvPr>
          <p:cNvSpPr>
            <a:spLocks xmlns:a="http://schemas.openxmlformats.org/drawingml/2006/main" noGrp="1"/>
          </p:cNvSpPr>
          <p:nvPr/>
        </p:nvSpPr>
        <p:spPr>
          <a:xfrm xmlns:a="http://schemas.openxmlformats.org/drawingml/2006/main">
            <a:off x="9258300" y="1413492"/>
            <a:ext cx="647700"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6E9BC5"/>
                </a:solidFill>
                <a:latin typeface="Calibri"/>
                <a:ea typeface="Calibri"/>
                <a:cs typeface="Calibri"/>
              </a:defRPr>
            </a:pPr>
            <a:r>
              <a:rPr sz="825" b="1">
                <a:solidFill>
                  <a:srgbClr val="6E9BC5"/>
                </a:solidFill>
                <a:latin typeface="Calibri"/>
                <a:ea typeface="Calibri"/>
                <a:cs typeface="Calibri"/>
              </a:rPr>
              <a:t>Up $426.2M</a:t>
            </a:r>
          </a:p>
        </p:txBody>
      </p:sp>
      <p:sp>
        <p:nvSpPr>
          <p:cNvPr id="30" name="">
            <a:extLst xmlns:a="http://schemas.openxmlformats.org/drawingml/2006/main">
              <a:ext uri="{FF2B5EF4-FFF2-40B4-BE49-F238E27FC236}">
                <a16:creationId xmlns:a16="http://schemas.microsoft.com/office/drawing/2014/main" id="{81CE2C90-A3DE-47E7-A58B-62F314897E44}"/>
              </a:ext>
            </a:extLst>
          </p:cNvPr>
          <p:cNvSpPr>
            <a:spLocks xmlns:a="http://schemas.openxmlformats.org/drawingml/2006/main" noGrp="1"/>
          </p:cNvSpPr>
          <p:nvPr/>
        </p:nvSpPr>
        <p:spPr>
          <a:xfrm xmlns:a="http://schemas.openxmlformats.org/drawingml/2006/main">
            <a:off x="9182100" y="1455999"/>
            <a:ext cx="76200" cy="300393"/>
          </a:xfrm>
          <a:prstGeom xmlns:a="http://schemas.openxmlformats.org/drawingml/2006/main" prst="line">
            <a:avLst/>
          </a:prstGeom>
          <a:noFill xmlns:a="http://schemas.openxmlformats.org/drawingml/2006/main"/>
          <a:ln xmlns:a="http://schemas.openxmlformats.org/drawingml/2006/main" w="9525">
            <a:solidFill>
              <a:srgbClr val="2E6DA4"/>
            </a:solidFill>
            <a:prstDash val="solid"/>
          </a:ln>
        </p:spPr>
      </p:sp>
      <p:sp>
        <p:nvSpPr>
          <p:cNvPr id="31" name="">
            <a:extLst xmlns:a="http://schemas.openxmlformats.org/drawingml/2006/main">
              <a:ext uri="{FF2B5EF4-FFF2-40B4-BE49-F238E27FC236}">
                <a16:creationId xmlns:a16="http://schemas.microsoft.com/office/drawing/2014/main" id="{735E4275-07AB-45AC-A214-13B6E0E794B4}"/>
              </a:ext>
            </a:extLst>
          </p:cNvPr>
          <p:cNvSpPr>
            <a:spLocks xmlns:a="http://schemas.openxmlformats.org/drawingml/2006/main" noGrp="1"/>
          </p:cNvSpPr>
          <p:nvPr/>
        </p:nvSpPr>
        <p:spPr>
          <a:xfrm xmlns:a="http://schemas.openxmlformats.org/drawingml/2006/main">
            <a:off x="9258300" y="1651617"/>
            <a:ext cx="752475"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2E6DA4"/>
                </a:solidFill>
                <a:latin typeface="Calibri"/>
                <a:ea typeface="Calibri"/>
                <a:cs typeface="Calibri"/>
              </a:defRPr>
            </a:pPr>
            <a:r>
              <a:rPr sz="825" b="1">
                <a:solidFill>
                  <a:srgbClr val="2E6DA4"/>
                </a:solidFill>
                <a:latin typeface="Calibri"/>
                <a:ea typeface="Calibri"/>
                <a:cs typeface="Calibri"/>
              </a:rPr>
              <a:t>Base $410.8M</a:t>
            </a:r>
          </a:p>
        </p:txBody>
      </p:sp>
      <p:sp>
        <p:nvSpPr>
          <p:cNvPr id="32" name="">
            <a:extLst xmlns:a="http://schemas.openxmlformats.org/drawingml/2006/main">
              <a:ext uri="{FF2B5EF4-FFF2-40B4-BE49-F238E27FC236}">
                <a16:creationId xmlns:a16="http://schemas.microsoft.com/office/drawing/2014/main" id="{A978B9B6-4C91-444E-BE05-008C7891E493}"/>
              </a:ext>
            </a:extLst>
          </p:cNvPr>
          <p:cNvSpPr>
            <a:spLocks xmlns:a="http://schemas.openxmlformats.org/drawingml/2006/main" noGrp="1"/>
          </p:cNvSpPr>
          <p:nvPr/>
        </p:nvSpPr>
        <p:spPr>
          <a:xfrm xmlns:a="http://schemas.openxmlformats.org/drawingml/2006/main">
            <a:off x="9182100" y="1532307"/>
            <a:ext cx="76200" cy="462211"/>
          </a:xfrm>
          <a:prstGeom xmlns:a="http://schemas.openxmlformats.org/drawingml/2006/main" prst="line">
            <a:avLst/>
          </a:prstGeom>
          <a:noFill xmlns:a="http://schemas.openxmlformats.org/drawingml/2006/main"/>
          <a:ln xmlns:a="http://schemas.openxmlformats.org/drawingml/2006/main" w="9525">
            <a:solidFill>
              <a:srgbClr val="1F3864"/>
            </a:solidFill>
            <a:prstDash val="solid"/>
          </a:ln>
        </p:spPr>
      </p:sp>
      <p:sp>
        <p:nvSpPr>
          <p:cNvPr id="33" name="">
            <a:extLst xmlns:a="http://schemas.openxmlformats.org/drawingml/2006/main">
              <a:ext uri="{FF2B5EF4-FFF2-40B4-BE49-F238E27FC236}">
                <a16:creationId xmlns:a16="http://schemas.microsoft.com/office/drawing/2014/main" id="{DEABCC11-2BF1-4DDD-804F-E1DBA0ABC399}"/>
              </a:ext>
            </a:extLst>
          </p:cNvPr>
          <p:cNvSpPr>
            <a:spLocks xmlns:a="http://schemas.openxmlformats.org/drawingml/2006/main" noGrp="1"/>
          </p:cNvSpPr>
          <p:nvPr/>
        </p:nvSpPr>
        <p:spPr>
          <a:xfrm xmlns:a="http://schemas.openxmlformats.org/drawingml/2006/main">
            <a:off x="9258300" y="1889742"/>
            <a:ext cx="752475"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1F3864"/>
                </a:solidFill>
                <a:latin typeface="Calibri"/>
                <a:ea typeface="Calibri"/>
                <a:cs typeface="Calibri"/>
              </a:defRPr>
            </a:pPr>
            <a:r>
              <a:rPr sz="825" b="1">
                <a:solidFill>
                  <a:srgbClr val="1F3864"/>
                </a:solidFill>
                <a:latin typeface="Calibri"/>
                <a:ea typeface="Calibri"/>
                <a:cs typeface="Calibri"/>
              </a:rPr>
              <a:t>Down $393.4M</a:t>
            </a:r>
          </a:p>
        </p:txBody>
      </p:sp>
      <p:sp>
        <p:nvSpPr>
          <p:cNvPr id="34" name="">
            <a:extLst xmlns:a="http://schemas.openxmlformats.org/drawingml/2006/main">
              <a:ext uri="{FF2B5EF4-FFF2-40B4-BE49-F238E27FC236}">
                <a16:creationId xmlns:a16="http://schemas.microsoft.com/office/drawing/2014/main" id="{32BA24CC-112F-428C-AE4E-61E94C14AA0E}"/>
              </a:ext>
            </a:extLst>
          </p:cNvPr>
          <p:cNvSpPr>
            <a:spLocks xmlns:a="http://schemas.openxmlformats.org/drawingml/2006/main" noGrp="1"/>
          </p:cNvSpPr>
          <p:nvPr/>
        </p:nvSpPr>
        <p:spPr>
          <a:xfrm xmlns:a="http://schemas.openxmlformats.org/drawingml/2006/main">
            <a:off x="10725150" y="1184100"/>
            <a:ext cx="76200" cy="0"/>
          </a:xfrm>
          <a:prstGeom xmlns:a="http://schemas.openxmlformats.org/drawingml/2006/main" prst="line">
            <a:avLst/>
          </a:prstGeom>
          <a:noFill xmlns:a="http://schemas.openxmlformats.org/drawingml/2006/main"/>
          <a:ln xmlns:a="http://schemas.openxmlformats.org/drawingml/2006/main" w="9525">
            <a:solidFill>
              <a:srgbClr val="8A99AC"/>
            </a:solidFill>
            <a:prstDash val="solid"/>
          </a:ln>
        </p:spPr>
      </p:sp>
      <p:sp>
        <p:nvSpPr>
          <p:cNvPr id="35" name="">
            <a:extLst xmlns:a="http://schemas.openxmlformats.org/drawingml/2006/main">
              <a:ext uri="{FF2B5EF4-FFF2-40B4-BE49-F238E27FC236}">
                <a16:creationId xmlns:a16="http://schemas.microsoft.com/office/drawing/2014/main" id="{D24A1220-A940-422C-9C5B-22777827BB66}"/>
              </a:ext>
            </a:extLst>
          </p:cNvPr>
          <p:cNvSpPr>
            <a:spLocks xmlns:a="http://schemas.openxmlformats.org/drawingml/2006/main" noGrp="1"/>
          </p:cNvSpPr>
          <p:nvPr/>
        </p:nvSpPr>
        <p:spPr>
          <a:xfrm xmlns:a="http://schemas.openxmlformats.org/drawingml/2006/main">
            <a:off x="10801350" y="1079325"/>
            <a:ext cx="752475"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8A99AC"/>
                </a:solidFill>
                <a:latin typeface="Calibri"/>
                <a:ea typeface="Calibri"/>
                <a:cs typeface="Calibri"/>
              </a:defRPr>
            </a:pPr>
            <a:r>
              <a:rPr sz="825" b="1">
                <a:solidFill>
                  <a:srgbClr val="8A99AC"/>
                </a:solidFill>
                <a:latin typeface="Calibri"/>
                <a:ea typeface="Calibri"/>
                <a:cs typeface="Calibri"/>
              </a:rPr>
              <a:t>Mgmt $472.8M</a:t>
            </a:r>
          </a:p>
        </p:txBody>
      </p:sp>
      <p:sp>
        <p:nvSpPr>
          <p:cNvPr id="36" name="">
            <a:extLst xmlns:a="http://schemas.openxmlformats.org/drawingml/2006/main">
              <a:ext uri="{FF2B5EF4-FFF2-40B4-BE49-F238E27FC236}">
                <a16:creationId xmlns:a16="http://schemas.microsoft.com/office/drawing/2014/main" id="{0A136AD8-63B4-43A9-A923-7339D466847A}"/>
              </a:ext>
            </a:extLst>
          </p:cNvPr>
          <p:cNvSpPr>
            <a:spLocks xmlns:a="http://schemas.openxmlformats.org/drawingml/2006/main" noGrp="1"/>
          </p:cNvSpPr>
          <p:nvPr/>
        </p:nvSpPr>
        <p:spPr>
          <a:xfrm xmlns:a="http://schemas.openxmlformats.org/drawingml/2006/main">
            <a:off x="10725150" y="1252075"/>
            <a:ext cx="76200" cy="170150"/>
          </a:xfrm>
          <a:prstGeom xmlns:a="http://schemas.openxmlformats.org/drawingml/2006/main" prst="line">
            <a:avLst/>
          </a:prstGeom>
          <a:noFill xmlns:a="http://schemas.openxmlformats.org/drawingml/2006/main"/>
          <a:ln xmlns:a="http://schemas.openxmlformats.org/drawingml/2006/main" w="9525">
            <a:solidFill>
              <a:srgbClr val="6E9BC5"/>
            </a:solidFill>
            <a:prstDash val="solid"/>
          </a:ln>
        </p:spPr>
      </p:sp>
      <p:sp>
        <p:nvSpPr>
          <p:cNvPr id="37" name="">
            <a:extLst xmlns:a="http://schemas.openxmlformats.org/drawingml/2006/main">
              <a:ext uri="{FF2B5EF4-FFF2-40B4-BE49-F238E27FC236}">
                <a16:creationId xmlns:a16="http://schemas.microsoft.com/office/drawing/2014/main" id="{D09A1158-3A68-4253-8A48-980C89764B58}"/>
              </a:ext>
            </a:extLst>
          </p:cNvPr>
          <p:cNvSpPr>
            <a:spLocks xmlns:a="http://schemas.openxmlformats.org/drawingml/2006/main" noGrp="1"/>
          </p:cNvSpPr>
          <p:nvPr/>
        </p:nvSpPr>
        <p:spPr>
          <a:xfrm xmlns:a="http://schemas.openxmlformats.org/drawingml/2006/main">
            <a:off x="10801350" y="1317450"/>
            <a:ext cx="647700"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6E9BC5"/>
                </a:solidFill>
                <a:latin typeface="Calibri"/>
                <a:ea typeface="Calibri"/>
                <a:cs typeface="Calibri"/>
              </a:defRPr>
            </a:pPr>
            <a:r>
              <a:rPr sz="825" b="1">
                <a:solidFill>
                  <a:srgbClr val="6E9BC5"/>
                </a:solidFill>
                <a:latin typeface="Calibri"/>
                <a:ea typeface="Calibri"/>
                <a:cs typeface="Calibri"/>
              </a:rPr>
              <a:t>Up $457.3M</a:t>
            </a:r>
          </a:p>
        </p:txBody>
      </p:sp>
      <p:sp>
        <p:nvSpPr>
          <p:cNvPr id="38" name="">
            <a:extLst xmlns:a="http://schemas.openxmlformats.org/drawingml/2006/main">
              <a:ext uri="{FF2B5EF4-FFF2-40B4-BE49-F238E27FC236}">
                <a16:creationId xmlns:a16="http://schemas.microsoft.com/office/drawing/2014/main" id="{FCB37567-C271-43BC-8BE9-02982A17717E}"/>
              </a:ext>
            </a:extLst>
          </p:cNvPr>
          <p:cNvSpPr>
            <a:spLocks xmlns:a="http://schemas.openxmlformats.org/drawingml/2006/main" noGrp="1"/>
          </p:cNvSpPr>
          <p:nvPr/>
        </p:nvSpPr>
        <p:spPr>
          <a:xfrm xmlns:a="http://schemas.openxmlformats.org/drawingml/2006/main">
            <a:off x="10725150" y="1354695"/>
            <a:ext cx="76200" cy="305655"/>
          </a:xfrm>
          <a:prstGeom xmlns:a="http://schemas.openxmlformats.org/drawingml/2006/main" prst="line">
            <a:avLst/>
          </a:prstGeom>
          <a:noFill xmlns:a="http://schemas.openxmlformats.org/drawingml/2006/main"/>
          <a:ln xmlns:a="http://schemas.openxmlformats.org/drawingml/2006/main" w="9525">
            <a:solidFill>
              <a:srgbClr val="2E6DA4"/>
            </a:solidFill>
            <a:prstDash val="solid"/>
          </a:ln>
        </p:spPr>
      </p:sp>
      <p:sp>
        <p:nvSpPr>
          <p:cNvPr id="39" name="">
            <a:extLst xmlns:a="http://schemas.openxmlformats.org/drawingml/2006/main">
              <a:ext uri="{FF2B5EF4-FFF2-40B4-BE49-F238E27FC236}">
                <a16:creationId xmlns:a16="http://schemas.microsoft.com/office/drawing/2014/main" id="{A18B668C-D437-4DFB-A61F-9FE9F80C2635}"/>
              </a:ext>
            </a:extLst>
          </p:cNvPr>
          <p:cNvSpPr>
            <a:spLocks xmlns:a="http://schemas.openxmlformats.org/drawingml/2006/main" noGrp="1"/>
          </p:cNvSpPr>
          <p:nvPr/>
        </p:nvSpPr>
        <p:spPr>
          <a:xfrm xmlns:a="http://schemas.openxmlformats.org/drawingml/2006/main">
            <a:off x="10801350" y="1555575"/>
            <a:ext cx="752475"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2E6DA4"/>
                </a:solidFill>
                <a:latin typeface="Calibri"/>
                <a:ea typeface="Calibri"/>
                <a:cs typeface="Calibri"/>
              </a:defRPr>
            </a:pPr>
            <a:r>
              <a:rPr sz="825" b="1">
                <a:solidFill>
                  <a:srgbClr val="2E6DA4"/>
                </a:solidFill>
                <a:latin typeface="Calibri"/>
                <a:ea typeface="Calibri"/>
                <a:cs typeface="Calibri"/>
              </a:rPr>
              <a:t>Base $433.9M</a:t>
            </a:r>
          </a:p>
        </p:txBody>
      </p:sp>
      <p:sp>
        <p:nvSpPr>
          <p:cNvPr id="40" name="">
            <a:extLst xmlns:a="http://schemas.openxmlformats.org/drawingml/2006/main">
              <a:ext uri="{FF2B5EF4-FFF2-40B4-BE49-F238E27FC236}">
                <a16:creationId xmlns:a16="http://schemas.microsoft.com/office/drawing/2014/main" id="{F6B7543C-8784-4AF6-8B3B-86C70DF2DB60}"/>
              </a:ext>
            </a:extLst>
          </p:cNvPr>
          <p:cNvSpPr>
            <a:spLocks xmlns:a="http://schemas.openxmlformats.org/drawingml/2006/main" noGrp="1"/>
          </p:cNvSpPr>
          <p:nvPr/>
        </p:nvSpPr>
        <p:spPr>
          <a:xfrm xmlns:a="http://schemas.openxmlformats.org/drawingml/2006/main">
            <a:off x="10725150" y="1463893"/>
            <a:ext cx="76200" cy="434582"/>
          </a:xfrm>
          <a:prstGeom xmlns:a="http://schemas.openxmlformats.org/drawingml/2006/main" prst="line">
            <a:avLst/>
          </a:prstGeom>
          <a:noFill xmlns:a="http://schemas.openxmlformats.org/drawingml/2006/main"/>
          <a:ln xmlns:a="http://schemas.openxmlformats.org/drawingml/2006/main" w="9525">
            <a:solidFill>
              <a:srgbClr val="1F3864"/>
            </a:solidFill>
            <a:prstDash val="solid"/>
          </a:ln>
        </p:spPr>
      </p:sp>
      <p:sp>
        <p:nvSpPr>
          <p:cNvPr id="41" name="">
            <a:extLst xmlns:a="http://schemas.openxmlformats.org/drawingml/2006/main">
              <a:ext uri="{FF2B5EF4-FFF2-40B4-BE49-F238E27FC236}">
                <a16:creationId xmlns:a16="http://schemas.microsoft.com/office/drawing/2014/main" id="{B1D9606D-3D5A-4C3E-AEC6-A803D83A2C11}"/>
              </a:ext>
            </a:extLst>
          </p:cNvPr>
          <p:cNvSpPr>
            <a:spLocks xmlns:a="http://schemas.openxmlformats.org/drawingml/2006/main" noGrp="1"/>
          </p:cNvSpPr>
          <p:nvPr/>
        </p:nvSpPr>
        <p:spPr>
          <a:xfrm xmlns:a="http://schemas.openxmlformats.org/drawingml/2006/main">
            <a:off x="10801350" y="1793700"/>
            <a:ext cx="752475" cy="20955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l">
              <a:defRPr sz="825" b="1">
                <a:solidFill>
                  <a:srgbClr val="1F3864"/>
                </a:solidFill>
                <a:latin typeface="Calibri"/>
                <a:ea typeface="Calibri"/>
                <a:cs typeface="Calibri"/>
              </a:defRPr>
            </a:pPr>
            <a:r>
              <a:rPr sz="825" b="1">
                <a:solidFill>
                  <a:srgbClr val="1F3864"/>
                </a:solidFill>
                <a:latin typeface="Calibri"/>
                <a:ea typeface="Calibri"/>
                <a:cs typeface="Calibri"/>
              </a:rPr>
              <a:t>Down $409.0M</a:t>
            </a:r>
          </a:p>
        </p:txBody>
      </p:sp>
      <p:graphicFrame>
        <p:nvGraphicFramePr>
          <p:cNvPr id="86" name=""/>
          <p:cNvGraphicFramePr/>
          <p:nvPr/>
        </p:nvGraphicFramePr>
        <p:xfrm>
          <a:off xmlns:a="http://schemas.openxmlformats.org/drawingml/2006/main" x="514350" y="4019550"/>
          <a:ext xmlns:a="http://schemas.openxmlformats.org/drawingml/2006/main" cx="11163300" cy="2343150"/>
        </p:xfrm>
        <a:graphic xmlns:a="http://schemas.openxmlformats.org/drawingml/2006/main">
          <a:graphicData uri="http://schemas.openxmlformats.org/drawingml/2006/table">
            <a:tbl>
              <a:tblPr firstRow="1" firstCol="0" bandRow="0"/>
              <a:tblGrid>
                <a:gridCol w="990600"/>
                <a:gridCol w="990600"/>
                <a:gridCol w="990600"/>
                <a:gridCol w="990600"/>
                <a:gridCol w="990600"/>
                <a:gridCol w="990600"/>
                <a:gridCol w="5219700"/>
              </a:tblGrid>
              <a:tr h="304800">
                <a:tc>
                  <a:txBody>
                    <a:bodyPr lIns="38100" tIns="19050" rIns="38100" bIns="19050"/>
                    <a:lstStyle/>
                    <a:p>
                      <a:pPr algn="l"/>
                      <a:r>
                        <a:rPr sz="975" b="1">
                          <a:solidFill>
                            <a:srgbClr val="1F3864"/>
                          </a:solidFill>
                          <a:latin typeface="Calibri"/>
                          <a:ea typeface="Calibri"/>
                          <a:cs typeface="Calibri"/>
                        </a:rPr>
                        <a:t>Case</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r"/>
                      <a:r>
                        <a:rPr sz="975" b="1">
                          <a:solidFill>
                            <a:srgbClr val="1F3864"/>
                          </a:solidFill>
                          <a:latin typeface="Calibri"/>
                          <a:ea typeface="Calibri"/>
                          <a:cs typeface="Calibri"/>
                        </a:rPr>
                        <a:t>2005A</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r"/>
                      <a:r>
                        <a:rPr sz="975" b="1">
                          <a:solidFill>
                            <a:srgbClr val="1F3864"/>
                          </a:solidFill>
                          <a:latin typeface="Calibri"/>
                          <a:ea typeface="Calibri"/>
                          <a:cs typeface="Calibri"/>
                        </a:rPr>
                        <a:t>2006P</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r"/>
                      <a:r>
                        <a:rPr sz="975" b="1">
                          <a:solidFill>
                            <a:srgbClr val="1F3864"/>
                          </a:solidFill>
                          <a:latin typeface="Calibri"/>
                          <a:ea typeface="Calibri"/>
                          <a:cs typeface="Calibri"/>
                        </a:rPr>
                        <a:t>2007P</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r"/>
                      <a:r>
                        <a:rPr sz="975" b="1">
                          <a:solidFill>
                            <a:srgbClr val="1F3864"/>
                          </a:solidFill>
                          <a:latin typeface="Calibri"/>
                          <a:ea typeface="Calibri"/>
                          <a:cs typeface="Calibri"/>
                        </a:rPr>
                        <a:t>2008P</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r"/>
                      <a:r>
                        <a:rPr sz="975" b="1">
                          <a:solidFill>
                            <a:srgbClr val="1F3864"/>
                          </a:solidFill>
                          <a:latin typeface="Calibri"/>
                          <a:ea typeface="Calibri"/>
                          <a:cs typeface="Calibri"/>
                        </a:rPr>
                        <a:t>CAGR</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Key Insight</a:t>
                      </a:r>
                    </a:p>
                  </a:txBody>
                  <a:tcPr marL="91440" marR="91440" marT="45720" marB="45720">
                    <a:lnR w="0">
                      <a:noFill/>
                    </a:lnR>
                    <a:lnT w="0">
                      <a:noFill/>
                    </a:lnT>
                    <a:lnB w="9525">
                      <a:solidFill>
                        <a:srgbClr val="D7DEE7"/>
                      </a:solidFill>
                      <a:prstDash val="solid"/>
                    </a:lnB>
                    <a:solidFill>
                      <a:srgbClr val="F4F6F9"/>
                    </a:solidFill>
                  </a:tcPr>
                </a:tc>
              </a:tr>
              <a:tr h="523875">
                <a:tc>
                  <a:txBody>
                    <a:bodyPr lIns="38100" tIns="19050" rIns="38100" bIns="19050"/>
                    <a:lstStyle/>
                    <a:p>
                      <a:pPr algn="l"/>
                      <a:r>
                        <a:rPr sz="900" b="1">
                          <a:solidFill>
                            <a:srgbClr val="1B2A41"/>
                          </a:solidFill>
                          <a:latin typeface="Calibri"/>
                          <a:ea typeface="Calibri"/>
                          <a:cs typeface="Calibri"/>
                        </a:rPr>
                        <a:t>Downside</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$350.30M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$377.06M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$393.43M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$408.98M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5.30%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 downside case requires legacy revenue growth to revert toward the documented historical downside assumptions while Aquarius-led portfolio change does not translate into a sustained operating acceleration[60].</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Base</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$350.30M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$382.87M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$410.84M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$433.90M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7.39%</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 base case requires moderated growth across Casino, Hotel, Food and beverage, and ancillary revenue, producing a 7.39% consolidated CAGR versus management's 7.79% target rate.</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Upside</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$350.30M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$389.87M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$426.16M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$457.35M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9.30%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 upside case requires the upper end of the stated line-level growth range, yet reaches only $457.35M against management's $472.80M 2008 plan, so the plan requires performance beyond the published upside build.</a:t>
                      </a:r>
                    </a:p>
                  </a:txBody>
                  <a:tcPr marL="91440" marR="91440" marT="45720" marB="45720">
                    <a:lnR w="0">
                      <a:noFill/>
                    </a:lnR>
                    <a:lnB w="9525">
                      <a:solidFill>
                        <a:srgbClr val="D7DEE7"/>
                      </a:solidFill>
                      <a:prstDash val="solid"/>
                    </a:lnB>
                    <a:solidFill>
                      <a:srgbClr val="FFFFFF"/>
                    </a:solidFill>
                  </a:tcPr>
                </a:tc>
              </a:tr>
              <a:tr h="247650">
                <a:tc>
                  <a:txBody>
                    <a:bodyPr lIns="38100" tIns="19050" rIns="38100" bIns="19050"/>
                    <a:lstStyle/>
                    <a:p>
                      <a:pPr algn="l"/>
                      <a:r>
                        <a:rPr sz="900" b="1">
                          <a:solidFill>
                            <a:srgbClr val="1B2A41"/>
                          </a:solidFill>
                          <a:latin typeface="Calibri"/>
                          <a:ea typeface="Calibri"/>
                          <a:cs typeface="Calibri"/>
                        </a:rPr>
                        <a:t>Management plan</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$350.30M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$429.70M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$450.90M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$472.80M</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r"/>
                      <a:r>
                        <a:rPr sz="900" b="0">
                          <a:solidFill>
                            <a:srgbClr val="1B2A41"/>
                          </a:solidFill>
                          <a:latin typeface="Calibri"/>
                          <a:ea typeface="Calibri"/>
                          <a:cs typeface="Calibri"/>
                        </a:rPr>
                        <a:t>7.79%</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Gap, base to plan</a:t>
                      </a:r>
                    </a:p>
                  </a:txBody>
                  <a:tcPr marL="91440" marR="91440" marT="45720" marB="45720">
                    <a:lnL w="0">
                      <a:noFill/>
                    </a:lnL>
                    <a:lnR w="0">
                      <a:noFill/>
                    </a:lnR>
                    <a:lnB w="0">
                      <a:noFill/>
                    </a:lnB>
                    <a:solidFill>
                      <a:srgbClr val="FFFFFF"/>
                    </a:solidFill>
                  </a:tcPr>
                </a:tc>
                <a:tc>
                  <a:txBody>
                    <a:bodyPr lIns="38100" tIns="19050" rIns="38100" bIns="19050"/>
                    <a:lstStyle/>
                    <a:p>
                      <a:pPr algn="r"/>
                      <a:r>
                        <a:rPr sz="900" b="0">
                          <a:solidFill>
                            <a:srgbClr val="1B2A41"/>
                          </a:solidFill>
                          <a:latin typeface="Calibri"/>
                          <a:ea typeface="Calibri"/>
                          <a:cs typeface="Calibri"/>
                        </a:rPr>
                        <a:t>$0.00</a:t>
                      </a:r>
                    </a:p>
                  </a:txBody>
                  <a:tcPr marL="91440" marR="91440" marT="45720" marB="45720">
                    <a:lnR w="0">
                      <a:noFill/>
                    </a:lnR>
                    <a:lnB w="0">
                      <a:noFill/>
                    </a:lnB>
                    <a:solidFill>
                      <a:srgbClr val="FFFFFF"/>
                    </a:solidFill>
                  </a:tcPr>
                </a:tc>
                <a:tc>
                  <a:txBody>
                    <a:bodyPr lIns="38100" tIns="19050" rIns="38100" bIns="19050"/>
                    <a:lstStyle/>
                    <a:p>
                      <a:pPr algn="r"/>
                      <a:r>
                        <a:rPr sz="900" b="0">
                          <a:solidFill>
                            <a:srgbClr val="1B2A41"/>
                          </a:solidFill>
                          <a:latin typeface="Calibri"/>
                          <a:ea typeface="Calibri"/>
                          <a:cs typeface="Calibri"/>
                        </a:rPr>
                        <a:t>-$46.83M</a:t>
                      </a:r>
                    </a:p>
                  </a:txBody>
                  <a:tcPr marL="91440" marR="91440" marT="45720" marB="45720">
                    <a:lnR w="0">
                      <a:noFill/>
                    </a:lnR>
                    <a:lnB w="0">
                      <a:noFill/>
                    </a:lnB>
                    <a:solidFill>
                      <a:srgbClr val="FFFFFF"/>
                    </a:solidFill>
                  </a:tcPr>
                </a:tc>
                <a:tc>
                  <a:txBody>
                    <a:bodyPr lIns="38100" tIns="19050" rIns="38100" bIns="19050"/>
                    <a:lstStyle/>
                    <a:p>
                      <a:pPr algn="r"/>
                      <a:r>
                        <a:rPr sz="900" b="0">
                          <a:solidFill>
                            <a:srgbClr val="1B2A41"/>
                          </a:solidFill>
                          <a:latin typeface="Calibri"/>
                          <a:ea typeface="Calibri"/>
                          <a:cs typeface="Calibri"/>
                        </a:rPr>
                        <a:t>-$40.06M</a:t>
                      </a:r>
                    </a:p>
                  </a:txBody>
                  <a:tcPr marL="91440" marR="91440" marT="45720" marB="45720">
                    <a:lnR w="0">
                      <a:noFill/>
                    </a:lnR>
                    <a:lnB w="0">
                      <a:noFill/>
                    </a:lnB>
                    <a:solidFill>
                      <a:srgbClr val="FFFFFF"/>
                    </a:solidFill>
                  </a:tcPr>
                </a:tc>
                <a:tc>
                  <a:txBody>
                    <a:bodyPr lIns="38100" tIns="19050" rIns="38100" bIns="19050"/>
                    <a:lstStyle/>
                    <a:p>
                      <a:pPr algn="r"/>
                      <a:r>
                        <a:rPr sz="900" b="0">
                          <a:solidFill>
                            <a:srgbClr val="1B2A41"/>
                          </a:solidFill>
                          <a:latin typeface="Calibri"/>
                          <a:ea typeface="Calibri"/>
                          <a:cs typeface="Calibri"/>
                        </a:rPr>
                        <a:t>-$38.90M</a:t>
                      </a:r>
                    </a:p>
                  </a:txBody>
                  <a:tcPr marL="91440" marR="91440" marT="45720" marB="45720">
                    <a:lnR w="0">
                      <a:noFill/>
                    </a:lnR>
                    <a:lnB w="0">
                      <a:noFill/>
                    </a:lnB>
                    <a:solidFill>
                      <a:srgbClr val="FFFFFF"/>
                    </a:solidFill>
                  </a:tcPr>
                </a:tc>
                <a:tc>
                  <a:txBody>
                    <a:bodyPr lIns="38100" tIns="19050" rIns="38100" bIns="19050"/>
                    <a:lstStyle/>
                    <a:p>
                      <a:pPr algn="r"/>
                      <a:r>
                        <a:rPr sz="900" b="0">
                          <a:solidFill>
                            <a:srgbClr val="1B2A41"/>
                          </a:solidFill>
                          <a:latin typeface="Calibri"/>
                          <a:ea typeface="Calibri"/>
                          <a:cs typeface="Calibri"/>
                        </a:rPr>
                        <a:t>-</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a:t>
                      </a:r>
                    </a:p>
                  </a:txBody>
                  <a:tcPr marL="91440" marR="91440" marT="45720" marB="45720">
                    <a:lnR w="0">
                      <a:noFill/>
                    </a:lnR>
                    <a:lnB w="0">
                      <a:noFill/>
                    </a:lnB>
                    <a:solidFill>
                      <a:srgbClr val="FFFFFF"/>
                    </a:solidFill>
                  </a:tcPr>
                </a:tc>
              </a:tr>
            </a:tbl>
          </a:graphicData>
        </a:graphic>
      </p:graphicFrame>
      <p:sp>
        <p:nvSpPr>
          <p:cNvPr id="43" name="structure:table-header-rule">
            <a:extLst xmlns:a="http://schemas.openxmlformats.org/drawingml/2006/main">
              <a:ext uri="{FF2B5EF4-FFF2-40B4-BE49-F238E27FC236}">
                <a16:creationId xmlns:a16="http://schemas.microsoft.com/office/drawing/2014/main" id="{2040BE3E-E949-4DA5-BAA7-868221904610}"/>
              </a:ext>
            </a:extLst>
          </p:cNvPr>
          <p:cNvSpPr>
            <a:spLocks xmlns:a="http://schemas.openxmlformats.org/drawingml/2006/main" noGrp="1"/>
          </p:cNvSpPr>
          <p:nvPr/>
        </p:nvSpPr>
        <p:spPr>
          <a:xfrm xmlns:a="http://schemas.openxmlformats.org/drawingml/2006/main">
            <a:off x="514350" y="4314825"/>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7BF9CCA5-7275-4B44-B532-07A5323F3B96}"/>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16</a:t>
            </a:r>
          </a:p>
        </p:txBody>
      </p:sp>
    </p:spTree>
    <p:extLst>
      <p:ext uri="{BB962C8B-B14F-4D97-AF65-F5344CB8AC3E}">
        <p14:creationId xmlns:p14="http://schemas.microsoft.com/office/powerpoint/2010/main" val="171759432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C83E1AA-B95F-495C-BC9A-2974FA3AEE5B}"/>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Competitor Overview</a:t>
            </a:r>
          </a:p>
        </p:txBody>
      </p:sp>
      <p:sp>
        <p:nvSpPr>
          <p:cNvPr id="2" name="">
            <a:extLst xmlns:a="http://schemas.openxmlformats.org/drawingml/2006/main">
              <a:ext uri="{FF2B5EF4-FFF2-40B4-BE49-F238E27FC236}">
                <a16:creationId xmlns:a16="http://schemas.microsoft.com/office/drawing/2014/main" id="{CA28E815-A064-4425-BB7F-50269200ACD7}"/>
              </a:ext>
            </a:extLst>
          </p:cNvPr>
          <p:cNvSpPr>
            <a:spLocks xmlns:a="http://schemas.openxmlformats.org/drawingml/2006/main" noGrp="1"/>
          </p:cNvSpPr>
          <p:nvPr/>
        </p:nvSpPr>
        <p:spPr>
          <a:xfrm xmlns:a="http://schemas.openxmlformats.org/drawingml/2006/main">
            <a:off x="628650" y="1114425"/>
            <a:ext cx="10934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125">
                <a:solidFill>
                  <a:srgbClr val="1B2A41"/>
                </a:solidFill>
                <a:latin typeface="Calibri"/>
                <a:ea typeface="Calibri"/>
                <a:cs typeface="Calibri"/>
              </a:defRPr>
            </a:pPr>
            <a:r>
              <a:rPr sz="1125">
                <a:solidFill>
                  <a:srgbClr val="1B2A41"/>
                </a:solidFill>
                <a:latin typeface="Calibri"/>
                <a:ea typeface="Calibri"/>
                <a:cs typeface="Calibri"/>
              </a:rPr>
              <a:t>First-party CRM is the best long-term moat, but local convenience is most exposed to better-funded rivals.</a:t>
            </a:r>
          </a:p>
        </p:txBody>
      </p:sp>
      <p:graphicFrame>
        <p:nvGraphicFramePr>
          <p:cNvPr id="8" name=""/>
          <p:cNvGraphicFramePr/>
          <p:nvPr/>
        </p:nvGraphicFramePr>
        <p:xfrm>
          <a:off xmlns:a="http://schemas.openxmlformats.org/drawingml/2006/main" x="514350" y="1600200"/>
          <a:ext xmlns:a="http://schemas.openxmlformats.org/drawingml/2006/main" cx="11163300" cy="3352800"/>
        </p:xfrm>
        <a:graphic xmlns:a="http://schemas.openxmlformats.org/drawingml/2006/main">
          <a:graphicData uri="http://schemas.openxmlformats.org/drawingml/2006/table">
            <a:tbl>
              <a:tblPr firstRow="1" firstCol="0" bandRow="0"/>
              <a:tblGrid>
                <a:gridCol w="1834637"/>
                <a:gridCol w="9328663"/>
              </a:tblGrid>
              <a:tr h="304800">
                <a:tc>
                  <a:txBody>
                    <a:bodyPr lIns="38100" tIns="19050" rIns="38100" bIns="19050"/>
                    <a:lstStyle/>
                    <a:p>
                      <a:pPr algn="l"/>
                      <a:r>
                        <a:rPr sz="975" b="1">
                          <a:solidFill>
                            <a:srgbClr val="1F3864"/>
                          </a:solidFill>
                          <a:latin typeface="Calibri"/>
                          <a:ea typeface="Calibri"/>
                          <a:cs typeface="Calibri"/>
                        </a:rPr>
                        <a:t>Moat Name</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Evidence, Threats &amp; Replicability</a:t>
                      </a:r>
                    </a:p>
                  </a:txBody>
                  <a:tcPr marL="91440" marR="91440" marT="45720" marB="45720">
                    <a:lnR w="0">
                      <a:noFill/>
                    </a:lnR>
                    <a:lnT w="0">
                      <a:noFill/>
                    </a:lnT>
                    <a:lnB w="9525">
                      <a:solidFill>
                        <a:srgbClr val="D7DEE7"/>
                      </a:solidFill>
                      <a:prstDash val="solid"/>
                    </a:lnB>
                    <a:solidFill>
                      <a:srgbClr val="F4F6F9"/>
                    </a:solidFill>
                  </a:tcPr>
                </a:tc>
              </a:tr>
              <a:tr h="666750">
                <a:tc>
                  <a:txBody>
                    <a:bodyPr lIns="38100" tIns="19050" rIns="38100" bIns="19050"/>
                    <a:lstStyle/>
                    <a:p>
                      <a:pPr algn="l"/>
                      <a:r>
                        <a:rPr sz="900" b="1">
                          <a:solidFill>
                            <a:srgbClr val="1B2A41"/>
                          </a:solidFill>
                          <a:latin typeface="Calibri"/>
                          <a:ea typeface="Calibri"/>
                          <a:cs typeface="Calibri"/>
                        </a:rPr>
                        <a:t>AP Rewards and first-party patron relationships · Strength: Weak-Moderate · Durability: Improving</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 Finding: AP Rewards, free play offers of up to USD 500, and host-led frequency building are part of the model [11][12][22][23][18].</a:t>
                      </a:r>
                    </a:p>
                    <a:p>
                      <a:pPr algn="l"/>
                      <a:r>
                        <a:rPr sz="900" b="0">
                          <a:solidFill>
                            <a:srgbClr val="1B2A41"/>
                          </a:solidFill>
                          <a:latin typeface="Calibri"/>
                          <a:ea typeface="Calibri"/>
                          <a:cs typeface="Calibri"/>
                        </a:rPr>
                        <a:t>- Insight: This can support repeat visits, but the buyer cannot yet tell if it is creating loyalty that lasts or just subsidizing trips.</a:t>
                      </a:r>
                    </a:p>
                    <a:p>
                      <a:pPr algn="l"/>
                      <a:r>
                        <a:rPr sz="900" b="0">
                          <a:solidFill>
                            <a:srgbClr val="1B2A41"/>
                          </a:solidFill>
                          <a:latin typeface="Calibri"/>
                          <a:ea typeface="Calibri"/>
                          <a:cs typeface="Calibri"/>
                        </a:rPr>
                        <a:t>- Replicability: Possible; a single property can copy the mechanics, but a larger rival can build a stronger database and better targeting over 12–24 months.</a:t>
                      </a:r>
                    </a:p>
                  </a:txBody>
                  <a:tcPr marL="91440" marR="91440" marT="45720" marB="45720">
                    <a:lnR w="0">
                      <a:noFill/>
                    </a:lnR>
                    <a:lnB w="9525">
                      <a:solidFill>
                        <a:srgbClr val="D7DEE7"/>
                      </a:solidFill>
                      <a:prstDash val="solid"/>
                    </a:lnB>
                    <a:solidFill>
                      <a:srgbClr val="FFFFFF"/>
                    </a:solidFill>
                  </a:tcPr>
                </a:tc>
              </a:tr>
              <a:tr h="666750">
                <a:tc>
                  <a:txBody>
                    <a:bodyPr lIns="38100" tIns="19050" rIns="38100" bIns="19050"/>
                    <a:lstStyle/>
                    <a:p>
                      <a:pPr algn="l"/>
                      <a:r>
                        <a:rPr sz="900" b="1">
                          <a:solidFill>
                            <a:srgbClr val="1B2A41"/>
                          </a:solidFill>
                          <a:latin typeface="Calibri"/>
                          <a:ea typeface="Calibri"/>
                          <a:cs typeface="Calibri"/>
                        </a:rPr>
                        <a:t>24/7 local-drive-in convenience · Strength: Weak-Moderate · Durability: At Risk</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 Finding: The casino is open 24 hours a day and table games run nearly around the clock, with 856,992 admissions and USD 142.05 gross receipts per admission in 2025 [88][11][12].</a:t>
                      </a:r>
                    </a:p>
                    <a:p>
                      <a:pPr algn="l"/>
                      <a:r>
                        <a:rPr sz="900" b="0">
                          <a:solidFill>
                            <a:srgbClr val="1B2A41"/>
                          </a:solidFill>
                          <a:latin typeface="Calibri"/>
                          <a:ea typeface="Calibri"/>
                          <a:cs typeface="Calibri"/>
                        </a:rPr>
                        <a:t>- Insight: Convenience can drive visits, but it is not a protected edge if customers can get similar or closer access elsewhere.</a:t>
                      </a:r>
                    </a:p>
                    <a:p>
                      <a:pPr algn="l"/>
                      <a:r>
                        <a:rPr sz="900" b="0">
                          <a:solidFill>
                            <a:srgbClr val="1B2A41"/>
                          </a:solidFill>
                          <a:latin typeface="Calibri"/>
                          <a:ea typeface="Calibri"/>
                          <a:cs typeface="Calibri"/>
                        </a:rPr>
                        <a:t>- Replicability: Possible; rivals can match hours and local targeting within 12–24 months, while habit is the only harder part to copy.</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Slot-heavy floor matched to regional demand · Strength: Weak · Durability: At Risk</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 Finding: The floor has roughly 940 slots and 48 table games; U.S. slots produced USD 9.77B in Q2 2026 versus USD 2.60B for tables [2][88].</a:t>
                      </a:r>
                    </a:p>
                    <a:p>
                      <a:pPr algn="l"/>
                      <a:r>
                        <a:rPr sz="900" b="0">
                          <a:solidFill>
                            <a:srgbClr val="1B2A41"/>
                          </a:solidFill>
                          <a:latin typeface="Calibri"/>
                          <a:ea typeface="Calibri"/>
                          <a:cs typeface="Calibri"/>
                        </a:rPr>
                        <a:t>- Insight: The mix fits the main spend pool, but it is a standard regional format, not a clear defense.</a:t>
                      </a:r>
                    </a:p>
                    <a:p>
                      <a:pPr algn="l"/>
                      <a:r>
                        <a:rPr sz="900" b="0">
                          <a:solidFill>
                            <a:srgbClr val="1B2A41"/>
                          </a:solidFill>
                          <a:latin typeface="Calibri"/>
                          <a:ea typeface="Calibri"/>
                          <a:cs typeface="Calibri"/>
                        </a:rPr>
                        <a:t>- Replicability: Possible; a competitor can build a similar slot-heavy floor with capital and time, usually within 12–24 months.</a:t>
                      </a:r>
                    </a:p>
                  </a:txBody>
                  <a:tcPr marL="91440" marR="91440" marT="45720" marB="45720">
                    <a:lnR w="0">
                      <a:noFill/>
                    </a:lnR>
                    <a:lnB w="9525">
                      <a:solidFill>
                        <a:srgbClr val="D7DEE7"/>
                      </a:solidFill>
                      <a:prstDash val="solid"/>
                    </a:lnB>
                    <a:solidFill>
                      <a:srgbClr val="FFFFFF"/>
                    </a:solidFill>
                  </a:tcPr>
                </a:tc>
              </a:tr>
              <a:tr h="666750">
                <a:tc>
                  <a:txBody>
                    <a:bodyPr lIns="38100" tIns="19050" rIns="38100" bIns="19050"/>
                    <a:lstStyle/>
                    <a:p>
                      <a:pPr algn="l"/>
                      <a:r>
                        <a:rPr sz="900" b="1">
                          <a:solidFill>
                            <a:srgbClr val="1B2A41"/>
                          </a:solidFill>
                          <a:latin typeface="Calibri"/>
                          <a:ea typeface="Calibri"/>
                          <a:cs typeface="Calibri"/>
                        </a:rPr>
                        <a:t>Retail and mobile sports wagering link · Strength: Weak-Moderate · Durability: Improving</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 Finding: American Place offers retail and mobile sports wagering through Circa under the Illinois license, but contracted sports-wagering revenue fell to USD 1.50M in Q2 2026 from USD 1.70M a year earlier [5][90].</a:t>
                      </a:r>
                    </a:p>
                    <a:p>
                      <a:pPr algn="l"/>
                      <a:r>
                        <a:rPr sz="900" b="0">
                          <a:solidFill>
                            <a:srgbClr val="1B2A41"/>
                          </a:solidFill>
                          <a:latin typeface="Calibri"/>
                          <a:ea typeface="Calibri"/>
                          <a:cs typeface="Calibri"/>
                        </a:rPr>
                        <a:t>- Insight: The channel adds reach, but the buyer should not assume it yet turns bettors into sticky casino customers.</a:t>
                      </a:r>
                    </a:p>
                    <a:p>
                      <a:pPr algn="l"/>
                      <a:r>
                        <a:rPr sz="900" b="0">
                          <a:solidFill>
                            <a:srgbClr val="1B2A41"/>
                          </a:solidFill>
                          <a:latin typeface="Calibri"/>
                          <a:ea typeface="Calibri"/>
                          <a:cs typeface="Calibri"/>
                        </a:rPr>
                        <a:t>- Replicability: Possible; licensing and integration create friction, but larger ecosystems can still copy the model in 12–24 months.</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Bally's Chicago delay window · Strength: Weak · Durability: At Risk</a:t>
                      </a:r>
                    </a:p>
                  </a:txBody>
                  <a:tcPr marL="91440" marR="91440" marT="45720" marB="45720">
                    <a:lnL w="0">
                      <a:noFill/>
                    </a:lnL>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 Finding: Bally's permanent Chicago resort is delayed, with public indications of a 2027 opening and a one-year extension [81][82][10][83].</a:t>
                      </a:r>
                    </a:p>
                    <a:p>
                      <a:pPr algn="l"/>
                      <a:r>
                        <a:rPr sz="900" b="0">
                          <a:solidFill>
                            <a:srgbClr val="1B2A41"/>
                          </a:solidFill>
                          <a:latin typeface="Calibri"/>
                          <a:ea typeface="Calibri"/>
                          <a:cs typeface="Calibri"/>
                        </a:rPr>
                        <a:t>- Insight: This is only a timing advantage; once the larger resort opens, American Place could lose the traffic it is trying to build now.</a:t>
                      </a:r>
                    </a:p>
                    <a:p>
                      <a:pPr algn="l"/>
                      <a:r>
                        <a:rPr sz="900" b="0">
                          <a:solidFill>
                            <a:srgbClr val="1B2A41"/>
                          </a:solidFill>
                          <a:latin typeface="Calibri"/>
                          <a:ea typeface="Calibri"/>
                          <a:cs typeface="Calibri"/>
                        </a:rPr>
                        <a:t>- Replicability: Hard is not the right test here, because this is a temporary window, not a structural moat.</a:t>
                      </a:r>
                    </a:p>
                  </a:txBody>
                  <a:tcPr marL="91440" marR="91440" marT="45720" marB="45720">
                    <a:lnR w="0">
                      <a:noFill/>
                    </a:lnR>
                    <a:lnB w="0">
                      <a:noFill/>
                    </a:lnB>
                    <a:solidFill>
                      <a:srgbClr val="FFFFFF"/>
                    </a:solidFill>
                  </a:tcPr>
                </a:tc>
              </a:tr>
            </a:tbl>
          </a:graphicData>
        </a:graphic>
      </p:graphicFrame>
      <p:sp>
        <p:nvSpPr>
          <p:cNvPr id="4" name="structure:table-header-rule">
            <a:extLst xmlns:a="http://schemas.openxmlformats.org/drawingml/2006/main">
              <a:ext uri="{FF2B5EF4-FFF2-40B4-BE49-F238E27FC236}">
                <a16:creationId xmlns:a16="http://schemas.microsoft.com/office/drawing/2014/main" id="{B6C7349F-08FE-4314-9344-F1859E546F2C}"/>
              </a:ext>
            </a:extLst>
          </p:cNvPr>
          <p:cNvSpPr>
            <a:spLocks xmlns:a="http://schemas.openxmlformats.org/drawingml/2006/main" noGrp="1"/>
          </p:cNvSpPr>
          <p:nvPr/>
        </p:nvSpPr>
        <p:spPr>
          <a:xfrm xmlns:a="http://schemas.openxmlformats.org/drawingml/2006/main">
            <a:off x="514350" y="1895475"/>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C015DD-DC31-45F0-BF09-F6784B0703A3}"/>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17</a:t>
            </a:r>
          </a:p>
        </p:txBody>
      </p:sp>
    </p:spTree>
    <p:extLst>
      <p:ext uri="{BB962C8B-B14F-4D97-AF65-F5344CB8AC3E}">
        <p14:creationId xmlns:p14="http://schemas.microsoft.com/office/powerpoint/2010/main" val="82603377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070AAE7-B3A1-433C-8159-E78F77B10AC2}"/>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overall_kpc_summary_table</a:t>
            </a:r>
          </a:p>
        </p:txBody>
      </p:sp>
      <p:sp>
        <p:nvSpPr>
          <p:cNvPr id="2" name="">
            <a:extLst xmlns:a="http://schemas.openxmlformats.org/drawingml/2006/main">
              <a:ext uri="{FF2B5EF4-FFF2-40B4-BE49-F238E27FC236}">
                <a16:creationId xmlns:a16="http://schemas.microsoft.com/office/drawing/2014/main" id="{101B649E-9A13-4799-BF1D-5934E16C1DBC}"/>
              </a:ext>
            </a:extLst>
          </p:cNvPr>
          <p:cNvSpPr>
            <a:spLocks xmlns:a="http://schemas.openxmlformats.org/drawingml/2006/main" noGrp="1"/>
          </p:cNvSpPr>
          <p:nvPr/>
        </p:nvSpPr>
        <p:spPr>
          <a:xfrm xmlns:a="http://schemas.openxmlformats.org/drawingml/2006/main">
            <a:off x="628650" y="1114425"/>
            <a:ext cx="109347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The table shows the group is strongest on Key Purchasing Criteria, with a column average of 4.0, and weakest on Arrival Convenience at 3.0. Performance is uneven across dimensions: Wind Creek Chicago Southland (Wind Creek Hospitality) leads Key Purchasing Criteria with 4.8, Red Rock Casino Resort Spa leads Slot Portfolio Variety and Table Game Depth with 5.0 in both and Funds Access and Play Continuity with 4.8, while Rivers Casino Des Plaines (Churchill Downs) leads Poker and Sportsbook Draw with 4.8. This leaves Red Rock Casino Resort Spa, Rivers Casino Des Plaines (Churchill Downs), Boulder Station Hotel &amp; Casino (Red Rock Resorts), and Sunset Station (Red Rock Resorts) as the strongest all-round performers, while American Casino, Edgewater Casino Resort (Golden Entertainment), and Harrah's Laughlin (Caesars Entertainment) trail the set on overall score.</a:t>
            </a:r>
          </a:p>
        </p:txBody>
      </p:sp>
      <p:graphicFrame>
        <p:nvGraphicFramePr>
          <p:cNvPr id="8" name=""/>
          <p:cNvGraphicFramePr/>
          <p:nvPr/>
        </p:nvGraphicFramePr>
        <p:xfrm>
          <a:off xmlns:a="http://schemas.openxmlformats.org/drawingml/2006/main" x="514350" y="2114550"/>
          <a:ext xmlns:a="http://schemas.openxmlformats.org/drawingml/2006/main" cx="11163300" cy="4029075"/>
        </p:xfrm>
        <a:graphic xmlns:a="http://schemas.openxmlformats.org/drawingml/2006/main">
          <a:graphicData uri="http://schemas.openxmlformats.org/drawingml/2006/table">
            <a:tbl>
              <a:tblPr firstRow="1" firstCol="0" bandRow="0"/>
              <a:tblGrid>
                <a:gridCol w="990600"/>
                <a:gridCol w="2066614"/>
                <a:gridCol w="1669824"/>
                <a:gridCol w="1611959"/>
                <a:gridCol w="1598732"/>
                <a:gridCol w="1527641"/>
                <a:gridCol w="1697930"/>
              </a:tblGrid>
              <a:tr h="400050">
                <a:tc>
                  <a:txBody>
                    <a:bodyPr lIns="38100" tIns="19050" rIns="38100" bIns="19050"/>
                    <a:lstStyle/>
                    <a:p>
                      <a:pPr algn="l"/>
                      <a:r>
                        <a:rPr sz="975" b="1">
                          <a:solidFill>
                            <a:srgbClr val="1F3864"/>
                          </a:solidFill>
                          <a:latin typeface="Calibri"/>
                          <a:ea typeface="Calibri"/>
                          <a:cs typeface="Calibri"/>
                        </a:rPr>
                        <a:t>Competitor</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Key Purchasing Criteria</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Slot Portfolio Variety</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Table Game Depth</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Poker and Sportsbook Draw</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Arrival Convenience</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Funds Access and Play Continuity</a:t>
                      </a:r>
                    </a:p>
                  </a:txBody>
                  <a:tcPr marL="91440" marR="91440" marT="45720" marB="45720">
                    <a:lnR w="0">
                      <a:noFill/>
                    </a:lnR>
                    <a:lnT w="0">
                      <a:noFill/>
                    </a:lnT>
                    <a:lnB w="9525">
                      <a:solidFill>
                        <a:srgbClr val="D7DEE7"/>
                      </a:solidFill>
                      <a:prstDash val="solid"/>
                    </a:lnB>
                    <a:solidFill>
                      <a:srgbClr val="F4F6F9"/>
                    </a:solidFill>
                  </a:tcPr>
                </a:tc>
              </a:tr>
              <a:tr h="666750">
                <a:tc>
                  <a:txBody>
                    <a:bodyPr lIns="38100" tIns="19050" rIns="38100" bIns="19050"/>
                    <a:lstStyle/>
                    <a:p>
                      <a:pPr algn="l"/>
                      <a:r>
                        <a:rPr sz="900" b="1">
                          <a:solidFill>
                            <a:srgbClr val="1B2A41"/>
                          </a:solidFill>
                          <a:latin typeface="Calibri"/>
                          <a:ea typeface="Calibri"/>
                          <a:cs typeface="Calibri"/>
                        </a:rPr>
                        <a:t>American Casino</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Convenient all-day local play, but the temporary floor and modest rewards keep it behind the strongest regional peers. · 3.2</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Smaller floor still covers the basics, but choice is thinner than nearby heavyweights. [75] · 2.8</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Core tables are present, though breadth and format choice remain fairly limited. [75] · 2.4</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Small poker room and modest sportsbook make it more of a casual stop. [18] · 3.0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Free parking helps, but arrival options are basic and mostly car-dependent. [38] · 1.6</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Standard cage and ATM access support play, without newer wallet tools. [23] · 2.8</a:t>
                      </a:r>
                    </a:p>
                  </a:txBody>
                  <a:tcPr marL="91440" marR="91440" marT="45720" marB="45720">
                    <a:lnR w="0">
                      <a:noFill/>
                    </a:lnR>
                    <a:lnB w="9525">
                      <a:solidFill>
                        <a:srgbClr val="D7DEE7"/>
                      </a:solidFill>
                      <a:prstDash val="solid"/>
                    </a:lnB>
                    <a:solidFill>
                      <a:srgbClr val="FFFFFF"/>
                    </a:solidFill>
                  </a:tcPr>
                </a:tc>
              </a:tr>
              <a:tr h="666750">
                <a:tc>
                  <a:txBody>
                    <a:bodyPr lIns="38100" tIns="19050" rIns="38100" bIns="19050"/>
                    <a:lstStyle/>
                    <a:p>
                      <a:pPr algn="l"/>
                      <a:r>
                        <a:rPr sz="900" b="1">
                          <a:solidFill>
                            <a:srgbClr val="1B2A41"/>
                          </a:solidFill>
                          <a:latin typeface="Calibri"/>
                          <a:ea typeface="Calibri"/>
                          <a:cs typeface="Calibri"/>
                        </a:rPr>
                        <a:t>Rivers Casino Des Plaines (Churchill Downs)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Best local scale and game breadth; weaker budget friendliness keeps it from being the clean value leader. · 4.0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Deep slot choice and local scale give players many more machine options. [98] · 3.6</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Chicago-area table depth feels broad, busy, and well-rounded for repeat play. [98] · 3.6</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Poker and sportsbook each pull serious traffic with far broader dedicated space. [32][99] · 4.8</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Easy suburban access keeps this property in regular local rotation. [98] · 4.2</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Large-scale gaming setup suggests fewer breaks between games than smaller peers. [98][99] · 3.6</a:t>
                      </a:r>
                    </a:p>
                  </a:txBody>
                  <a:tcPr marL="91440" marR="91440" marT="45720" marB="45720">
                    <a:lnR w="0">
                      <a:noFill/>
                    </a:lnR>
                    <a:lnB w="9525">
                      <a:solidFill>
                        <a:srgbClr val="D7DEE7"/>
                      </a:solidFill>
                      <a:prstDash val="solid"/>
                    </a:lnB>
                    <a:solidFill>
                      <a:srgbClr val="FFFFFF"/>
                    </a:solidFill>
                  </a:tcPr>
                </a:tc>
              </a:tr>
              <a:tr h="666750">
                <a:tc>
                  <a:txBody>
                    <a:bodyPr lIns="38100" tIns="19050" rIns="38100" bIns="19050"/>
                    <a:lstStyle/>
                    <a:p>
                      <a:pPr algn="l"/>
                      <a:r>
                        <a:rPr sz="900" b="1">
                          <a:solidFill>
                            <a:srgbClr val="1B2A41"/>
                          </a:solidFill>
                          <a:latin typeface="Calibri"/>
                          <a:ea typeface="Calibri"/>
                          <a:cs typeface="Calibri"/>
                        </a:rPr>
                        <a:t>Wind Creek Chicago Southland (Wind Creek Hospitality)</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New, broad, and always open, with the richest current reinvestment pitch in Chicagoland. · 4.8</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Wide denominations, progressives, and true high-limit space create strong slot choice. [101][102] · 4.6</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A new floor and solid game mix give table players dependable variety. [103][102] · 3.2</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Poker is real but smaller, while the sportsbook feels more lounge-like. [33][104] · 2.8</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Straightforward car arrival fits a new suburban regional casino. [103] · 2.2</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Modern floor design supports continuous play, but cashless tools are not prominent. [101][33] · 3.8</a:t>
                      </a:r>
                    </a:p>
                  </a:txBody>
                  <a:tcPr marL="91440" marR="91440" marT="45720" marB="45720">
                    <a:lnR w="0">
                      <a:noFill/>
                    </a:lnR>
                    <a:lnB w="9525">
                      <a:solidFill>
                        <a:srgbClr val="D7DEE7"/>
                      </a:solidFill>
                      <a:prstDash val="solid"/>
                    </a:lnB>
                    <a:solidFill>
                      <a:srgbClr val="FFFFFF"/>
                    </a:solidFill>
                  </a:tcPr>
                </a:tc>
              </a:tr>
              <a:tr h="666750">
                <a:tc>
                  <a:txBody>
                    <a:bodyPr lIns="38100" tIns="19050" rIns="38100" bIns="19050"/>
                    <a:lstStyle/>
                    <a:p>
                      <a:pPr algn="l"/>
                      <a:r>
                        <a:rPr sz="900" b="1">
                          <a:solidFill>
                            <a:srgbClr val="1B2A41"/>
                          </a:solidFill>
                          <a:latin typeface="Calibri"/>
                          <a:ea typeface="Calibri"/>
                          <a:cs typeface="Calibri"/>
                        </a:rPr>
                        <a:t>Hard Rock Casino Northern Indiana (Hard Rock International)</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Large and convenient, but weaker gaming completeness and softer loyalty integration than the best alternatives. · 3.5</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Big floor, wide denominations, and real high-limit space suit many play styles. [105] · 4.4</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This is one of the fuller live-table offers in the peer set. [105] · 4.0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No poker room hurts session variety, but the sportsbook is fully built-out. [106] · 2.6</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Highway access and round-the-clock valet make getting in notably easier. [107] · 3.0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Large-floor support keeps money movement practical, even without standout cashless features. [105][107] · 3.8</a:t>
                      </a:r>
                    </a:p>
                  </a:txBody>
                  <a:tcPr marL="91440" marR="91440" marT="45720" marB="45720">
                    <a:lnR w="0">
                      <a:noFill/>
                    </a:lnR>
                    <a:lnB w="9525">
                      <a:solidFill>
                        <a:srgbClr val="D7DEE7"/>
                      </a:solidFill>
                      <a:prstDash val="solid"/>
                    </a:lnB>
                    <a:solidFill>
                      <a:srgbClr val="FFFFFF"/>
                    </a:solidFill>
                  </a:tcPr>
                </a:tc>
              </a:tr>
              <a:tr h="962025">
                <a:tc>
                  <a:txBody>
                    <a:bodyPr lIns="38100" tIns="19050" rIns="38100" bIns="19050"/>
                    <a:lstStyle/>
                    <a:p>
                      <a:pPr algn="l"/>
                      <a:r>
                        <a:rPr sz="900" b="1">
                          <a:solidFill>
                            <a:srgbClr val="1B2A41"/>
                          </a:solidFill>
                          <a:latin typeface="Calibri"/>
                          <a:ea typeface="Calibri"/>
                          <a:cs typeface="Calibri"/>
                        </a:rPr>
                        <a:t>Don Laughlin's Riverside Resort Hotel &amp; Casino (Laughlin Recreational Enterprises)</a:t>
                      </a:r>
                    </a:p>
                  </a:txBody>
                  <a:tcPr marL="91440" marR="91440" marT="45720" marB="45720">
                    <a:lnL w="0">
                      <a:noFill/>
                    </a:lnL>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Old-school but high-value gaming, with strong 24-hour access and unusually player-friendly cash-back economics. · 4.5</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Large locals-oriented slot floor offers plenty of choice without premium polish. [108] · 3.8</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Tables cover the essentials, but higher-end depth looks lighter than top peers. [108] · 2.6</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Poker is active and frequent, while sportsbook service covers everyday betting needs. [109][110] · 3.4</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Garage access helps, but the location is still mainly a drive-up visit. [108] · 2.4</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Old-school full-service support keeps play moving, even without digital wallet convenience. [108][110] · 3.4</a:t>
                      </a:r>
                    </a:p>
                  </a:txBody>
                  <a:tcPr marL="91440" marR="91440" marT="45720" marB="45720">
                    <a:lnR w="0">
                      <a:noFill/>
                    </a:lnR>
                    <a:lnB w="0">
                      <a:noFill/>
                    </a:lnB>
                    <a:solidFill>
                      <a:srgbClr val="FFFFFF"/>
                    </a:solidFill>
                  </a:tcPr>
                </a:tc>
              </a:tr>
            </a:tbl>
          </a:graphicData>
        </a:graphic>
      </p:graphicFrame>
      <p:sp>
        <p:nvSpPr>
          <p:cNvPr id="4" name="structure:table-header-rule">
            <a:extLst xmlns:a="http://schemas.openxmlformats.org/drawingml/2006/main">
              <a:ext uri="{FF2B5EF4-FFF2-40B4-BE49-F238E27FC236}">
                <a16:creationId xmlns:a16="http://schemas.microsoft.com/office/drawing/2014/main" id="{D90B387A-048E-4C49-988C-FB2153E36262}"/>
              </a:ext>
            </a:extLst>
          </p:cNvPr>
          <p:cNvSpPr>
            <a:spLocks xmlns:a="http://schemas.openxmlformats.org/drawingml/2006/main" noGrp="1"/>
          </p:cNvSpPr>
          <p:nvPr/>
        </p:nvSpPr>
        <p:spPr>
          <a:xfrm xmlns:a="http://schemas.openxmlformats.org/drawingml/2006/main">
            <a:off x="514350" y="2505075"/>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0C7E2D7-C913-4EDC-B1BF-ECD1C936E573}"/>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18</a:t>
            </a:r>
          </a:p>
        </p:txBody>
      </p:sp>
    </p:spTree>
    <p:extLst>
      <p:ext uri="{BB962C8B-B14F-4D97-AF65-F5344CB8AC3E}">
        <p14:creationId xmlns:p14="http://schemas.microsoft.com/office/powerpoint/2010/main" val="1469815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AD28AC5-C920-44EA-9786-D68C131CB678}"/>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overall_kpc_summary_table continued</a:t>
            </a:r>
          </a:p>
        </p:txBody>
      </p:sp>
      <p:graphicFrame>
        <p:nvGraphicFramePr>
          <p:cNvPr id="6" name=""/>
          <p:cNvGraphicFramePr/>
          <p:nvPr/>
        </p:nvGraphicFramePr>
        <p:xfrm>
          <a:off xmlns:a="http://schemas.openxmlformats.org/drawingml/2006/main" x="514350" y="1143000"/>
          <a:ext xmlns:a="http://schemas.openxmlformats.org/drawingml/2006/main" cx="11163300" cy="4400550"/>
        </p:xfrm>
        <a:graphic xmlns:a="http://schemas.openxmlformats.org/drawingml/2006/main">
          <a:graphicData uri="http://schemas.openxmlformats.org/drawingml/2006/table">
            <a:tbl>
              <a:tblPr firstRow="1" firstCol="0" bandRow="0"/>
              <a:tblGrid>
                <a:gridCol w="990600"/>
                <a:gridCol w="2066614"/>
                <a:gridCol w="1669824"/>
                <a:gridCol w="1611959"/>
                <a:gridCol w="1598732"/>
                <a:gridCol w="1527641"/>
                <a:gridCol w="1697930"/>
              </a:tblGrid>
              <a:tr h="400050">
                <a:tc>
                  <a:txBody>
                    <a:bodyPr lIns="38100" tIns="19050" rIns="38100" bIns="19050"/>
                    <a:lstStyle/>
                    <a:p>
                      <a:pPr algn="l"/>
                      <a:r>
                        <a:rPr sz="975" b="1">
                          <a:solidFill>
                            <a:srgbClr val="1F3864"/>
                          </a:solidFill>
                          <a:latin typeface="Calibri"/>
                          <a:ea typeface="Calibri"/>
                          <a:cs typeface="Calibri"/>
                        </a:rPr>
                        <a:t>Competitor</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Key Purchasing Criteria</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Slot Portfolio Variety</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Table Game Depth</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Poker and Sportsbook Draw</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Arrival Convenience</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Funds Access and Play Continuity</a:t>
                      </a:r>
                    </a:p>
                  </a:txBody>
                  <a:tcPr marL="91440" marR="91440" marT="45720" marB="45720">
                    <a:lnR w="0">
                      <a:noFill/>
                    </a:lnR>
                    <a:lnT w="0">
                      <a:noFill/>
                    </a:lnT>
                    <a:lnB w="9525">
                      <a:solidFill>
                        <a:srgbClr val="D7DEE7"/>
                      </a:solidFill>
                      <a:prstDash val="solid"/>
                    </a:lnB>
                    <a:solidFill>
                      <a:srgbClr val="F4F6F9"/>
                    </a:solidFill>
                  </a:tcPr>
                </a:tc>
              </a:tr>
              <a:tr h="666750">
                <a:tc>
                  <a:txBody>
                    <a:bodyPr lIns="38100" tIns="19050" rIns="38100" bIns="19050"/>
                    <a:lstStyle/>
                    <a:p>
                      <a:pPr algn="l"/>
                      <a:r>
                        <a:rPr sz="900" b="1">
                          <a:solidFill>
                            <a:srgbClr val="1B2A41"/>
                          </a:solidFill>
                          <a:latin typeface="Calibri"/>
                          <a:ea typeface="Calibri"/>
                          <a:cs typeface="Calibri"/>
                        </a:rPr>
                        <a:t>Sunset Station (Red Rock Resorts)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Excellent locals value: broad gaming mix, strong low-limit play, and a rewards system built for repeat visits. · 4.5</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Locals slot choice is broad, with dedicated high-limit space and easy mobile funding. [111][112] · 4.0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Live tables feel solid, with extra electronic options helping widen the floor. [111][112] · 4.0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Good sportsbook energy helps, though poker depth appears more middle-of-pack. [111][112] · 3.0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Garage parking and easy road access fit quick repeat local trips. [112] · 3.0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Phone-to-machine funding reduces breaks in play for regular slot customers. [111] · 4.2</a:t>
                      </a:r>
                    </a:p>
                  </a:txBody>
                  <a:tcPr marL="91440" marR="91440" marT="45720" marB="45720">
                    <a:lnR w="0">
                      <a:noFill/>
                    </a:lnR>
                    <a:lnB w="9525">
                      <a:solidFill>
                        <a:srgbClr val="D7DEE7"/>
                      </a:solidFill>
                      <a:prstDash val="solid"/>
                    </a:lnB>
                    <a:solidFill>
                      <a:srgbClr val="FFFFFF"/>
                    </a:solidFill>
                  </a:tcPr>
                </a:tc>
              </a:tr>
              <a:tr h="666750">
                <a:tc>
                  <a:txBody>
                    <a:bodyPr lIns="38100" tIns="19050" rIns="38100" bIns="19050"/>
                    <a:lstStyle/>
                    <a:p>
                      <a:pPr algn="l"/>
                      <a:r>
                        <a:rPr sz="900" b="1">
                          <a:solidFill>
                            <a:srgbClr val="1B2A41"/>
                          </a:solidFill>
                          <a:latin typeface="Calibri"/>
                          <a:ea typeface="Calibri"/>
                          <a:cs typeface="Calibri"/>
                        </a:rPr>
                        <a:t>Edgewater Casino Resort (Golden Entertainment)</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Small gaming footprint holds it back; loyalty is better than expected, but the core floor is still thin. · 3.0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Slot choice is serviceable, but scale and premium variety trail most peers. [113] · 2.2</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Table play covers basics, though the floor looks lighter and less varied. [113] · 1.6</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Sports viewing stands out more than the wagering mix around it. [113] · 2.2</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Garage, valet, and airport shuttle make arrival easier than many resort peers. [114] · 4.0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Traditional support is fine, but newer self-service payment options look limited. [113] · 2.8</a:t>
                      </a:r>
                    </a:p>
                  </a:txBody>
                  <a:tcPr marL="91440" marR="91440" marT="45720" marB="45720">
                    <a:lnR w="0">
                      <a:noFill/>
                    </a:lnR>
                    <a:lnB w="9525">
                      <a:solidFill>
                        <a:srgbClr val="D7DEE7"/>
                      </a:solidFill>
                      <a:prstDash val="solid"/>
                    </a:lnB>
                    <a:solidFill>
                      <a:srgbClr val="FFFFFF"/>
                    </a:solidFill>
                  </a:tcPr>
                </a:tc>
              </a:tr>
              <a:tr h="666750">
                <a:tc>
                  <a:txBody>
                    <a:bodyPr lIns="38100" tIns="19050" rIns="38100" bIns="19050"/>
                    <a:lstStyle/>
                    <a:p>
                      <a:pPr algn="l"/>
                      <a:r>
                        <a:rPr sz="900" b="1">
                          <a:solidFill>
                            <a:srgbClr val="1B2A41"/>
                          </a:solidFill>
                          <a:latin typeface="Calibri"/>
                          <a:ea typeface="Calibri"/>
                          <a:cs typeface="Calibri"/>
                        </a:rPr>
                        <a:t>Hollywood Casino Aurora (PENN Entertainment)</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 move fixed freshness and scale; rewards are first-rate, but pricing still depends more on comps than base value. · 4.0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Fresh floor mixes new themes, jackpots, and solid denomination coverage. [9] · 3.6</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Land-based reopen brought broader table appeal, especially for higher-stakes baccarat players. [9] · 3.6</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No poker room narrows trip length, but the sportsbook is a real draw. [9][115] · 3.0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Interstate access and abundant parking make this one of the easiest arrivals. [116][9] · 3.0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Modern setup should keep play flowing even without promoted wallet tools. [9] · 3.2</a:t>
                      </a:r>
                    </a:p>
                  </a:txBody>
                  <a:tcPr marL="91440" marR="91440" marT="45720" marB="45720">
                    <a:lnR w="0">
                      <a:noFill/>
                    </a:lnR>
                    <a:lnB w="9525">
                      <a:solidFill>
                        <a:srgbClr val="D7DEE7"/>
                      </a:solidFill>
                      <a:prstDash val="solid"/>
                    </a:lnB>
                    <a:solidFill>
                      <a:srgbClr val="FFFFFF"/>
                    </a:solidFill>
                  </a:tcPr>
                </a:tc>
              </a:tr>
              <a:tr h="666750">
                <a:tc>
                  <a:txBody>
                    <a:bodyPr lIns="38100" tIns="19050" rIns="38100" bIns="19050"/>
                    <a:lstStyle/>
                    <a:p>
                      <a:pPr algn="l"/>
                      <a:r>
                        <a:rPr sz="900" b="1">
                          <a:solidFill>
                            <a:srgbClr val="1B2A41"/>
                          </a:solidFill>
                          <a:latin typeface="Calibri"/>
                          <a:ea typeface="Calibri"/>
                          <a:cs typeface="Calibri"/>
                        </a:rPr>
                        <a:t>Harrah's Laughlin (Caesars Entertainment)</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Broad gaming and elite network rewards are the draw; weaker visible value and hours detail temper the offer. · 3.8</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Older but still broad enough for casual gamblers who want familiar machines. [117] · 3.2</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Table mix is adequate, though depth looks modest beside stronger regional peers. [117] · 2.0</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Poker helps, but the betting offer looks more functional than destination-level. [117] · 2.4</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Resort scale helps car access, though transit convenience is not a strength. [117] · 2.6</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Standard resort cash access supports play, without distinctive continuity features. [117] · 3.0</a:t>
                      </a:r>
                    </a:p>
                  </a:txBody>
                  <a:tcPr marL="91440" marR="91440" marT="45720" marB="45720">
                    <a:lnR w="0">
                      <a:noFill/>
                    </a:lnR>
                    <a:lnB w="9525">
                      <a:solidFill>
                        <a:srgbClr val="D7DEE7"/>
                      </a:solidFill>
                      <a:prstDash val="solid"/>
                    </a:lnB>
                    <a:solidFill>
                      <a:srgbClr val="FFFFFF"/>
                    </a:solidFill>
                  </a:tcPr>
                </a:tc>
              </a:tr>
              <a:tr h="666750">
                <a:tc>
                  <a:txBody>
                    <a:bodyPr lIns="38100" tIns="19050" rIns="38100" bIns="19050"/>
                    <a:lstStyle/>
                    <a:p>
                      <a:pPr algn="l"/>
                      <a:r>
                        <a:rPr sz="900" b="1">
                          <a:solidFill>
                            <a:srgbClr val="1B2A41"/>
                          </a:solidFill>
                          <a:latin typeface="Calibri"/>
                          <a:ea typeface="Calibri"/>
                          <a:cs typeface="Calibri"/>
                        </a:rPr>
                        <a:t>Boulder Station Hotel &amp; Casino (Red Rock Resorts)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Outstanding low-limit accessibility and all-day access make it a very strong repeat-play locals option. · 4.5</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Very large locals floor offers abundant machine choice across a familiar mix. [118] · 3.8</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Breadth is strong for a locals property, helped by a broad supporting floor. [118] · 4.2</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Sportsbook scale stands out more than poker, which looks useful but secondary. [118] · 3.4</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Drive-in convenience is straightforward for locals making quick repeat visits. [118] · 3.4</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Locals-friendly systems keep sessions moving and make repeat play easy. [118] · 4.2</a:t>
                      </a:r>
                    </a:p>
                  </a:txBody>
                  <a:tcPr marL="91440" marR="91440" marT="45720" marB="45720">
                    <a:lnR w="0">
                      <a:noFill/>
                    </a:lnR>
                    <a:lnB w="9525">
                      <a:solidFill>
                        <a:srgbClr val="D7DEE7"/>
                      </a:solidFill>
                      <a:prstDash val="solid"/>
                    </a:lnB>
                    <a:solidFill>
                      <a:srgbClr val="FFFFFF"/>
                    </a:solidFill>
                  </a:tcPr>
                </a:tc>
              </a:tr>
              <a:tr h="666750">
                <a:tc>
                  <a:txBody>
                    <a:bodyPr lIns="38100" tIns="19050" rIns="38100" bIns="19050"/>
                    <a:lstStyle/>
                    <a:p>
                      <a:pPr algn="l"/>
                      <a:r>
                        <a:rPr sz="900" b="1">
                          <a:solidFill>
                            <a:srgbClr val="1B2A41"/>
                          </a:solidFill>
                          <a:latin typeface="Calibri"/>
                          <a:ea typeface="Calibri"/>
                          <a:cs typeface="Calibri"/>
                        </a:rPr>
                        <a:t>Red Rock Casino Resort Spa (Red Rock Resorts)</a:t>
                      </a:r>
                    </a:p>
                  </a:txBody>
                  <a:tcPr marL="91440" marR="91440" marT="45720" marB="45720">
                    <a:lnL w="0">
                      <a:noFill/>
                    </a:lnL>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Large, complete and always available, with strong value despite a more premium feel than other locals casinos. · 4.5</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Top-end breadth, high-limit space, and progressive depth make slot play exceptional. [119] · 5.0</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This floor gives serious table players one of the richest choices here. [120] · 5.0</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Large poker room and huge viewing setup make longer visits easy. [121][122] · 4.0</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Easy drive-in access supports a polished, high-comfort gaming visit. [121] · 4.0</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Cashless funding and broad support tools keep play highly uninterrupted. [119][120][121] · 4.8</a:t>
                      </a:r>
                    </a:p>
                  </a:txBody>
                  <a:tcPr marL="91440" marR="91440" marT="45720" marB="45720">
                    <a:lnR w="0">
                      <a:noFill/>
                    </a:lnR>
                    <a:lnB w="0">
                      <a:noFill/>
                    </a:lnB>
                    <a:solidFill>
                      <a:srgbClr val="FFFFFF"/>
                    </a:solidFill>
                  </a:tcPr>
                </a:tc>
              </a:tr>
            </a:tbl>
          </a:graphicData>
        </a:graphic>
      </p:graphicFrame>
      <p:sp>
        <p:nvSpPr>
          <p:cNvPr id="3" name="structure:table-header-rule">
            <a:extLst xmlns:a="http://schemas.openxmlformats.org/drawingml/2006/main">
              <a:ext uri="{FF2B5EF4-FFF2-40B4-BE49-F238E27FC236}">
                <a16:creationId xmlns:a16="http://schemas.microsoft.com/office/drawing/2014/main" id="{63627BD8-4636-48D8-9747-1A23F8F76B61}"/>
              </a:ext>
            </a:extLst>
          </p:cNvPr>
          <p:cNvSpPr>
            <a:spLocks xmlns:a="http://schemas.openxmlformats.org/drawingml/2006/main" noGrp="1"/>
          </p:cNvSpPr>
          <p:nvPr/>
        </p:nvSpPr>
        <p:spPr>
          <a:xfrm xmlns:a="http://schemas.openxmlformats.org/drawingml/2006/main">
            <a:off x="514350" y="1533525"/>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7A28C03-E860-4430-BAD4-A081F93C1EBF}"/>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19</a:t>
            </a:r>
          </a:p>
        </p:txBody>
      </p:sp>
    </p:spTree>
    <p:extLst>
      <p:ext uri="{BB962C8B-B14F-4D97-AF65-F5344CB8AC3E}">
        <p14:creationId xmlns:p14="http://schemas.microsoft.com/office/powerpoint/2010/main" val="206093378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F1DCD81-B205-43C0-8CE1-FB716D289E3F}"/>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Market Structure and Competitive Set</a:t>
            </a:r>
          </a:p>
        </p:txBody>
      </p:sp>
      <p:sp>
        <p:nvSpPr>
          <p:cNvPr id="2" name="structure:prose-row">
            <a:extLst xmlns:a="http://schemas.openxmlformats.org/drawingml/2006/main">
              <a:ext uri="{FF2B5EF4-FFF2-40B4-BE49-F238E27FC236}">
                <a16:creationId xmlns:a16="http://schemas.microsoft.com/office/drawing/2014/main" id="{A6931F3C-2E8B-4E08-B6F6-D70EFF0F5022}"/>
              </a:ext>
            </a:extLst>
          </p:cNvPr>
          <p:cNvSpPr>
            <a:spLocks xmlns:a="http://schemas.openxmlformats.org/drawingml/2006/main" noGrp="1"/>
          </p:cNvSpPr>
          <p:nvPr/>
        </p:nvSpPr>
        <p:spPr>
          <a:xfrm xmlns:a="http://schemas.openxmlformats.org/drawingml/2006/main">
            <a:off x="514350" y="1066800"/>
            <a:ext cx="11163300" cy="4191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structure:row-divider">
            <a:extLst xmlns:a="http://schemas.openxmlformats.org/drawingml/2006/main">
              <a:ext uri="{FF2B5EF4-FFF2-40B4-BE49-F238E27FC236}">
                <a16:creationId xmlns:a16="http://schemas.microsoft.com/office/drawing/2014/main" id="{E6A09C68-56DE-4E5D-8A0D-0AAEE470A5D0}"/>
              </a:ext>
            </a:extLst>
          </p:cNvPr>
          <p:cNvSpPr>
            <a:spLocks xmlns:a="http://schemas.openxmlformats.org/drawingml/2006/main" noGrp="1"/>
          </p:cNvSpPr>
          <p:nvPr/>
        </p:nvSpPr>
        <p:spPr>
          <a:xfrm xmlns:a="http://schemas.openxmlformats.org/drawingml/2006/main">
            <a:off x="514350" y="14763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B844A9A-2673-4530-8E86-7493348606D1}"/>
              </a:ext>
            </a:extLst>
          </p:cNvPr>
          <p:cNvSpPr>
            <a:spLocks xmlns:a="http://schemas.openxmlformats.org/drawingml/2006/main" noGrp="1"/>
          </p:cNvSpPr>
          <p:nvPr/>
        </p:nvSpPr>
        <p:spPr>
          <a:xfrm xmlns:a="http://schemas.openxmlformats.org/drawingml/2006/main">
            <a:off x="628650" y="1114425"/>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This market is won through game-floor depth, 24/7 access, loyalty value, and easy repeat local visits, and American Casino competes from a smaller, temporary, convenience-led position against larger Chicagoland and regional peers.[52][53][54]</a:t>
            </a:r>
          </a:p>
        </p:txBody>
      </p:sp>
      <p:sp>
        <p:nvSpPr>
          <p:cNvPr id="5" name="structure:prose-row">
            <a:extLst xmlns:a="http://schemas.openxmlformats.org/drawingml/2006/main">
              <a:ext uri="{FF2B5EF4-FFF2-40B4-BE49-F238E27FC236}">
                <a16:creationId xmlns:a16="http://schemas.microsoft.com/office/drawing/2014/main" id="{6BA8F828-FB43-435A-A655-8EC37644B160}"/>
              </a:ext>
            </a:extLst>
          </p:cNvPr>
          <p:cNvSpPr>
            <a:spLocks xmlns:a="http://schemas.openxmlformats.org/drawingml/2006/main" noGrp="1"/>
          </p:cNvSpPr>
          <p:nvPr/>
        </p:nvSpPr>
        <p:spPr>
          <a:xfrm xmlns:a="http://schemas.openxmlformats.org/drawingml/2006/main">
            <a:off x="514350" y="1485900"/>
            <a:ext cx="11163300" cy="571500"/>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6" name="structure:row-divider">
            <a:extLst xmlns:a="http://schemas.openxmlformats.org/drawingml/2006/main">
              <a:ext uri="{FF2B5EF4-FFF2-40B4-BE49-F238E27FC236}">
                <a16:creationId xmlns:a16="http://schemas.microsoft.com/office/drawing/2014/main" id="{E21DCCE4-23FE-4AA9-A049-E926E863EC04}"/>
              </a:ext>
            </a:extLst>
          </p:cNvPr>
          <p:cNvSpPr>
            <a:spLocks xmlns:a="http://schemas.openxmlformats.org/drawingml/2006/main" noGrp="1"/>
          </p:cNvSpPr>
          <p:nvPr/>
        </p:nvSpPr>
        <p:spPr>
          <a:xfrm xmlns:a="http://schemas.openxmlformats.org/drawingml/2006/main">
            <a:off x="514350" y="20478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AC8FF17-E1A7-46B3-B95D-655BA1D66DB6}"/>
              </a:ext>
            </a:extLst>
          </p:cNvPr>
          <p:cNvSpPr>
            <a:spLocks xmlns:a="http://schemas.openxmlformats.org/drawingml/2006/main" noGrp="1"/>
          </p:cNvSpPr>
          <p:nvPr/>
        </p:nvSpPr>
        <p:spPr>
          <a:xfrm xmlns:a="http://schemas.openxmlformats.org/drawingml/2006/main">
            <a:off x="628650" y="153352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Scaled Chicagoland gaming-floor leaders: American Casino, Rivers Casino Des Plaines (Churchill Downs), Wind Creek Chicago Southland (Wind Creek Hospitality), Hard Rock Casino Northern Indiana (Hard Rock International), and Hollywood Casino Aurora (PENN Entertainment) compete on floor breadth, fresh product, and stronger loyalty ecosystems; they set the benchmark for players who want the deepest choice and the best reinvestment.[11][12]</a:t>
            </a:r>
          </a:p>
        </p:txBody>
      </p:sp>
      <p:sp>
        <p:nvSpPr>
          <p:cNvPr id="8" name="structure:prose-row">
            <a:extLst xmlns:a="http://schemas.openxmlformats.org/drawingml/2006/main">
              <a:ext uri="{FF2B5EF4-FFF2-40B4-BE49-F238E27FC236}">
                <a16:creationId xmlns:a16="http://schemas.microsoft.com/office/drawing/2014/main" id="{84C4AD9E-CC27-4800-B120-4AFBC657633F}"/>
              </a:ext>
            </a:extLst>
          </p:cNvPr>
          <p:cNvSpPr>
            <a:spLocks xmlns:a="http://schemas.openxmlformats.org/drawingml/2006/main" noGrp="1"/>
          </p:cNvSpPr>
          <p:nvPr/>
        </p:nvSpPr>
        <p:spPr>
          <a:xfrm xmlns:a="http://schemas.openxmlformats.org/drawingml/2006/main">
            <a:off x="514350" y="2057400"/>
            <a:ext cx="11163300" cy="5715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9" name="structure:row-divider">
            <a:extLst xmlns:a="http://schemas.openxmlformats.org/drawingml/2006/main">
              <a:ext uri="{FF2B5EF4-FFF2-40B4-BE49-F238E27FC236}">
                <a16:creationId xmlns:a16="http://schemas.microsoft.com/office/drawing/2014/main" id="{87475028-5A0F-483A-92A5-066830D6FCC7}"/>
              </a:ext>
            </a:extLst>
          </p:cNvPr>
          <p:cNvSpPr>
            <a:spLocks xmlns:a="http://schemas.openxmlformats.org/drawingml/2006/main" noGrp="1"/>
          </p:cNvSpPr>
          <p:nvPr/>
        </p:nvSpPr>
        <p:spPr>
          <a:xfrm xmlns:a="http://schemas.openxmlformats.org/drawingml/2006/main">
            <a:off x="514350" y="26193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D34CF3F-1F5A-4CA2-BEB8-CFB3D9F05748}"/>
              </a:ext>
            </a:extLst>
          </p:cNvPr>
          <p:cNvSpPr>
            <a:spLocks xmlns:a="http://schemas.openxmlformats.org/drawingml/2006/main" noGrp="1"/>
          </p:cNvSpPr>
          <p:nvPr/>
        </p:nvSpPr>
        <p:spPr>
          <a:xfrm xmlns:a="http://schemas.openxmlformats.org/drawingml/2006/main">
            <a:off x="628650" y="210502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Locals-first value casinos: Sunset Station (Red Rock Resorts), Boulder Station Hotel &amp; Casino (Red Rock Resorts), and American Casino compete for repeat drive-in play built on convenience, comps, and all-day access; American Casino belongs here, but its smaller floor and more modest rewards make it less complete than the Red Rock locals properties.[11][12][22][23][18]</a:t>
            </a:r>
          </a:p>
        </p:txBody>
      </p:sp>
      <p:sp>
        <p:nvSpPr>
          <p:cNvPr id="11" name="structure:prose-row">
            <a:extLst xmlns:a="http://schemas.openxmlformats.org/drawingml/2006/main">
              <a:ext uri="{FF2B5EF4-FFF2-40B4-BE49-F238E27FC236}">
                <a16:creationId xmlns:a16="http://schemas.microsoft.com/office/drawing/2014/main" id="{2472D5C5-27C1-40A8-B8F4-41C6BC8B5DF2}"/>
              </a:ext>
            </a:extLst>
          </p:cNvPr>
          <p:cNvSpPr>
            <a:spLocks xmlns:a="http://schemas.openxmlformats.org/drawingml/2006/main" noGrp="1"/>
          </p:cNvSpPr>
          <p:nvPr/>
        </p:nvSpPr>
        <p:spPr>
          <a:xfrm xmlns:a="http://schemas.openxmlformats.org/drawingml/2006/main">
            <a:off x="514350" y="2628900"/>
            <a:ext cx="11163300" cy="419100"/>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12" name="structure:row-divider">
            <a:extLst xmlns:a="http://schemas.openxmlformats.org/drawingml/2006/main">
              <a:ext uri="{FF2B5EF4-FFF2-40B4-BE49-F238E27FC236}">
                <a16:creationId xmlns:a16="http://schemas.microsoft.com/office/drawing/2014/main" id="{79FA9FE9-1060-4408-BC10-9CAC65F0BC00}"/>
              </a:ext>
            </a:extLst>
          </p:cNvPr>
          <p:cNvSpPr>
            <a:spLocks xmlns:a="http://schemas.openxmlformats.org/drawingml/2006/main" noGrp="1"/>
          </p:cNvSpPr>
          <p:nvPr/>
        </p:nvSpPr>
        <p:spPr>
          <a:xfrm xmlns:a="http://schemas.openxmlformats.org/drawingml/2006/main">
            <a:off x="514350" y="30384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4C7AF24-62AE-4107-A377-4A09C111A596}"/>
              </a:ext>
            </a:extLst>
          </p:cNvPr>
          <p:cNvSpPr>
            <a:spLocks xmlns:a="http://schemas.openxmlformats.org/drawingml/2006/main" noGrp="1"/>
          </p:cNvSpPr>
          <p:nvPr/>
        </p:nvSpPr>
        <p:spPr>
          <a:xfrm xmlns:a="http://schemas.openxmlformats.org/drawingml/2006/main">
            <a:off x="628650" y="2676525"/>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Destination regional casinos with value orientation: Don Laughlin's Riverside Resort Hotel &amp; Casino (Laughlin Recreational Enterprises), Harrah's Laughlin (Caesars Entertainment), and Edgewater Casino Resort (Golden Entertainment) mix casino play with hotel or resort demand, so they appeal more to trip visitors than pure local traffic.[11][12]</a:t>
            </a:r>
          </a:p>
        </p:txBody>
      </p:sp>
      <p:sp>
        <p:nvSpPr>
          <p:cNvPr id="14" name="structure:prose-row">
            <a:extLst xmlns:a="http://schemas.openxmlformats.org/drawingml/2006/main">
              <a:ext uri="{FF2B5EF4-FFF2-40B4-BE49-F238E27FC236}">
                <a16:creationId xmlns:a16="http://schemas.microsoft.com/office/drawing/2014/main" id="{BE71CAF7-CFDE-43FE-AC24-1AB8826F0D19}"/>
              </a:ext>
            </a:extLst>
          </p:cNvPr>
          <p:cNvSpPr>
            <a:spLocks xmlns:a="http://schemas.openxmlformats.org/drawingml/2006/main" noGrp="1"/>
          </p:cNvSpPr>
          <p:nvPr/>
        </p:nvSpPr>
        <p:spPr>
          <a:xfrm xmlns:a="http://schemas.openxmlformats.org/drawingml/2006/main">
            <a:off x="514350" y="3048000"/>
            <a:ext cx="11163300" cy="4191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5" name="structure:row-divider">
            <a:extLst xmlns:a="http://schemas.openxmlformats.org/drawingml/2006/main">
              <a:ext uri="{FF2B5EF4-FFF2-40B4-BE49-F238E27FC236}">
                <a16:creationId xmlns:a16="http://schemas.microsoft.com/office/drawing/2014/main" id="{12AC2C9F-4E70-4847-8B5C-7E52EB4FD8B7}"/>
              </a:ext>
            </a:extLst>
          </p:cNvPr>
          <p:cNvSpPr>
            <a:spLocks xmlns:a="http://schemas.openxmlformats.org/drawingml/2006/main" noGrp="1"/>
          </p:cNvSpPr>
          <p:nvPr/>
        </p:nvSpPr>
        <p:spPr>
          <a:xfrm xmlns:a="http://schemas.openxmlformats.org/drawingml/2006/main">
            <a:off x="514350" y="34575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94B40CD-1104-46BC-941C-FBB6ADDBD69F}"/>
              </a:ext>
            </a:extLst>
          </p:cNvPr>
          <p:cNvSpPr>
            <a:spLocks xmlns:a="http://schemas.openxmlformats.org/drawingml/2006/main" noGrp="1"/>
          </p:cNvSpPr>
          <p:nvPr/>
        </p:nvSpPr>
        <p:spPr>
          <a:xfrm xmlns:a="http://schemas.openxmlformats.org/drawingml/2006/main">
            <a:off x="628650" y="3095625"/>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Premium-complete regional benchmark: Red Rock Casino Resort Spa (Red Rock Resorts) stands apart as the clearest best-in-set gaming product, with the deepest floor, broadest table mix, and strongest 24/7 continuity; it is the toughest comparator for any player seeking the fullest casino visit.[11][12]</a:t>
            </a:r>
          </a:p>
        </p:txBody>
      </p:sp>
      <p:sp>
        <p:nvSpPr>
          <p:cNvPr id="17" name="structure:prose-row">
            <a:extLst xmlns:a="http://schemas.openxmlformats.org/drawingml/2006/main">
              <a:ext uri="{FF2B5EF4-FFF2-40B4-BE49-F238E27FC236}">
                <a16:creationId xmlns:a16="http://schemas.microsoft.com/office/drawing/2014/main" id="{EB2E2366-0D7C-462B-9368-FFCF051C5C53}"/>
              </a:ext>
            </a:extLst>
          </p:cNvPr>
          <p:cNvSpPr>
            <a:spLocks xmlns:a="http://schemas.openxmlformats.org/drawingml/2006/main" noGrp="1"/>
          </p:cNvSpPr>
          <p:nvPr/>
        </p:nvSpPr>
        <p:spPr>
          <a:xfrm xmlns:a="http://schemas.openxmlformats.org/drawingml/2006/main">
            <a:off x="514350" y="3467100"/>
            <a:ext cx="11163300" cy="25717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18" name="structure:row-divider">
            <a:extLst xmlns:a="http://schemas.openxmlformats.org/drawingml/2006/main">
              <a:ext uri="{FF2B5EF4-FFF2-40B4-BE49-F238E27FC236}">
                <a16:creationId xmlns:a16="http://schemas.microsoft.com/office/drawing/2014/main" id="{0D24AC06-6942-42AE-9A9C-9991C44DA09B}"/>
              </a:ext>
            </a:extLst>
          </p:cNvPr>
          <p:cNvSpPr>
            <a:spLocks xmlns:a="http://schemas.openxmlformats.org/drawingml/2006/main" noGrp="1"/>
          </p:cNvSpPr>
          <p:nvPr/>
        </p:nvSpPr>
        <p:spPr>
          <a:xfrm xmlns:a="http://schemas.openxmlformats.org/drawingml/2006/main">
            <a:off x="514350" y="37147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A911AB8-28C3-40CC-9357-64A7EC55D9D4}"/>
              </a:ext>
            </a:extLst>
          </p:cNvPr>
          <p:cNvSpPr>
            <a:spLocks xmlns:a="http://schemas.openxmlformats.org/drawingml/2006/main" noGrp="1"/>
          </p:cNvSpPr>
          <p:nvPr/>
        </p:nvSpPr>
        <p:spPr>
          <a:xfrm xmlns:a="http://schemas.openxmlformats.org/drawingml/2006/main">
            <a:off x="628650" y="3514725"/>
            <a:ext cx="109347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American Casino is best for local repeat-play, but buyers should expect larger peers to win on breadth, loyalty portability, and destination pull.[11][12][22][23][18]</a:t>
            </a:r>
          </a:p>
        </p:txBody>
      </p:sp>
      <p:sp>
        <p:nvSpPr>
          <p:cNvPr id="20" name="">
            <a:extLst xmlns:a="http://schemas.openxmlformats.org/drawingml/2006/main">
              <a:ext uri="{FF2B5EF4-FFF2-40B4-BE49-F238E27FC236}">
                <a16:creationId xmlns:a16="http://schemas.microsoft.com/office/drawing/2014/main" id="{0B2A1E9D-9F4B-4DD6-96CE-DD1070D5AE66}"/>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20</a:t>
            </a:r>
          </a:p>
        </p:txBody>
      </p:sp>
    </p:spTree>
    <p:extLst>
      <p:ext uri="{BB962C8B-B14F-4D97-AF65-F5344CB8AC3E}">
        <p14:creationId xmlns:p14="http://schemas.microsoft.com/office/powerpoint/2010/main" val="113742757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E51BC55-A333-4ED7-8248-B136D5FAA656}"/>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Future Growth Strategy</a:t>
            </a:r>
          </a:p>
        </p:txBody>
      </p:sp>
      <p:sp>
        <p:nvSpPr>
          <p:cNvPr id="2" name="">
            <a:extLst xmlns:a="http://schemas.openxmlformats.org/drawingml/2006/main">
              <a:ext uri="{FF2B5EF4-FFF2-40B4-BE49-F238E27FC236}">
                <a16:creationId xmlns:a16="http://schemas.microsoft.com/office/drawing/2014/main" id="{EB9AAC61-5D43-42DE-AAC2-3525E6573474}"/>
              </a:ext>
            </a:extLst>
          </p:cNvPr>
          <p:cNvSpPr>
            <a:spLocks xmlns:a="http://schemas.openxmlformats.org/drawingml/2006/main" noGrp="1"/>
          </p:cNvSpPr>
          <p:nvPr/>
        </p:nvSpPr>
        <p:spPr>
          <a:xfrm xmlns:a="http://schemas.openxmlformats.org/drawingml/2006/main">
            <a:off x="628650" y="1114425"/>
            <a:ext cx="109347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American Place should prioritize organic growth first: tighten rated-play capture, CRM, AP Rewards, hosts, poker, dining, and Lighthouse traffic to close the local gaming-revenue gap, then add floor, poker, and entertainment capacity only when current-site results and funding milestones support it. The buyer must verify the base is real — $11.40 million of Illinois casino revenue in August 2026, about 940 slot machines, 48 table games, a 6-table poker room with a plan to add 5 more hires, and Friday-Saturday shows — and prove CRM conversion, reinvestment efficiency, host productivity, poker demand, ticket yield, comp control, and financing certainty before scaling. That sequence links the growth story: first make the existing asset generate more repeat visits and higher spend, then use targeted acquisitions and partnerships to remove capability gaps and speed up poker and entertainment growth.</a:t>
            </a:r>
          </a:p>
        </p:txBody>
      </p:sp>
      <p:graphicFrame>
        <p:nvGraphicFramePr>
          <p:cNvPr id="8" name=""/>
          <p:cNvGraphicFramePr/>
          <p:nvPr/>
        </p:nvGraphicFramePr>
        <p:xfrm>
          <a:off xmlns:a="http://schemas.openxmlformats.org/drawingml/2006/main" x="514350" y="2114550"/>
          <a:ext xmlns:a="http://schemas.openxmlformats.org/drawingml/2006/main" cx="11163300" cy="2019300"/>
        </p:xfrm>
        <a:graphic xmlns:a="http://schemas.openxmlformats.org/drawingml/2006/main">
          <a:graphicData uri="http://schemas.openxmlformats.org/drawingml/2006/table">
            <a:tbl>
              <a:tblPr firstRow="1" firstCol="0" bandRow="0"/>
              <a:tblGrid>
                <a:gridCol w="1522664"/>
                <a:gridCol w="4063337"/>
                <a:gridCol w="5577300"/>
              </a:tblGrid>
              <a:tr h="304800">
                <a:tc>
                  <a:txBody>
                    <a:bodyPr lIns="38100" tIns="19050" rIns="38100" bIns="19050"/>
                    <a:lstStyle/>
                    <a:p>
                      <a:pPr algn="l"/>
                      <a:r>
                        <a:rPr sz="975" b="1">
                          <a:solidFill>
                            <a:srgbClr val="1F3864"/>
                          </a:solidFill>
                          <a:latin typeface="Calibri"/>
                          <a:ea typeface="Calibri"/>
                          <a:cs typeface="Calibri"/>
                        </a:rPr>
                        <a:t>Headroom dimension</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Current Position</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Remaining Opportunity</a:t>
                      </a:r>
                    </a:p>
                  </a:txBody>
                  <a:tcPr marL="91440" marR="91440" marT="45720" marB="45720">
                    <a:lnR w="0">
                      <a:noFill/>
                    </a:lnR>
                    <a:lnT w="0">
                      <a:noFill/>
                    </a:lnT>
                    <a:lnB w="9525">
                      <a:solidFill>
                        <a:srgbClr val="D7DEE7"/>
                      </a:solidFill>
                      <a:prstDash val="solid"/>
                    </a:lnB>
                    <a:solidFill>
                      <a:srgbClr val="F4F6F9"/>
                    </a:solidFill>
                  </a:tcPr>
                </a:tc>
              </a:tr>
              <a:tr h="666750">
                <a:tc>
                  <a:txBody>
                    <a:bodyPr lIns="38100" tIns="19050" rIns="38100" bIns="19050"/>
                    <a:lstStyle/>
                    <a:p>
                      <a:pPr algn="l"/>
                      <a:r>
                        <a:rPr sz="900" b="1">
                          <a:solidFill>
                            <a:srgbClr val="1B2A41"/>
                          </a:solidFill>
                          <a:latin typeface="Calibri"/>
                          <a:ea typeface="Calibri"/>
                          <a:cs typeface="Calibri"/>
                        </a:rPr>
                        <a:t>Chicago-area gaming share catch-up · High · Market-led</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American Place Casino generated $11.40 million of Illinois casino revenue in August 2026, below Bally’s Chicago at $12.80 million, Hollywood Casino Aurora at $16.60 million, Wind Creek Chicago Southland at $19.80 million, and Rivers Casino Des Plaines at $46.30 million [29].</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Closing even part of the peer gap can lift monthly revenue quickly: matching Bally’s adds $1.40 million (+12%), Hollywood adds $5.20 million (+46%), Wind Creek adds $8.40 million (+74%), and Rivers adds $34.90 million (+306%) on the same month [29].</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Permanent gaming-floor capacity step-up · High · Execution-led</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 temporary property has about 940 slot machines and 48 table games [28].</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If the permanent plan is delivered, capacity could rise by about 376 more slot machines (40%) and 41 more table games (85%) versus today’s base [28][30].</a:t>
                      </a:r>
                    </a:p>
                  </a:txBody>
                  <a:tcPr marL="91440" marR="91440" marT="45720" marB="45720">
                    <a:lnR w="0">
                      <a:noFill/>
                    </a:lnR>
                    <a:lnB w="9525">
                      <a:solidFill>
                        <a:srgbClr val="D7DEE7"/>
                      </a:solidFill>
                      <a:prstDash val="solid"/>
                    </a:lnB>
                    <a:solidFill>
                      <a:srgbClr val="FFFFFF"/>
                    </a:solidFill>
                  </a:tcPr>
                </a:tc>
              </a:tr>
              <a:tr h="523875">
                <a:tc>
                  <a:txBody>
                    <a:bodyPr lIns="38100" tIns="19050" rIns="38100" bIns="19050"/>
                    <a:lstStyle/>
                    <a:p>
                      <a:pPr algn="l"/>
                      <a:r>
                        <a:rPr sz="900" b="1">
                          <a:solidFill>
                            <a:srgbClr val="1B2A41"/>
                          </a:solidFill>
                          <a:latin typeface="Calibri"/>
                          <a:ea typeface="Calibri"/>
                          <a:cs typeface="Calibri"/>
                        </a:rPr>
                        <a:t>Poker-room depth versus local peers · High · Capability-led</a:t>
                      </a:r>
                    </a:p>
                  </a:txBody>
                  <a:tcPr marL="91440" marR="91440" marT="45720" marB="45720">
                    <a:lnL w="0">
                      <a:noFill/>
                    </a:lnL>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The Harbor Poker Room opened in August 2025 with 6 tables and 11 poker-specific hires, with plans to add 5 more [18].</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Expanding in stages could close the product gap: +4 tables would reach Wind Creek Chicago Southland’s 10-table room (67% above current), and +16 tables would reach Rivers Casino Des Plaines’ 22-table room (267% above current) [18][32][33].</a:t>
                      </a:r>
                    </a:p>
                  </a:txBody>
                  <a:tcPr marL="91440" marR="91440" marT="45720" marB="45720">
                    <a:lnR w="0">
                      <a:noFill/>
                    </a:lnR>
                    <a:lnB w="0">
                      <a:noFill/>
                    </a:lnB>
                    <a:solidFill>
                      <a:srgbClr val="FFFFFF"/>
                    </a:solidFill>
                  </a:tcPr>
                </a:tc>
              </a:tr>
            </a:tbl>
          </a:graphicData>
        </a:graphic>
      </p:graphicFrame>
      <p:sp>
        <p:nvSpPr>
          <p:cNvPr id="4" name="structure:table-header-rule">
            <a:extLst xmlns:a="http://schemas.openxmlformats.org/drawingml/2006/main">
              <a:ext uri="{FF2B5EF4-FFF2-40B4-BE49-F238E27FC236}">
                <a16:creationId xmlns:a16="http://schemas.microsoft.com/office/drawing/2014/main" id="{8720CAF0-DC0B-4266-B585-A1DA1F68CEA0}"/>
              </a:ext>
            </a:extLst>
          </p:cNvPr>
          <p:cNvSpPr>
            <a:spLocks xmlns:a="http://schemas.openxmlformats.org/drawingml/2006/main" noGrp="1"/>
          </p:cNvSpPr>
          <p:nvPr/>
        </p:nvSpPr>
        <p:spPr>
          <a:xfrm xmlns:a="http://schemas.openxmlformats.org/drawingml/2006/main">
            <a:off x="514350" y="2409825"/>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3D2163-AC3A-4F31-A7ED-0F8871453727}"/>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21</a:t>
            </a:r>
          </a:p>
        </p:txBody>
      </p:sp>
    </p:spTree>
    <p:extLst>
      <p:ext uri="{BB962C8B-B14F-4D97-AF65-F5344CB8AC3E}">
        <p14:creationId xmlns:p14="http://schemas.microsoft.com/office/powerpoint/2010/main" val="155820129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B1497B0-1CEA-4E9B-823C-5B439364EBD2}"/>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Organic Strategy</a:t>
            </a:r>
          </a:p>
        </p:txBody>
      </p:sp>
      <p:sp>
        <p:nvSpPr>
          <p:cNvPr id="2" name="structure:prose-row">
            <a:extLst xmlns:a="http://schemas.openxmlformats.org/drawingml/2006/main">
              <a:ext uri="{FF2B5EF4-FFF2-40B4-BE49-F238E27FC236}">
                <a16:creationId xmlns:a16="http://schemas.microsoft.com/office/drawing/2014/main" id="{9E96B0C0-FA35-46C5-9E3A-748603C0A877}"/>
              </a:ext>
            </a:extLst>
          </p:cNvPr>
          <p:cNvSpPr>
            <a:spLocks xmlns:a="http://schemas.openxmlformats.org/drawingml/2006/main" noGrp="1"/>
          </p:cNvSpPr>
          <p:nvPr/>
        </p:nvSpPr>
        <p:spPr>
          <a:xfrm xmlns:a="http://schemas.openxmlformats.org/drawingml/2006/main">
            <a:off x="514350" y="1066800"/>
            <a:ext cx="11163300" cy="4191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structure:row-divider">
            <a:extLst xmlns:a="http://schemas.openxmlformats.org/drawingml/2006/main">
              <a:ext uri="{FF2B5EF4-FFF2-40B4-BE49-F238E27FC236}">
                <a16:creationId xmlns:a16="http://schemas.microsoft.com/office/drawing/2014/main" id="{9FC0582F-9EF6-4D63-9634-3E775CF62D00}"/>
              </a:ext>
            </a:extLst>
          </p:cNvPr>
          <p:cNvSpPr>
            <a:spLocks xmlns:a="http://schemas.openxmlformats.org/drawingml/2006/main" noGrp="1"/>
          </p:cNvSpPr>
          <p:nvPr/>
        </p:nvSpPr>
        <p:spPr>
          <a:xfrm xmlns:a="http://schemas.openxmlformats.org/drawingml/2006/main">
            <a:off x="514350" y="14763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4E842BC-1001-4989-A6D7-36E5DB431647}"/>
              </a:ext>
            </a:extLst>
          </p:cNvPr>
          <p:cNvSpPr>
            <a:spLocks xmlns:a="http://schemas.openxmlformats.org/drawingml/2006/main" noGrp="1"/>
          </p:cNvSpPr>
          <p:nvPr/>
        </p:nvSpPr>
        <p:spPr>
          <a:xfrm xmlns:a="http://schemas.openxmlformats.org/drawingml/2006/main">
            <a:off x="628650" y="1114425"/>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Lift repeat local gaming share in Chicagoland. Tighten card-in, table rating, and reinvestment checks before adding offers; then use AP Rewards, hosts, dining, and entertainment to drive more frequent local visits.[22][34][35][36][18][25][39]</a:t>
            </a:r>
          </a:p>
        </p:txBody>
      </p:sp>
      <p:sp>
        <p:nvSpPr>
          <p:cNvPr id="5" name="structure:prose-row">
            <a:extLst xmlns:a="http://schemas.openxmlformats.org/drawingml/2006/main">
              <a:ext uri="{FF2B5EF4-FFF2-40B4-BE49-F238E27FC236}">
                <a16:creationId xmlns:a16="http://schemas.microsoft.com/office/drawing/2014/main" id="{A2A3699F-1AAB-424A-9B97-DBE11EB6AADB}"/>
              </a:ext>
            </a:extLst>
          </p:cNvPr>
          <p:cNvSpPr>
            <a:spLocks xmlns:a="http://schemas.openxmlformats.org/drawingml/2006/main" noGrp="1"/>
          </p:cNvSpPr>
          <p:nvPr/>
        </p:nvSpPr>
        <p:spPr>
          <a:xfrm xmlns:a="http://schemas.openxmlformats.org/drawingml/2006/main">
            <a:off x="514350" y="1485900"/>
            <a:ext cx="11163300" cy="419100"/>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6" name="structure:row-divider">
            <a:extLst xmlns:a="http://schemas.openxmlformats.org/drawingml/2006/main">
              <a:ext uri="{FF2B5EF4-FFF2-40B4-BE49-F238E27FC236}">
                <a16:creationId xmlns:a16="http://schemas.microsoft.com/office/drawing/2014/main" id="{370D92CC-D1B5-4516-84CF-08D11C392530}"/>
              </a:ext>
            </a:extLst>
          </p:cNvPr>
          <p:cNvSpPr>
            <a:spLocks xmlns:a="http://schemas.openxmlformats.org/drawingml/2006/main" noGrp="1"/>
          </p:cNvSpPr>
          <p:nvPr/>
        </p:nvSpPr>
        <p:spPr>
          <a:xfrm xmlns:a="http://schemas.openxmlformats.org/drawingml/2006/main">
            <a:off x="514350" y="18954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39526AB-5D4B-41C4-9355-EDFAD6A9B022}"/>
              </a:ext>
            </a:extLst>
          </p:cNvPr>
          <p:cNvSpPr>
            <a:spLocks xmlns:a="http://schemas.openxmlformats.org/drawingml/2006/main" noGrp="1"/>
          </p:cNvSpPr>
          <p:nvPr/>
        </p:nvSpPr>
        <p:spPr>
          <a:xfrm xmlns:a="http://schemas.openxmlformats.org/drawingml/2006/main">
            <a:off x="628650" y="1533525"/>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Stage the permanent floor capacity launch. Treat the new casino as a commercial rollout, and wait to lock floor mix until operating data and financing milestones are clear.[36][30][37][13]</a:t>
            </a:r>
          </a:p>
        </p:txBody>
      </p:sp>
      <p:sp>
        <p:nvSpPr>
          <p:cNvPr id="8" name="structure:prose-row">
            <a:extLst xmlns:a="http://schemas.openxmlformats.org/drawingml/2006/main">
              <a:ext uri="{FF2B5EF4-FFF2-40B4-BE49-F238E27FC236}">
                <a16:creationId xmlns:a16="http://schemas.microsoft.com/office/drawing/2014/main" id="{F31AA4C6-089E-4051-98D2-745CD1596C97}"/>
              </a:ext>
            </a:extLst>
          </p:cNvPr>
          <p:cNvSpPr>
            <a:spLocks xmlns:a="http://schemas.openxmlformats.org/drawingml/2006/main" noGrp="1"/>
          </p:cNvSpPr>
          <p:nvPr/>
        </p:nvSpPr>
        <p:spPr>
          <a:xfrm xmlns:a="http://schemas.openxmlformats.org/drawingml/2006/main">
            <a:off x="514350" y="1905000"/>
            <a:ext cx="11163300" cy="25717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9" name="structure:row-divider">
            <a:extLst xmlns:a="http://schemas.openxmlformats.org/drawingml/2006/main">
              <a:ext uri="{FF2B5EF4-FFF2-40B4-BE49-F238E27FC236}">
                <a16:creationId xmlns:a16="http://schemas.microsoft.com/office/drawing/2014/main" id="{3A2940B0-E0B1-47BC-8F9B-0338014A4F11}"/>
              </a:ext>
            </a:extLst>
          </p:cNvPr>
          <p:cNvSpPr>
            <a:spLocks xmlns:a="http://schemas.openxmlformats.org/drawingml/2006/main" noGrp="1"/>
          </p:cNvSpPr>
          <p:nvPr/>
        </p:nvSpPr>
        <p:spPr>
          <a:xfrm xmlns:a="http://schemas.openxmlformats.org/drawingml/2006/main">
            <a:off x="514350" y="21526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D9773EE-E0AB-4B5B-87A2-00B0C238E88D}"/>
              </a:ext>
            </a:extLst>
          </p:cNvPr>
          <p:cNvSpPr>
            <a:spLocks xmlns:a="http://schemas.openxmlformats.org/drawingml/2006/main" noGrp="1"/>
          </p:cNvSpPr>
          <p:nvPr/>
        </p:nvSpPr>
        <p:spPr>
          <a:xfrm xmlns:a="http://schemas.openxmlformats.org/drawingml/2006/main">
            <a:off x="628650" y="1952625"/>
            <a:ext cx="109347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Deepen Harbor Poker Room to peer scale. Add tables only after waitlist, daypart fill, and game mix show the extra seats will earn their keep.[18]</a:t>
            </a:r>
          </a:p>
        </p:txBody>
      </p:sp>
      <p:sp>
        <p:nvSpPr>
          <p:cNvPr id="11" name="structure:prose-row">
            <a:extLst xmlns:a="http://schemas.openxmlformats.org/drawingml/2006/main">
              <a:ext uri="{FF2B5EF4-FFF2-40B4-BE49-F238E27FC236}">
                <a16:creationId xmlns:a16="http://schemas.microsoft.com/office/drawing/2014/main" id="{092D7B54-1FB1-4EF6-BF95-7EDFD298E586}"/>
              </a:ext>
            </a:extLst>
          </p:cNvPr>
          <p:cNvSpPr>
            <a:spLocks xmlns:a="http://schemas.openxmlformats.org/drawingml/2006/main" noGrp="1"/>
          </p:cNvSpPr>
          <p:nvPr/>
        </p:nvSpPr>
        <p:spPr>
          <a:xfrm xmlns:a="http://schemas.openxmlformats.org/drawingml/2006/main">
            <a:off x="514350" y="2162175"/>
            <a:ext cx="11163300" cy="419100"/>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12" name="structure:row-divider">
            <a:extLst xmlns:a="http://schemas.openxmlformats.org/drawingml/2006/main">
              <a:ext uri="{FF2B5EF4-FFF2-40B4-BE49-F238E27FC236}">
                <a16:creationId xmlns:a16="http://schemas.microsoft.com/office/drawing/2014/main" id="{6FAEB374-C1DA-462A-89F2-DDC0B793D115}"/>
              </a:ext>
            </a:extLst>
          </p:cNvPr>
          <p:cNvSpPr>
            <a:spLocks xmlns:a="http://schemas.openxmlformats.org/drawingml/2006/main" noGrp="1"/>
          </p:cNvSpPr>
          <p:nvPr/>
        </p:nvSpPr>
        <p:spPr>
          <a:xfrm xmlns:a="http://schemas.openxmlformats.org/drawingml/2006/main">
            <a:off x="514350" y="25717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7C57410-9D87-4123-8CD3-8BEB5DC43D5F}"/>
              </a:ext>
            </a:extLst>
          </p:cNvPr>
          <p:cNvSpPr>
            <a:spLocks xmlns:a="http://schemas.openxmlformats.org/drawingml/2006/main" noGrp="1"/>
          </p:cNvSpPr>
          <p:nvPr/>
        </p:nvSpPr>
        <p:spPr>
          <a:xfrm xmlns:a="http://schemas.openxmlformats.org/drawingml/2006/main">
            <a:off x="628650" y="2209800"/>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Turn the temporary site into event-led visitation. Build a stepped events calendar and sell each event as a full-night visit with dining, gaming, and private-event booking tied to the larger venue plan.[31][20][25][26][38][39]</a:t>
            </a:r>
          </a:p>
        </p:txBody>
      </p:sp>
      <p:sp>
        <p:nvSpPr>
          <p:cNvPr id="14" name="structure:prose-row">
            <a:extLst xmlns:a="http://schemas.openxmlformats.org/drawingml/2006/main">
              <a:ext uri="{FF2B5EF4-FFF2-40B4-BE49-F238E27FC236}">
                <a16:creationId xmlns:a16="http://schemas.microsoft.com/office/drawing/2014/main" id="{6C558B17-C4B3-4AA2-A217-D480AC80866C}"/>
              </a:ext>
            </a:extLst>
          </p:cNvPr>
          <p:cNvSpPr>
            <a:spLocks xmlns:a="http://schemas.openxmlformats.org/drawingml/2006/main" noGrp="1"/>
          </p:cNvSpPr>
          <p:nvPr/>
        </p:nvSpPr>
        <p:spPr>
          <a:xfrm xmlns:a="http://schemas.openxmlformats.org/drawingml/2006/main">
            <a:off x="514350" y="2581275"/>
            <a:ext cx="11163300" cy="4191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5" name="structure:row-divider">
            <a:extLst xmlns:a="http://schemas.openxmlformats.org/drawingml/2006/main">
              <a:ext uri="{FF2B5EF4-FFF2-40B4-BE49-F238E27FC236}">
                <a16:creationId xmlns:a16="http://schemas.microsoft.com/office/drawing/2014/main" id="{CE301D13-F6EF-4473-B587-9CAE0C609141}"/>
              </a:ext>
            </a:extLst>
          </p:cNvPr>
          <p:cNvSpPr>
            <a:spLocks xmlns:a="http://schemas.openxmlformats.org/drawingml/2006/main" noGrp="1"/>
          </p:cNvSpPr>
          <p:nvPr/>
        </p:nvSpPr>
        <p:spPr>
          <a:xfrm xmlns:a="http://schemas.openxmlformats.org/drawingml/2006/main">
            <a:off x="514350" y="29908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DD428D2-0926-4843-872C-C026973EFFEB}"/>
              </a:ext>
            </a:extLst>
          </p:cNvPr>
          <p:cNvSpPr>
            <a:spLocks xmlns:a="http://schemas.openxmlformats.org/drawingml/2006/main" noGrp="1"/>
          </p:cNvSpPr>
          <p:nvPr/>
        </p:nvSpPr>
        <p:spPr>
          <a:xfrm xmlns:a="http://schemas.openxmlformats.org/drawingml/2006/main">
            <a:off x="628650" y="2628900"/>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Faster near-term cash flow. The biggest quick gain is from better use of the current asset base; August 2026 revenue was $11.40 million, below nearby peers, so even a partial share catch-up can add meaningful monthly revenue.[29][29]</a:t>
            </a:r>
          </a:p>
        </p:txBody>
      </p:sp>
      <p:sp>
        <p:nvSpPr>
          <p:cNvPr id="17" name="structure:prose-row">
            <a:extLst xmlns:a="http://schemas.openxmlformats.org/drawingml/2006/main">
              <a:ext uri="{FF2B5EF4-FFF2-40B4-BE49-F238E27FC236}">
                <a16:creationId xmlns:a16="http://schemas.microsoft.com/office/drawing/2014/main" id="{066DA805-C9A8-479A-A930-0310E322B977}"/>
              </a:ext>
            </a:extLst>
          </p:cNvPr>
          <p:cNvSpPr>
            <a:spLocks xmlns:a="http://schemas.openxmlformats.org/drawingml/2006/main" noGrp="1"/>
          </p:cNvSpPr>
          <p:nvPr/>
        </p:nvSpPr>
        <p:spPr>
          <a:xfrm xmlns:a="http://schemas.openxmlformats.org/drawingml/2006/main">
            <a:off x="514350" y="3000375"/>
            <a:ext cx="11163300" cy="419100"/>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18" name="structure:row-divider">
            <a:extLst xmlns:a="http://schemas.openxmlformats.org/drawingml/2006/main">
              <a:ext uri="{FF2B5EF4-FFF2-40B4-BE49-F238E27FC236}">
                <a16:creationId xmlns:a16="http://schemas.microsoft.com/office/drawing/2014/main" id="{544DFA07-27E8-4321-831A-65D861E30E47}"/>
              </a:ext>
            </a:extLst>
          </p:cNvPr>
          <p:cNvSpPr>
            <a:spLocks xmlns:a="http://schemas.openxmlformats.org/drawingml/2006/main" noGrp="1"/>
          </p:cNvSpPr>
          <p:nvPr/>
        </p:nvSpPr>
        <p:spPr>
          <a:xfrm xmlns:a="http://schemas.openxmlformats.org/drawingml/2006/main">
            <a:off x="514350" y="34099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8F5D58C-276A-40FF-BE31-458CABDCBCB4}"/>
              </a:ext>
            </a:extLst>
          </p:cNvPr>
          <p:cNvSpPr>
            <a:spLocks xmlns:a="http://schemas.openxmlformats.org/drawingml/2006/main" noGrp="1"/>
          </p:cNvSpPr>
          <p:nvPr/>
        </p:nvSpPr>
        <p:spPr>
          <a:xfrm xmlns:a="http://schemas.openxmlformats.org/drawingml/2006/main">
            <a:off x="628650" y="3048000"/>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More revenue from the same site. The permanent build should add about 376 slot machines and 41 tables versus the current temporary base, but the buyer should not assume full upside until funding and delivery are proven.[28][30][11]</a:t>
            </a:r>
          </a:p>
        </p:txBody>
      </p:sp>
      <p:sp>
        <p:nvSpPr>
          <p:cNvPr id="20" name="structure:prose-row">
            <a:extLst xmlns:a="http://schemas.openxmlformats.org/drawingml/2006/main">
              <a:ext uri="{FF2B5EF4-FFF2-40B4-BE49-F238E27FC236}">
                <a16:creationId xmlns:a16="http://schemas.microsoft.com/office/drawing/2014/main" id="{BDB46EAC-7944-4F18-8143-3B326426390D}"/>
              </a:ext>
            </a:extLst>
          </p:cNvPr>
          <p:cNvSpPr>
            <a:spLocks xmlns:a="http://schemas.openxmlformats.org/drawingml/2006/main" noGrp="1"/>
          </p:cNvSpPr>
          <p:nvPr/>
        </p:nvSpPr>
        <p:spPr>
          <a:xfrm xmlns:a="http://schemas.openxmlformats.org/drawingml/2006/main">
            <a:off x="514350" y="3419475"/>
            <a:ext cx="11163300" cy="4191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1" name="structure:row-divider">
            <a:extLst xmlns:a="http://schemas.openxmlformats.org/drawingml/2006/main">
              <a:ext uri="{FF2B5EF4-FFF2-40B4-BE49-F238E27FC236}">
                <a16:creationId xmlns:a16="http://schemas.microsoft.com/office/drawing/2014/main" id="{8C1570F2-9884-4844-BA5E-FA789356F5D2}"/>
              </a:ext>
            </a:extLst>
          </p:cNvPr>
          <p:cNvSpPr>
            <a:spLocks xmlns:a="http://schemas.openxmlformats.org/drawingml/2006/main" noGrp="1"/>
          </p:cNvSpPr>
          <p:nvPr/>
        </p:nvSpPr>
        <p:spPr>
          <a:xfrm xmlns:a="http://schemas.openxmlformats.org/drawingml/2006/main">
            <a:off x="514350" y="38290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67EBA70E-B13A-4553-AD43-7DB6FE431C95}"/>
              </a:ext>
            </a:extLst>
          </p:cNvPr>
          <p:cNvSpPr>
            <a:spLocks xmlns:a="http://schemas.openxmlformats.org/drawingml/2006/main" noGrp="1"/>
          </p:cNvSpPr>
          <p:nvPr/>
        </p:nvSpPr>
        <p:spPr>
          <a:xfrm xmlns:a="http://schemas.openxmlformats.org/drawingml/2006/main">
            <a:off x="628650" y="3467100"/>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Higher poker yield. Moving from 6 tables toward peer scale can lift evening traffic, but only if the room proves it can fill seats and keep players coming back.[18][32][33][18][18]</a:t>
            </a:r>
          </a:p>
        </p:txBody>
      </p:sp>
      <p:sp>
        <p:nvSpPr>
          <p:cNvPr id="23" name="structure:prose-row">
            <a:extLst xmlns:a="http://schemas.openxmlformats.org/drawingml/2006/main">
              <a:ext uri="{FF2B5EF4-FFF2-40B4-BE49-F238E27FC236}">
                <a16:creationId xmlns:a16="http://schemas.microsoft.com/office/drawing/2014/main" id="{947DD43C-1738-4088-8D7F-B8888EC8780A}"/>
              </a:ext>
            </a:extLst>
          </p:cNvPr>
          <p:cNvSpPr>
            <a:spLocks xmlns:a="http://schemas.openxmlformats.org/drawingml/2006/main" noGrp="1"/>
          </p:cNvSpPr>
          <p:nvPr/>
        </p:nvSpPr>
        <p:spPr>
          <a:xfrm xmlns:a="http://schemas.openxmlformats.org/drawingml/2006/main">
            <a:off x="514350" y="3838575"/>
            <a:ext cx="11163300" cy="419100"/>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24" name="structure:row-divider">
            <a:extLst xmlns:a="http://schemas.openxmlformats.org/drawingml/2006/main">
              <a:ext uri="{FF2B5EF4-FFF2-40B4-BE49-F238E27FC236}">
                <a16:creationId xmlns:a16="http://schemas.microsoft.com/office/drawing/2014/main" id="{873B3D12-9BCD-41AD-ABD9-AE140B6594E3}"/>
              </a:ext>
            </a:extLst>
          </p:cNvPr>
          <p:cNvSpPr>
            <a:spLocks xmlns:a="http://schemas.openxmlformats.org/drawingml/2006/main" noGrp="1"/>
          </p:cNvSpPr>
          <p:nvPr/>
        </p:nvSpPr>
        <p:spPr>
          <a:xfrm xmlns:a="http://schemas.openxmlformats.org/drawingml/2006/main">
            <a:off x="514350" y="42481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8514C2D-6C0C-418B-8B34-7563C8C52E97}"/>
              </a:ext>
            </a:extLst>
          </p:cNvPr>
          <p:cNvSpPr>
            <a:spLocks xmlns:a="http://schemas.openxmlformats.org/drawingml/2006/main" noGrp="1"/>
          </p:cNvSpPr>
          <p:nvPr/>
        </p:nvSpPr>
        <p:spPr>
          <a:xfrm xmlns:a="http://schemas.openxmlformats.org/drawingml/2006/main">
            <a:off x="628650" y="3886200"/>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a:solidFill>
                  <a:srgbClr val="1B2A41"/>
                </a:solidFill>
                <a:latin typeface="Calibri"/>
                <a:ea typeface="Calibri"/>
                <a:cs typeface="Calibri"/>
              </a:defRPr>
            </a:pPr>
            <a:r>
              <a:rPr sz="975">
                <a:solidFill>
                  <a:srgbClr val="1B2A41"/>
                </a:solidFill>
                <a:latin typeface="Calibri"/>
                <a:ea typeface="Calibri"/>
                <a:cs typeface="Calibri"/>
              </a:rPr>
              <a:t>•  New evening spend. A larger entertainment program can create extra ticket, food, gaming, and event revenue, but only if attendance and attach rates are strong enough to justify the conversion.[31][20][25][31][31][20]</a:t>
            </a:r>
          </a:p>
        </p:txBody>
      </p:sp>
      <p:sp>
        <p:nvSpPr>
          <p:cNvPr id="26" name="">
            <a:extLst xmlns:a="http://schemas.openxmlformats.org/drawingml/2006/main">
              <a:ext uri="{FF2B5EF4-FFF2-40B4-BE49-F238E27FC236}">
                <a16:creationId xmlns:a16="http://schemas.microsoft.com/office/drawing/2014/main" id="{093BE704-46A8-4601-A09F-0687B875BC9F}"/>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22</a:t>
            </a:r>
          </a:p>
        </p:txBody>
      </p:sp>
    </p:spTree>
    <p:extLst>
      <p:ext uri="{BB962C8B-B14F-4D97-AF65-F5344CB8AC3E}">
        <p14:creationId xmlns:p14="http://schemas.microsoft.com/office/powerpoint/2010/main" val="51861350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9D45E6B6-59A5-49E1-887D-2A70222A4B77}"/>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M&amp;A / Partnership Logic</a:t>
            </a:r>
          </a:p>
        </p:txBody>
      </p:sp>
      <p:sp>
        <p:nvSpPr>
          <p:cNvPr id="2" name="structure:card">
            <a:extLst xmlns:a="http://schemas.openxmlformats.org/drawingml/2006/main">
              <a:ext uri="{FF2B5EF4-FFF2-40B4-BE49-F238E27FC236}">
                <a16:creationId xmlns:a16="http://schemas.microsoft.com/office/drawing/2014/main" id="{422B4760-2E5B-4E25-8840-84328F233E05}"/>
              </a:ext>
            </a:extLst>
          </p:cNvPr>
          <p:cNvSpPr>
            <a:spLocks xmlns:a="http://schemas.openxmlformats.org/drawingml/2006/main" noGrp="1"/>
          </p:cNvSpPr>
          <p:nvPr/>
        </p:nvSpPr>
        <p:spPr>
          <a:xfrm xmlns:a="http://schemas.openxmlformats.org/drawingml/2006/main">
            <a:off x="514350" y="1066800"/>
            <a:ext cx="5505450" cy="2647950"/>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3" name="">
            <a:extLst xmlns:a="http://schemas.openxmlformats.org/drawingml/2006/main">
              <a:ext uri="{FF2B5EF4-FFF2-40B4-BE49-F238E27FC236}">
                <a16:creationId xmlns:a16="http://schemas.microsoft.com/office/drawing/2014/main" id="{7A7121CB-6DC5-4D7A-84D5-FCC75210F6DA}"/>
              </a:ext>
            </a:extLst>
          </p:cNvPr>
          <p:cNvSpPr>
            <a:spLocks xmlns:a="http://schemas.openxmlformats.org/drawingml/2006/main" noGrp="1"/>
          </p:cNvSpPr>
          <p:nvPr/>
        </p:nvSpPr>
        <p:spPr>
          <a:xfrm xmlns:a="http://schemas.openxmlformats.org/drawingml/2006/main">
            <a:off x="628650" y="1162050"/>
            <a:ext cx="5276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Ellis Island for casino floor capacity</a:t>
            </a:r>
          </a:p>
        </p:txBody>
      </p:sp>
      <p:sp>
        <p:nvSpPr>
          <p:cNvPr id="4" name="">
            <a:extLst xmlns:a="http://schemas.openxmlformats.org/drawingml/2006/main">
              <a:ext uri="{FF2B5EF4-FFF2-40B4-BE49-F238E27FC236}">
                <a16:creationId xmlns:a16="http://schemas.microsoft.com/office/drawing/2014/main" id="{84D6303C-9A49-4DF2-A2D7-DB6F1BDA23FF}"/>
              </a:ext>
            </a:extLst>
          </p:cNvPr>
          <p:cNvSpPr>
            <a:spLocks xmlns:a="http://schemas.openxmlformats.org/drawingml/2006/main" noGrp="1"/>
          </p:cNvSpPr>
          <p:nvPr/>
        </p:nvSpPr>
        <p:spPr>
          <a:xfrm xmlns:a="http://schemas.openxmlformats.org/drawingml/2006/main">
            <a:off x="628650" y="1390650"/>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Platform acquisition</a:t>
            </a:r>
          </a:p>
        </p:txBody>
      </p:sp>
      <p:sp>
        <p:nvSpPr>
          <p:cNvPr id="5" name="">
            <a:extLst xmlns:a="http://schemas.openxmlformats.org/drawingml/2006/main">
              <a:ext uri="{FF2B5EF4-FFF2-40B4-BE49-F238E27FC236}">
                <a16:creationId xmlns:a16="http://schemas.microsoft.com/office/drawing/2014/main" id="{171506AE-A4AC-4C4C-BD33-73CD32181E3C}"/>
              </a:ext>
            </a:extLst>
          </p:cNvPr>
          <p:cNvSpPr>
            <a:spLocks xmlns:a="http://schemas.openxmlformats.org/drawingml/2006/main" noGrp="1"/>
          </p:cNvSpPr>
          <p:nvPr/>
        </p:nvSpPr>
        <p:spPr>
          <a:xfrm xmlns:a="http://schemas.openxmlformats.org/drawingml/2006/main">
            <a:off x="628650" y="1571625"/>
            <a:ext cx="52768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Gaming-floor capacity</a:t>
            </a:r>
          </a:p>
        </p:txBody>
      </p:sp>
      <p:sp>
        <p:nvSpPr>
          <p:cNvPr id="6" name="">
            <a:extLst xmlns:a="http://schemas.openxmlformats.org/drawingml/2006/main">
              <a:ext uri="{FF2B5EF4-FFF2-40B4-BE49-F238E27FC236}">
                <a16:creationId xmlns:a16="http://schemas.microsoft.com/office/drawing/2014/main" id="{460DC6E9-3FC5-4D08-9A59-4D862E58D018}"/>
              </a:ext>
            </a:extLst>
          </p:cNvPr>
          <p:cNvSpPr>
            <a:spLocks xmlns:a="http://schemas.openxmlformats.org/drawingml/2006/main" noGrp="1"/>
          </p:cNvSpPr>
          <p:nvPr/>
        </p:nvSpPr>
        <p:spPr>
          <a:xfrm xmlns:a="http://schemas.openxmlformats.org/drawingml/2006/main">
            <a:off x="628650" y="1781175"/>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1B2A41"/>
                </a:solidFill>
                <a:latin typeface="Calibri"/>
                <a:ea typeface="Calibri"/>
                <a:cs typeface="Calibri"/>
              </a:defRPr>
            </a:pPr>
            <a:r>
              <a:rPr sz="750" b="1">
                <a:solidFill>
                  <a:srgbClr val="1B2A41"/>
                </a:solidFill>
                <a:latin typeface="Calibri"/>
                <a:ea typeface="Calibri"/>
                <a:cs typeface="Calibri"/>
              </a:rPr>
              <a:t>STRATEGIC LOGIC</a:t>
            </a:r>
          </a:p>
        </p:txBody>
      </p:sp>
      <p:sp>
        <p:nvSpPr>
          <p:cNvPr id="7" name="">
            <a:extLst xmlns:a="http://schemas.openxmlformats.org/drawingml/2006/main">
              <a:ext uri="{FF2B5EF4-FFF2-40B4-BE49-F238E27FC236}">
                <a16:creationId xmlns:a16="http://schemas.microsoft.com/office/drawing/2014/main" id="{B88CCFE1-333B-45A7-A810-12B41455472E}"/>
              </a:ext>
            </a:extLst>
          </p:cNvPr>
          <p:cNvSpPr>
            <a:spLocks xmlns:a="http://schemas.openxmlformats.org/drawingml/2006/main" noGrp="1"/>
          </p:cNvSpPr>
          <p:nvPr/>
        </p:nvSpPr>
        <p:spPr>
          <a:xfrm xmlns:a="http://schemas.openxmlformats.org/drawingml/2006/main">
            <a:off x="628650" y="1962150"/>
            <a:ext cx="5276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An operating casino would let American Place Casino add capacity faster than building from scratch, helping it bypass construction timing and financing risk. It would add about 40% more slots and 85% more table games, or roughly 376 slot machines and 41 tables versus today’s base.[28][30] That makes the move a faster way to unlock the permanent floor plan, but it also brings licensing, property, and hotel integration work.[28][30][31][40][41]</a:t>
            </a:r>
          </a:p>
        </p:txBody>
      </p:sp>
      <p:sp>
        <p:nvSpPr>
          <p:cNvPr id="8" name="">
            <a:extLst xmlns:a="http://schemas.openxmlformats.org/drawingml/2006/main">
              <a:ext uri="{FF2B5EF4-FFF2-40B4-BE49-F238E27FC236}">
                <a16:creationId xmlns:a16="http://schemas.microsoft.com/office/drawing/2014/main" id="{7A7B91DE-0825-4ACE-B700-EB953CE8DCF0}"/>
              </a:ext>
            </a:extLst>
          </p:cNvPr>
          <p:cNvSpPr>
            <a:spLocks xmlns:a="http://schemas.openxmlformats.org/drawingml/2006/main" noGrp="1"/>
          </p:cNvSpPr>
          <p:nvPr/>
        </p:nvSpPr>
        <p:spPr>
          <a:xfrm xmlns:a="http://schemas.openxmlformats.org/drawingml/2006/main">
            <a:off x="628650" y="2752725"/>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1B2A41"/>
                </a:solidFill>
                <a:latin typeface="Calibri"/>
                <a:ea typeface="Calibri"/>
                <a:cs typeface="Calibri"/>
              </a:defRPr>
            </a:pPr>
            <a:r>
              <a:rPr sz="750" b="1">
                <a:solidFill>
                  <a:srgbClr val="1B2A41"/>
                </a:solidFill>
                <a:latin typeface="Calibri"/>
                <a:ea typeface="Calibri"/>
                <a:cs typeface="Calibri"/>
              </a:rPr>
              <a:t>SCREEN TARGETS</a:t>
            </a:r>
          </a:p>
        </p:txBody>
      </p:sp>
      <p:sp>
        <p:nvSpPr>
          <p:cNvPr id="9" name="">
            <a:extLst xmlns:a="http://schemas.openxmlformats.org/drawingml/2006/main">
              <a:ext uri="{FF2B5EF4-FFF2-40B4-BE49-F238E27FC236}">
                <a16:creationId xmlns:a16="http://schemas.microsoft.com/office/drawing/2014/main" id="{4F40BD97-746A-4742-A47C-CA5CC2DA39E8}"/>
              </a:ext>
            </a:extLst>
          </p:cNvPr>
          <p:cNvSpPr>
            <a:spLocks xmlns:a="http://schemas.openxmlformats.org/drawingml/2006/main" noGrp="1"/>
          </p:cNvSpPr>
          <p:nvPr/>
        </p:nvSpPr>
        <p:spPr>
          <a:xfrm xmlns:a="http://schemas.openxmlformats.org/drawingml/2006/main">
            <a:off x="628650" y="2933700"/>
            <a:ext cx="5276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Ellis Island Casino, Hotel, and Brewery — Fits the capacity problem and already runs a full casino model.</a:t>
            </a:r>
          </a:p>
        </p:txBody>
      </p:sp>
      <p:sp>
        <p:nvSpPr>
          <p:cNvPr id="10" name="structure:card">
            <a:extLst xmlns:a="http://schemas.openxmlformats.org/drawingml/2006/main">
              <a:ext uri="{FF2B5EF4-FFF2-40B4-BE49-F238E27FC236}">
                <a16:creationId xmlns:a16="http://schemas.microsoft.com/office/drawing/2014/main" id="{85E86DE8-B542-48B9-B6B5-7DCBB21088D1}"/>
              </a:ext>
            </a:extLst>
          </p:cNvPr>
          <p:cNvSpPr>
            <a:spLocks xmlns:a="http://schemas.openxmlformats.org/drawingml/2006/main" noGrp="1"/>
          </p:cNvSpPr>
          <p:nvPr/>
        </p:nvSpPr>
        <p:spPr>
          <a:xfrm xmlns:a="http://schemas.openxmlformats.org/drawingml/2006/main">
            <a:off x="6172200" y="1066800"/>
            <a:ext cx="5505450" cy="2647950"/>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11" name="">
            <a:extLst xmlns:a="http://schemas.openxmlformats.org/drawingml/2006/main">
              <a:ext uri="{FF2B5EF4-FFF2-40B4-BE49-F238E27FC236}">
                <a16:creationId xmlns:a16="http://schemas.microsoft.com/office/drawing/2014/main" id="{9BE15EF6-1B4D-49DC-9EB0-C8B9A5739A15}"/>
              </a:ext>
            </a:extLst>
          </p:cNvPr>
          <p:cNvSpPr>
            <a:spLocks xmlns:a="http://schemas.openxmlformats.org/drawingml/2006/main" noGrp="1"/>
          </p:cNvSpPr>
          <p:nvPr/>
        </p:nvSpPr>
        <p:spPr>
          <a:xfrm xmlns:a="http://schemas.openxmlformats.org/drawingml/2006/main">
            <a:off x="6286500" y="1162050"/>
            <a:ext cx="5276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Player-development tech to lift rated-play capture</a:t>
            </a:r>
          </a:p>
        </p:txBody>
      </p:sp>
      <p:sp>
        <p:nvSpPr>
          <p:cNvPr id="12" name="">
            <a:extLst xmlns:a="http://schemas.openxmlformats.org/drawingml/2006/main">
              <a:ext uri="{FF2B5EF4-FFF2-40B4-BE49-F238E27FC236}">
                <a16:creationId xmlns:a16="http://schemas.microsoft.com/office/drawing/2014/main" id="{D480EB51-D8CB-4C3E-A8C1-9E82C10B3446}"/>
              </a:ext>
            </a:extLst>
          </p:cNvPr>
          <p:cNvSpPr>
            <a:spLocks xmlns:a="http://schemas.openxmlformats.org/drawingml/2006/main" noGrp="1"/>
          </p:cNvSpPr>
          <p:nvPr/>
        </p:nvSpPr>
        <p:spPr>
          <a:xfrm xmlns:a="http://schemas.openxmlformats.org/drawingml/2006/main">
            <a:off x="6286500" y="1390650"/>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Capability acquisition</a:t>
            </a:r>
          </a:p>
        </p:txBody>
      </p:sp>
      <p:sp>
        <p:nvSpPr>
          <p:cNvPr id="13" name="">
            <a:extLst xmlns:a="http://schemas.openxmlformats.org/drawingml/2006/main">
              <a:ext uri="{FF2B5EF4-FFF2-40B4-BE49-F238E27FC236}">
                <a16:creationId xmlns:a16="http://schemas.microsoft.com/office/drawing/2014/main" id="{47D28CC6-E3B9-4097-A66A-6FFA529071C8}"/>
              </a:ext>
            </a:extLst>
          </p:cNvPr>
          <p:cNvSpPr>
            <a:spLocks xmlns:a="http://schemas.openxmlformats.org/drawingml/2006/main" noGrp="1"/>
          </p:cNvSpPr>
          <p:nvPr/>
        </p:nvSpPr>
        <p:spPr>
          <a:xfrm xmlns:a="http://schemas.openxmlformats.org/drawingml/2006/main">
            <a:off x="6286500" y="1571625"/>
            <a:ext cx="52768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Rated-play capture</a:t>
            </a:r>
          </a:p>
        </p:txBody>
      </p:sp>
      <p:sp>
        <p:nvSpPr>
          <p:cNvPr id="14" name="">
            <a:extLst xmlns:a="http://schemas.openxmlformats.org/drawingml/2006/main">
              <a:ext uri="{FF2B5EF4-FFF2-40B4-BE49-F238E27FC236}">
                <a16:creationId xmlns:a16="http://schemas.microsoft.com/office/drawing/2014/main" id="{C099C970-B4E7-4599-B432-3F254E966B2B}"/>
              </a:ext>
            </a:extLst>
          </p:cNvPr>
          <p:cNvSpPr>
            <a:spLocks xmlns:a="http://schemas.openxmlformats.org/drawingml/2006/main" noGrp="1"/>
          </p:cNvSpPr>
          <p:nvPr/>
        </p:nvSpPr>
        <p:spPr>
          <a:xfrm xmlns:a="http://schemas.openxmlformats.org/drawingml/2006/main">
            <a:off x="6286500" y="1781175"/>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1B2A41"/>
                </a:solidFill>
                <a:latin typeface="Calibri"/>
                <a:ea typeface="Calibri"/>
                <a:cs typeface="Calibri"/>
              </a:defRPr>
            </a:pPr>
            <a:r>
              <a:rPr sz="750" b="1">
                <a:solidFill>
                  <a:srgbClr val="1B2A41"/>
                </a:solidFill>
                <a:latin typeface="Calibri"/>
                <a:ea typeface="Calibri"/>
                <a:cs typeface="Calibri"/>
              </a:rPr>
              <a:t>STRATEGIC LOGIC</a:t>
            </a:r>
          </a:p>
        </p:txBody>
      </p:sp>
      <p:sp>
        <p:nvSpPr>
          <p:cNvPr id="15" name="">
            <a:extLst xmlns:a="http://schemas.openxmlformats.org/drawingml/2006/main">
              <a:ext uri="{FF2B5EF4-FFF2-40B4-BE49-F238E27FC236}">
                <a16:creationId xmlns:a16="http://schemas.microsoft.com/office/drawing/2014/main" id="{AA7BED76-985F-4BC1-9A7A-B5C3B460BA50}"/>
              </a:ext>
            </a:extLst>
          </p:cNvPr>
          <p:cNvSpPr>
            <a:spLocks xmlns:a="http://schemas.openxmlformats.org/drawingml/2006/main" noGrp="1"/>
          </p:cNvSpPr>
          <p:nvPr/>
        </p:nvSpPr>
        <p:spPr>
          <a:xfrm xmlns:a="http://schemas.openxmlformats.org/drawingml/2006/main">
            <a:off x="6286500" y="1962150"/>
            <a:ext cx="5276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The buyer needs better player tracking, reinvestment, and host prioritization to turn local share gains into more cash flow. A capability buy is faster than trying to fix these systems internally, and the analysis ties the upside to monthly casino revenue headroom of USD 1.40 million, USD 5.20 million, USD 8.40 million, and USD 34.90 million.[42][43][44][29] The main value is in data and workflow systems, so the integration risk sits in how those systems are merged.</a:t>
            </a:r>
          </a:p>
        </p:txBody>
      </p:sp>
      <p:sp>
        <p:nvSpPr>
          <p:cNvPr id="16" name="">
            <a:extLst xmlns:a="http://schemas.openxmlformats.org/drawingml/2006/main">
              <a:ext uri="{FF2B5EF4-FFF2-40B4-BE49-F238E27FC236}">
                <a16:creationId xmlns:a16="http://schemas.microsoft.com/office/drawing/2014/main" id="{88571546-B0F2-43BA-81B1-840DB4E06DF8}"/>
              </a:ext>
            </a:extLst>
          </p:cNvPr>
          <p:cNvSpPr>
            <a:spLocks xmlns:a="http://schemas.openxmlformats.org/drawingml/2006/main" noGrp="1"/>
          </p:cNvSpPr>
          <p:nvPr/>
        </p:nvSpPr>
        <p:spPr>
          <a:xfrm xmlns:a="http://schemas.openxmlformats.org/drawingml/2006/main">
            <a:off x="6286500" y="2752725"/>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1B2A41"/>
                </a:solidFill>
                <a:latin typeface="Calibri"/>
                <a:ea typeface="Calibri"/>
                <a:cs typeface="Calibri"/>
              </a:defRPr>
            </a:pPr>
            <a:r>
              <a:rPr sz="750" b="1">
                <a:solidFill>
                  <a:srgbClr val="1B2A41"/>
                </a:solidFill>
                <a:latin typeface="Calibri"/>
                <a:ea typeface="Calibri"/>
                <a:cs typeface="Calibri"/>
              </a:rPr>
              <a:t>SCREEN TARGETS</a:t>
            </a:r>
          </a:p>
        </p:txBody>
      </p:sp>
      <p:sp>
        <p:nvSpPr>
          <p:cNvPr id="17" name="">
            <a:extLst xmlns:a="http://schemas.openxmlformats.org/drawingml/2006/main">
              <a:ext uri="{FF2B5EF4-FFF2-40B4-BE49-F238E27FC236}">
                <a16:creationId xmlns:a16="http://schemas.microsoft.com/office/drawing/2014/main" id="{664FEE73-B6D4-4D2A-B0A4-6770EF233B0E}"/>
              </a:ext>
            </a:extLst>
          </p:cNvPr>
          <p:cNvSpPr>
            <a:spLocks xmlns:a="http://schemas.openxmlformats.org/drawingml/2006/main" noGrp="1"/>
          </p:cNvSpPr>
          <p:nvPr/>
        </p:nvSpPr>
        <p:spPr>
          <a:xfrm xmlns:a="http://schemas.openxmlformats.org/drawingml/2006/main">
            <a:off x="6286500" y="2933700"/>
            <a:ext cx="52768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Marketing Results, Inc. — Relevant player-development tooling and casino marketing know-how.</a:t>
            </a:r>
          </a:p>
        </p:txBody>
      </p:sp>
      <p:sp>
        <p:nvSpPr>
          <p:cNvPr id="18" name="">
            <a:extLst xmlns:a="http://schemas.openxmlformats.org/drawingml/2006/main">
              <a:ext uri="{FF2B5EF4-FFF2-40B4-BE49-F238E27FC236}">
                <a16:creationId xmlns:a16="http://schemas.microsoft.com/office/drawing/2014/main" id="{7E14AD27-93B3-4005-BB44-63CC25E2D34C}"/>
              </a:ext>
            </a:extLst>
          </p:cNvPr>
          <p:cNvSpPr>
            <a:spLocks xmlns:a="http://schemas.openxmlformats.org/drawingml/2006/main" noGrp="1"/>
          </p:cNvSpPr>
          <p:nvPr/>
        </p:nvSpPr>
        <p:spPr>
          <a:xfrm xmlns:a="http://schemas.openxmlformats.org/drawingml/2006/main">
            <a:off x="6286500" y="3143250"/>
            <a:ext cx="5276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Tony de Leon &amp; Associates, Inc. d/b/a Playersoft Technologies — Fits the player-tracking and reinvestment need.</a:t>
            </a:r>
          </a:p>
        </p:txBody>
      </p:sp>
      <p:sp>
        <p:nvSpPr>
          <p:cNvPr id="19" name="structure:card">
            <a:extLst xmlns:a="http://schemas.openxmlformats.org/drawingml/2006/main">
              <a:ext uri="{FF2B5EF4-FFF2-40B4-BE49-F238E27FC236}">
                <a16:creationId xmlns:a16="http://schemas.microsoft.com/office/drawing/2014/main" id="{B1FB98B8-B40A-4120-946D-B56C277FA4D6}"/>
              </a:ext>
            </a:extLst>
          </p:cNvPr>
          <p:cNvSpPr>
            <a:spLocks xmlns:a="http://schemas.openxmlformats.org/drawingml/2006/main" noGrp="1"/>
          </p:cNvSpPr>
          <p:nvPr/>
        </p:nvSpPr>
        <p:spPr>
          <a:xfrm xmlns:a="http://schemas.openxmlformats.org/drawingml/2006/main">
            <a:off x="514350" y="3848100"/>
            <a:ext cx="5505450" cy="2505075"/>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20" name="">
            <a:extLst xmlns:a="http://schemas.openxmlformats.org/drawingml/2006/main">
              <a:ext uri="{FF2B5EF4-FFF2-40B4-BE49-F238E27FC236}">
                <a16:creationId xmlns:a16="http://schemas.microsoft.com/office/drawing/2014/main" id="{847CF332-49F8-4F1B-BB11-68328C34ECD6}"/>
              </a:ext>
            </a:extLst>
          </p:cNvPr>
          <p:cNvSpPr>
            <a:spLocks xmlns:a="http://schemas.openxmlformats.org/drawingml/2006/main" noGrp="1"/>
          </p:cNvSpPr>
          <p:nvPr/>
        </p:nvSpPr>
        <p:spPr>
          <a:xfrm xmlns:a="http://schemas.openxmlformats.org/drawingml/2006/main">
            <a:off x="628650" y="3943350"/>
            <a:ext cx="5276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bestbet Jacksonville for poker scale</a:t>
            </a:r>
          </a:p>
        </p:txBody>
      </p:sp>
      <p:sp>
        <p:nvSpPr>
          <p:cNvPr id="21" name="">
            <a:extLst xmlns:a="http://schemas.openxmlformats.org/drawingml/2006/main">
              <a:ext uri="{FF2B5EF4-FFF2-40B4-BE49-F238E27FC236}">
                <a16:creationId xmlns:a16="http://schemas.microsoft.com/office/drawing/2014/main" id="{23C14195-8C64-4821-A835-D1B0A6E7308A}"/>
              </a:ext>
            </a:extLst>
          </p:cNvPr>
          <p:cNvSpPr>
            <a:spLocks xmlns:a="http://schemas.openxmlformats.org/drawingml/2006/main" noGrp="1"/>
          </p:cNvSpPr>
          <p:nvPr/>
        </p:nvSpPr>
        <p:spPr>
          <a:xfrm xmlns:a="http://schemas.openxmlformats.org/drawingml/2006/main">
            <a:off x="628650" y="4171950"/>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Platform acquisition</a:t>
            </a:r>
          </a:p>
        </p:txBody>
      </p:sp>
      <p:sp>
        <p:nvSpPr>
          <p:cNvPr id="22" name="">
            <a:extLst xmlns:a="http://schemas.openxmlformats.org/drawingml/2006/main">
              <a:ext uri="{FF2B5EF4-FFF2-40B4-BE49-F238E27FC236}">
                <a16:creationId xmlns:a16="http://schemas.microsoft.com/office/drawing/2014/main" id="{404439C0-0E5A-43EB-B447-0F1EC03A3F4C}"/>
              </a:ext>
            </a:extLst>
          </p:cNvPr>
          <p:cNvSpPr>
            <a:spLocks xmlns:a="http://schemas.openxmlformats.org/drawingml/2006/main" noGrp="1"/>
          </p:cNvSpPr>
          <p:nvPr/>
        </p:nvSpPr>
        <p:spPr>
          <a:xfrm xmlns:a="http://schemas.openxmlformats.org/drawingml/2006/main">
            <a:off x="628650" y="4352925"/>
            <a:ext cx="52768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Poker scale</a:t>
            </a:r>
          </a:p>
        </p:txBody>
      </p:sp>
      <p:sp>
        <p:nvSpPr>
          <p:cNvPr id="23" name="">
            <a:extLst xmlns:a="http://schemas.openxmlformats.org/drawingml/2006/main">
              <a:ext uri="{FF2B5EF4-FFF2-40B4-BE49-F238E27FC236}">
                <a16:creationId xmlns:a16="http://schemas.microsoft.com/office/drawing/2014/main" id="{B5AD6A45-FDB8-4166-85BA-832A954A7E10}"/>
              </a:ext>
            </a:extLst>
          </p:cNvPr>
          <p:cNvSpPr>
            <a:spLocks xmlns:a="http://schemas.openxmlformats.org/drawingml/2006/main" noGrp="1"/>
          </p:cNvSpPr>
          <p:nvPr/>
        </p:nvSpPr>
        <p:spPr>
          <a:xfrm xmlns:a="http://schemas.openxmlformats.org/drawingml/2006/main">
            <a:off x="628650" y="4562475"/>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1B2A41"/>
                </a:solidFill>
                <a:latin typeface="Calibri"/>
                <a:ea typeface="Calibri"/>
                <a:cs typeface="Calibri"/>
              </a:defRPr>
            </a:pPr>
            <a:r>
              <a:rPr sz="750" b="1">
                <a:solidFill>
                  <a:srgbClr val="1B2A41"/>
                </a:solidFill>
                <a:latin typeface="Calibri"/>
                <a:ea typeface="Calibri"/>
                <a:cs typeface="Calibri"/>
              </a:rPr>
              <a:t>STRATEGIC LOGIC</a:t>
            </a:r>
          </a:p>
        </p:txBody>
      </p:sp>
      <p:sp>
        <p:nvSpPr>
          <p:cNvPr id="24" name="">
            <a:extLst xmlns:a="http://schemas.openxmlformats.org/drawingml/2006/main">
              <a:ext uri="{FF2B5EF4-FFF2-40B4-BE49-F238E27FC236}">
                <a16:creationId xmlns:a16="http://schemas.microsoft.com/office/drawing/2014/main" id="{78A71081-F5FC-4BF3-9760-A76DDA4B7ACD}"/>
              </a:ext>
            </a:extLst>
          </p:cNvPr>
          <p:cNvSpPr>
            <a:spLocks xmlns:a="http://schemas.openxmlformats.org/drawingml/2006/main" noGrp="1"/>
          </p:cNvSpPr>
          <p:nvPr/>
        </p:nvSpPr>
        <p:spPr>
          <a:xfrm xmlns:a="http://schemas.openxmlformats.org/drawingml/2006/main">
            <a:off x="628650" y="4743450"/>
            <a:ext cx="5276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Buying an existing poker room is the fastest way to add player community, game mix, and event rhythm, which internal buildout would take longer to create. The goal is to close the current 4-table and 16-table gap and move beyond American Place Casino’s current 6-table room.[18][45][46][32][33] The deal is a platform buy because the real asset is the live player base, but success still depends on staffing, event execution, and keeping that community engaged.[18][45][46]</a:t>
            </a:r>
          </a:p>
        </p:txBody>
      </p:sp>
      <p:sp>
        <p:nvSpPr>
          <p:cNvPr id="25" name="">
            <a:extLst xmlns:a="http://schemas.openxmlformats.org/drawingml/2006/main">
              <a:ext uri="{FF2B5EF4-FFF2-40B4-BE49-F238E27FC236}">
                <a16:creationId xmlns:a16="http://schemas.microsoft.com/office/drawing/2014/main" id="{B27F5617-C5FF-4776-9BCD-830B11672CA9}"/>
              </a:ext>
            </a:extLst>
          </p:cNvPr>
          <p:cNvSpPr>
            <a:spLocks xmlns:a="http://schemas.openxmlformats.org/drawingml/2006/main" noGrp="1"/>
          </p:cNvSpPr>
          <p:nvPr/>
        </p:nvSpPr>
        <p:spPr>
          <a:xfrm xmlns:a="http://schemas.openxmlformats.org/drawingml/2006/main">
            <a:off x="628650" y="5534025"/>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1B2A41"/>
                </a:solidFill>
                <a:latin typeface="Calibri"/>
                <a:ea typeface="Calibri"/>
                <a:cs typeface="Calibri"/>
              </a:defRPr>
            </a:pPr>
            <a:r>
              <a:rPr sz="750" b="1">
                <a:solidFill>
                  <a:srgbClr val="1B2A41"/>
                </a:solidFill>
                <a:latin typeface="Calibri"/>
                <a:ea typeface="Calibri"/>
                <a:cs typeface="Calibri"/>
              </a:rPr>
              <a:t>SCREEN TARGETS</a:t>
            </a:r>
          </a:p>
        </p:txBody>
      </p:sp>
      <p:sp>
        <p:nvSpPr>
          <p:cNvPr id="26" name="">
            <a:extLst xmlns:a="http://schemas.openxmlformats.org/drawingml/2006/main">
              <a:ext uri="{FF2B5EF4-FFF2-40B4-BE49-F238E27FC236}">
                <a16:creationId xmlns:a16="http://schemas.microsoft.com/office/drawing/2014/main" id="{B391D21E-611E-47D0-9AED-37AB28625B59}"/>
              </a:ext>
            </a:extLst>
          </p:cNvPr>
          <p:cNvSpPr>
            <a:spLocks xmlns:a="http://schemas.openxmlformats.org/drawingml/2006/main" noGrp="1"/>
          </p:cNvSpPr>
          <p:nvPr/>
        </p:nvSpPr>
        <p:spPr>
          <a:xfrm xmlns:a="http://schemas.openxmlformats.org/drawingml/2006/main">
            <a:off x="628650" y="5715000"/>
            <a:ext cx="5276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bestbet Jacksonville, Inc. — Existing poker community and operating cadence make it the clearest fit.</a:t>
            </a:r>
          </a:p>
        </p:txBody>
      </p:sp>
      <p:sp>
        <p:nvSpPr>
          <p:cNvPr id="27" name="structure:card">
            <a:extLst xmlns:a="http://schemas.openxmlformats.org/drawingml/2006/main">
              <a:ext uri="{FF2B5EF4-FFF2-40B4-BE49-F238E27FC236}">
                <a16:creationId xmlns:a16="http://schemas.microsoft.com/office/drawing/2014/main" id="{11FBB110-F8A4-4D3D-8EB9-A45D0DA1303D}"/>
              </a:ext>
            </a:extLst>
          </p:cNvPr>
          <p:cNvSpPr>
            <a:spLocks xmlns:a="http://schemas.openxmlformats.org/drawingml/2006/main" noGrp="1"/>
          </p:cNvSpPr>
          <p:nvPr/>
        </p:nvSpPr>
        <p:spPr>
          <a:xfrm xmlns:a="http://schemas.openxmlformats.org/drawingml/2006/main">
            <a:off x="6172200" y="3848100"/>
            <a:ext cx="5505450" cy="2505075"/>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28" name="">
            <a:extLst xmlns:a="http://schemas.openxmlformats.org/drawingml/2006/main">
              <a:ext uri="{FF2B5EF4-FFF2-40B4-BE49-F238E27FC236}">
                <a16:creationId xmlns:a16="http://schemas.microsoft.com/office/drawing/2014/main" id="{392427A4-FA94-48E2-88CB-43191DBAB96B}"/>
              </a:ext>
            </a:extLst>
          </p:cNvPr>
          <p:cNvSpPr>
            <a:spLocks xmlns:a="http://schemas.openxmlformats.org/drawingml/2006/main" noGrp="1"/>
          </p:cNvSpPr>
          <p:nvPr/>
        </p:nvSpPr>
        <p:spPr>
          <a:xfrm xmlns:a="http://schemas.openxmlformats.org/drawingml/2006/main">
            <a:off x="6286500" y="3943350"/>
            <a:ext cx="5276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Event-booking partners for the temporary venue</a:t>
            </a:r>
          </a:p>
        </p:txBody>
      </p:sp>
      <p:sp>
        <p:nvSpPr>
          <p:cNvPr id="29" name="">
            <a:extLst xmlns:a="http://schemas.openxmlformats.org/drawingml/2006/main">
              <a:ext uri="{FF2B5EF4-FFF2-40B4-BE49-F238E27FC236}">
                <a16:creationId xmlns:a16="http://schemas.microsoft.com/office/drawing/2014/main" id="{C65FCEF4-E1CA-4C23-9D64-3A755353F5B9}"/>
              </a:ext>
            </a:extLst>
          </p:cNvPr>
          <p:cNvSpPr>
            <a:spLocks xmlns:a="http://schemas.openxmlformats.org/drawingml/2006/main" noGrp="1"/>
          </p:cNvSpPr>
          <p:nvPr/>
        </p:nvSpPr>
        <p:spPr>
          <a:xfrm xmlns:a="http://schemas.openxmlformats.org/drawingml/2006/main">
            <a:off x="6286500" y="4171950"/>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Capability acquisition</a:t>
            </a:r>
          </a:p>
        </p:txBody>
      </p:sp>
      <p:sp>
        <p:nvSpPr>
          <p:cNvPr id="30" name="">
            <a:extLst xmlns:a="http://schemas.openxmlformats.org/drawingml/2006/main">
              <a:ext uri="{FF2B5EF4-FFF2-40B4-BE49-F238E27FC236}">
                <a16:creationId xmlns:a16="http://schemas.microsoft.com/office/drawing/2014/main" id="{ABC0632A-4F91-4D6F-A30E-A9BA0BA7143E}"/>
              </a:ext>
            </a:extLst>
          </p:cNvPr>
          <p:cNvSpPr>
            <a:spLocks xmlns:a="http://schemas.openxmlformats.org/drawingml/2006/main" noGrp="1"/>
          </p:cNvSpPr>
          <p:nvPr/>
        </p:nvSpPr>
        <p:spPr>
          <a:xfrm xmlns:a="http://schemas.openxmlformats.org/drawingml/2006/main">
            <a:off x="6286500" y="4352925"/>
            <a:ext cx="52768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Event programming</a:t>
            </a:r>
          </a:p>
        </p:txBody>
      </p:sp>
      <p:sp>
        <p:nvSpPr>
          <p:cNvPr id="31" name="">
            <a:extLst xmlns:a="http://schemas.openxmlformats.org/drawingml/2006/main">
              <a:ext uri="{FF2B5EF4-FFF2-40B4-BE49-F238E27FC236}">
                <a16:creationId xmlns:a16="http://schemas.microsoft.com/office/drawing/2014/main" id="{55C93B68-5D21-41D5-A204-8BE58F9A17F2}"/>
              </a:ext>
            </a:extLst>
          </p:cNvPr>
          <p:cNvSpPr>
            <a:spLocks xmlns:a="http://schemas.openxmlformats.org/drawingml/2006/main" noGrp="1"/>
          </p:cNvSpPr>
          <p:nvPr/>
        </p:nvSpPr>
        <p:spPr>
          <a:xfrm xmlns:a="http://schemas.openxmlformats.org/drawingml/2006/main">
            <a:off x="6286500" y="4562475"/>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1B2A41"/>
                </a:solidFill>
                <a:latin typeface="Calibri"/>
                <a:ea typeface="Calibri"/>
                <a:cs typeface="Calibri"/>
              </a:defRPr>
            </a:pPr>
            <a:r>
              <a:rPr sz="750" b="1">
                <a:solidFill>
                  <a:srgbClr val="1B2A41"/>
                </a:solidFill>
                <a:latin typeface="Calibri"/>
                <a:ea typeface="Calibri"/>
                <a:cs typeface="Calibri"/>
              </a:rPr>
              <a:t>STRATEGIC LOGIC</a:t>
            </a:r>
          </a:p>
        </p:txBody>
      </p:sp>
      <p:sp>
        <p:nvSpPr>
          <p:cNvPr id="32" name="">
            <a:extLst xmlns:a="http://schemas.openxmlformats.org/drawingml/2006/main">
              <a:ext uri="{FF2B5EF4-FFF2-40B4-BE49-F238E27FC236}">
                <a16:creationId xmlns:a16="http://schemas.microsoft.com/office/drawing/2014/main" id="{DC3F1EA1-E87D-457A-82BE-3DC6395507C2}"/>
              </a:ext>
            </a:extLst>
          </p:cNvPr>
          <p:cNvSpPr>
            <a:spLocks xmlns:a="http://schemas.openxmlformats.org/drawingml/2006/main" noGrp="1"/>
          </p:cNvSpPr>
          <p:nvPr/>
        </p:nvSpPr>
        <p:spPr>
          <a:xfrm xmlns:a="http://schemas.openxmlformats.org/drawingml/2006/main">
            <a:off x="6286500" y="4743450"/>
            <a:ext cx="5276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The venue needs repeatable booking and calendar-fill skill to turn the temporary site into a driver of visitation. A capability buy would reduce the risk of filling a permitted entertainment room for about 1,500 attendees and support the on-property event calendar.[31][47][48][49] This is external because the key skill is promoter access and venue programming, not just more internal staff.</a:t>
            </a:r>
          </a:p>
        </p:txBody>
      </p:sp>
      <p:sp>
        <p:nvSpPr>
          <p:cNvPr id="33" name="">
            <a:extLst xmlns:a="http://schemas.openxmlformats.org/drawingml/2006/main">
              <a:ext uri="{FF2B5EF4-FFF2-40B4-BE49-F238E27FC236}">
                <a16:creationId xmlns:a16="http://schemas.microsoft.com/office/drawing/2014/main" id="{82364B4F-810F-4EBF-819F-F8184B8269CD}"/>
              </a:ext>
            </a:extLst>
          </p:cNvPr>
          <p:cNvSpPr>
            <a:spLocks xmlns:a="http://schemas.openxmlformats.org/drawingml/2006/main" noGrp="1"/>
          </p:cNvSpPr>
          <p:nvPr/>
        </p:nvSpPr>
        <p:spPr>
          <a:xfrm xmlns:a="http://schemas.openxmlformats.org/drawingml/2006/main">
            <a:off x="6286500" y="5534025"/>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1B2A41"/>
                </a:solidFill>
                <a:latin typeface="Calibri"/>
                <a:ea typeface="Calibri"/>
                <a:cs typeface="Calibri"/>
              </a:defRPr>
            </a:pPr>
            <a:r>
              <a:rPr sz="750" b="1">
                <a:solidFill>
                  <a:srgbClr val="1B2A41"/>
                </a:solidFill>
                <a:latin typeface="Calibri"/>
                <a:ea typeface="Calibri"/>
                <a:cs typeface="Calibri"/>
              </a:rPr>
              <a:t>SCREEN TARGETS</a:t>
            </a:r>
          </a:p>
        </p:txBody>
      </p:sp>
      <p:sp>
        <p:nvSpPr>
          <p:cNvPr id="34" name="">
            <a:extLst xmlns:a="http://schemas.openxmlformats.org/drawingml/2006/main">
              <a:ext uri="{FF2B5EF4-FFF2-40B4-BE49-F238E27FC236}">
                <a16:creationId xmlns:a16="http://schemas.microsoft.com/office/drawing/2014/main" id="{A25B85C9-C8D5-4094-B338-7BC63EB7F8A4}"/>
              </a:ext>
            </a:extLst>
          </p:cNvPr>
          <p:cNvSpPr>
            <a:spLocks xmlns:a="http://schemas.openxmlformats.org/drawingml/2006/main" noGrp="1"/>
          </p:cNvSpPr>
          <p:nvPr/>
        </p:nvSpPr>
        <p:spPr>
          <a:xfrm xmlns:a="http://schemas.openxmlformats.org/drawingml/2006/main">
            <a:off x="6286500" y="5715000"/>
            <a:ext cx="52768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Jam Productions LLC — Strong fit for booking and live-event calendar management.</a:t>
            </a:r>
          </a:p>
        </p:txBody>
      </p:sp>
      <p:sp>
        <p:nvSpPr>
          <p:cNvPr id="35" name="">
            <a:extLst xmlns:a="http://schemas.openxmlformats.org/drawingml/2006/main">
              <a:ext uri="{FF2B5EF4-FFF2-40B4-BE49-F238E27FC236}">
                <a16:creationId xmlns:a16="http://schemas.microsoft.com/office/drawing/2014/main" id="{FE605294-D0B8-4B03-9D22-B23853E4A942}"/>
              </a:ext>
            </a:extLst>
          </p:cNvPr>
          <p:cNvSpPr>
            <a:spLocks xmlns:a="http://schemas.openxmlformats.org/drawingml/2006/main" noGrp="1"/>
          </p:cNvSpPr>
          <p:nvPr/>
        </p:nvSpPr>
        <p:spPr>
          <a:xfrm xmlns:a="http://schemas.openxmlformats.org/drawingml/2006/main">
            <a:off x="6286500" y="5924550"/>
            <a:ext cx="52768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Mammoth, Inc. — Could add venue programming and promotion reach.</a:t>
            </a:r>
          </a:p>
        </p:txBody>
      </p:sp>
      <p:sp>
        <p:nvSpPr>
          <p:cNvPr id="36" name="">
            <a:extLst xmlns:a="http://schemas.openxmlformats.org/drawingml/2006/main">
              <a:ext uri="{FF2B5EF4-FFF2-40B4-BE49-F238E27FC236}">
                <a16:creationId xmlns:a16="http://schemas.microsoft.com/office/drawing/2014/main" id="{81E36EAB-330D-4824-88C1-1BBE3C9730E0}"/>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23</a:t>
            </a:r>
          </a:p>
        </p:txBody>
      </p:sp>
    </p:spTree>
    <p:extLst>
      <p:ext uri="{BB962C8B-B14F-4D97-AF65-F5344CB8AC3E}">
        <p14:creationId xmlns:p14="http://schemas.microsoft.com/office/powerpoint/2010/main" val="72464507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5" name="">
            <a:extLst xmlns:a="http://schemas.openxmlformats.org/drawingml/2006/main">
              <a:ext uri="{FF2B5EF4-FFF2-40B4-BE49-F238E27FC236}">
                <a16:creationId xmlns:a16="http://schemas.microsoft.com/office/drawing/2014/main" id="{C2746A34-52E2-422F-BF5C-6B55D62518A0}"/>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Investment Implications</a:t>
            </a:r>
          </a:p>
        </p:txBody>
      </p:sp>
      <p:sp>
        <p:nvSpPr>
          <p:cNvPr id="2" name="">
            <a:extLst xmlns:a="http://schemas.openxmlformats.org/drawingml/2006/main">
              <a:ext uri="{FF2B5EF4-FFF2-40B4-BE49-F238E27FC236}">
                <a16:creationId xmlns:a16="http://schemas.microsoft.com/office/drawing/2014/main" id="{47077542-53D9-4885-BB92-395BE54294F0}"/>
              </a:ext>
            </a:extLst>
          </p:cNvPr>
          <p:cNvSpPr>
            <a:spLocks xmlns:a="http://schemas.openxmlformats.org/drawingml/2006/main" noGrp="1"/>
          </p:cNvSpPr>
          <p:nvPr/>
        </p:nvSpPr>
        <p:spPr>
          <a:xfrm xmlns:a="http://schemas.openxmlformats.org/drawingml/2006/main">
            <a:off x="628650" y="1095375"/>
            <a:ext cx="109347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75" b="1">
                <a:solidFill>
                  <a:srgbClr val="1F3864"/>
                </a:solidFill>
                <a:latin typeface="Calibri"/>
                <a:ea typeface="Calibri"/>
                <a:cs typeface="Calibri"/>
              </a:defRPr>
            </a:pPr>
            <a:r>
              <a:rPr sz="975" b="1">
                <a:solidFill>
                  <a:srgbClr val="1F3864"/>
                </a:solidFill>
                <a:latin typeface="Calibri"/>
                <a:ea typeface="Calibri"/>
                <a:cs typeface="Calibri"/>
              </a:rPr>
              <a:t>Permanent-site build and funding must close on time or the whole growth case weakens.</a:t>
            </a:r>
          </a:p>
        </p:txBody>
      </p:sp>
      <p:sp>
        <p:nvSpPr>
          <p:cNvPr id="3" name="">
            <a:extLst xmlns:a="http://schemas.openxmlformats.org/drawingml/2006/main">
              <a:ext uri="{FF2B5EF4-FFF2-40B4-BE49-F238E27FC236}">
                <a16:creationId xmlns:a16="http://schemas.microsoft.com/office/drawing/2014/main" id="{2170F07E-0156-4223-BDEE-9D3C84B192A3}"/>
              </a:ext>
            </a:extLst>
          </p:cNvPr>
          <p:cNvSpPr>
            <a:spLocks xmlns:a="http://schemas.openxmlformats.org/drawingml/2006/main" noGrp="1"/>
          </p:cNvSpPr>
          <p:nvPr/>
        </p:nvSpPr>
        <p:spPr>
          <a:xfrm xmlns:a="http://schemas.openxmlformats.org/drawingml/2006/main">
            <a:off x="514350" y="1419225"/>
            <a:ext cx="11163300" cy="209550"/>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F434B7E-3623-4D98-BF84-F94ED6B51E0D}"/>
              </a:ext>
            </a:extLst>
          </p:cNvPr>
          <p:cNvSpPr>
            <a:spLocks xmlns:a="http://schemas.openxmlformats.org/drawingml/2006/main" noGrp="1"/>
          </p:cNvSpPr>
          <p:nvPr/>
        </p:nvSpPr>
        <p:spPr>
          <a:xfrm xmlns:a="http://schemas.openxmlformats.org/drawingml/2006/main">
            <a:off x="628650" y="1447800"/>
            <a:ext cx="109347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1">
                <a:solidFill>
                  <a:srgbClr val="FFFFFF"/>
                </a:solidFill>
                <a:latin typeface="Calibri"/>
                <a:ea typeface="Calibri"/>
                <a:cs typeface="Calibri"/>
              </a:defRPr>
            </a:pPr>
            <a:r>
              <a:rPr sz="900" b="1">
                <a:solidFill>
                  <a:srgbClr val="FFFFFF"/>
                </a:solidFill>
                <a:latin typeface="Calibri"/>
                <a:ea typeface="Calibri"/>
                <a:cs typeface="Calibri"/>
              </a:rPr>
              <a:t>Investment Strengths</a:t>
            </a:r>
          </a:p>
        </p:txBody>
      </p:sp>
      <p:sp>
        <p:nvSpPr>
          <p:cNvPr id="5" name="structure:prose-row">
            <a:extLst xmlns:a="http://schemas.openxmlformats.org/drawingml/2006/main">
              <a:ext uri="{FF2B5EF4-FFF2-40B4-BE49-F238E27FC236}">
                <a16:creationId xmlns:a16="http://schemas.microsoft.com/office/drawing/2014/main" id="{F89C86A9-41EB-492D-A4F8-7536400DDF91}"/>
              </a:ext>
            </a:extLst>
          </p:cNvPr>
          <p:cNvSpPr>
            <a:spLocks xmlns:a="http://schemas.openxmlformats.org/drawingml/2006/main" noGrp="1"/>
          </p:cNvSpPr>
          <p:nvPr/>
        </p:nvSpPr>
        <p:spPr>
          <a:xfrm xmlns:a="http://schemas.openxmlformats.org/drawingml/2006/main">
            <a:off x="514350" y="1628775"/>
            <a:ext cx="11163300" cy="2000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6" name="structure:row-divider">
            <a:extLst xmlns:a="http://schemas.openxmlformats.org/drawingml/2006/main">
              <a:ext uri="{FF2B5EF4-FFF2-40B4-BE49-F238E27FC236}">
                <a16:creationId xmlns:a16="http://schemas.microsoft.com/office/drawing/2014/main" id="{31AB135A-73E7-40AE-842A-513F9825B71A}"/>
              </a:ext>
            </a:extLst>
          </p:cNvPr>
          <p:cNvSpPr>
            <a:spLocks xmlns:a="http://schemas.openxmlformats.org/drawingml/2006/main" noGrp="1"/>
          </p:cNvSpPr>
          <p:nvPr/>
        </p:nvSpPr>
        <p:spPr>
          <a:xfrm xmlns:a="http://schemas.openxmlformats.org/drawingml/2006/main">
            <a:off x="514350" y="18192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FEA7284-47D3-4E87-9198-1FB35108E307}"/>
              </a:ext>
            </a:extLst>
          </p:cNvPr>
          <p:cNvSpPr>
            <a:spLocks xmlns:a="http://schemas.openxmlformats.org/drawingml/2006/main" noGrp="1"/>
          </p:cNvSpPr>
          <p:nvPr/>
        </p:nvSpPr>
        <p:spPr>
          <a:xfrm xmlns:a="http://schemas.openxmlformats.org/drawingml/2006/main">
            <a:off x="628650" y="1657350"/>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Adjusted EBITDA margin increased from 12.7% in 2002A to 17.3% in 2003A, 24.2% in 2004A, and 27.3% in 2005A [74].</a:t>
            </a:r>
          </a:p>
        </p:txBody>
      </p:sp>
      <p:sp>
        <p:nvSpPr>
          <p:cNvPr id="8" name="structure:prose-row">
            <a:extLst xmlns:a="http://schemas.openxmlformats.org/drawingml/2006/main">
              <a:ext uri="{FF2B5EF4-FFF2-40B4-BE49-F238E27FC236}">
                <a16:creationId xmlns:a16="http://schemas.microsoft.com/office/drawing/2014/main" id="{730EC1C5-E3D0-44F3-A78C-6B14F82536AB}"/>
              </a:ext>
            </a:extLst>
          </p:cNvPr>
          <p:cNvSpPr>
            <a:spLocks xmlns:a="http://schemas.openxmlformats.org/drawingml/2006/main" noGrp="1"/>
          </p:cNvSpPr>
          <p:nvPr/>
        </p:nvSpPr>
        <p:spPr>
          <a:xfrm xmlns:a="http://schemas.openxmlformats.org/drawingml/2006/main">
            <a:off x="514350" y="1828800"/>
            <a:ext cx="11163300" cy="2000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9" name="structure:row-divider">
            <a:extLst xmlns:a="http://schemas.openxmlformats.org/drawingml/2006/main">
              <a:ext uri="{FF2B5EF4-FFF2-40B4-BE49-F238E27FC236}">
                <a16:creationId xmlns:a16="http://schemas.microsoft.com/office/drawing/2014/main" id="{3769C677-89A5-4BA1-A0FD-6DE720D63B4A}"/>
              </a:ext>
            </a:extLst>
          </p:cNvPr>
          <p:cNvSpPr>
            <a:spLocks xmlns:a="http://schemas.openxmlformats.org/drawingml/2006/main" noGrp="1"/>
          </p:cNvSpPr>
          <p:nvPr/>
        </p:nvSpPr>
        <p:spPr>
          <a:xfrm xmlns:a="http://schemas.openxmlformats.org/drawingml/2006/main">
            <a:off x="514350" y="20193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DECC605-9C23-4F8A-94A3-1839B6585D92}"/>
              </a:ext>
            </a:extLst>
          </p:cNvPr>
          <p:cNvSpPr>
            <a:spLocks xmlns:a="http://schemas.openxmlformats.org/drawingml/2006/main" noGrp="1"/>
          </p:cNvSpPr>
          <p:nvPr/>
        </p:nvSpPr>
        <p:spPr>
          <a:xfrm xmlns:a="http://schemas.openxmlformats.org/drawingml/2006/main">
            <a:off x="628650" y="1857375"/>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Gross margin reached 55.0% in 2004A and then declined to 52.0% in 2005A [74].</a:t>
            </a:r>
          </a:p>
        </p:txBody>
      </p:sp>
      <p:sp>
        <p:nvSpPr>
          <p:cNvPr id="11" name="structure:prose-row">
            <a:extLst xmlns:a="http://schemas.openxmlformats.org/drawingml/2006/main">
              <a:ext uri="{FF2B5EF4-FFF2-40B4-BE49-F238E27FC236}">
                <a16:creationId xmlns:a16="http://schemas.microsoft.com/office/drawing/2014/main" id="{2E3CAC0F-E74C-48F8-BB43-2720F6DF1145}"/>
              </a:ext>
            </a:extLst>
          </p:cNvPr>
          <p:cNvSpPr>
            <a:spLocks xmlns:a="http://schemas.openxmlformats.org/drawingml/2006/main" noGrp="1"/>
          </p:cNvSpPr>
          <p:nvPr/>
        </p:nvSpPr>
        <p:spPr>
          <a:xfrm xmlns:a="http://schemas.openxmlformats.org/drawingml/2006/main">
            <a:off x="514350" y="2028825"/>
            <a:ext cx="11163300" cy="2000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structure:row-divider">
            <a:extLst xmlns:a="http://schemas.openxmlformats.org/drawingml/2006/main">
              <a:ext uri="{FF2B5EF4-FFF2-40B4-BE49-F238E27FC236}">
                <a16:creationId xmlns:a16="http://schemas.microsoft.com/office/drawing/2014/main" id="{38BB3BC1-4651-4EEC-A7C6-161FF0658BDD}"/>
              </a:ext>
            </a:extLst>
          </p:cNvPr>
          <p:cNvSpPr>
            <a:spLocks xmlns:a="http://schemas.openxmlformats.org/drawingml/2006/main" noGrp="1"/>
          </p:cNvSpPr>
          <p:nvPr/>
        </p:nvSpPr>
        <p:spPr>
          <a:xfrm xmlns:a="http://schemas.openxmlformats.org/drawingml/2006/main">
            <a:off x="514350" y="221932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6AFC328-22D5-4EA1-BE59-E4D2192F44D5}"/>
              </a:ext>
            </a:extLst>
          </p:cNvPr>
          <p:cNvSpPr>
            <a:spLocks xmlns:a="http://schemas.openxmlformats.org/drawingml/2006/main" noGrp="1"/>
          </p:cNvSpPr>
          <p:nvPr/>
        </p:nvSpPr>
        <p:spPr>
          <a:xfrm xmlns:a="http://schemas.openxmlformats.org/drawingml/2006/main">
            <a:off x="628650" y="2057400"/>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Selling, general and administrative expense changed by -6.3% against net revenue growth of 5.1% in 2003A [74].</a:t>
            </a:r>
          </a:p>
        </p:txBody>
      </p:sp>
      <p:sp>
        <p:nvSpPr>
          <p:cNvPr id="14" name="structure:prose-row">
            <a:extLst xmlns:a="http://schemas.openxmlformats.org/drawingml/2006/main">
              <a:ext uri="{FF2B5EF4-FFF2-40B4-BE49-F238E27FC236}">
                <a16:creationId xmlns:a16="http://schemas.microsoft.com/office/drawing/2014/main" id="{9B43132F-3EF5-4A37-9752-C26DC8631150}"/>
              </a:ext>
            </a:extLst>
          </p:cNvPr>
          <p:cNvSpPr>
            <a:spLocks xmlns:a="http://schemas.openxmlformats.org/drawingml/2006/main" noGrp="1"/>
          </p:cNvSpPr>
          <p:nvPr/>
        </p:nvSpPr>
        <p:spPr>
          <a:xfrm xmlns:a="http://schemas.openxmlformats.org/drawingml/2006/main">
            <a:off x="514350" y="2228850"/>
            <a:ext cx="11163300" cy="2000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15" name="structure:row-divider">
            <a:extLst xmlns:a="http://schemas.openxmlformats.org/drawingml/2006/main">
              <a:ext uri="{FF2B5EF4-FFF2-40B4-BE49-F238E27FC236}">
                <a16:creationId xmlns:a16="http://schemas.microsoft.com/office/drawing/2014/main" id="{F0DB6752-7F4E-4D91-9073-A0D87FA4850E}"/>
              </a:ext>
            </a:extLst>
          </p:cNvPr>
          <p:cNvSpPr>
            <a:spLocks xmlns:a="http://schemas.openxmlformats.org/drawingml/2006/main" noGrp="1"/>
          </p:cNvSpPr>
          <p:nvPr/>
        </p:nvSpPr>
        <p:spPr>
          <a:xfrm xmlns:a="http://schemas.openxmlformats.org/drawingml/2006/main">
            <a:off x="514350" y="24193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8135344-EDB0-4DFE-99F1-9761FEDEE5D3}"/>
              </a:ext>
            </a:extLst>
          </p:cNvPr>
          <p:cNvSpPr>
            <a:spLocks xmlns:a="http://schemas.openxmlformats.org/drawingml/2006/main" noGrp="1"/>
          </p:cNvSpPr>
          <p:nvPr/>
        </p:nvSpPr>
        <p:spPr>
          <a:xfrm xmlns:a="http://schemas.openxmlformats.org/drawingml/2006/main">
            <a:off x="628650" y="2257425"/>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Selling, general and administrative expense rose 4.9% against 14.2% revenue growth in 2004A [74].</a:t>
            </a:r>
          </a:p>
        </p:txBody>
      </p:sp>
      <p:sp>
        <p:nvSpPr>
          <p:cNvPr id="17" name="structure:prose-row">
            <a:extLst xmlns:a="http://schemas.openxmlformats.org/drawingml/2006/main">
              <a:ext uri="{FF2B5EF4-FFF2-40B4-BE49-F238E27FC236}">
                <a16:creationId xmlns:a16="http://schemas.microsoft.com/office/drawing/2014/main" id="{BA71CDAB-E1D4-4B81-95B4-501B1583AFFC}"/>
              </a:ext>
            </a:extLst>
          </p:cNvPr>
          <p:cNvSpPr>
            <a:spLocks xmlns:a="http://schemas.openxmlformats.org/drawingml/2006/main" noGrp="1"/>
          </p:cNvSpPr>
          <p:nvPr/>
        </p:nvSpPr>
        <p:spPr>
          <a:xfrm xmlns:a="http://schemas.openxmlformats.org/drawingml/2006/main">
            <a:off x="514350" y="2428875"/>
            <a:ext cx="11163300" cy="2000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8" name="structure:row-divider">
            <a:extLst xmlns:a="http://schemas.openxmlformats.org/drawingml/2006/main">
              <a:ext uri="{FF2B5EF4-FFF2-40B4-BE49-F238E27FC236}">
                <a16:creationId xmlns:a16="http://schemas.microsoft.com/office/drawing/2014/main" id="{CC0AC827-322A-4285-8A12-3583D6B471F9}"/>
              </a:ext>
            </a:extLst>
          </p:cNvPr>
          <p:cNvSpPr>
            <a:spLocks xmlns:a="http://schemas.openxmlformats.org/drawingml/2006/main" noGrp="1"/>
          </p:cNvSpPr>
          <p:nvPr/>
        </p:nvSpPr>
        <p:spPr>
          <a:xfrm xmlns:a="http://schemas.openxmlformats.org/drawingml/2006/main">
            <a:off x="514350" y="26193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64E0660-DE0D-4ED0-BF02-C73FE446755D}"/>
              </a:ext>
            </a:extLst>
          </p:cNvPr>
          <p:cNvSpPr>
            <a:spLocks xmlns:a="http://schemas.openxmlformats.org/drawingml/2006/main" noGrp="1"/>
          </p:cNvSpPr>
          <p:nvPr/>
        </p:nvSpPr>
        <p:spPr>
          <a:xfrm xmlns:a="http://schemas.openxmlformats.org/drawingml/2006/main">
            <a:off x="628650" y="2457450"/>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Selling, general and administrative expense increased 3.3% against 9.3% revenue growth in 2005A [74].</a:t>
            </a:r>
          </a:p>
        </p:txBody>
      </p:sp>
      <p:sp>
        <p:nvSpPr>
          <p:cNvPr id="20" name="">
            <a:extLst xmlns:a="http://schemas.openxmlformats.org/drawingml/2006/main">
              <a:ext uri="{FF2B5EF4-FFF2-40B4-BE49-F238E27FC236}">
                <a16:creationId xmlns:a16="http://schemas.microsoft.com/office/drawing/2014/main" id="{16CA9234-E008-4694-BD03-67D8C5970461}"/>
              </a:ext>
            </a:extLst>
          </p:cNvPr>
          <p:cNvSpPr>
            <a:spLocks xmlns:a="http://schemas.openxmlformats.org/drawingml/2006/main" noGrp="1"/>
          </p:cNvSpPr>
          <p:nvPr/>
        </p:nvSpPr>
        <p:spPr>
          <a:xfrm xmlns:a="http://schemas.openxmlformats.org/drawingml/2006/main">
            <a:off x="514350" y="2705100"/>
            <a:ext cx="11163300" cy="209550"/>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6B97B3B-C4B7-4CFF-B5DE-0EF5F7A67D69}"/>
              </a:ext>
            </a:extLst>
          </p:cNvPr>
          <p:cNvSpPr>
            <a:spLocks xmlns:a="http://schemas.openxmlformats.org/drawingml/2006/main" noGrp="1"/>
          </p:cNvSpPr>
          <p:nvPr/>
        </p:nvSpPr>
        <p:spPr>
          <a:xfrm xmlns:a="http://schemas.openxmlformats.org/drawingml/2006/main">
            <a:off x="628650" y="2733675"/>
            <a:ext cx="109347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1">
                <a:solidFill>
                  <a:srgbClr val="FFFFFF"/>
                </a:solidFill>
                <a:latin typeface="Calibri"/>
                <a:ea typeface="Calibri"/>
                <a:cs typeface="Calibri"/>
              </a:defRPr>
            </a:pPr>
            <a:r>
              <a:rPr sz="900" b="1">
                <a:solidFill>
                  <a:srgbClr val="FFFFFF"/>
                </a:solidFill>
                <a:latin typeface="Calibri"/>
                <a:ea typeface="Calibri"/>
                <a:cs typeface="Calibri"/>
              </a:rPr>
              <a:t>Risks &amp; External Considerations</a:t>
            </a:r>
          </a:p>
        </p:txBody>
      </p:sp>
      <p:sp>
        <p:nvSpPr>
          <p:cNvPr id="22" name="structure:prose-row">
            <a:extLst xmlns:a="http://schemas.openxmlformats.org/drawingml/2006/main">
              <a:ext uri="{FF2B5EF4-FFF2-40B4-BE49-F238E27FC236}">
                <a16:creationId xmlns:a16="http://schemas.microsoft.com/office/drawing/2014/main" id="{DAA9983D-46E8-4212-9103-5593E659106B}"/>
              </a:ext>
            </a:extLst>
          </p:cNvPr>
          <p:cNvSpPr>
            <a:spLocks xmlns:a="http://schemas.openxmlformats.org/drawingml/2006/main" noGrp="1"/>
          </p:cNvSpPr>
          <p:nvPr/>
        </p:nvSpPr>
        <p:spPr>
          <a:xfrm xmlns:a="http://schemas.openxmlformats.org/drawingml/2006/main">
            <a:off x="514350" y="2914650"/>
            <a:ext cx="11163300" cy="2000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3" name="structure:row-divider">
            <a:extLst xmlns:a="http://schemas.openxmlformats.org/drawingml/2006/main">
              <a:ext uri="{FF2B5EF4-FFF2-40B4-BE49-F238E27FC236}">
                <a16:creationId xmlns:a16="http://schemas.microsoft.com/office/drawing/2014/main" id="{96087D75-2DE6-4483-96DD-A69B4AF12A77}"/>
              </a:ext>
            </a:extLst>
          </p:cNvPr>
          <p:cNvSpPr>
            <a:spLocks xmlns:a="http://schemas.openxmlformats.org/drawingml/2006/main" noGrp="1"/>
          </p:cNvSpPr>
          <p:nvPr/>
        </p:nvSpPr>
        <p:spPr>
          <a:xfrm xmlns:a="http://schemas.openxmlformats.org/drawingml/2006/main">
            <a:off x="514350" y="31051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E6526368-6AC9-4473-A110-3F05C39DB613}"/>
              </a:ext>
            </a:extLst>
          </p:cNvPr>
          <p:cNvSpPr>
            <a:spLocks xmlns:a="http://schemas.openxmlformats.org/drawingml/2006/main" noGrp="1"/>
          </p:cNvSpPr>
          <p:nvPr/>
        </p:nvSpPr>
        <p:spPr>
          <a:xfrm xmlns:a="http://schemas.openxmlformats.org/drawingml/2006/main">
            <a:off x="628650" y="2943225"/>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Highest-priority diligence item permanent-site execution and financing</a:t>
            </a:r>
          </a:p>
        </p:txBody>
      </p:sp>
      <p:sp>
        <p:nvSpPr>
          <p:cNvPr id="25" name="structure:prose-row">
            <a:extLst xmlns:a="http://schemas.openxmlformats.org/drawingml/2006/main">
              <a:ext uri="{FF2B5EF4-FFF2-40B4-BE49-F238E27FC236}">
                <a16:creationId xmlns:a16="http://schemas.microsoft.com/office/drawing/2014/main" id="{A8607760-6B4F-41D0-90EE-DA0F469715C2}"/>
              </a:ext>
            </a:extLst>
          </p:cNvPr>
          <p:cNvSpPr>
            <a:spLocks xmlns:a="http://schemas.openxmlformats.org/drawingml/2006/main" noGrp="1"/>
          </p:cNvSpPr>
          <p:nvPr/>
        </p:nvSpPr>
        <p:spPr>
          <a:xfrm xmlns:a="http://schemas.openxmlformats.org/drawingml/2006/main">
            <a:off x="514350" y="3114675"/>
            <a:ext cx="11163300" cy="2000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26" name="structure:row-divider">
            <a:extLst xmlns:a="http://schemas.openxmlformats.org/drawingml/2006/main">
              <a:ext uri="{FF2B5EF4-FFF2-40B4-BE49-F238E27FC236}">
                <a16:creationId xmlns:a16="http://schemas.microsoft.com/office/drawing/2014/main" id="{9D6B1B2A-0C2D-4AD6-B897-D0DE3C3C4D1D}"/>
              </a:ext>
            </a:extLst>
          </p:cNvPr>
          <p:cNvSpPr>
            <a:spLocks xmlns:a="http://schemas.openxmlformats.org/drawingml/2006/main" noGrp="1"/>
          </p:cNvSpPr>
          <p:nvPr/>
        </p:nvSpPr>
        <p:spPr>
          <a:xfrm xmlns:a="http://schemas.openxmlformats.org/drawingml/2006/main">
            <a:off x="514350" y="33051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D821FBC-936A-4574-822C-619B8E1386F2}"/>
              </a:ext>
            </a:extLst>
          </p:cNvPr>
          <p:cNvSpPr>
            <a:spLocks xmlns:a="http://schemas.openxmlformats.org/drawingml/2006/main" noGrp="1"/>
          </p:cNvSpPr>
          <p:nvPr/>
        </p:nvSpPr>
        <p:spPr>
          <a:xfrm xmlns:a="http://schemas.openxmlformats.org/drawingml/2006/main">
            <a:off x="628650" y="3143250"/>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The company is still running from a temporary property while the permanent build carries a $302.00M budget and an opening window that runs to February 2029.</a:t>
            </a:r>
          </a:p>
        </p:txBody>
      </p:sp>
      <p:sp>
        <p:nvSpPr>
          <p:cNvPr id="28" name="structure:prose-row">
            <a:extLst xmlns:a="http://schemas.openxmlformats.org/drawingml/2006/main">
              <a:ext uri="{FF2B5EF4-FFF2-40B4-BE49-F238E27FC236}">
                <a16:creationId xmlns:a16="http://schemas.microsoft.com/office/drawing/2014/main" id="{74F85CE9-3061-40F4-8F9B-1FFFB8454073}"/>
              </a:ext>
            </a:extLst>
          </p:cNvPr>
          <p:cNvSpPr>
            <a:spLocks xmlns:a="http://schemas.openxmlformats.org/drawingml/2006/main" noGrp="1"/>
          </p:cNvSpPr>
          <p:nvPr/>
        </p:nvSpPr>
        <p:spPr>
          <a:xfrm xmlns:a="http://schemas.openxmlformats.org/drawingml/2006/main">
            <a:off x="514350" y="3314700"/>
            <a:ext cx="11163300" cy="2000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9" name="structure:row-divider">
            <a:extLst xmlns:a="http://schemas.openxmlformats.org/drawingml/2006/main">
              <a:ext uri="{FF2B5EF4-FFF2-40B4-BE49-F238E27FC236}">
                <a16:creationId xmlns:a16="http://schemas.microsoft.com/office/drawing/2014/main" id="{27CDB941-F10C-4ACC-80E3-B3A0BF03EEBE}"/>
              </a:ext>
            </a:extLst>
          </p:cNvPr>
          <p:cNvSpPr>
            <a:spLocks xmlns:a="http://schemas.openxmlformats.org/drawingml/2006/main" noGrp="1"/>
          </p:cNvSpPr>
          <p:nvPr/>
        </p:nvSpPr>
        <p:spPr>
          <a:xfrm xmlns:a="http://schemas.openxmlformats.org/drawingml/2006/main">
            <a:off x="514350" y="35052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4BCE27AC-A721-4D85-B5DB-51E57848DCEC}"/>
              </a:ext>
            </a:extLst>
          </p:cNvPr>
          <p:cNvSpPr>
            <a:spLocks xmlns:a="http://schemas.openxmlformats.org/drawingml/2006/main" noGrp="1"/>
          </p:cNvSpPr>
          <p:nvPr/>
        </p:nvSpPr>
        <p:spPr>
          <a:xfrm xmlns:a="http://schemas.openxmlformats.org/drawingml/2006/main">
            <a:off x="628650" y="3343275"/>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Any delay would push out the revenue ramp, keep the asset behind newer rivals, and force the buyer to underwrite a longer period of weaker cash flow.</a:t>
            </a:r>
          </a:p>
        </p:txBody>
      </p:sp>
      <p:sp>
        <p:nvSpPr>
          <p:cNvPr id="31" name="structure:prose-row">
            <a:extLst xmlns:a="http://schemas.openxmlformats.org/drawingml/2006/main">
              <a:ext uri="{FF2B5EF4-FFF2-40B4-BE49-F238E27FC236}">
                <a16:creationId xmlns:a16="http://schemas.microsoft.com/office/drawing/2014/main" id="{A00B3E99-2F1E-45E8-B576-AB593B24B4C9}"/>
              </a:ext>
            </a:extLst>
          </p:cNvPr>
          <p:cNvSpPr>
            <a:spLocks xmlns:a="http://schemas.openxmlformats.org/drawingml/2006/main" noGrp="1"/>
          </p:cNvSpPr>
          <p:nvPr/>
        </p:nvSpPr>
        <p:spPr>
          <a:xfrm xmlns:a="http://schemas.openxmlformats.org/drawingml/2006/main">
            <a:off x="514350" y="3514725"/>
            <a:ext cx="11163300" cy="2000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32" name="structure:row-divider">
            <a:extLst xmlns:a="http://schemas.openxmlformats.org/drawingml/2006/main">
              <a:ext uri="{FF2B5EF4-FFF2-40B4-BE49-F238E27FC236}">
                <a16:creationId xmlns:a16="http://schemas.microsoft.com/office/drawing/2014/main" id="{29DA64A1-0E78-46F3-996A-B2362B1232A2}"/>
              </a:ext>
            </a:extLst>
          </p:cNvPr>
          <p:cNvSpPr>
            <a:spLocks xmlns:a="http://schemas.openxmlformats.org/drawingml/2006/main" noGrp="1"/>
          </p:cNvSpPr>
          <p:nvPr/>
        </p:nvSpPr>
        <p:spPr>
          <a:xfrm xmlns:a="http://schemas.openxmlformats.org/drawingml/2006/main">
            <a:off x="514350" y="370522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46AEAA90-724D-4DF5-8A0E-52C87C65E642}"/>
              </a:ext>
            </a:extLst>
          </p:cNvPr>
          <p:cNvSpPr>
            <a:spLocks xmlns:a="http://schemas.openxmlformats.org/drawingml/2006/main" noGrp="1"/>
          </p:cNvSpPr>
          <p:nvPr/>
        </p:nvSpPr>
        <p:spPr>
          <a:xfrm xmlns:a="http://schemas.openxmlformats.org/drawingml/2006/main">
            <a:off x="628650" y="3543300"/>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3 linked risk insights - High to Moderate</a:t>
            </a:r>
          </a:p>
        </p:txBody>
      </p:sp>
      <p:sp>
        <p:nvSpPr>
          <p:cNvPr id="34" name="structure:prose-row">
            <a:extLst xmlns:a="http://schemas.openxmlformats.org/drawingml/2006/main">
              <a:ext uri="{FF2B5EF4-FFF2-40B4-BE49-F238E27FC236}">
                <a16:creationId xmlns:a16="http://schemas.microsoft.com/office/drawing/2014/main" id="{8EF84C42-1F41-4188-8C7B-DC0FA715BDF7}"/>
              </a:ext>
            </a:extLst>
          </p:cNvPr>
          <p:cNvSpPr>
            <a:spLocks xmlns:a="http://schemas.openxmlformats.org/drawingml/2006/main" noGrp="1"/>
          </p:cNvSpPr>
          <p:nvPr/>
        </p:nvSpPr>
        <p:spPr>
          <a:xfrm xmlns:a="http://schemas.openxmlformats.org/drawingml/2006/main">
            <a:off x="514350" y="3714750"/>
            <a:ext cx="11163300" cy="2000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5" name="structure:row-divider">
            <a:extLst xmlns:a="http://schemas.openxmlformats.org/drawingml/2006/main">
              <a:ext uri="{FF2B5EF4-FFF2-40B4-BE49-F238E27FC236}">
                <a16:creationId xmlns:a16="http://schemas.microsoft.com/office/drawing/2014/main" id="{5B5F2245-E126-42E8-9C95-9E5CF2BAD904}"/>
              </a:ext>
            </a:extLst>
          </p:cNvPr>
          <p:cNvSpPr>
            <a:spLocks xmlns:a="http://schemas.openxmlformats.org/drawingml/2006/main" noGrp="1"/>
          </p:cNvSpPr>
          <p:nvPr/>
        </p:nvSpPr>
        <p:spPr>
          <a:xfrm xmlns:a="http://schemas.openxmlformats.org/drawingml/2006/main">
            <a:off x="514350" y="39052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98E3C6A-1BC8-4BEF-B4E5-B467A3F2B24E}"/>
              </a:ext>
            </a:extLst>
          </p:cNvPr>
          <p:cNvSpPr>
            <a:spLocks xmlns:a="http://schemas.openxmlformats.org/drawingml/2006/main" noGrp="1"/>
          </p:cNvSpPr>
          <p:nvPr/>
        </p:nvSpPr>
        <p:spPr>
          <a:xfrm xmlns:a="http://schemas.openxmlformats.org/drawingml/2006/main">
            <a:off x="628650" y="3743325"/>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Market position: The temporary format and smaller floor leave the asset exposed to share loss, so growth depends on proving the new site can close the gap versus better and newer competitors.</a:t>
            </a:r>
          </a:p>
        </p:txBody>
      </p:sp>
      <p:sp>
        <p:nvSpPr>
          <p:cNvPr id="37" name="structure:prose-row">
            <a:extLst xmlns:a="http://schemas.openxmlformats.org/drawingml/2006/main">
              <a:ext uri="{FF2B5EF4-FFF2-40B4-BE49-F238E27FC236}">
                <a16:creationId xmlns:a16="http://schemas.microsoft.com/office/drawing/2014/main" id="{12C027DB-CB65-42EB-99F0-0449CDBC64B3}"/>
              </a:ext>
            </a:extLst>
          </p:cNvPr>
          <p:cNvSpPr>
            <a:spLocks xmlns:a="http://schemas.openxmlformats.org/drawingml/2006/main" noGrp="1"/>
          </p:cNvSpPr>
          <p:nvPr/>
        </p:nvSpPr>
        <p:spPr>
          <a:xfrm xmlns:a="http://schemas.openxmlformats.org/drawingml/2006/main">
            <a:off x="514350" y="3914775"/>
            <a:ext cx="11163300" cy="2000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38" name="structure:row-divider">
            <a:extLst xmlns:a="http://schemas.openxmlformats.org/drawingml/2006/main">
              <a:ext uri="{FF2B5EF4-FFF2-40B4-BE49-F238E27FC236}">
                <a16:creationId xmlns:a16="http://schemas.microsoft.com/office/drawing/2014/main" id="{37B287C2-FE65-4BEE-8FE7-45F88F62013F}"/>
              </a:ext>
            </a:extLst>
          </p:cNvPr>
          <p:cNvSpPr>
            <a:spLocks xmlns:a="http://schemas.openxmlformats.org/drawingml/2006/main" noGrp="1"/>
          </p:cNvSpPr>
          <p:nvPr/>
        </p:nvSpPr>
        <p:spPr>
          <a:xfrm xmlns:a="http://schemas.openxmlformats.org/drawingml/2006/main">
            <a:off x="514350" y="41052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C270FF98-9F08-4FBE-B899-3A1DDC6AF13B}"/>
              </a:ext>
            </a:extLst>
          </p:cNvPr>
          <p:cNvSpPr>
            <a:spLocks xmlns:a="http://schemas.openxmlformats.org/drawingml/2006/main" noGrp="1"/>
          </p:cNvSpPr>
          <p:nvPr/>
        </p:nvSpPr>
        <p:spPr>
          <a:xfrm xmlns:a="http://schemas.openxmlformats.org/drawingml/2006/main">
            <a:off x="628650" y="3943350"/>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Watch: share loss, weaker repeat visits, or no improvement in revenue per visit after promotional spend.</a:t>
            </a:r>
          </a:p>
        </p:txBody>
      </p:sp>
      <p:sp>
        <p:nvSpPr>
          <p:cNvPr id="40" name="structure:prose-row">
            <a:extLst xmlns:a="http://schemas.openxmlformats.org/drawingml/2006/main">
              <a:ext uri="{FF2B5EF4-FFF2-40B4-BE49-F238E27FC236}">
                <a16:creationId xmlns:a16="http://schemas.microsoft.com/office/drawing/2014/main" id="{9DBC7F76-13E2-4615-B1F7-79201E248F3A}"/>
              </a:ext>
            </a:extLst>
          </p:cNvPr>
          <p:cNvSpPr>
            <a:spLocks xmlns:a="http://schemas.openxmlformats.org/drawingml/2006/main" noGrp="1"/>
          </p:cNvSpPr>
          <p:nvPr/>
        </p:nvSpPr>
        <p:spPr>
          <a:xfrm xmlns:a="http://schemas.openxmlformats.org/drawingml/2006/main">
            <a:off x="514350" y="4114800"/>
            <a:ext cx="11163300" cy="2000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1" name="structure:row-divider">
            <a:extLst xmlns:a="http://schemas.openxmlformats.org/drawingml/2006/main">
              <a:ext uri="{FF2B5EF4-FFF2-40B4-BE49-F238E27FC236}">
                <a16:creationId xmlns:a16="http://schemas.microsoft.com/office/drawing/2014/main" id="{088B3DE4-DE61-4F9B-9E35-38EEB0225359}"/>
              </a:ext>
            </a:extLst>
          </p:cNvPr>
          <p:cNvSpPr>
            <a:spLocks xmlns:a="http://schemas.openxmlformats.org/drawingml/2006/main" noGrp="1"/>
          </p:cNvSpPr>
          <p:nvPr/>
        </p:nvSpPr>
        <p:spPr>
          <a:xfrm xmlns:a="http://schemas.openxmlformats.org/drawingml/2006/main">
            <a:off x="514350" y="43053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B03B78CC-5E3F-46D7-A111-09B34D360289}"/>
              </a:ext>
            </a:extLst>
          </p:cNvPr>
          <p:cNvSpPr>
            <a:spLocks xmlns:a="http://schemas.openxmlformats.org/drawingml/2006/main" noGrp="1"/>
          </p:cNvSpPr>
          <p:nvPr/>
        </p:nvSpPr>
        <p:spPr>
          <a:xfrm xmlns:a="http://schemas.openxmlformats.org/drawingml/2006/main">
            <a:off x="628650" y="4143375"/>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Concentration: American Place delivered $124.10M of 2025 revenue, about 42.5% of group sales, so any site-level slip hits the parent fast.</a:t>
            </a:r>
          </a:p>
        </p:txBody>
      </p:sp>
      <p:sp>
        <p:nvSpPr>
          <p:cNvPr id="43" name="structure:prose-row">
            <a:extLst xmlns:a="http://schemas.openxmlformats.org/drawingml/2006/main">
              <a:ext uri="{FF2B5EF4-FFF2-40B4-BE49-F238E27FC236}">
                <a16:creationId xmlns:a16="http://schemas.microsoft.com/office/drawing/2014/main" id="{64ED838E-AA7D-4F74-97D1-C7DEBF9D4C05}"/>
              </a:ext>
            </a:extLst>
          </p:cNvPr>
          <p:cNvSpPr>
            <a:spLocks xmlns:a="http://schemas.openxmlformats.org/drawingml/2006/main" noGrp="1"/>
          </p:cNvSpPr>
          <p:nvPr/>
        </p:nvSpPr>
        <p:spPr>
          <a:xfrm xmlns:a="http://schemas.openxmlformats.org/drawingml/2006/main">
            <a:off x="514350" y="4314825"/>
            <a:ext cx="11163300" cy="2000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44" name="structure:row-divider">
            <a:extLst xmlns:a="http://schemas.openxmlformats.org/drawingml/2006/main">
              <a:ext uri="{FF2B5EF4-FFF2-40B4-BE49-F238E27FC236}">
                <a16:creationId xmlns:a16="http://schemas.microsoft.com/office/drawing/2014/main" id="{B2341278-2177-43FE-AE4D-90B29F8B92AE}"/>
              </a:ext>
            </a:extLst>
          </p:cNvPr>
          <p:cNvSpPr>
            <a:spLocks xmlns:a="http://schemas.openxmlformats.org/drawingml/2006/main" noGrp="1"/>
          </p:cNvSpPr>
          <p:nvPr/>
        </p:nvSpPr>
        <p:spPr>
          <a:xfrm xmlns:a="http://schemas.openxmlformats.org/drawingml/2006/main">
            <a:off x="514350" y="450532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1B0CD5CB-969F-4890-A75B-09DBE57E2637}"/>
              </a:ext>
            </a:extLst>
          </p:cNvPr>
          <p:cNvSpPr>
            <a:spLocks xmlns:a="http://schemas.openxmlformats.org/drawingml/2006/main" noGrp="1"/>
          </p:cNvSpPr>
          <p:nvPr/>
        </p:nvSpPr>
        <p:spPr>
          <a:xfrm xmlns:a="http://schemas.openxmlformats.org/drawingml/2006/main">
            <a:off x="628650" y="4343400"/>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Watch: Waukegan rising further as a share of group EBITDA or no offset from other assets.</a:t>
            </a:r>
          </a:p>
        </p:txBody>
      </p:sp>
      <p:sp>
        <p:nvSpPr>
          <p:cNvPr id="46" name="structure:prose-row">
            <a:extLst xmlns:a="http://schemas.openxmlformats.org/drawingml/2006/main">
              <a:ext uri="{FF2B5EF4-FFF2-40B4-BE49-F238E27FC236}">
                <a16:creationId xmlns:a16="http://schemas.microsoft.com/office/drawing/2014/main" id="{86E1C5AE-8271-475B-9FAE-476ADE138B40}"/>
              </a:ext>
            </a:extLst>
          </p:cNvPr>
          <p:cNvSpPr>
            <a:spLocks xmlns:a="http://schemas.openxmlformats.org/drawingml/2006/main" noGrp="1"/>
          </p:cNvSpPr>
          <p:nvPr/>
        </p:nvSpPr>
        <p:spPr>
          <a:xfrm xmlns:a="http://schemas.openxmlformats.org/drawingml/2006/main">
            <a:off x="514350" y="4514850"/>
            <a:ext cx="11163300" cy="2000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7" name="structure:row-divider">
            <a:extLst xmlns:a="http://schemas.openxmlformats.org/drawingml/2006/main">
              <a:ext uri="{FF2B5EF4-FFF2-40B4-BE49-F238E27FC236}">
                <a16:creationId xmlns:a16="http://schemas.microsoft.com/office/drawing/2014/main" id="{77D84083-2341-4A8C-B47E-8B2C8B15F91E}"/>
              </a:ext>
            </a:extLst>
          </p:cNvPr>
          <p:cNvSpPr>
            <a:spLocks xmlns:a="http://schemas.openxmlformats.org/drawingml/2006/main" noGrp="1"/>
          </p:cNvSpPr>
          <p:nvPr/>
        </p:nvSpPr>
        <p:spPr>
          <a:xfrm xmlns:a="http://schemas.openxmlformats.org/drawingml/2006/main">
            <a:off x="514350" y="47053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48" name="">
            <a:extLst xmlns:a="http://schemas.openxmlformats.org/drawingml/2006/main">
              <a:ext uri="{FF2B5EF4-FFF2-40B4-BE49-F238E27FC236}">
                <a16:creationId xmlns:a16="http://schemas.microsoft.com/office/drawing/2014/main" id="{A707F6A7-D4A3-4F9A-9A31-33C5C0FE19D8}"/>
              </a:ext>
            </a:extLst>
          </p:cNvPr>
          <p:cNvSpPr>
            <a:spLocks xmlns:a="http://schemas.openxmlformats.org/drawingml/2006/main" noGrp="1"/>
          </p:cNvSpPr>
          <p:nvPr/>
        </p:nvSpPr>
        <p:spPr>
          <a:xfrm xmlns:a="http://schemas.openxmlformats.org/drawingml/2006/main">
            <a:off x="628650" y="4543425"/>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Funding pressure: Full House had $450.00M of notes outstanding and $25.00M drawn on its credit facility, so the build may need fresh capital before completion.</a:t>
            </a:r>
          </a:p>
        </p:txBody>
      </p:sp>
      <p:sp>
        <p:nvSpPr>
          <p:cNvPr id="49" name="structure:prose-row">
            <a:extLst xmlns:a="http://schemas.openxmlformats.org/drawingml/2006/main">
              <a:ext uri="{FF2B5EF4-FFF2-40B4-BE49-F238E27FC236}">
                <a16:creationId xmlns:a16="http://schemas.microsoft.com/office/drawing/2014/main" id="{94BBC115-C3A8-466C-963A-F2AD48A09987}"/>
              </a:ext>
            </a:extLst>
          </p:cNvPr>
          <p:cNvSpPr>
            <a:spLocks xmlns:a="http://schemas.openxmlformats.org/drawingml/2006/main" noGrp="1"/>
          </p:cNvSpPr>
          <p:nvPr/>
        </p:nvSpPr>
        <p:spPr>
          <a:xfrm xmlns:a="http://schemas.openxmlformats.org/drawingml/2006/main">
            <a:off x="514350" y="4714875"/>
            <a:ext cx="11163300" cy="2000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50" name="structure:row-divider">
            <a:extLst xmlns:a="http://schemas.openxmlformats.org/drawingml/2006/main">
              <a:ext uri="{FF2B5EF4-FFF2-40B4-BE49-F238E27FC236}">
                <a16:creationId xmlns:a16="http://schemas.microsoft.com/office/drawing/2014/main" id="{AEF31635-7727-49D6-9DF2-03B5677E7E52}"/>
              </a:ext>
            </a:extLst>
          </p:cNvPr>
          <p:cNvSpPr>
            <a:spLocks xmlns:a="http://schemas.openxmlformats.org/drawingml/2006/main" noGrp="1"/>
          </p:cNvSpPr>
          <p:nvPr/>
        </p:nvSpPr>
        <p:spPr>
          <a:xfrm xmlns:a="http://schemas.openxmlformats.org/drawingml/2006/main">
            <a:off x="514350" y="49053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51" name="">
            <a:extLst xmlns:a="http://schemas.openxmlformats.org/drawingml/2006/main">
              <a:ext uri="{FF2B5EF4-FFF2-40B4-BE49-F238E27FC236}">
                <a16:creationId xmlns:a16="http://schemas.microsoft.com/office/drawing/2014/main" id="{69BBB96B-AE99-4AFD-BD2A-C8D751DE736F}"/>
              </a:ext>
            </a:extLst>
          </p:cNvPr>
          <p:cNvSpPr>
            <a:spLocks xmlns:a="http://schemas.openxmlformats.org/drawingml/2006/main" noGrp="1"/>
          </p:cNvSpPr>
          <p:nvPr/>
        </p:nvSpPr>
        <p:spPr>
          <a:xfrm xmlns:a="http://schemas.openxmlformats.org/drawingml/2006/main">
            <a:off x="628650" y="4743450"/>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Watch: no committed funding plan, covenant strain, or maturity pressure before the project is finished.</a:t>
            </a:r>
          </a:p>
        </p:txBody>
      </p:sp>
      <p:sp>
        <p:nvSpPr>
          <p:cNvPr id="52" name="structure:prose-row">
            <a:extLst xmlns:a="http://schemas.openxmlformats.org/drawingml/2006/main">
              <a:ext uri="{FF2B5EF4-FFF2-40B4-BE49-F238E27FC236}">
                <a16:creationId xmlns:a16="http://schemas.microsoft.com/office/drawing/2014/main" id="{9CC64FC3-72B6-48D6-B1F5-3A4C8BBE90BC}"/>
              </a:ext>
            </a:extLst>
          </p:cNvPr>
          <p:cNvSpPr>
            <a:spLocks xmlns:a="http://schemas.openxmlformats.org/drawingml/2006/main" noGrp="1"/>
          </p:cNvSpPr>
          <p:nvPr/>
        </p:nvSpPr>
        <p:spPr>
          <a:xfrm xmlns:a="http://schemas.openxmlformats.org/drawingml/2006/main">
            <a:off x="514350" y="4914900"/>
            <a:ext cx="11163300" cy="2000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53" name="structure:row-divider">
            <a:extLst xmlns:a="http://schemas.openxmlformats.org/drawingml/2006/main">
              <a:ext uri="{FF2B5EF4-FFF2-40B4-BE49-F238E27FC236}">
                <a16:creationId xmlns:a16="http://schemas.microsoft.com/office/drawing/2014/main" id="{AF5614CA-E291-4119-94EA-C0FFF13654C7}"/>
              </a:ext>
            </a:extLst>
          </p:cNvPr>
          <p:cNvSpPr>
            <a:spLocks xmlns:a="http://schemas.openxmlformats.org/drawingml/2006/main" noGrp="1"/>
          </p:cNvSpPr>
          <p:nvPr/>
        </p:nvSpPr>
        <p:spPr>
          <a:xfrm xmlns:a="http://schemas.openxmlformats.org/drawingml/2006/main">
            <a:off x="514350" y="510540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54" name="">
            <a:extLst xmlns:a="http://schemas.openxmlformats.org/drawingml/2006/main">
              <a:ext uri="{FF2B5EF4-FFF2-40B4-BE49-F238E27FC236}">
                <a16:creationId xmlns:a16="http://schemas.microsoft.com/office/drawing/2014/main" id="{6B95AD1B-B0DC-439D-8376-184BA2CA7973}"/>
              </a:ext>
            </a:extLst>
          </p:cNvPr>
          <p:cNvSpPr>
            <a:spLocks xmlns:a="http://schemas.openxmlformats.org/drawingml/2006/main" noGrp="1"/>
          </p:cNvSpPr>
          <p:nvPr/>
        </p:nvSpPr>
        <p:spPr>
          <a:xfrm xmlns:a="http://schemas.openxmlformats.org/drawingml/2006/main">
            <a:off x="628650" y="4943475"/>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Resolve the build first: confirm the schedule, contractor commitments, and remaining sources and uses before leaning on any growth forecast.</a:t>
            </a:r>
          </a:p>
        </p:txBody>
      </p:sp>
      <p:sp>
        <p:nvSpPr>
          <p:cNvPr id="55" name="structure:prose-row">
            <a:extLst xmlns:a="http://schemas.openxmlformats.org/drawingml/2006/main">
              <a:ext uri="{FF2B5EF4-FFF2-40B4-BE49-F238E27FC236}">
                <a16:creationId xmlns:a16="http://schemas.microsoft.com/office/drawing/2014/main" id="{53B50884-E35B-4927-AB79-135F9B76CC95}"/>
              </a:ext>
            </a:extLst>
          </p:cNvPr>
          <p:cNvSpPr>
            <a:spLocks xmlns:a="http://schemas.openxmlformats.org/drawingml/2006/main" noGrp="1"/>
          </p:cNvSpPr>
          <p:nvPr/>
        </p:nvSpPr>
        <p:spPr>
          <a:xfrm xmlns:a="http://schemas.openxmlformats.org/drawingml/2006/main">
            <a:off x="514350" y="5114925"/>
            <a:ext cx="11163300" cy="2000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56" name="structure:row-divider">
            <a:extLst xmlns:a="http://schemas.openxmlformats.org/drawingml/2006/main">
              <a:ext uri="{FF2B5EF4-FFF2-40B4-BE49-F238E27FC236}">
                <a16:creationId xmlns:a16="http://schemas.microsoft.com/office/drawing/2014/main" id="{E02CC12B-4C73-4C7B-91A3-BB8C232EC325}"/>
              </a:ext>
            </a:extLst>
          </p:cNvPr>
          <p:cNvSpPr>
            <a:spLocks xmlns:a="http://schemas.openxmlformats.org/drawingml/2006/main" noGrp="1"/>
          </p:cNvSpPr>
          <p:nvPr/>
        </p:nvSpPr>
        <p:spPr>
          <a:xfrm xmlns:a="http://schemas.openxmlformats.org/drawingml/2006/main">
            <a:off x="514350" y="530542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57" name="">
            <a:extLst xmlns:a="http://schemas.openxmlformats.org/drawingml/2006/main">
              <a:ext uri="{FF2B5EF4-FFF2-40B4-BE49-F238E27FC236}">
                <a16:creationId xmlns:a16="http://schemas.microsoft.com/office/drawing/2014/main" id="{E710ED47-2EEB-4AA7-AA86-04D0FF74455D}"/>
              </a:ext>
            </a:extLst>
          </p:cNvPr>
          <p:cNvSpPr>
            <a:spLocks xmlns:a="http://schemas.openxmlformats.org/drawingml/2006/main" noGrp="1"/>
          </p:cNvSpPr>
          <p:nvPr/>
        </p:nvSpPr>
        <p:spPr>
          <a:xfrm xmlns:a="http://schemas.openxmlformats.org/drawingml/2006/main">
            <a:off x="628650" y="5143500"/>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Separate root cause from symptom: weak current results matter most if they come from unfinished construction and funding gaps, not just normal early-stage noise.</a:t>
            </a:r>
          </a:p>
        </p:txBody>
      </p:sp>
      <p:sp>
        <p:nvSpPr>
          <p:cNvPr id="58" name="structure:prose-row">
            <a:extLst xmlns:a="http://schemas.openxmlformats.org/drawingml/2006/main">
              <a:ext uri="{FF2B5EF4-FFF2-40B4-BE49-F238E27FC236}">
                <a16:creationId xmlns:a16="http://schemas.microsoft.com/office/drawing/2014/main" id="{E425FB6F-1FA1-4A47-A2F9-6DC405E7234F}"/>
              </a:ext>
            </a:extLst>
          </p:cNvPr>
          <p:cNvSpPr>
            <a:spLocks xmlns:a="http://schemas.openxmlformats.org/drawingml/2006/main" noGrp="1"/>
          </p:cNvSpPr>
          <p:nvPr/>
        </p:nvSpPr>
        <p:spPr>
          <a:xfrm xmlns:a="http://schemas.openxmlformats.org/drawingml/2006/main">
            <a:off x="514350" y="5314950"/>
            <a:ext cx="11163300" cy="2000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59" name="structure:row-divider">
            <a:extLst xmlns:a="http://schemas.openxmlformats.org/drawingml/2006/main">
              <a:ext uri="{FF2B5EF4-FFF2-40B4-BE49-F238E27FC236}">
                <a16:creationId xmlns:a16="http://schemas.microsoft.com/office/drawing/2014/main" id="{A6BE5104-60D8-48EE-BB42-778A8EA63D51}"/>
              </a:ext>
            </a:extLst>
          </p:cNvPr>
          <p:cNvSpPr>
            <a:spLocks xmlns:a="http://schemas.openxmlformats.org/drawingml/2006/main" noGrp="1"/>
          </p:cNvSpPr>
          <p:nvPr/>
        </p:nvSpPr>
        <p:spPr>
          <a:xfrm xmlns:a="http://schemas.openxmlformats.org/drawingml/2006/main">
            <a:off x="514350" y="5505450"/>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60" name="">
            <a:extLst xmlns:a="http://schemas.openxmlformats.org/drawingml/2006/main">
              <a:ext uri="{FF2B5EF4-FFF2-40B4-BE49-F238E27FC236}">
                <a16:creationId xmlns:a16="http://schemas.microsoft.com/office/drawing/2014/main" id="{F336663A-A066-4966-8B6D-798AB76C5023}"/>
              </a:ext>
            </a:extLst>
          </p:cNvPr>
          <p:cNvSpPr>
            <a:spLocks xmlns:a="http://schemas.openxmlformats.org/drawingml/2006/main" noGrp="1"/>
          </p:cNvSpPr>
          <p:nvPr/>
        </p:nvSpPr>
        <p:spPr>
          <a:xfrm xmlns:a="http://schemas.openxmlformats.org/drawingml/2006/main">
            <a:off x="628650" y="5343525"/>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  Buyer action: request a full critical-path plan, monthly construction reports, and a refinancing timeline, then test all three against liquidity needs.</a:t>
            </a:r>
          </a:p>
        </p:txBody>
      </p:sp>
      <p:sp>
        <p:nvSpPr>
          <p:cNvPr id="61" name="structure:prose-row">
            <a:extLst xmlns:a="http://schemas.openxmlformats.org/drawingml/2006/main">
              <a:ext uri="{FF2B5EF4-FFF2-40B4-BE49-F238E27FC236}">
                <a16:creationId xmlns:a16="http://schemas.microsoft.com/office/drawing/2014/main" id="{9F31720A-A2A0-45C3-B82A-1F02E69F2DC7}"/>
              </a:ext>
            </a:extLst>
          </p:cNvPr>
          <p:cNvSpPr>
            <a:spLocks xmlns:a="http://schemas.openxmlformats.org/drawingml/2006/main" noGrp="1"/>
          </p:cNvSpPr>
          <p:nvPr/>
        </p:nvSpPr>
        <p:spPr>
          <a:xfrm xmlns:a="http://schemas.openxmlformats.org/drawingml/2006/main">
            <a:off x="514350" y="5514975"/>
            <a:ext cx="11163300" cy="200025"/>
          </a:xfrm>
          <a:prstGeom xmlns:a="http://schemas.openxmlformats.org/drawingml/2006/main" prst="rect">
            <a:avLst/>
          </a:prstGeom>
          <a:solidFill xmlns:a="http://schemas.openxmlformats.org/drawingml/2006/main">
            <a:srgbClr val="F4F6F9"/>
          </a:solidFill>
          <a:ln xmlns:a="http://schemas.openxmlformats.org/drawingml/2006/main" w="0">
            <a:noFill/>
          </a:ln>
        </p:spPr>
      </p:sp>
      <p:sp>
        <p:nvSpPr>
          <p:cNvPr id="62" name="structure:row-divider">
            <a:extLst xmlns:a="http://schemas.openxmlformats.org/drawingml/2006/main">
              <a:ext uri="{FF2B5EF4-FFF2-40B4-BE49-F238E27FC236}">
                <a16:creationId xmlns:a16="http://schemas.microsoft.com/office/drawing/2014/main" id="{D5F6855E-791D-4784-A58A-A0FAF1FBA4D6}"/>
              </a:ext>
            </a:extLst>
          </p:cNvPr>
          <p:cNvSpPr>
            <a:spLocks xmlns:a="http://schemas.openxmlformats.org/drawingml/2006/main" noGrp="1"/>
          </p:cNvSpPr>
          <p:nvPr/>
        </p:nvSpPr>
        <p:spPr>
          <a:xfrm xmlns:a="http://schemas.openxmlformats.org/drawingml/2006/main">
            <a:off x="514350" y="5705475"/>
            <a:ext cx="11163300" cy="9525"/>
          </a:xfrm>
          <a:prstGeom xmlns:a="http://schemas.openxmlformats.org/drawingml/2006/main" prst="rect">
            <a:avLst/>
          </a:prstGeom>
          <a:solidFill xmlns:a="http://schemas.openxmlformats.org/drawingml/2006/main">
            <a:srgbClr val="D7DEE7"/>
          </a:solidFill>
          <a:ln xmlns:a="http://schemas.openxmlformats.org/drawingml/2006/main" w="0">
            <a:noFill/>
          </a:ln>
        </p:spPr>
      </p:sp>
      <p:sp>
        <p:nvSpPr>
          <p:cNvPr id="63" name="">
            <a:extLst xmlns:a="http://schemas.openxmlformats.org/drawingml/2006/main">
              <a:ext uri="{FF2B5EF4-FFF2-40B4-BE49-F238E27FC236}">
                <a16:creationId xmlns:a16="http://schemas.microsoft.com/office/drawing/2014/main" id="{A1AB9B01-D328-45FB-9F86-ADAA615AD14B}"/>
              </a:ext>
            </a:extLst>
          </p:cNvPr>
          <p:cNvSpPr>
            <a:spLocks xmlns:a="http://schemas.openxmlformats.org/drawingml/2006/main" noGrp="1"/>
          </p:cNvSpPr>
          <p:nvPr/>
        </p:nvSpPr>
        <p:spPr>
          <a:xfrm xmlns:a="http://schemas.openxmlformats.org/drawingml/2006/main">
            <a:off x="628650" y="5543550"/>
            <a:ext cx="109347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825">
                <a:solidFill>
                  <a:srgbClr val="1B2A41"/>
                </a:solidFill>
                <a:latin typeface="Calibri"/>
                <a:ea typeface="Calibri"/>
                <a:cs typeface="Calibri"/>
              </a:defRPr>
            </a:pPr>
            <a:r>
              <a:rPr sz="825">
                <a:solidFill>
                  <a:srgbClr val="1B2A41"/>
                </a:solidFill>
                <a:latin typeface="Calibri"/>
                <a:ea typeface="Calibri"/>
                <a:cs typeface="Calibri"/>
              </a:rPr>
              <a:t>Required diligence action: reconcile budget, timing, and financing drawdowns against the latest board, lender, and contractor materials.</a:t>
            </a:r>
          </a:p>
        </p:txBody>
      </p:sp>
      <p:sp>
        <p:nvSpPr>
          <p:cNvPr id="64" name="">
            <a:extLst xmlns:a="http://schemas.openxmlformats.org/drawingml/2006/main">
              <a:ext uri="{FF2B5EF4-FFF2-40B4-BE49-F238E27FC236}">
                <a16:creationId xmlns:a16="http://schemas.microsoft.com/office/drawing/2014/main" id="{6E0423B8-FEAB-4F62-83F8-01AA3C906BD1}"/>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24</a:t>
            </a:r>
          </a:p>
        </p:txBody>
      </p:sp>
    </p:spTree>
    <p:extLst>
      <p:ext uri="{BB962C8B-B14F-4D97-AF65-F5344CB8AC3E}">
        <p14:creationId xmlns:p14="http://schemas.microsoft.com/office/powerpoint/2010/main" val="27120058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A5ACA9D8-A476-45DA-908A-FC967DC47A78}"/>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Due Diligence Areas</a:t>
            </a:r>
          </a:p>
        </p:txBody>
      </p:sp>
      <p:sp>
        <p:nvSpPr>
          <p:cNvPr id="2" name="">
            <a:extLst xmlns:a="http://schemas.openxmlformats.org/drawingml/2006/main">
              <a:ext uri="{FF2B5EF4-FFF2-40B4-BE49-F238E27FC236}">
                <a16:creationId xmlns:a16="http://schemas.microsoft.com/office/drawing/2014/main" id="{56786A25-8893-4DF3-853A-A2E4241C079A}"/>
              </a:ext>
            </a:extLst>
          </p:cNvPr>
          <p:cNvSpPr>
            <a:spLocks xmlns:a="http://schemas.openxmlformats.org/drawingml/2006/main" noGrp="1"/>
          </p:cNvSpPr>
          <p:nvPr/>
        </p:nvSpPr>
        <p:spPr>
          <a:xfrm xmlns:a="http://schemas.openxmlformats.org/drawingml/2006/main">
            <a:off x="628650" y="3552825"/>
            <a:ext cx="1093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350">
                <a:solidFill>
                  <a:srgbClr val="1B2A41"/>
                </a:solidFill>
                <a:latin typeface="Calibri"/>
                <a:ea typeface="Calibri"/>
                <a:cs typeface="Calibri"/>
              </a:defRPr>
            </a:pPr>
            <a:r>
              <a:rPr sz="1350">
                <a:solidFill>
                  <a:srgbClr val="1B2A41"/>
                </a:solidFill>
                <a:latin typeface="Calibri"/>
                <a:ea typeface="Calibri"/>
                <a:cs typeface="Calibri"/>
              </a:rPr>
              <a:t>Prove the permanent build, financing, and demand hold-up first, or the valuation and funding case weaken together.</a:t>
            </a:r>
          </a:p>
        </p:txBody>
      </p:sp>
      <p:sp>
        <p:nvSpPr>
          <p:cNvPr id="3" name="">
            <a:extLst xmlns:a="http://schemas.openxmlformats.org/drawingml/2006/main">
              <a:ext uri="{FF2B5EF4-FFF2-40B4-BE49-F238E27FC236}">
                <a16:creationId xmlns:a16="http://schemas.microsoft.com/office/drawing/2014/main" id="{90AC2F72-AC82-4161-A9EE-3E0BE3D116DD}"/>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25</a:t>
            </a:r>
          </a:p>
        </p:txBody>
      </p:sp>
    </p:spTree>
    <p:extLst>
      <p:ext uri="{BB962C8B-B14F-4D97-AF65-F5344CB8AC3E}">
        <p14:creationId xmlns:p14="http://schemas.microsoft.com/office/powerpoint/2010/main" val="38640520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84189D9F-9447-4657-A257-31ED0FFE7F05}"/>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Due Diligence Areas</a:t>
            </a:r>
          </a:p>
        </p:txBody>
      </p:sp>
      <p:sp>
        <p:nvSpPr>
          <p:cNvPr id="2" name="structure:card">
            <a:extLst xmlns:a="http://schemas.openxmlformats.org/drawingml/2006/main">
              <a:ext uri="{FF2B5EF4-FFF2-40B4-BE49-F238E27FC236}">
                <a16:creationId xmlns:a16="http://schemas.microsoft.com/office/drawing/2014/main" id="{32BA49F4-01EA-4BE0-AB29-6674359569F5}"/>
              </a:ext>
            </a:extLst>
          </p:cNvPr>
          <p:cNvSpPr>
            <a:spLocks xmlns:a="http://schemas.openxmlformats.org/drawingml/2006/main" noGrp="1"/>
          </p:cNvSpPr>
          <p:nvPr/>
        </p:nvSpPr>
        <p:spPr>
          <a:xfrm xmlns:a="http://schemas.openxmlformats.org/drawingml/2006/main">
            <a:off x="514350" y="1066800"/>
            <a:ext cx="5505450" cy="2619375"/>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3" name="">
            <a:extLst xmlns:a="http://schemas.openxmlformats.org/drawingml/2006/main">
              <a:ext uri="{FF2B5EF4-FFF2-40B4-BE49-F238E27FC236}">
                <a16:creationId xmlns:a16="http://schemas.microsoft.com/office/drawing/2014/main" id="{C1857C90-045D-41EA-8A52-3CB3CE459353}"/>
              </a:ext>
            </a:extLst>
          </p:cNvPr>
          <p:cNvSpPr>
            <a:spLocks xmlns:a="http://schemas.openxmlformats.org/drawingml/2006/main" noGrp="1"/>
          </p:cNvSpPr>
          <p:nvPr/>
        </p:nvSpPr>
        <p:spPr>
          <a:xfrm xmlns:a="http://schemas.openxmlformats.org/drawingml/2006/main">
            <a:off x="628650" y="1162050"/>
            <a:ext cx="5276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Can the permanent American Place project finish on budget and open on schedule?</a:t>
            </a:r>
          </a:p>
        </p:txBody>
      </p:sp>
      <p:sp>
        <p:nvSpPr>
          <p:cNvPr id="4" name="">
            <a:extLst xmlns:a="http://schemas.openxmlformats.org/drawingml/2006/main">
              <a:ext uri="{FF2B5EF4-FFF2-40B4-BE49-F238E27FC236}">
                <a16:creationId xmlns:a16="http://schemas.microsoft.com/office/drawing/2014/main" id="{2BAA4B9E-5DFE-4EAB-B189-9BE95E55AA72}"/>
              </a:ext>
            </a:extLst>
          </p:cNvPr>
          <p:cNvSpPr>
            <a:spLocks xmlns:a="http://schemas.openxmlformats.org/drawingml/2006/main" noGrp="1"/>
          </p:cNvSpPr>
          <p:nvPr/>
        </p:nvSpPr>
        <p:spPr>
          <a:xfrm xmlns:a="http://schemas.openxmlformats.org/drawingml/2006/main">
            <a:off x="628650" y="1390650"/>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Must Prove</a:t>
            </a:r>
          </a:p>
        </p:txBody>
      </p:sp>
      <p:sp>
        <p:nvSpPr>
          <p:cNvPr id="5" name="">
            <a:extLst xmlns:a="http://schemas.openxmlformats.org/drawingml/2006/main">
              <a:ext uri="{FF2B5EF4-FFF2-40B4-BE49-F238E27FC236}">
                <a16:creationId xmlns:a16="http://schemas.microsoft.com/office/drawing/2014/main" id="{75F16FA3-CE00-45FA-AA20-4254B64F5CE2}"/>
              </a:ext>
            </a:extLst>
          </p:cNvPr>
          <p:cNvSpPr>
            <a:spLocks xmlns:a="http://schemas.openxmlformats.org/drawingml/2006/main" noGrp="1"/>
          </p:cNvSpPr>
          <p:nvPr/>
        </p:nvSpPr>
        <p:spPr>
          <a:xfrm xmlns:a="http://schemas.openxmlformats.org/drawingml/2006/main">
            <a:off x="628650" y="1571625"/>
            <a:ext cx="5276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Insight: The thesis depends on delivering the permanent project against the $302.00M budget and the amended February 17, 2029 deadline [123][37][30]; if cost or timing slips, the opening plan and financing case both weaken.</a:t>
            </a:r>
          </a:p>
        </p:txBody>
      </p:sp>
      <p:sp>
        <p:nvSpPr>
          <p:cNvPr id="6" name="">
            <a:extLst xmlns:a="http://schemas.openxmlformats.org/drawingml/2006/main">
              <a:ext uri="{FF2B5EF4-FFF2-40B4-BE49-F238E27FC236}">
                <a16:creationId xmlns:a16="http://schemas.microsoft.com/office/drawing/2014/main" id="{C24B4CC6-78F2-4E36-87BE-F54E15E26126}"/>
              </a:ext>
            </a:extLst>
          </p:cNvPr>
          <p:cNvSpPr>
            <a:spLocks xmlns:a="http://schemas.openxmlformats.org/drawingml/2006/main" noGrp="1"/>
          </p:cNvSpPr>
          <p:nvPr/>
        </p:nvSpPr>
        <p:spPr>
          <a:xfrm xmlns:a="http://schemas.openxmlformats.org/drawingml/2006/main">
            <a:off x="628650" y="2076450"/>
            <a:ext cx="5276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Fully reconciled development budget by workstream, contingency, spend to date, committed spend, and remaining spend</a:t>
            </a:r>
          </a:p>
        </p:txBody>
      </p:sp>
      <p:sp>
        <p:nvSpPr>
          <p:cNvPr id="7" name="">
            <a:extLst xmlns:a="http://schemas.openxmlformats.org/drawingml/2006/main">
              <a:ext uri="{FF2B5EF4-FFF2-40B4-BE49-F238E27FC236}">
                <a16:creationId xmlns:a16="http://schemas.microsoft.com/office/drawing/2014/main" id="{E219AA91-1F56-486F-AAFF-48A4DB9C5908}"/>
              </a:ext>
            </a:extLst>
          </p:cNvPr>
          <p:cNvSpPr>
            <a:spLocks xmlns:a="http://schemas.openxmlformats.org/drawingml/2006/main" noGrp="1"/>
          </p:cNvSpPr>
          <p:nvPr/>
        </p:nvSpPr>
        <p:spPr>
          <a:xfrm xmlns:a="http://schemas.openxmlformats.org/drawingml/2006/main">
            <a:off x="628650" y="2428875"/>
            <a:ext cx="5276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Critical-path schedule with permits, long-lead items, inspections, and certificate-of-occupancy milestones</a:t>
            </a:r>
          </a:p>
        </p:txBody>
      </p:sp>
      <p:sp>
        <p:nvSpPr>
          <p:cNvPr id="8" name="">
            <a:extLst xmlns:a="http://schemas.openxmlformats.org/drawingml/2006/main">
              <a:ext uri="{FF2B5EF4-FFF2-40B4-BE49-F238E27FC236}">
                <a16:creationId xmlns:a16="http://schemas.microsoft.com/office/drawing/2014/main" id="{68AB6B7E-0423-4ACD-B4D4-96715692D4F8}"/>
              </a:ext>
            </a:extLst>
          </p:cNvPr>
          <p:cNvSpPr>
            <a:spLocks xmlns:a="http://schemas.openxmlformats.org/drawingml/2006/main" noGrp="1"/>
          </p:cNvSpPr>
          <p:nvPr/>
        </p:nvSpPr>
        <p:spPr>
          <a:xfrm xmlns:a="http://schemas.openxmlformats.org/drawingml/2006/main">
            <a:off x="628650" y="2781300"/>
            <a:ext cx="52768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GMP contracts, change-order logs, and monthly variance reports versus the board baseline</a:t>
            </a:r>
          </a:p>
        </p:txBody>
      </p:sp>
      <p:sp>
        <p:nvSpPr>
          <p:cNvPr id="9" name="structure:card">
            <a:extLst xmlns:a="http://schemas.openxmlformats.org/drawingml/2006/main">
              <a:ext uri="{FF2B5EF4-FFF2-40B4-BE49-F238E27FC236}">
                <a16:creationId xmlns:a16="http://schemas.microsoft.com/office/drawing/2014/main" id="{F4037819-A9BE-4F30-A9BA-5DB220111BAA}"/>
              </a:ext>
            </a:extLst>
          </p:cNvPr>
          <p:cNvSpPr>
            <a:spLocks xmlns:a="http://schemas.openxmlformats.org/drawingml/2006/main" noGrp="1"/>
          </p:cNvSpPr>
          <p:nvPr/>
        </p:nvSpPr>
        <p:spPr>
          <a:xfrm xmlns:a="http://schemas.openxmlformats.org/drawingml/2006/main">
            <a:off x="6172200" y="1066800"/>
            <a:ext cx="5505450" cy="2619375"/>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10" name="">
            <a:extLst xmlns:a="http://schemas.openxmlformats.org/drawingml/2006/main">
              <a:ext uri="{FF2B5EF4-FFF2-40B4-BE49-F238E27FC236}">
                <a16:creationId xmlns:a16="http://schemas.microsoft.com/office/drawing/2014/main" id="{4CC10482-8DE0-4493-B7C8-E4359872F0D9}"/>
              </a:ext>
            </a:extLst>
          </p:cNvPr>
          <p:cNvSpPr>
            <a:spLocks xmlns:a="http://schemas.openxmlformats.org/drawingml/2006/main" noGrp="1"/>
          </p:cNvSpPr>
          <p:nvPr/>
        </p:nvSpPr>
        <p:spPr>
          <a:xfrm xmlns:a="http://schemas.openxmlformats.org/drawingml/2006/main">
            <a:off x="6286500" y="1162050"/>
            <a:ext cx="5276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Is there enough funding to finish the build and refinance the 2028 maturity?</a:t>
            </a:r>
          </a:p>
        </p:txBody>
      </p:sp>
      <p:sp>
        <p:nvSpPr>
          <p:cNvPr id="11" name="">
            <a:extLst xmlns:a="http://schemas.openxmlformats.org/drawingml/2006/main">
              <a:ext uri="{FF2B5EF4-FFF2-40B4-BE49-F238E27FC236}">
                <a16:creationId xmlns:a16="http://schemas.microsoft.com/office/drawing/2014/main" id="{EE8D2925-1EC7-4DD4-8AB7-A8015BD860FD}"/>
              </a:ext>
            </a:extLst>
          </p:cNvPr>
          <p:cNvSpPr>
            <a:spLocks xmlns:a="http://schemas.openxmlformats.org/drawingml/2006/main" noGrp="1"/>
          </p:cNvSpPr>
          <p:nvPr/>
        </p:nvSpPr>
        <p:spPr>
          <a:xfrm xmlns:a="http://schemas.openxmlformats.org/drawingml/2006/main">
            <a:off x="6286500" y="1390650"/>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Must Prove</a:t>
            </a:r>
          </a:p>
        </p:txBody>
      </p:sp>
      <p:sp>
        <p:nvSpPr>
          <p:cNvPr id="12" name="">
            <a:extLst xmlns:a="http://schemas.openxmlformats.org/drawingml/2006/main">
              <a:ext uri="{FF2B5EF4-FFF2-40B4-BE49-F238E27FC236}">
                <a16:creationId xmlns:a16="http://schemas.microsoft.com/office/drawing/2014/main" id="{FD998EA5-08B8-4226-A875-01F269634372}"/>
              </a:ext>
            </a:extLst>
          </p:cNvPr>
          <p:cNvSpPr>
            <a:spLocks xmlns:a="http://schemas.openxmlformats.org/drawingml/2006/main" noGrp="1"/>
          </p:cNvSpPr>
          <p:nvPr/>
        </p:nvSpPr>
        <p:spPr>
          <a:xfrm xmlns:a="http://schemas.openxmlformats.org/drawingml/2006/main">
            <a:off x="6286500" y="1571625"/>
            <a:ext cx="5276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Insight: Management must show how the remaining development spend and the $450.00M of notes, $25.00M drawn on the credit facility, and February 2028 debt maturity will be funded [123][37][30]; any gap could force a weaker refinancing or new equity.</a:t>
            </a:r>
          </a:p>
        </p:txBody>
      </p:sp>
      <p:sp>
        <p:nvSpPr>
          <p:cNvPr id="13" name="">
            <a:extLst xmlns:a="http://schemas.openxmlformats.org/drawingml/2006/main">
              <a:ext uri="{FF2B5EF4-FFF2-40B4-BE49-F238E27FC236}">
                <a16:creationId xmlns:a16="http://schemas.microsoft.com/office/drawing/2014/main" id="{DB7C3CEB-03FB-47D7-A48F-3BA65BDA063A}"/>
              </a:ext>
            </a:extLst>
          </p:cNvPr>
          <p:cNvSpPr>
            <a:spLocks xmlns:a="http://schemas.openxmlformats.org/drawingml/2006/main" noGrp="1"/>
          </p:cNvSpPr>
          <p:nvPr/>
        </p:nvSpPr>
        <p:spPr>
          <a:xfrm xmlns:a="http://schemas.openxmlformats.org/drawingml/2006/main">
            <a:off x="6286500" y="2076450"/>
            <a:ext cx="5276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Sources-and-uses for all remaining spend, including funded cash, debt capacity, and any residual gap</a:t>
            </a:r>
          </a:p>
        </p:txBody>
      </p:sp>
      <p:sp>
        <p:nvSpPr>
          <p:cNvPr id="14" name="">
            <a:extLst xmlns:a="http://schemas.openxmlformats.org/drawingml/2006/main">
              <a:ext uri="{FF2B5EF4-FFF2-40B4-BE49-F238E27FC236}">
                <a16:creationId xmlns:a16="http://schemas.microsoft.com/office/drawing/2014/main" id="{51776476-17D9-4658-8362-2AF538C1BA72}"/>
              </a:ext>
            </a:extLst>
          </p:cNvPr>
          <p:cNvSpPr>
            <a:spLocks xmlns:a="http://schemas.openxmlformats.org/drawingml/2006/main" noGrp="1"/>
          </p:cNvSpPr>
          <p:nvPr/>
        </p:nvSpPr>
        <p:spPr>
          <a:xfrm xmlns:a="http://schemas.openxmlformats.org/drawingml/2006/main">
            <a:off x="6286500" y="2428875"/>
            <a:ext cx="52768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Board-approved refinancing plan with lender materials and timing assumptions</a:t>
            </a:r>
          </a:p>
        </p:txBody>
      </p:sp>
      <p:sp>
        <p:nvSpPr>
          <p:cNvPr id="15" name="">
            <a:extLst xmlns:a="http://schemas.openxmlformats.org/drawingml/2006/main">
              <a:ext uri="{FF2B5EF4-FFF2-40B4-BE49-F238E27FC236}">
                <a16:creationId xmlns:a16="http://schemas.microsoft.com/office/drawing/2014/main" id="{D83A54B2-09F5-4F8F-90F9-53462C79DCF1}"/>
              </a:ext>
            </a:extLst>
          </p:cNvPr>
          <p:cNvSpPr>
            <a:spLocks xmlns:a="http://schemas.openxmlformats.org/drawingml/2006/main" noGrp="1"/>
          </p:cNvSpPr>
          <p:nvPr/>
        </p:nvSpPr>
        <p:spPr>
          <a:xfrm xmlns:a="http://schemas.openxmlformats.org/drawingml/2006/main">
            <a:off x="6286500" y="2638425"/>
            <a:ext cx="52768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Last 12 months of liquidity and covenant reports, plus downside and delay cases</a:t>
            </a:r>
          </a:p>
        </p:txBody>
      </p:sp>
      <p:sp>
        <p:nvSpPr>
          <p:cNvPr id="16" name="structure:card">
            <a:extLst xmlns:a="http://schemas.openxmlformats.org/drawingml/2006/main">
              <a:ext uri="{FF2B5EF4-FFF2-40B4-BE49-F238E27FC236}">
                <a16:creationId xmlns:a16="http://schemas.microsoft.com/office/drawing/2014/main" id="{19F902F4-9026-4B8A-8A62-463FE40E629F}"/>
              </a:ext>
            </a:extLst>
          </p:cNvPr>
          <p:cNvSpPr>
            <a:spLocks xmlns:a="http://schemas.openxmlformats.org/drawingml/2006/main" noGrp="1"/>
          </p:cNvSpPr>
          <p:nvPr/>
        </p:nvSpPr>
        <p:spPr>
          <a:xfrm xmlns:a="http://schemas.openxmlformats.org/drawingml/2006/main">
            <a:off x="514350" y="3819525"/>
            <a:ext cx="11163300" cy="24384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17" name="">
            <a:extLst xmlns:a="http://schemas.openxmlformats.org/drawingml/2006/main">
              <a:ext uri="{FF2B5EF4-FFF2-40B4-BE49-F238E27FC236}">
                <a16:creationId xmlns:a16="http://schemas.microsoft.com/office/drawing/2014/main" id="{F5AB266C-EA6A-4781-8B54-1EE3498111D7}"/>
              </a:ext>
            </a:extLst>
          </p:cNvPr>
          <p:cNvSpPr>
            <a:spLocks xmlns:a="http://schemas.openxmlformats.org/drawingml/2006/main" noGrp="1"/>
          </p:cNvSpPr>
          <p:nvPr/>
        </p:nvSpPr>
        <p:spPr>
          <a:xfrm xmlns:a="http://schemas.openxmlformats.org/drawingml/2006/main">
            <a:off x="628650" y="3914775"/>
            <a:ext cx="109347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Can American Place defend share against nearby casinos and VGT competition?</a:t>
            </a:r>
          </a:p>
        </p:txBody>
      </p:sp>
      <p:sp>
        <p:nvSpPr>
          <p:cNvPr id="18" name="">
            <a:extLst xmlns:a="http://schemas.openxmlformats.org/drawingml/2006/main">
              <a:ext uri="{FF2B5EF4-FFF2-40B4-BE49-F238E27FC236}">
                <a16:creationId xmlns:a16="http://schemas.microsoft.com/office/drawing/2014/main" id="{A60F4EA2-7732-4A6C-942B-B364909EDC2D}"/>
              </a:ext>
            </a:extLst>
          </p:cNvPr>
          <p:cNvSpPr>
            <a:spLocks xmlns:a="http://schemas.openxmlformats.org/drawingml/2006/main" noGrp="1"/>
          </p:cNvSpPr>
          <p:nvPr/>
        </p:nvSpPr>
        <p:spPr>
          <a:xfrm xmlns:a="http://schemas.openxmlformats.org/drawingml/2006/main">
            <a:off x="628650" y="4143375"/>
            <a:ext cx="109347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High</a:t>
            </a:r>
          </a:p>
        </p:txBody>
      </p:sp>
      <p:sp>
        <p:nvSpPr>
          <p:cNvPr id="19" name="">
            <a:extLst xmlns:a="http://schemas.openxmlformats.org/drawingml/2006/main">
              <a:ext uri="{FF2B5EF4-FFF2-40B4-BE49-F238E27FC236}">
                <a16:creationId xmlns:a16="http://schemas.microsoft.com/office/drawing/2014/main" id="{19CE0BF5-6253-443F-A8F6-F3673CAE90CF}"/>
              </a:ext>
            </a:extLst>
          </p:cNvPr>
          <p:cNvSpPr>
            <a:spLocks xmlns:a="http://schemas.openxmlformats.org/drawingml/2006/main" noGrp="1"/>
          </p:cNvSpPr>
          <p:nvPr/>
        </p:nvSpPr>
        <p:spPr>
          <a:xfrm xmlns:a="http://schemas.openxmlformats.org/drawingml/2006/main">
            <a:off x="628650" y="4324350"/>
            <a:ext cx="10934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Insight: The company needs proof that share, trips, and wallet share can hold up versus Rivers, Wind Creek, and Hollywood, while 49,800–51,500 Illinois VGT terminals may keep pulling convenience play away [6][7][8][9][30][11][85][78][79][80][78][79][80].</a:t>
            </a:r>
          </a:p>
        </p:txBody>
      </p:sp>
      <p:sp>
        <p:nvSpPr>
          <p:cNvPr id="20" name="">
            <a:extLst xmlns:a="http://schemas.openxmlformats.org/drawingml/2006/main">
              <a:ext uri="{FF2B5EF4-FFF2-40B4-BE49-F238E27FC236}">
                <a16:creationId xmlns:a16="http://schemas.microsoft.com/office/drawing/2014/main" id="{2404F86D-2E1F-4BE0-BBE5-A3A5216C33C8}"/>
              </a:ext>
            </a:extLst>
          </p:cNvPr>
          <p:cNvSpPr>
            <a:spLocks xmlns:a="http://schemas.openxmlformats.org/drawingml/2006/main" noGrp="1"/>
          </p:cNvSpPr>
          <p:nvPr/>
        </p:nvSpPr>
        <p:spPr>
          <a:xfrm xmlns:a="http://schemas.openxmlformats.org/drawingml/2006/main">
            <a:off x="628650" y="4676775"/>
            <a:ext cx="109347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24 months of Illinois revenue share, slot/table split, and overlap analysis</a:t>
            </a:r>
          </a:p>
        </p:txBody>
      </p:sp>
      <p:sp>
        <p:nvSpPr>
          <p:cNvPr id="21" name="">
            <a:extLst xmlns:a="http://schemas.openxmlformats.org/drawingml/2006/main">
              <a:ext uri="{FF2B5EF4-FFF2-40B4-BE49-F238E27FC236}">
                <a16:creationId xmlns:a16="http://schemas.microsoft.com/office/drawing/2014/main" id="{13906E8E-ACF1-4FBA-8E6B-4442891C3930}"/>
              </a:ext>
            </a:extLst>
          </p:cNvPr>
          <p:cNvSpPr>
            <a:spLocks xmlns:a="http://schemas.openxmlformats.org/drawingml/2006/main" noGrp="1"/>
          </p:cNvSpPr>
          <p:nvPr/>
        </p:nvSpPr>
        <p:spPr>
          <a:xfrm xmlns:a="http://schemas.openxmlformats.org/drawingml/2006/main">
            <a:off x="628650" y="4886325"/>
            <a:ext cx="109347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Player-database cohorts with trips, theoretical win, wallet share, and top-value segments</a:t>
            </a:r>
          </a:p>
        </p:txBody>
      </p:sp>
      <p:sp>
        <p:nvSpPr>
          <p:cNvPr id="22" name="">
            <a:extLst xmlns:a="http://schemas.openxmlformats.org/drawingml/2006/main">
              <a:ext uri="{FF2B5EF4-FFF2-40B4-BE49-F238E27FC236}">
                <a16:creationId xmlns:a16="http://schemas.microsoft.com/office/drawing/2014/main" id="{4202E205-EC4A-4CF7-8761-4AB9C81A4059}"/>
              </a:ext>
            </a:extLst>
          </p:cNvPr>
          <p:cNvSpPr>
            <a:spLocks xmlns:a="http://schemas.openxmlformats.org/drawingml/2006/main" noGrp="1"/>
          </p:cNvSpPr>
          <p:nvPr/>
        </p:nvSpPr>
        <p:spPr>
          <a:xfrm xmlns:a="http://schemas.openxmlformats.org/drawingml/2006/main">
            <a:off x="628650" y="5095875"/>
            <a:ext cx="109347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Zip-code level slot and table reporting versus VGT displacement trends</a:t>
            </a:r>
          </a:p>
        </p:txBody>
      </p:sp>
      <p:sp>
        <p:nvSpPr>
          <p:cNvPr id="23" name="">
            <a:extLst xmlns:a="http://schemas.openxmlformats.org/drawingml/2006/main">
              <a:ext uri="{FF2B5EF4-FFF2-40B4-BE49-F238E27FC236}">
                <a16:creationId xmlns:a16="http://schemas.microsoft.com/office/drawing/2014/main" id="{C55B3E4E-4331-4DBA-BFEF-ABDA88C2F666}"/>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26</a:t>
            </a:r>
          </a:p>
        </p:txBody>
      </p:sp>
    </p:spTree>
    <p:extLst>
      <p:ext uri="{BB962C8B-B14F-4D97-AF65-F5344CB8AC3E}">
        <p14:creationId xmlns:p14="http://schemas.microsoft.com/office/powerpoint/2010/main" val="15589276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B08A861-6D4A-4FB0-B3B8-F0C62D1AEE52}"/>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Due Diligence Areas continued</a:t>
            </a:r>
          </a:p>
        </p:txBody>
      </p:sp>
      <p:sp>
        <p:nvSpPr>
          <p:cNvPr id="2" name="structure:card">
            <a:extLst xmlns:a="http://schemas.openxmlformats.org/drawingml/2006/main">
              <a:ext uri="{FF2B5EF4-FFF2-40B4-BE49-F238E27FC236}">
                <a16:creationId xmlns:a16="http://schemas.microsoft.com/office/drawing/2014/main" id="{0E2DE1E2-2AFB-45BA-931B-3879CAF3B1D2}"/>
              </a:ext>
            </a:extLst>
          </p:cNvPr>
          <p:cNvSpPr>
            <a:spLocks xmlns:a="http://schemas.openxmlformats.org/drawingml/2006/main" noGrp="1"/>
          </p:cNvSpPr>
          <p:nvPr/>
        </p:nvSpPr>
        <p:spPr>
          <a:xfrm xmlns:a="http://schemas.openxmlformats.org/drawingml/2006/main">
            <a:off x="514350" y="1066800"/>
            <a:ext cx="5505450" cy="2619375"/>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3" name="">
            <a:extLst xmlns:a="http://schemas.openxmlformats.org/drawingml/2006/main">
              <a:ext uri="{FF2B5EF4-FFF2-40B4-BE49-F238E27FC236}">
                <a16:creationId xmlns:a16="http://schemas.microsoft.com/office/drawing/2014/main" id="{921A7B14-78D3-466A-8FD6-02DE062F6DE8}"/>
              </a:ext>
            </a:extLst>
          </p:cNvPr>
          <p:cNvSpPr>
            <a:spLocks xmlns:a="http://schemas.openxmlformats.org/drawingml/2006/main" noGrp="1"/>
          </p:cNvSpPr>
          <p:nvPr/>
        </p:nvSpPr>
        <p:spPr>
          <a:xfrm xmlns:a="http://schemas.openxmlformats.org/drawingml/2006/main">
            <a:off x="628650" y="1162050"/>
            <a:ext cx="5276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Do AP Rewards and CRM offers really create incremental value?</a:t>
            </a:r>
          </a:p>
        </p:txBody>
      </p:sp>
      <p:sp>
        <p:nvSpPr>
          <p:cNvPr id="4" name="">
            <a:extLst xmlns:a="http://schemas.openxmlformats.org/drawingml/2006/main">
              <a:ext uri="{FF2B5EF4-FFF2-40B4-BE49-F238E27FC236}">
                <a16:creationId xmlns:a16="http://schemas.microsoft.com/office/drawing/2014/main" id="{388AE2C2-85A5-484E-A86A-9D496CC7E320}"/>
              </a:ext>
            </a:extLst>
          </p:cNvPr>
          <p:cNvSpPr>
            <a:spLocks xmlns:a="http://schemas.openxmlformats.org/drawingml/2006/main" noGrp="1"/>
          </p:cNvSpPr>
          <p:nvPr/>
        </p:nvSpPr>
        <p:spPr>
          <a:xfrm xmlns:a="http://schemas.openxmlformats.org/drawingml/2006/main">
            <a:off x="628650" y="1390650"/>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High</a:t>
            </a:r>
          </a:p>
        </p:txBody>
      </p:sp>
      <p:sp>
        <p:nvSpPr>
          <p:cNvPr id="5" name="">
            <a:extLst xmlns:a="http://schemas.openxmlformats.org/drawingml/2006/main">
              <a:ext uri="{FF2B5EF4-FFF2-40B4-BE49-F238E27FC236}">
                <a16:creationId xmlns:a16="http://schemas.microsoft.com/office/drawing/2014/main" id="{5C4AE24F-405B-4C6A-A9FB-FB327E4F86A4}"/>
              </a:ext>
            </a:extLst>
          </p:cNvPr>
          <p:cNvSpPr>
            <a:spLocks xmlns:a="http://schemas.openxmlformats.org/drawingml/2006/main" noGrp="1"/>
          </p:cNvSpPr>
          <p:nvPr/>
        </p:nvSpPr>
        <p:spPr>
          <a:xfrm xmlns:a="http://schemas.openxmlformats.org/drawingml/2006/main">
            <a:off x="628650" y="1571625"/>
            <a:ext cx="5276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Insight: Membership size and active-user trends are not disclosed, so the buyer needs proof that rewards and host offers drive retained play rather than subsidizing existing demand [27][11][12][22][23][18].</a:t>
            </a:r>
          </a:p>
        </p:txBody>
      </p:sp>
      <p:sp>
        <p:nvSpPr>
          <p:cNvPr id="6" name="">
            <a:extLst xmlns:a="http://schemas.openxmlformats.org/drawingml/2006/main">
              <a:ext uri="{FF2B5EF4-FFF2-40B4-BE49-F238E27FC236}">
                <a16:creationId xmlns:a16="http://schemas.microsoft.com/office/drawing/2014/main" id="{249F0EBB-A2A8-47E4-90AA-28DEF3EE7402}"/>
              </a:ext>
            </a:extLst>
          </p:cNvPr>
          <p:cNvSpPr>
            <a:spLocks xmlns:a="http://schemas.openxmlformats.org/drawingml/2006/main" noGrp="1"/>
          </p:cNvSpPr>
          <p:nvPr/>
        </p:nvSpPr>
        <p:spPr>
          <a:xfrm xmlns:a="http://schemas.openxmlformats.org/drawingml/2006/main">
            <a:off x="628650" y="2076450"/>
            <a:ext cx="52768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Cohort retention, churn, reactivation, and worth growth data for AP Rewards</a:t>
            </a:r>
          </a:p>
        </p:txBody>
      </p:sp>
      <p:sp>
        <p:nvSpPr>
          <p:cNvPr id="7" name="">
            <a:extLst xmlns:a="http://schemas.openxmlformats.org/drawingml/2006/main">
              <a:ext uri="{FF2B5EF4-FFF2-40B4-BE49-F238E27FC236}">
                <a16:creationId xmlns:a16="http://schemas.microsoft.com/office/drawing/2014/main" id="{999BA61D-4B4A-4CDE-AC6F-305D73D695C6}"/>
              </a:ext>
            </a:extLst>
          </p:cNvPr>
          <p:cNvSpPr>
            <a:spLocks xmlns:a="http://schemas.openxmlformats.org/drawingml/2006/main" noGrp="1"/>
          </p:cNvSpPr>
          <p:nvPr/>
        </p:nvSpPr>
        <p:spPr>
          <a:xfrm xmlns:a="http://schemas.openxmlformats.org/drawingml/2006/main">
            <a:off x="628650" y="2286000"/>
            <a:ext cx="52768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Controlled CRM test results showing incremental trips, revenue, and EBITDA</a:t>
            </a:r>
          </a:p>
        </p:txBody>
      </p:sp>
      <p:sp>
        <p:nvSpPr>
          <p:cNvPr id="8" name="">
            <a:extLst xmlns:a="http://schemas.openxmlformats.org/drawingml/2006/main">
              <a:ext uri="{FF2B5EF4-FFF2-40B4-BE49-F238E27FC236}">
                <a16:creationId xmlns:a16="http://schemas.microsoft.com/office/drawing/2014/main" id="{9723EE59-C1F2-4DB4-AF73-76815D74ACB7}"/>
              </a:ext>
            </a:extLst>
          </p:cNvPr>
          <p:cNvSpPr>
            <a:spLocks xmlns:a="http://schemas.openxmlformats.org/drawingml/2006/main" noGrp="1"/>
          </p:cNvSpPr>
          <p:nvPr/>
        </p:nvSpPr>
        <p:spPr>
          <a:xfrm xmlns:a="http://schemas.openxmlformats.org/drawingml/2006/main">
            <a:off x="628650" y="2495550"/>
            <a:ext cx="52768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Evidence on whether benefits are portable across properties or only work at one site</a:t>
            </a:r>
          </a:p>
        </p:txBody>
      </p:sp>
      <p:sp>
        <p:nvSpPr>
          <p:cNvPr id="9" name="structure:card">
            <a:extLst xmlns:a="http://schemas.openxmlformats.org/drawingml/2006/main">
              <a:ext uri="{FF2B5EF4-FFF2-40B4-BE49-F238E27FC236}">
                <a16:creationId xmlns:a16="http://schemas.microsoft.com/office/drawing/2014/main" id="{271AC779-144D-4BAB-8C3D-70C83FC51F75}"/>
              </a:ext>
            </a:extLst>
          </p:cNvPr>
          <p:cNvSpPr>
            <a:spLocks xmlns:a="http://schemas.openxmlformats.org/drawingml/2006/main" noGrp="1"/>
          </p:cNvSpPr>
          <p:nvPr/>
        </p:nvSpPr>
        <p:spPr>
          <a:xfrm xmlns:a="http://schemas.openxmlformats.org/drawingml/2006/main">
            <a:off x="6172200" y="1066800"/>
            <a:ext cx="5505450" cy="2619375"/>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10" name="">
            <a:extLst xmlns:a="http://schemas.openxmlformats.org/drawingml/2006/main">
              <a:ext uri="{FF2B5EF4-FFF2-40B4-BE49-F238E27FC236}">
                <a16:creationId xmlns:a16="http://schemas.microsoft.com/office/drawing/2014/main" id="{FC22B309-0712-4D4E-A6DC-A13266E63588}"/>
              </a:ext>
            </a:extLst>
          </p:cNvPr>
          <p:cNvSpPr>
            <a:spLocks xmlns:a="http://schemas.openxmlformats.org/drawingml/2006/main" noGrp="1"/>
          </p:cNvSpPr>
          <p:nvPr/>
        </p:nvSpPr>
        <p:spPr>
          <a:xfrm xmlns:a="http://schemas.openxmlformats.org/drawingml/2006/main">
            <a:off x="6286500" y="1162050"/>
            <a:ext cx="5276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How durable are property margins after reinvestment and non-gaming costs?</a:t>
            </a:r>
          </a:p>
        </p:txBody>
      </p:sp>
      <p:sp>
        <p:nvSpPr>
          <p:cNvPr id="11" name="">
            <a:extLst xmlns:a="http://schemas.openxmlformats.org/drawingml/2006/main">
              <a:ext uri="{FF2B5EF4-FFF2-40B4-BE49-F238E27FC236}">
                <a16:creationId xmlns:a16="http://schemas.microsoft.com/office/drawing/2014/main" id="{9CA35167-E54F-4D37-8A56-036CD564974F}"/>
              </a:ext>
            </a:extLst>
          </p:cNvPr>
          <p:cNvSpPr>
            <a:spLocks xmlns:a="http://schemas.openxmlformats.org/drawingml/2006/main" noGrp="1"/>
          </p:cNvSpPr>
          <p:nvPr/>
        </p:nvSpPr>
        <p:spPr>
          <a:xfrm xmlns:a="http://schemas.openxmlformats.org/drawingml/2006/main">
            <a:off x="6286500" y="1390650"/>
            <a:ext cx="52768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High</a:t>
            </a:r>
          </a:p>
        </p:txBody>
      </p:sp>
      <p:sp>
        <p:nvSpPr>
          <p:cNvPr id="12" name="">
            <a:extLst xmlns:a="http://schemas.openxmlformats.org/drawingml/2006/main">
              <a:ext uri="{FF2B5EF4-FFF2-40B4-BE49-F238E27FC236}">
                <a16:creationId xmlns:a16="http://schemas.microsoft.com/office/drawing/2014/main" id="{7562BBEA-0CB3-4949-BBC0-0E85B129F423}"/>
              </a:ext>
            </a:extLst>
          </p:cNvPr>
          <p:cNvSpPr>
            <a:spLocks xmlns:a="http://schemas.openxmlformats.org/drawingml/2006/main" noGrp="1"/>
          </p:cNvSpPr>
          <p:nvPr/>
        </p:nvSpPr>
        <p:spPr>
          <a:xfrm xmlns:a="http://schemas.openxmlformats.org/drawingml/2006/main">
            <a:off x="6286500" y="1571625"/>
            <a:ext cx="5276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Insight: The property’s earnings quality is not disclosed, so reported EBITDA may overstate cash earnings if pre-opening costs, allocations, or reinvestment are distorting the run rate [11][18].</a:t>
            </a:r>
          </a:p>
        </p:txBody>
      </p:sp>
      <p:sp>
        <p:nvSpPr>
          <p:cNvPr id="13" name="">
            <a:extLst xmlns:a="http://schemas.openxmlformats.org/drawingml/2006/main">
              <a:ext uri="{FF2B5EF4-FFF2-40B4-BE49-F238E27FC236}">
                <a16:creationId xmlns:a16="http://schemas.microsoft.com/office/drawing/2014/main" id="{BED97607-C9C0-41BA-8580-1505FDDDFEDD}"/>
              </a:ext>
            </a:extLst>
          </p:cNvPr>
          <p:cNvSpPr>
            <a:spLocks xmlns:a="http://schemas.openxmlformats.org/drawingml/2006/main" noGrp="1"/>
          </p:cNvSpPr>
          <p:nvPr/>
        </p:nvSpPr>
        <p:spPr>
          <a:xfrm xmlns:a="http://schemas.openxmlformats.org/drawingml/2006/main">
            <a:off x="6286500" y="2076450"/>
            <a:ext cx="52768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Monthly property P&amp;Ls with slots, tables, sportsbook, food, entertainment, and events</a:t>
            </a:r>
          </a:p>
        </p:txBody>
      </p:sp>
      <p:sp>
        <p:nvSpPr>
          <p:cNvPr id="14" name="">
            <a:extLst xmlns:a="http://schemas.openxmlformats.org/drawingml/2006/main">
              <a:ext uri="{FF2B5EF4-FFF2-40B4-BE49-F238E27FC236}">
                <a16:creationId xmlns:a16="http://schemas.microsoft.com/office/drawing/2014/main" id="{8AEE3C11-1B6B-48B4-BE18-895A6A8C612C}"/>
              </a:ext>
            </a:extLst>
          </p:cNvPr>
          <p:cNvSpPr>
            <a:spLocks xmlns:a="http://schemas.openxmlformats.org/drawingml/2006/main" noGrp="1"/>
          </p:cNvSpPr>
          <p:nvPr/>
        </p:nvSpPr>
        <p:spPr>
          <a:xfrm xmlns:a="http://schemas.openxmlformats.org/drawingml/2006/main">
            <a:off x="6286500" y="2286000"/>
            <a:ext cx="5276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Bridge from property EBITDA to cash property earnings, including one-time and non-recurring items</a:t>
            </a:r>
          </a:p>
        </p:txBody>
      </p:sp>
      <p:sp>
        <p:nvSpPr>
          <p:cNvPr id="15" name="">
            <a:extLst xmlns:a="http://schemas.openxmlformats.org/drawingml/2006/main">
              <a:ext uri="{FF2B5EF4-FFF2-40B4-BE49-F238E27FC236}">
                <a16:creationId xmlns:a16="http://schemas.microsoft.com/office/drawing/2014/main" id="{787EE729-014C-43D5-8FC5-C9E12FB0FC94}"/>
              </a:ext>
            </a:extLst>
          </p:cNvPr>
          <p:cNvSpPr>
            <a:spLocks xmlns:a="http://schemas.openxmlformats.org/drawingml/2006/main" noGrp="1"/>
          </p:cNvSpPr>
          <p:nvPr/>
        </p:nvSpPr>
        <p:spPr>
          <a:xfrm xmlns:a="http://schemas.openxmlformats.org/drawingml/2006/main">
            <a:off x="6286500" y="2638425"/>
            <a:ext cx="5276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Free play, offers, and host comps as a share of gaming revenue, plus sensitivity to 5% and 10% reinvestment changes</a:t>
            </a:r>
          </a:p>
        </p:txBody>
      </p:sp>
      <p:sp>
        <p:nvSpPr>
          <p:cNvPr id="16" name="structure:card">
            <a:extLst xmlns:a="http://schemas.openxmlformats.org/drawingml/2006/main">
              <a:ext uri="{FF2B5EF4-FFF2-40B4-BE49-F238E27FC236}">
                <a16:creationId xmlns:a16="http://schemas.microsoft.com/office/drawing/2014/main" id="{55BE6481-26E8-4A27-8C2A-05DD8AE0CD4D}"/>
              </a:ext>
            </a:extLst>
          </p:cNvPr>
          <p:cNvSpPr>
            <a:spLocks xmlns:a="http://schemas.openxmlformats.org/drawingml/2006/main" noGrp="1"/>
          </p:cNvSpPr>
          <p:nvPr/>
        </p:nvSpPr>
        <p:spPr>
          <a:xfrm xmlns:a="http://schemas.openxmlformats.org/drawingml/2006/main">
            <a:off x="514350" y="3819525"/>
            <a:ext cx="11163300" cy="2276475"/>
          </a:xfrm>
          <a:prstGeom xmlns:a="http://schemas.openxmlformats.org/drawingml/2006/main" prst="rect">
            <a:avLst/>
          </a:prstGeom>
          <a:solidFill xmlns:a="http://schemas.openxmlformats.org/drawingml/2006/main">
            <a:srgbClr val="FFFFFF"/>
          </a:solidFill>
          <a:ln xmlns:a="http://schemas.openxmlformats.org/drawingml/2006/main" w="9525">
            <a:solidFill>
              <a:srgbClr val="D7DEE7"/>
            </a:solidFill>
            <a:prstDash val="solid"/>
          </a:ln>
        </p:spPr>
      </p:sp>
      <p:sp>
        <p:nvSpPr>
          <p:cNvPr id="17" name="">
            <a:extLst xmlns:a="http://schemas.openxmlformats.org/drawingml/2006/main">
              <a:ext uri="{FF2B5EF4-FFF2-40B4-BE49-F238E27FC236}">
                <a16:creationId xmlns:a16="http://schemas.microsoft.com/office/drawing/2014/main" id="{86DC8FA9-1827-4CC0-998D-06CDE4C91970}"/>
              </a:ext>
            </a:extLst>
          </p:cNvPr>
          <p:cNvSpPr>
            <a:spLocks xmlns:a="http://schemas.openxmlformats.org/drawingml/2006/main" noGrp="1"/>
          </p:cNvSpPr>
          <p:nvPr/>
        </p:nvSpPr>
        <p:spPr>
          <a:xfrm xmlns:a="http://schemas.openxmlformats.org/drawingml/2006/main">
            <a:off x="628650" y="3914775"/>
            <a:ext cx="109347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050" b="1">
                <a:solidFill>
                  <a:srgbClr val="1F3864"/>
                </a:solidFill>
                <a:latin typeface="Calibri"/>
                <a:ea typeface="Calibri"/>
                <a:cs typeface="Calibri"/>
              </a:defRPr>
            </a:pPr>
            <a:r>
              <a:rPr sz="1050" b="1">
                <a:solidFill>
                  <a:srgbClr val="1F3864"/>
                </a:solidFill>
                <a:latin typeface="Calibri"/>
                <a:ea typeface="Calibri"/>
                <a:cs typeface="Calibri"/>
              </a:rPr>
              <a:t>How much downside can the group absorb if Waukegan underperforms or is interrupted?</a:t>
            </a:r>
          </a:p>
        </p:txBody>
      </p:sp>
      <p:sp>
        <p:nvSpPr>
          <p:cNvPr id="18" name="">
            <a:extLst xmlns:a="http://schemas.openxmlformats.org/drawingml/2006/main">
              <a:ext uri="{FF2B5EF4-FFF2-40B4-BE49-F238E27FC236}">
                <a16:creationId xmlns:a16="http://schemas.microsoft.com/office/drawing/2014/main" id="{10731667-96EA-4BF4-8992-48A39BC0EF11}"/>
              </a:ext>
            </a:extLst>
          </p:cNvPr>
          <p:cNvSpPr>
            <a:spLocks xmlns:a="http://schemas.openxmlformats.org/drawingml/2006/main" noGrp="1"/>
          </p:cNvSpPr>
          <p:nvPr/>
        </p:nvSpPr>
        <p:spPr>
          <a:xfrm xmlns:a="http://schemas.openxmlformats.org/drawingml/2006/main">
            <a:off x="628650" y="4143375"/>
            <a:ext cx="109347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b="1">
                <a:solidFill>
                  <a:srgbClr val="64748B"/>
                </a:solidFill>
                <a:latin typeface="Calibri"/>
                <a:ea typeface="Calibri"/>
                <a:cs typeface="Calibri"/>
              </a:defRPr>
            </a:pPr>
            <a:r>
              <a:rPr sz="750" b="1">
                <a:solidFill>
                  <a:srgbClr val="64748B"/>
                </a:solidFill>
                <a:latin typeface="Calibri"/>
                <a:ea typeface="Calibri"/>
                <a:cs typeface="Calibri"/>
              </a:rPr>
              <a:t>Medium</a:t>
            </a:r>
          </a:p>
        </p:txBody>
      </p:sp>
      <p:sp>
        <p:nvSpPr>
          <p:cNvPr id="19" name="">
            <a:extLst xmlns:a="http://schemas.openxmlformats.org/drawingml/2006/main">
              <a:ext uri="{FF2B5EF4-FFF2-40B4-BE49-F238E27FC236}">
                <a16:creationId xmlns:a16="http://schemas.microsoft.com/office/drawing/2014/main" id="{B2BE15B1-1567-4D86-B279-DF059DAB4CFC}"/>
              </a:ext>
            </a:extLst>
          </p:cNvPr>
          <p:cNvSpPr>
            <a:spLocks xmlns:a="http://schemas.openxmlformats.org/drawingml/2006/main" noGrp="1"/>
          </p:cNvSpPr>
          <p:nvPr/>
        </p:nvSpPr>
        <p:spPr>
          <a:xfrm xmlns:a="http://schemas.openxmlformats.org/drawingml/2006/main">
            <a:off x="628650" y="4324350"/>
            <a:ext cx="109347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Insight: American Place already contributed $124.10M of 2025 revenue and $34.80M of Q2 2026 revenue, so a disruption would hit group earnings and liquidity fast [125][126][127].</a:t>
            </a:r>
          </a:p>
        </p:txBody>
      </p:sp>
      <p:sp>
        <p:nvSpPr>
          <p:cNvPr id="20" name="">
            <a:extLst xmlns:a="http://schemas.openxmlformats.org/drawingml/2006/main">
              <a:ext uri="{FF2B5EF4-FFF2-40B4-BE49-F238E27FC236}">
                <a16:creationId xmlns:a16="http://schemas.microsoft.com/office/drawing/2014/main" id="{ED8387EA-6C13-42CB-9C4D-9C50F18BA45F}"/>
              </a:ext>
            </a:extLst>
          </p:cNvPr>
          <p:cNvSpPr>
            <a:spLocks xmlns:a="http://schemas.openxmlformats.org/drawingml/2006/main" noGrp="1"/>
          </p:cNvSpPr>
          <p:nvPr/>
        </p:nvSpPr>
        <p:spPr>
          <a:xfrm xmlns:a="http://schemas.openxmlformats.org/drawingml/2006/main">
            <a:off x="628650" y="4533900"/>
            <a:ext cx="109347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Group monthly revenue and EBITDA share for American Place</a:t>
            </a:r>
          </a:p>
        </p:txBody>
      </p:sp>
      <p:sp>
        <p:nvSpPr>
          <p:cNvPr id="21" name="">
            <a:extLst xmlns:a="http://schemas.openxmlformats.org/drawingml/2006/main">
              <a:ext uri="{FF2B5EF4-FFF2-40B4-BE49-F238E27FC236}">
                <a16:creationId xmlns:a16="http://schemas.microsoft.com/office/drawing/2014/main" id="{A3B8C2D6-C95E-4F12-98DE-CC112F59BC26}"/>
              </a:ext>
            </a:extLst>
          </p:cNvPr>
          <p:cNvSpPr>
            <a:spLocks xmlns:a="http://schemas.openxmlformats.org/drawingml/2006/main" noGrp="1"/>
          </p:cNvSpPr>
          <p:nvPr/>
        </p:nvSpPr>
        <p:spPr>
          <a:xfrm xmlns:a="http://schemas.openxmlformats.org/drawingml/2006/main">
            <a:off x="628650" y="4743450"/>
            <a:ext cx="109347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Board downside case with liquidity, covenant headroom, and mitigation actions</a:t>
            </a:r>
          </a:p>
        </p:txBody>
      </p:sp>
      <p:sp>
        <p:nvSpPr>
          <p:cNvPr id="22" name="">
            <a:extLst xmlns:a="http://schemas.openxmlformats.org/drawingml/2006/main">
              <a:ext uri="{FF2B5EF4-FFF2-40B4-BE49-F238E27FC236}">
                <a16:creationId xmlns:a16="http://schemas.microsoft.com/office/drawing/2014/main" id="{F89FE6B5-D923-4607-8DE9-6B440D1BF575}"/>
              </a:ext>
            </a:extLst>
          </p:cNvPr>
          <p:cNvSpPr>
            <a:spLocks xmlns:a="http://schemas.openxmlformats.org/drawingml/2006/main" noGrp="1"/>
          </p:cNvSpPr>
          <p:nvPr/>
        </p:nvSpPr>
        <p:spPr>
          <a:xfrm xmlns:a="http://schemas.openxmlformats.org/drawingml/2006/main">
            <a:off x="628650" y="4953000"/>
            <a:ext cx="109347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Check: Interruption plan, insurance coverage, exclusions, and recovery time assumptions</a:t>
            </a:r>
          </a:p>
        </p:txBody>
      </p:sp>
      <p:sp>
        <p:nvSpPr>
          <p:cNvPr id="23" name="">
            <a:extLst xmlns:a="http://schemas.openxmlformats.org/drawingml/2006/main">
              <a:ext uri="{FF2B5EF4-FFF2-40B4-BE49-F238E27FC236}">
                <a16:creationId xmlns:a16="http://schemas.microsoft.com/office/drawing/2014/main" id="{CC3BF964-6946-4399-AA35-4E1294A83370}"/>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27</a:t>
            </a:r>
          </a:p>
        </p:txBody>
      </p:sp>
    </p:spTree>
    <p:extLst>
      <p:ext uri="{BB962C8B-B14F-4D97-AF65-F5344CB8AC3E}">
        <p14:creationId xmlns:p14="http://schemas.microsoft.com/office/powerpoint/2010/main" val="206738861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5380B82-79E0-486F-A26D-3BF1CB47D968}"/>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Customer Segments Table</a:t>
            </a:r>
          </a:p>
        </p:txBody>
      </p:sp>
      <p:graphicFrame>
        <p:nvGraphicFramePr>
          <p:cNvPr id="9" name=""/>
          <p:cNvGraphicFramePr/>
          <p:nvPr/>
        </p:nvGraphicFramePr>
        <p:xfrm>
          <a:off xmlns:a="http://schemas.openxmlformats.org/drawingml/2006/main" x="514350" y="1066800"/>
          <a:ext xmlns:a="http://schemas.openxmlformats.org/drawingml/2006/main" cx="11163300" cy="4143375"/>
        </p:xfrm>
        <a:graphic xmlns:a="http://schemas.openxmlformats.org/drawingml/2006/main">
          <a:graphicData uri="http://schemas.openxmlformats.org/drawingml/2006/table">
            <a:tbl>
              <a:tblPr firstRow="1" firstCol="0" bandRow="0"/>
              <a:tblGrid>
                <a:gridCol w="2286189"/>
                <a:gridCol w="1011091"/>
                <a:gridCol w="990600"/>
                <a:gridCol w="6875420"/>
              </a:tblGrid>
              <a:tr h="304800">
                <a:tc>
                  <a:txBody>
                    <a:bodyPr lIns="38100" tIns="19050" rIns="38100" bIns="19050"/>
                    <a:lstStyle/>
                    <a:p>
                      <a:pPr algn="l"/>
                      <a:r>
                        <a:rPr sz="975" b="1">
                          <a:solidFill>
                            <a:srgbClr val="1F3864"/>
                          </a:solidFill>
                          <a:latin typeface="Calibri"/>
                          <a:ea typeface="Calibri"/>
                          <a:cs typeface="Calibri"/>
                        </a:rPr>
                        <a:t>Customer segment</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Current size</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Growth</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Key purchasing criteria</a:t>
                      </a:r>
                    </a:p>
                  </a:txBody>
                  <a:tcPr marL="91440" marR="91440" marT="45720" marB="45720">
                    <a:lnR w="0">
                      <a:noFill/>
                    </a:lnR>
                    <a:lnT w="0">
                      <a:noFill/>
                    </a:lnT>
                    <a:lnB w="9525">
                      <a:solidFill>
                        <a:srgbClr val="D7DEE7"/>
                      </a:solidFill>
                      <a:prstDash val="solid"/>
                    </a:lnB>
                    <a:solidFill>
                      <a:srgbClr val="F4F6F9"/>
                    </a:solidFill>
                  </a:tcPr>
                </a:tc>
              </a:tr>
              <a:tr h="247650">
                <a:tc>
                  <a:txBody>
                    <a:bodyPr lIns="38100" tIns="19050" rIns="38100" bIns="19050"/>
                    <a:lstStyle/>
                    <a:p>
                      <a:pPr algn="l"/>
                      <a:r>
                        <a:rPr sz="900" b="1">
                          <a:solidFill>
                            <a:srgbClr val="1B2A41"/>
                          </a:solidFill>
                          <a:latin typeface="Calibri"/>
                          <a:ea typeface="Calibri"/>
                          <a:cs typeface="Calibri"/>
                        </a:rPr>
                        <a:t>Local drive-in patrons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Large size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Slow</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They buy on short drive time, easy parking, 24/7 access, and fast rewards for short visits.</a:t>
                      </a:r>
                    </a:p>
                  </a:txBody>
                  <a:tcPr marL="91440" marR="91440" marT="45720" marB="45720">
                    <a:lnR w="0">
                      <a:noFill/>
                    </a:lnR>
                    <a:lnB w="9525">
                      <a:solidFill>
                        <a:srgbClr val="D7DEE7"/>
                      </a:solidFill>
                      <a:prstDash val="solid"/>
                    </a:lnB>
                    <a:solidFill>
                      <a:srgbClr val="FFFFFF"/>
                    </a:solidFill>
                  </a:tcPr>
                </a:tc>
              </a:tr>
              <a:tr h="247650">
                <a:tc>
                  <a:txBody>
                    <a:bodyPr lIns="38100" tIns="19050" rIns="38100" bIns="19050"/>
                    <a:lstStyle/>
                    <a:p>
                      <a:pPr algn="l"/>
                      <a:r>
                        <a:rPr sz="900" b="1">
                          <a:solidFill>
                            <a:srgbClr val="1B2A41"/>
                          </a:solidFill>
                          <a:latin typeface="Calibri"/>
                          <a:ea typeface="Calibri"/>
                          <a:cs typeface="Calibri"/>
                        </a:rPr>
                        <a:t>Frequent slot and table players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Large size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Fast</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They want accurate play tracking, host outreach, comp value, and personalized offers.</a:t>
                      </a:r>
                    </a:p>
                  </a:txBody>
                  <a:tcPr marL="91440" marR="91440" marT="45720" marB="45720">
                    <a:lnR w="0">
                      <a:noFill/>
                    </a:lnR>
                    <a:lnB w="9525">
                      <a:solidFill>
                        <a:srgbClr val="D7DEE7"/>
                      </a:solidFill>
                      <a:prstDash val="solid"/>
                    </a:lnB>
                    <a:solidFill>
                      <a:srgbClr val="FFFFFF"/>
                    </a:solidFill>
                  </a:tcPr>
                </a:tc>
              </a:tr>
              <a:tr h="247650">
                <a:tc>
                  <a:txBody>
                    <a:bodyPr lIns="38100" tIns="19050" rIns="38100" bIns="19050"/>
                    <a:lstStyle/>
                    <a:p>
                      <a:pPr algn="l"/>
                      <a:r>
                        <a:rPr sz="900" b="1">
                          <a:solidFill>
                            <a:srgbClr val="1B2A41"/>
                          </a:solidFill>
                          <a:latin typeface="Calibri"/>
                          <a:ea typeface="Calibri"/>
                          <a:cs typeface="Calibri"/>
                        </a:rPr>
                        <a:t>Sports bettors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Small size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Fastest</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They care about odds, kiosk and ticket-window access, big screens, and easy cross-sell into gaming and food [52][53][54].</a:t>
                      </a:r>
                    </a:p>
                  </a:txBody>
                  <a:tcPr marL="91440" marR="91440" marT="45720" marB="45720">
                    <a:lnR w="0">
                      <a:noFill/>
                    </a:lnR>
                    <a:lnB w="9525">
                      <a:solidFill>
                        <a:srgbClr val="D7DEE7"/>
                      </a:solidFill>
                      <a:prstDash val="solid"/>
                    </a:lnB>
                    <a:solidFill>
                      <a:srgbClr val="FFFFFF"/>
                    </a:solidFill>
                  </a:tcPr>
                </a:tc>
              </a:tr>
              <a:tr h="247650">
                <a:tc>
                  <a:txBody>
                    <a:bodyPr lIns="38100" tIns="19050" rIns="38100" bIns="19050"/>
                    <a:lstStyle/>
                    <a:p>
                      <a:pPr algn="l"/>
                      <a:r>
                        <a:rPr sz="900" b="1">
                          <a:solidFill>
                            <a:srgbClr val="1B2A41"/>
                          </a:solidFill>
                          <a:latin typeface="Calibri"/>
                          <a:ea typeface="Calibri"/>
                          <a:cs typeface="Calibri"/>
                        </a:rPr>
                        <a:t>Poker and entertainment visitors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Medium size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Fast</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They buy on live poker, waitlist visibility, late-night hours, and event adjacency.</a:t>
                      </a:r>
                    </a:p>
                  </a:txBody>
                  <a:tcPr marL="91440" marR="91440" marT="45720" marB="45720">
                    <a:lnR w="0">
                      <a:noFill/>
                    </a:lnR>
                    <a:lnB w="9525">
                      <a:solidFill>
                        <a:srgbClr val="D7DEE7"/>
                      </a:solidFill>
                      <a:prstDash val="solid"/>
                    </a:lnB>
                    <a:solidFill>
                      <a:srgbClr val="FFFFFF"/>
                    </a:solidFill>
                  </a:tcPr>
                </a:tc>
              </a:tr>
              <a:tr h="247650">
                <a:tc>
                  <a:txBody>
                    <a:bodyPr lIns="38100" tIns="19050" rIns="38100" bIns="19050"/>
                    <a:lstStyle/>
                    <a:p>
                      <a:pPr algn="l"/>
                      <a:r>
                        <a:rPr sz="900" b="1">
                          <a:solidFill>
                            <a:srgbClr val="1B2A41"/>
                          </a:solidFill>
                          <a:latin typeface="Calibri"/>
                          <a:ea typeface="Calibri"/>
                          <a:cs typeface="Calibri"/>
                        </a:rPr>
                        <a:t>Slot-focused regional gamers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Largest size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Slow</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They prefer machine variety, 24/7 access, denomination range, and easy rewards redemption.</a:t>
                      </a:r>
                    </a:p>
                  </a:txBody>
                  <a:tcPr marL="91440" marR="91440" marT="45720" marB="45720">
                    <a:lnR w="0">
                      <a:noFill/>
                    </a:lnR>
                    <a:lnB w="9525">
                      <a:solidFill>
                        <a:srgbClr val="D7DEE7"/>
                      </a:solidFill>
                      <a:prstDash val="solid"/>
                    </a:lnB>
                    <a:solidFill>
                      <a:srgbClr val="FFFFFF"/>
                    </a:solidFill>
                  </a:tcPr>
                </a:tc>
              </a:tr>
              <a:tr h="247650">
                <a:tc>
                  <a:txBody>
                    <a:bodyPr lIns="38100" tIns="19050" rIns="38100" bIns="19050"/>
                    <a:lstStyle/>
                    <a:p>
                      <a:pPr algn="l"/>
                      <a:r>
                        <a:rPr sz="900" b="1">
                          <a:solidFill>
                            <a:srgbClr val="1B2A41"/>
                          </a:solidFill>
                          <a:latin typeface="Calibri"/>
                          <a:ea typeface="Calibri"/>
                          <a:cs typeface="Calibri"/>
                        </a:rPr>
                        <a:t>Table-game regulars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Large size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Fast</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They look for table mix, staffed table count, low minimums, and rated-play perks.</a:t>
                      </a:r>
                    </a:p>
                  </a:txBody>
                  <a:tcPr marL="91440" marR="91440" marT="45720" marB="45720">
                    <a:lnR w="0">
                      <a:noFill/>
                    </a:lnR>
                    <a:lnB w="9525">
                      <a:solidFill>
                        <a:srgbClr val="D7DEE7"/>
                      </a:solidFill>
                      <a:prstDash val="solid"/>
                    </a:lnB>
                    <a:solidFill>
                      <a:srgbClr val="FFFFFF"/>
                    </a:solidFill>
                  </a:tcPr>
                </a:tc>
              </a:tr>
              <a:tr h="247650">
                <a:tc>
                  <a:txBody>
                    <a:bodyPr lIns="38100" tIns="19050" rIns="38100" bIns="19050"/>
                    <a:lstStyle/>
                    <a:p>
                      <a:pPr algn="l"/>
                      <a:r>
                        <a:rPr sz="900" b="1">
                          <a:solidFill>
                            <a:srgbClr val="1B2A41"/>
                          </a:solidFill>
                          <a:latin typeface="Calibri"/>
                          <a:ea typeface="Calibri"/>
                          <a:cs typeface="Calibri"/>
                        </a:rPr>
                        <a:t>Poker cash-game players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Medium size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Fast</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They want live cash games, waitlist visibility, late hours, and game choice.</a:t>
                      </a:r>
                    </a:p>
                  </a:txBody>
                  <a:tcPr marL="91440" marR="91440" marT="45720" marB="45720">
                    <a:lnR w="0">
                      <a:noFill/>
                    </a:lnR>
                    <a:lnB w="9525">
                      <a:solidFill>
                        <a:srgbClr val="D7DEE7"/>
                      </a:solidFill>
                      <a:prstDash val="solid"/>
                    </a:lnB>
                    <a:solidFill>
                      <a:srgbClr val="FFFFFF"/>
                    </a:solidFill>
                  </a:tcPr>
                </a:tc>
              </a:tr>
              <a:tr h="247650">
                <a:tc>
                  <a:txBody>
                    <a:bodyPr lIns="38100" tIns="19050" rIns="38100" bIns="19050"/>
                    <a:lstStyle/>
                    <a:p>
                      <a:pPr algn="l"/>
                      <a:r>
                        <a:rPr sz="900" b="1">
                          <a:solidFill>
                            <a:srgbClr val="1B2A41"/>
                          </a:solidFill>
                          <a:latin typeface="Calibri"/>
                          <a:ea typeface="Calibri"/>
                          <a:cs typeface="Calibri"/>
                        </a:rPr>
                        <a:t>Casual all-day casino diners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Largest size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Slow</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They care about long hours, familiar food, fast service, and easy walk-in access.</a:t>
                      </a:r>
                    </a:p>
                  </a:txBody>
                  <a:tcPr marL="91440" marR="91440" marT="45720" marB="45720">
                    <a:lnR w="0">
                      <a:noFill/>
                    </a:lnR>
                    <a:lnB w="9525">
                      <a:solidFill>
                        <a:srgbClr val="D7DEE7"/>
                      </a:solidFill>
                      <a:prstDash val="solid"/>
                    </a:lnB>
                    <a:solidFill>
                      <a:srgbClr val="FFFFFF"/>
                    </a:solidFill>
                  </a:tcPr>
                </a:tc>
              </a:tr>
              <a:tr h="247650">
                <a:tc>
                  <a:txBody>
                    <a:bodyPr lIns="38100" tIns="19050" rIns="38100" bIns="19050"/>
                    <a:lstStyle/>
                    <a:p>
                      <a:pPr algn="l"/>
                      <a:r>
                        <a:rPr sz="900" b="1">
                          <a:solidFill>
                            <a:srgbClr val="1B2A41"/>
                          </a:solidFill>
                          <a:latin typeface="Calibri"/>
                          <a:ea typeface="Calibri"/>
                          <a:cs typeface="Calibri"/>
                        </a:rPr>
                        <a:t>Special-occasion fine diners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Small size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Fastest</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They buy on steak and seafood quality, ambiance, and reservations.</a:t>
                      </a:r>
                    </a:p>
                  </a:txBody>
                  <a:tcPr marL="91440" marR="91440" marT="45720" marB="45720">
                    <a:lnR w="0">
                      <a:noFill/>
                    </a:lnR>
                    <a:lnB w="9525">
                      <a:solidFill>
                        <a:srgbClr val="D7DEE7"/>
                      </a:solidFill>
                      <a:prstDash val="solid"/>
                    </a:lnB>
                    <a:solidFill>
                      <a:srgbClr val="FFFFFF"/>
                    </a:solidFill>
                  </a:tcPr>
                </a:tc>
              </a:tr>
              <a:tr h="247650">
                <a:tc>
                  <a:txBody>
                    <a:bodyPr lIns="38100" tIns="19050" rIns="38100" bIns="19050"/>
                    <a:lstStyle/>
                    <a:p>
                      <a:pPr algn="l"/>
                      <a:r>
                        <a:rPr sz="900" b="1">
                          <a:solidFill>
                            <a:srgbClr val="1B2A41"/>
                          </a:solidFill>
                          <a:latin typeface="Calibri"/>
                          <a:ea typeface="Calibri"/>
                          <a:cs typeface="Calibri"/>
                        </a:rPr>
                        <a:t>Share-style social diners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Medium size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Slow</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They want group-friendly dishes, shared plates, and dinner reservations.</a:t>
                      </a:r>
                    </a:p>
                  </a:txBody>
                  <a:tcPr marL="91440" marR="91440" marT="45720" marB="45720">
                    <a:lnR w="0">
                      <a:noFill/>
                    </a:lnR>
                    <a:lnB w="9525">
                      <a:solidFill>
                        <a:srgbClr val="D7DEE7"/>
                      </a:solidFill>
                      <a:prstDash val="solid"/>
                    </a:lnB>
                    <a:solidFill>
                      <a:srgbClr val="FFFFFF"/>
                    </a:solidFill>
                  </a:tcPr>
                </a:tc>
              </a:tr>
              <a:tr h="247650">
                <a:tc>
                  <a:txBody>
                    <a:bodyPr lIns="38100" tIns="19050" rIns="38100" bIns="19050"/>
                    <a:lstStyle/>
                    <a:p>
                      <a:pPr algn="l"/>
                      <a:r>
                        <a:rPr sz="900" b="1">
                          <a:solidFill>
                            <a:srgbClr val="1B2A41"/>
                          </a:solidFill>
                          <a:latin typeface="Calibri"/>
                          <a:ea typeface="Calibri"/>
                          <a:cs typeface="Calibri"/>
                        </a:rPr>
                        <a:t>Drink-led lounge patrons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Large size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Fast</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They value cocktails, beer choice, late hours, and gaming proximity.</a:t>
                      </a:r>
                    </a:p>
                  </a:txBody>
                  <a:tcPr marL="91440" marR="91440" marT="45720" marB="45720">
                    <a:lnR w="0">
                      <a:noFill/>
                    </a:lnR>
                    <a:lnB w="9525">
                      <a:solidFill>
                        <a:srgbClr val="D7DEE7"/>
                      </a:solidFill>
                      <a:prstDash val="solid"/>
                    </a:lnB>
                    <a:solidFill>
                      <a:srgbClr val="FFFFFF"/>
                    </a:solidFill>
                  </a:tcPr>
                </a:tc>
              </a:tr>
              <a:tr h="247650">
                <a:tc>
                  <a:txBody>
                    <a:bodyPr lIns="38100" tIns="19050" rIns="38100" bIns="19050"/>
                    <a:lstStyle/>
                    <a:p>
                      <a:pPr algn="l"/>
                      <a:r>
                        <a:rPr sz="900" b="1">
                          <a:solidFill>
                            <a:srgbClr val="1B2A41"/>
                          </a:solidFill>
                          <a:latin typeface="Calibri"/>
                          <a:ea typeface="Calibri"/>
                          <a:cs typeface="Calibri"/>
                        </a:rPr>
                        <a:t>Free live-music and DJ nightlife patrons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Largest size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Fast</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They look for no-ticket shows, weekend cadence, drinks, and drop-in access.</a:t>
                      </a:r>
                    </a:p>
                  </a:txBody>
                  <a:tcPr marL="91440" marR="91440" marT="45720" marB="45720">
                    <a:lnR w="0">
                      <a:noFill/>
                    </a:lnR>
                    <a:lnB w="9525">
                      <a:solidFill>
                        <a:srgbClr val="D7DEE7"/>
                      </a:solidFill>
                      <a:prstDash val="solid"/>
                    </a:lnB>
                    <a:solidFill>
                      <a:srgbClr val="FFFFFF"/>
                    </a:solidFill>
                  </a:tcPr>
                </a:tc>
              </a:tr>
              <a:tr h="371475">
                <a:tc>
                  <a:txBody>
                    <a:bodyPr lIns="38100" tIns="19050" rIns="38100" bIns="19050"/>
                    <a:lstStyle/>
                    <a:p>
                      <a:pPr algn="l"/>
                      <a:r>
                        <a:rPr sz="900" b="1">
                          <a:solidFill>
                            <a:srgbClr val="1B2A41"/>
                          </a:solidFill>
                          <a:latin typeface="Calibri"/>
                          <a:ea typeface="Calibri"/>
                          <a:cs typeface="Calibri"/>
                        </a:rPr>
                        <a:t>Ticketed comedy and headline-show attendees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Small size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Fastest</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They need known acts, clear ticketing, reserved timing, and a dedicated venue.</a:t>
                      </a:r>
                    </a:p>
                  </a:txBody>
                  <a:tcPr marL="91440" marR="91440" marT="45720" marB="45720">
                    <a:lnR w="0">
                      <a:noFill/>
                    </a:lnR>
                    <a:lnB w="9525">
                      <a:solidFill>
                        <a:srgbClr val="D7DEE7"/>
                      </a:solidFill>
                      <a:prstDash val="solid"/>
                    </a:lnB>
                    <a:solidFill>
                      <a:srgbClr val="FFFFFF"/>
                    </a:solidFill>
                  </a:tcPr>
                </a:tc>
              </a:tr>
              <a:tr h="247650">
                <a:tc>
                  <a:txBody>
                    <a:bodyPr lIns="38100" tIns="19050" rIns="38100" bIns="19050"/>
                    <a:lstStyle/>
                    <a:p>
                      <a:pPr algn="l"/>
                      <a:r>
                        <a:rPr sz="900" b="1">
                          <a:solidFill>
                            <a:srgbClr val="1B2A41"/>
                          </a:solidFill>
                          <a:latin typeface="Calibri"/>
                          <a:ea typeface="Calibri"/>
                          <a:cs typeface="Calibri"/>
                        </a:rPr>
                        <a:t>Social celebration hosts</a:t>
                      </a:r>
                    </a:p>
                  </a:txBody>
                  <a:tcPr marL="91440" marR="91440" marT="45720" marB="45720">
                    <a:lnL w="0">
                      <a:noFill/>
                    </a:lnL>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Largest size</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Slow</a:t>
                      </a:r>
                    </a:p>
                  </a:txBody>
                  <a:tcPr marL="91440" marR="91440" marT="45720" marB="45720">
                    <a:lnR w="0">
                      <a:noFill/>
                    </a:lnR>
                    <a:lnB w="9525">
                      <a:solidFill>
                        <a:srgbClr val="D7DEE7"/>
                      </a:solidFill>
                      <a:prstDash val="solid"/>
                    </a:lnB>
                    <a:solidFill>
                      <a:srgbClr val="FFFFFF"/>
                    </a:solidFill>
                  </a:tcPr>
                </a:tc>
                <a:tc>
                  <a:txBody>
                    <a:bodyPr lIns="38100" tIns="19050" rIns="38100" bIns="19050"/>
                    <a:lstStyle/>
                    <a:p>
                      <a:pPr algn="l"/>
                      <a:r>
                        <a:rPr sz="900" b="0">
                          <a:solidFill>
                            <a:srgbClr val="1B2A41"/>
                          </a:solidFill>
                          <a:latin typeface="Calibri"/>
                          <a:ea typeface="Calibri"/>
                          <a:cs typeface="Calibri"/>
                        </a:rPr>
                        <a:t>They buy on private space, custom menus, bar options, and simple arrival logistics.</a:t>
                      </a:r>
                    </a:p>
                  </a:txBody>
                  <a:tcPr marL="91440" marR="91440" marT="45720" marB="45720">
                    <a:lnR w="0">
                      <a:noFill/>
                    </a:lnR>
                    <a:lnB w="9525">
                      <a:solidFill>
                        <a:srgbClr val="D7DEE7"/>
                      </a:solidFill>
                      <a:prstDash val="solid"/>
                    </a:lnB>
                    <a:solidFill>
                      <a:srgbClr val="FFFFFF"/>
                    </a:solidFill>
                  </a:tcPr>
                </a:tc>
              </a:tr>
              <a:tr h="247650">
                <a:tc>
                  <a:txBody>
                    <a:bodyPr lIns="38100" tIns="19050" rIns="38100" bIns="19050"/>
                    <a:lstStyle/>
                    <a:p>
                      <a:pPr algn="l"/>
                      <a:r>
                        <a:rPr sz="900" b="1">
                          <a:solidFill>
                            <a:srgbClr val="1B2A41"/>
                          </a:solidFill>
                          <a:latin typeface="Calibri"/>
                          <a:ea typeface="Calibri"/>
                          <a:cs typeface="Calibri"/>
                        </a:rPr>
                        <a:t>Corporate meeting planners</a:t>
                      </a:r>
                    </a:p>
                  </a:txBody>
                  <a:tcPr marL="91440" marR="91440" marT="45720" marB="45720">
                    <a:lnL w="0">
                      <a:noFill/>
                    </a:lnL>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Medium size</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Fast</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They require AV, flexible layouts, a coordinator, and reliable scheduling.</a:t>
                      </a:r>
                    </a:p>
                  </a:txBody>
                  <a:tcPr marL="91440" marR="91440" marT="45720" marB="45720">
                    <a:lnR w="0">
                      <a:noFill/>
                    </a:lnR>
                    <a:lnB w="0">
                      <a:noFill/>
                    </a:lnB>
                    <a:solidFill>
                      <a:srgbClr val="FFFFFF"/>
                    </a:solidFill>
                  </a:tcPr>
                </a:tc>
              </a:tr>
            </a:tbl>
          </a:graphicData>
        </a:graphic>
      </p:graphicFrame>
      <p:sp>
        <p:nvSpPr>
          <p:cNvPr id="3" name="structure:table-header-rule">
            <a:extLst xmlns:a="http://schemas.openxmlformats.org/drawingml/2006/main">
              <a:ext uri="{FF2B5EF4-FFF2-40B4-BE49-F238E27FC236}">
                <a16:creationId xmlns:a16="http://schemas.microsoft.com/office/drawing/2014/main" id="{AB4475EB-5BA8-4C5F-8EB9-C41F81A28AA1}"/>
              </a:ext>
            </a:extLst>
          </p:cNvPr>
          <p:cNvSpPr>
            <a:spLocks xmlns:a="http://schemas.openxmlformats.org/drawingml/2006/main" noGrp="1"/>
          </p:cNvSpPr>
          <p:nvPr/>
        </p:nvSpPr>
        <p:spPr>
          <a:xfrm xmlns:a="http://schemas.openxmlformats.org/drawingml/2006/main">
            <a:off x="514350" y="1362075"/>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CD19909-6DAF-4237-A69B-8AFC9DFD3B3D}"/>
              </a:ext>
            </a:extLst>
          </p:cNvPr>
          <p:cNvSpPr>
            <a:spLocks xmlns:a="http://schemas.openxmlformats.org/drawingml/2006/main" noGrp="1"/>
          </p:cNvSpPr>
          <p:nvPr/>
        </p:nvSpPr>
        <p:spPr>
          <a:xfrm xmlns:a="http://schemas.openxmlformats.org/drawingml/2006/main">
            <a:off x="514350" y="5286375"/>
            <a:ext cx="111633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900" b="1">
                <a:solidFill>
                  <a:srgbClr val="1F3864"/>
                </a:solidFill>
                <a:latin typeface="Calibri"/>
                <a:ea typeface="Calibri"/>
                <a:cs typeface="Calibri"/>
              </a:defRPr>
            </a:pPr>
            <a:r>
              <a:rPr sz="900" b="1">
                <a:solidFill>
                  <a:srgbClr val="1F3864"/>
                </a:solidFill>
                <a:latin typeface="Calibri"/>
                <a:ea typeface="Calibri"/>
                <a:cs typeface="Calibri"/>
              </a:rPr>
              <a:t>Customer Analysis Segments Appendix</a:t>
            </a:r>
          </a:p>
        </p:txBody>
      </p:sp>
      <p:graphicFrame>
        <p:nvGraphicFramePr>
          <p:cNvPr id="12" name=""/>
          <p:cNvGraphicFramePr/>
          <p:nvPr/>
        </p:nvGraphicFramePr>
        <p:xfrm>
          <a:off xmlns:a="http://schemas.openxmlformats.org/drawingml/2006/main" x="514350" y="5476875"/>
          <a:ext xmlns:a="http://schemas.openxmlformats.org/drawingml/2006/main" cx="11163300" cy="828675"/>
        </p:xfrm>
        <a:graphic xmlns:a="http://schemas.openxmlformats.org/drawingml/2006/main">
          <a:graphicData uri="http://schemas.openxmlformats.org/drawingml/2006/table">
            <a:tbl>
              <a:tblPr firstRow="1" firstCol="0" bandRow="0"/>
              <a:tblGrid>
                <a:gridCol w="1420121"/>
                <a:gridCol w="990600"/>
                <a:gridCol w="2579403"/>
                <a:gridCol w="6173177"/>
              </a:tblGrid>
              <a:tr h="304800">
                <a:tc>
                  <a:txBody>
                    <a:bodyPr lIns="38100" tIns="19050" rIns="38100" bIns="19050"/>
                    <a:lstStyle/>
                    <a:p>
                      <a:pPr algn="l"/>
                      <a:r>
                        <a:rPr sz="975" b="1">
                          <a:solidFill>
                            <a:srgbClr val="1F3864"/>
                          </a:solidFill>
                          <a:latin typeface="Calibri"/>
                          <a:ea typeface="Calibri"/>
                          <a:cs typeface="Calibri"/>
                        </a:rPr>
                        <a:t>Customer segment</a:t>
                      </a:r>
                    </a:p>
                  </a:txBody>
                  <a:tcPr marL="91440" marR="91440" marT="45720" marB="45720">
                    <a:lnL w="0">
                      <a:noFill/>
                    </a:lnL>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Category</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What they buy</a:t>
                      </a:r>
                    </a:p>
                  </a:txBody>
                  <a:tcPr marL="91440" marR="91440" marT="45720" marB="45720">
                    <a:lnR w="0">
                      <a:noFill/>
                    </a:lnR>
                    <a:lnT w="0">
                      <a:noFill/>
                    </a:lnT>
                    <a:lnB w="9525">
                      <a:solidFill>
                        <a:srgbClr val="D7DEE7"/>
                      </a:solidFill>
                      <a:prstDash val="solid"/>
                    </a:lnB>
                    <a:solidFill>
                      <a:srgbClr val="F4F6F9"/>
                    </a:solidFill>
                  </a:tcPr>
                </a:tc>
                <a:tc>
                  <a:txBody>
                    <a:bodyPr lIns="38100" tIns="19050" rIns="38100" bIns="19050"/>
                    <a:lstStyle/>
                    <a:p>
                      <a:pPr algn="l"/>
                      <a:r>
                        <a:rPr sz="975" b="1">
                          <a:solidFill>
                            <a:srgbClr val="1F3864"/>
                          </a:solidFill>
                          <a:latin typeface="Calibri"/>
                          <a:ea typeface="Calibri"/>
                          <a:cs typeface="Calibri"/>
                        </a:rPr>
                        <a:t>Position</a:t>
                      </a:r>
                    </a:p>
                  </a:txBody>
                  <a:tcPr marL="91440" marR="91440" marT="45720" marB="45720">
                    <a:lnR w="0">
                      <a:noFill/>
                    </a:lnR>
                    <a:lnT w="0">
                      <a:noFill/>
                    </a:lnT>
                    <a:lnB w="9525">
                      <a:solidFill>
                        <a:srgbClr val="D7DEE7"/>
                      </a:solidFill>
                      <a:prstDash val="solid"/>
                    </a:lnB>
                    <a:solidFill>
                      <a:srgbClr val="F4F6F9"/>
                    </a:solidFill>
                  </a:tcPr>
                </a:tc>
              </a:tr>
              <a:tr h="523875">
                <a:tc>
                  <a:txBody>
                    <a:bodyPr lIns="38100" tIns="19050" rIns="38100" bIns="19050"/>
                    <a:lstStyle/>
                    <a:p>
                      <a:pPr algn="l"/>
                      <a:r>
                        <a:rPr sz="900" b="1">
                          <a:solidFill>
                            <a:srgbClr val="1B2A41"/>
                          </a:solidFill>
                          <a:latin typeface="Calibri"/>
                          <a:ea typeface="Calibri"/>
                          <a:cs typeface="Calibri"/>
                        </a:rPr>
                        <a:t>Ticketed comedy and headline-show attendees · Gap</a:t>
                      </a:r>
                    </a:p>
                  </a:txBody>
                  <a:tcPr marL="91440" marR="91440" marT="45720" marB="45720">
                    <a:lnL w="0">
                      <a:noFill/>
                    </a:lnL>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size: small, growth: fastest</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Known acts, reserved event timing, a ticket purchase path, and a dedicated venue [16][53]</a:t>
                      </a:r>
                    </a:p>
                  </a:txBody>
                  <a:tcPr marL="91440" marR="91440" marT="45720" marB="45720">
                    <a:lnR w="0">
                      <a:noFill/>
                    </a:lnR>
                    <a:lnB w="0">
                      <a:noFill/>
                    </a:lnB>
                    <a:solidFill>
                      <a:srgbClr val="FFFFFF"/>
                    </a:solidFill>
                  </a:tcPr>
                </a:tc>
                <a:tc>
                  <a:txBody>
                    <a:bodyPr lIns="38100" tIns="19050" rIns="38100" bIns="19050"/>
                    <a:lstStyle/>
                    <a:p>
                      <a:pPr algn="l"/>
                      <a:r>
                        <a:rPr sz="900" b="0">
                          <a:solidFill>
                            <a:srgbClr val="1B2A41"/>
                          </a:solidFill>
                          <a:latin typeface="Calibri"/>
                          <a:ea typeface="Calibri"/>
                          <a:cs typeface="Calibri"/>
                        </a:rPr>
                        <a:t>No current full offering leaves scheduled entertainment demand undercaptured, and entry is structurally harder because attendance depends on show dates and fixed entry times, unlike the always-on gaming floor.[16]</a:t>
                      </a:r>
                    </a:p>
                  </a:txBody>
                  <a:tcPr marL="91440" marR="91440" marT="45720" marB="45720">
                    <a:lnR w="0">
                      <a:noFill/>
                    </a:lnR>
                    <a:lnB w="0">
                      <a:noFill/>
                    </a:lnB>
                    <a:solidFill>
                      <a:srgbClr val="FFFFFF"/>
                    </a:solidFill>
                  </a:tcPr>
                </a:tc>
              </a:tr>
            </a:tbl>
          </a:graphicData>
        </a:graphic>
      </p:graphicFrame>
      <p:sp>
        <p:nvSpPr>
          <p:cNvPr id="6" name="structure:table-header-rule">
            <a:extLst xmlns:a="http://schemas.openxmlformats.org/drawingml/2006/main">
              <a:ext uri="{FF2B5EF4-FFF2-40B4-BE49-F238E27FC236}">
                <a16:creationId xmlns:a16="http://schemas.microsoft.com/office/drawing/2014/main" id="{5E058B01-9441-493D-8FD8-932A43F7F3B2}"/>
              </a:ext>
            </a:extLst>
          </p:cNvPr>
          <p:cNvSpPr>
            <a:spLocks xmlns:a="http://schemas.openxmlformats.org/drawingml/2006/main" noGrp="1"/>
          </p:cNvSpPr>
          <p:nvPr/>
        </p:nvSpPr>
        <p:spPr>
          <a:xfrm xmlns:a="http://schemas.openxmlformats.org/drawingml/2006/main">
            <a:off x="514350" y="5772150"/>
            <a:ext cx="11163300" cy="9525"/>
          </a:xfrm>
          <a:prstGeom xmlns:a="http://schemas.openxmlformats.org/drawingml/2006/main" prst="rect">
            <a:avLst/>
          </a:prstGeom>
          <a:solidFill xmlns:a="http://schemas.openxmlformats.org/drawingml/2006/main">
            <a:srgbClr val="1F386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940F7E6-54DA-4FAA-A8C2-76A886F38833}"/>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28</a:t>
            </a:r>
          </a:p>
        </p:txBody>
      </p:sp>
    </p:spTree>
    <p:extLst>
      <p:ext uri="{BB962C8B-B14F-4D97-AF65-F5344CB8AC3E}">
        <p14:creationId xmlns:p14="http://schemas.microsoft.com/office/powerpoint/2010/main" val="90533057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7" name="">
            <a:extLst xmlns:a="http://schemas.openxmlformats.org/drawingml/2006/main">
              <a:ext uri="{FF2B5EF4-FFF2-40B4-BE49-F238E27FC236}">
                <a16:creationId xmlns:a16="http://schemas.microsoft.com/office/drawing/2014/main" id="{E3C5A02D-E2FA-483A-AF79-B6C9DA670F3D}"/>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References</a:t>
            </a:r>
          </a:p>
        </p:txBody>
      </p:sp>
      <p:sp>
        <p:nvSpPr>
          <p:cNvPr id="2" name="">
            <a:extLst xmlns:a="http://schemas.openxmlformats.org/drawingml/2006/main">
              <a:ext uri="{FF2B5EF4-FFF2-40B4-BE49-F238E27FC236}">
                <a16:creationId xmlns:a16="http://schemas.microsoft.com/office/drawing/2014/main" id="{7685043C-25A6-4C6D-A654-341C6CE4E38B}"/>
              </a:ext>
            </a:extLst>
          </p:cNvPr>
          <p:cNvSpPr>
            <a:spLocks xmlns:a="http://schemas.openxmlformats.org/drawingml/2006/main" noGrp="1"/>
          </p:cNvSpPr>
          <p:nvPr/>
        </p:nvSpPr>
        <p:spPr>
          <a:xfrm xmlns:a="http://schemas.openxmlformats.org/drawingml/2006/main">
            <a:off x="514350" y="10668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  americangaming.org — State of the states 2026</a:t>
            </a:r>
          </a:p>
        </p:txBody>
      </p:sp>
      <p:sp>
        <p:nvSpPr>
          <p:cNvPr id="3" name="">
            <a:extLst xmlns:a="http://schemas.openxmlformats.org/drawingml/2006/main">
              <a:ext uri="{FF2B5EF4-FFF2-40B4-BE49-F238E27FC236}">
                <a16:creationId xmlns:a16="http://schemas.microsoft.com/office/drawing/2014/main" id="{33817A22-F281-4F82-AA59-D08E2DC493D1}"/>
              </a:ext>
            </a:extLst>
          </p:cNvPr>
          <p:cNvSpPr>
            <a:spLocks xmlns:a="http://schemas.openxmlformats.org/drawingml/2006/main" noGrp="1"/>
          </p:cNvSpPr>
          <p:nvPr/>
        </p:nvSpPr>
        <p:spPr>
          <a:xfrm xmlns:a="http://schemas.openxmlformats.org/drawingml/2006/main">
            <a:off x="514350" y="12287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[2]  americangaming.org — Commercial gaming revenue tracker</a:t>
            </a:r>
          </a:p>
        </p:txBody>
      </p:sp>
      <p:sp>
        <p:nvSpPr>
          <p:cNvPr id="4" name="">
            <a:extLst xmlns:a="http://schemas.openxmlformats.org/drawingml/2006/main">
              <a:ext uri="{FF2B5EF4-FFF2-40B4-BE49-F238E27FC236}">
                <a16:creationId xmlns:a16="http://schemas.microsoft.com/office/drawing/2014/main" id="{A55EA77E-2983-40B2-81D2-4525A757684B}"/>
              </a:ext>
            </a:extLst>
          </p:cNvPr>
          <p:cNvSpPr>
            <a:spLocks xmlns:a="http://schemas.openxmlformats.org/drawingml/2006/main" noGrp="1"/>
          </p:cNvSpPr>
          <p:nvPr/>
        </p:nvSpPr>
        <p:spPr>
          <a:xfrm xmlns:a="http://schemas.openxmlformats.org/drawingml/2006/main">
            <a:off x="514350" y="13906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[3]  americangaming.org — American attitudes towards gaming</a:t>
            </a:r>
          </a:p>
        </p:txBody>
      </p:sp>
      <p:sp>
        <p:nvSpPr>
          <p:cNvPr id="5" name="">
            <a:extLst xmlns:a="http://schemas.openxmlformats.org/drawingml/2006/main">
              <a:ext uri="{FF2B5EF4-FFF2-40B4-BE49-F238E27FC236}">
                <a16:creationId xmlns:a16="http://schemas.microsoft.com/office/drawing/2014/main" id="{F0910C6F-7618-47AA-8D47-618F84C9546A}"/>
              </a:ext>
            </a:extLst>
          </p:cNvPr>
          <p:cNvSpPr>
            <a:spLocks xmlns:a="http://schemas.openxmlformats.org/drawingml/2006/main" noGrp="1"/>
          </p:cNvSpPr>
          <p:nvPr/>
        </p:nvSpPr>
        <p:spPr>
          <a:xfrm xmlns:a="http://schemas.openxmlformats.org/drawingml/2006/main">
            <a:off x="514350" y="15525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[4]  americangaming.org — New aga analysis reveals illegal gaming remains nearly a third of the u s market</a:t>
            </a:r>
          </a:p>
        </p:txBody>
      </p:sp>
      <p:sp>
        <p:nvSpPr>
          <p:cNvPr id="6" name="">
            <a:extLst xmlns:a="http://schemas.openxmlformats.org/drawingml/2006/main">
              <a:ext uri="{FF2B5EF4-FFF2-40B4-BE49-F238E27FC236}">
                <a16:creationId xmlns:a16="http://schemas.microsoft.com/office/drawing/2014/main" id="{54CD27DE-1B73-488B-8E50-207B87286197}"/>
              </a:ext>
            </a:extLst>
          </p:cNvPr>
          <p:cNvSpPr>
            <a:spLocks xmlns:a="http://schemas.openxmlformats.org/drawingml/2006/main" noGrp="1"/>
          </p:cNvSpPr>
          <p:nvPr/>
        </p:nvSpPr>
        <p:spPr>
          <a:xfrm xmlns:a="http://schemas.openxmlformats.org/drawingml/2006/main">
            <a:off x="514350" y="17145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[5]  circasports.com — Licensee info</a:t>
            </a:r>
          </a:p>
        </p:txBody>
      </p:sp>
      <p:sp>
        <p:nvSpPr>
          <p:cNvPr id="7" name="">
            <a:extLst xmlns:a="http://schemas.openxmlformats.org/drawingml/2006/main">
              <a:ext uri="{FF2B5EF4-FFF2-40B4-BE49-F238E27FC236}">
                <a16:creationId xmlns:a16="http://schemas.microsoft.com/office/drawing/2014/main" id="{A869501B-0966-40BF-8634-3EE108F416F0}"/>
              </a:ext>
            </a:extLst>
          </p:cNvPr>
          <p:cNvSpPr>
            <a:spLocks xmlns:a="http://schemas.openxmlformats.org/drawingml/2006/main" noGrp="1"/>
          </p:cNvSpPr>
          <p:nvPr/>
        </p:nvSpPr>
        <p:spPr>
          <a:xfrm xmlns:a="http://schemas.openxmlformats.org/drawingml/2006/main">
            <a:off x="514350" y="18764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[6]  igb.illinois.gov — 20240912 open meeting minutes</a:t>
            </a:r>
          </a:p>
        </p:txBody>
      </p:sp>
      <p:sp>
        <p:nvSpPr>
          <p:cNvPr id="8" name="">
            <a:extLst xmlns:a="http://schemas.openxmlformats.org/drawingml/2006/main">
              <a:ext uri="{FF2B5EF4-FFF2-40B4-BE49-F238E27FC236}">
                <a16:creationId xmlns:a16="http://schemas.microsoft.com/office/drawing/2014/main" id="{F67AF50A-3303-48E3-876B-FD1801B2C41C}"/>
              </a:ext>
            </a:extLst>
          </p:cNvPr>
          <p:cNvSpPr>
            <a:spLocks xmlns:a="http://schemas.openxmlformats.org/drawingml/2006/main" noGrp="1"/>
          </p:cNvSpPr>
          <p:nvPr/>
        </p:nvSpPr>
        <p:spPr>
          <a:xfrm xmlns:a="http://schemas.openxmlformats.org/drawingml/2006/main">
            <a:off x="514350" y="20383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[7]  hardrock.com — Hard rock casino rockford reveals grand opening date for permanent facility</a:t>
            </a:r>
          </a:p>
        </p:txBody>
      </p:sp>
      <p:sp>
        <p:nvSpPr>
          <p:cNvPr id="9" name="">
            <a:extLst xmlns:a="http://schemas.openxmlformats.org/drawingml/2006/main">
              <a:ext uri="{FF2B5EF4-FFF2-40B4-BE49-F238E27FC236}">
                <a16:creationId xmlns:a16="http://schemas.microsoft.com/office/drawing/2014/main" id="{2D8F09B5-728D-4E45-A439-713D28CAC0A3}"/>
              </a:ext>
            </a:extLst>
          </p:cNvPr>
          <p:cNvSpPr>
            <a:spLocks xmlns:a="http://schemas.openxmlformats.org/drawingml/2006/main" noGrp="1"/>
          </p:cNvSpPr>
          <p:nvPr/>
        </p:nvSpPr>
        <p:spPr>
          <a:xfrm xmlns:a="http://schemas.openxmlformats.org/drawingml/2006/main">
            <a:off x="514350" y="22002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[8]  windcreek.com — Wind creek chicago southland confirms casino doors open on nov 11</a:t>
            </a:r>
          </a:p>
        </p:txBody>
      </p:sp>
      <p:sp>
        <p:nvSpPr>
          <p:cNvPr id="10" name="">
            <a:extLst xmlns:a="http://schemas.openxmlformats.org/drawingml/2006/main">
              <a:ext uri="{FF2B5EF4-FFF2-40B4-BE49-F238E27FC236}">
                <a16:creationId xmlns:a16="http://schemas.microsoft.com/office/drawing/2014/main" id="{71A58712-DC08-4FCA-8E1B-C00A2FDE02BE}"/>
              </a:ext>
            </a:extLst>
          </p:cNvPr>
          <p:cNvSpPr>
            <a:spLocks xmlns:a="http://schemas.openxmlformats.org/drawingml/2006/main" noGrp="1"/>
          </p:cNvSpPr>
          <p:nvPr/>
        </p:nvSpPr>
        <p:spPr>
          <a:xfrm xmlns:a="http://schemas.openxmlformats.org/drawingml/2006/main">
            <a:off x="514350" y="23622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[9]  pennnationalgaming.gcs-web.com — Penn entertainment celebrates grand opening hollywood casino and</a:t>
            </a:r>
          </a:p>
        </p:txBody>
      </p:sp>
      <p:sp>
        <p:nvSpPr>
          <p:cNvPr id="11" name="">
            <a:extLst xmlns:a="http://schemas.openxmlformats.org/drawingml/2006/main">
              <a:ext uri="{FF2B5EF4-FFF2-40B4-BE49-F238E27FC236}">
                <a16:creationId xmlns:a16="http://schemas.microsoft.com/office/drawing/2014/main" id="{83084A01-2EF0-4E47-A758-F9BD0925E711}"/>
              </a:ext>
            </a:extLst>
          </p:cNvPr>
          <p:cNvSpPr>
            <a:spLocks xmlns:a="http://schemas.openxmlformats.org/drawingml/2006/main" noGrp="1"/>
          </p:cNvSpPr>
          <p:nvPr/>
        </p:nvSpPr>
        <p:spPr>
          <a:xfrm xmlns:a="http://schemas.openxmlformats.org/drawingml/2006/main">
            <a:off x="514350" y="25241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[10]  ballys.com — Ballys Announces Refreshed Site Plan that Restores 500 room Hotel Tower Plan into Single Phase Pro…</a:t>
            </a:r>
          </a:p>
        </p:txBody>
      </p:sp>
      <p:sp>
        <p:nvSpPr>
          <p:cNvPr id="12" name="">
            <a:extLst xmlns:a="http://schemas.openxmlformats.org/drawingml/2006/main">
              <a:ext uri="{FF2B5EF4-FFF2-40B4-BE49-F238E27FC236}">
                <a16:creationId xmlns:a16="http://schemas.microsoft.com/office/drawing/2014/main" id="{D39D03FA-C687-4C94-9594-A926E980283C}"/>
              </a:ext>
            </a:extLst>
          </p:cNvPr>
          <p:cNvSpPr>
            <a:spLocks xmlns:a="http://schemas.openxmlformats.org/drawingml/2006/main" noGrp="1"/>
          </p:cNvSpPr>
          <p:nvPr/>
        </p:nvSpPr>
        <p:spPr>
          <a:xfrm xmlns:a="http://schemas.openxmlformats.org/drawingml/2006/main">
            <a:off x="514350" y="26860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[11]  investors.fullhouseresorts.com — Fll 20251231x10k</a:t>
            </a:r>
          </a:p>
        </p:txBody>
      </p:sp>
      <p:sp>
        <p:nvSpPr>
          <p:cNvPr id="13" name="">
            <a:extLst xmlns:a="http://schemas.openxmlformats.org/drawingml/2006/main">
              <a:ext uri="{FF2B5EF4-FFF2-40B4-BE49-F238E27FC236}">
                <a16:creationId xmlns:a16="http://schemas.microsoft.com/office/drawing/2014/main" id="{6C448530-C8F5-4D30-BE6B-02942A181E49}"/>
              </a:ext>
            </a:extLst>
          </p:cNvPr>
          <p:cNvSpPr>
            <a:spLocks xmlns:a="http://schemas.openxmlformats.org/drawingml/2006/main" noGrp="1"/>
          </p:cNvSpPr>
          <p:nvPr/>
        </p:nvSpPr>
        <p:spPr>
          <a:xfrm xmlns:a="http://schemas.openxmlformats.org/drawingml/2006/main">
            <a:off x="514350" y="28479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[12]  investors.fullhouseresorts.com — Fll 20240509xdef14a</a:t>
            </a:r>
          </a:p>
        </p:txBody>
      </p:sp>
      <p:sp>
        <p:nvSpPr>
          <p:cNvPr id="14" name="">
            <a:extLst xmlns:a="http://schemas.openxmlformats.org/drawingml/2006/main">
              <a:ext uri="{FF2B5EF4-FFF2-40B4-BE49-F238E27FC236}">
                <a16:creationId xmlns:a16="http://schemas.microsoft.com/office/drawing/2014/main" id="{1A68CA92-1F71-4F35-BBA6-D4F65C5ABEDD}"/>
              </a:ext>
            </a:extLst>
          </p:cNvPr>
          <p:cNvSpPr>
            <a:spLocks xmlns:a="http://schemas.openxmlformats.org/drawingml/2006/main" noGrp="1"/>
          </p:cNvSpPr>
          <p:nvPr/>
        </p:nvSpPr>
        <p:spPr>
          <a:xfrm xmlns:a="http://schemas.openxmlformats.org/drawingml/2006/main">
            <a:off x="514350" y="30099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[13]  illinois.gov — 32616 061226 r gaming board meeting june 2026 final.pdf</a:t>
            </a:r>
          </a:p>
        </p:txBody>
      </p:sp>
      <p:sp>
        <p:nvSpPr>
          <p:cNvPr id="15" name="">
            <a:extLst xmlns:a="http://schemas.openxmlformats.org/drawingml/2006/main">
              <a:ext uri="{FF2B5EF4-FFF2-40B4-BE49-F238E27FC236}">
                <a16:creationId xmlns:a16="http://schemas.microsoft.com/office/drawing/2014/main" id="{50BC7097-635A-4C17-B54F-167226B2DA31}"/>
              </a:ext>
            </a:extLst>
          </p:cNvPr>
          <p:cNvSpPr>
            <a:spLocks xmlns:a="http://schemas.openxmlformats.org/drawingml/2006/main" noGrp="1"/>
          </p:cNvSpPr>
          <p:nvPr/>
        </p:nvSpPr>
        <p:spPr>
          <a:xfrm xmlns:a="http://schemas.openxmlformats.org/drawingml/2006/main">
            <a:off x="514350" y="31718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[14]  investors.fullhouseresorts.com — Full house resorts announces fourth quarter results</a:t>
            </a:r>
          </a:p>
        </p:txBody>
      </p:sp>
      <p:sp>
        <p:nvSpPr>
          <p:cNvPr id="16" name="">
            <a:extLst xmlns:a="http://schemas.openxmlformats.org/drawingml/2006/main">
              <a:ext uri="{FF2B5EF4-FFF2-40B4-BE49-F238E27FC236}">
                <a16:creationId xmlns:a16="http://schemas.microsoft.com/office/drawing/2014/main" id="{AAC185E9-65DF-40C5-BAA7-76975C01939F}"/>
              </a:ext>
            </a:extLst>
          </p:cNvPr>
          <p:cNvSpPr>
            <a:spLocks xmlns:a="http://schemas.openxmlformats.org/drawingml/2006/main" noGrp="1"/>
          </p:cNvSpPr>
          <p:nvPr/>
        </p:nvSpPr>
        <p:spPr>
          <a:xfrm xmlns:a="http://schemas.openxmlformats.org/drawingml/2006/main">
            <a:off x="514350" y="33337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[15, 51]  americanplace.com</a:t>
            </a:r>
          </a:p>
        </p:txBody>
      </p:sp>
      <p:sp>
        <p:nvSpPr>
          <p:cNvPr id="17" name="">
            <a:extLst xmlns:a="http://schemas.openxmlformats.org/drawingml/2006/main">
              <a:ext uri="{FF2B5EF4-FFF2-40B4-BE49-F238E27FC236}">
                <a16:creationId xmlns:a16="http://schemas.microsoft.com/office/drawing/2014/main" id="{417E1857-DBF5-43B6-AA5B-BE1CAB1F5C55}"/>
              </a:ext>
            </a:extLst>
          </p:cNvPr>
          <p:cNvSpPr>
            <a:spLocks xmlns:a="http://schemas.openxmlformats.org/drawingml/2006/main" noGrp="1"/>
          </p:cNvSpPr>
          <p:nvPr/>
        </p:nvSpPr>
        <p:spPr>
          <a:xfrm xmlns:a="http://schemas.openxmlformats.org/drawingml/2006/main">
            <a:off x="514350" y="34956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[16]  sec.gov — Fll 20260303x8k</a:t>
            </a:r>
          </a:p>
        </p:txBody>
      </p:sp>
      <p:sp>
        <p:nvSpPr>
          <p:cNvPr id="18" name="">
            <a:extLst xmlns:a="http://schemas.openxmlformats.org/drawingml/2006/main">
              <a:ext uri="{FF2B5EF4-FFF2-40B4-BE49-F238E27FC236}">
                <a16:creationId xmlns:a16="http://schemas.microsoft.com/office/drawing/2014/main" id="{3D36B3AB-06C4-4867-B129-9EF271B5056C}"/>
              </a:ext>
            </a:extLst>
          </p:cNvPr>
          <p:cNvSpPr>
            <a:spLocks xmlns:a="http://schemas.openxmlformats.org/drawingml/2006/main" noGrp="1"/>
          </p:cNvSpPr>
          <p:nvPr/>
        </p:nvSpPr>
        <p:spPr>
          <a:xfrm xmlns:a="http://schemas.openxmlformats.org/drawingml/2006/main">
            <a:off x="514350" y="36576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[17]  illinois.gov — 26599 illinois gaming board finds chicago casino applicant preliminarily suitable</a:t>
            </a:r>
          </a:p>
        </p:txBody>
      </p:sp>
      <p:sp>
        <p:nvSpPr>
          <p:cNvPr id="19" name="">
            <a:extLst xmlns:a="http://schemas.openxmlformats.org/drawingml/2006/main">
              <a:ext uri="{FF2B5EF4-FFF2-40B4-BE49-F238E27FC236}">
                <a16:creationId xmlns:a16="http://schemas.microsoft.com/office/drawing/2014/main" id="{6F68B604-79C8-49CD-935A-C57439ABE3C5}"/>
              </a:ext>
            </a:extLst>
          </p:cNvPr>
          <p:cNvSpPr>
            <a:spLocks xmlns:a="http://schemas.openxmlformats.org/drawingml/2006/main" noGrp="1"/>
          </p:cNvSpPr>
          <p:nvPr/>
        </p:nvSpPr>
        <p:spPr>
          <a:xfrm xmlns:a="http://schemas.openxmlformats.org/drawingml/2006/main">
            <a:off x="514350" y="38195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[18]  americanplace.com — Harbor poker room</a:t>
            </a:r>
          </a:p>
        </p:txBody>
      </p:sp>
      <p:sp>
        <p:nvSpPr>
          <p:cNvPr id="20" name="">
            <a:extLst xmlns:a="http://schemas.openxmlformats.org/drawingml/2006/main">
              <a:ext uri="{FF2B5EF4-FFF2-40B4-BE49-F238E27FC236}">
                <a16:creationId xmlns:a16="http://schemas.microsoft.com/office/drawing/2014/main" id="{6F193B72-BFE3-4E51-ADDB-181DD9055E45}"/>
              </a:ext>
            </a:extLst>
          </p:cNvPr>
          <p:cNvSpPr>
            <a:spLocks xmlns:a="http://schemas.openxmlformats.org/drawingml/2006/main" noGrp="1"/>
          </p:cNvSpPr>
          <p:nvPr/>
        </p:nvSpPr>
        <p:spPr>
          <a:xfrm xmlns:a="http://schemas.openxmlformats.org/drawingml/2006/main">
            <a:off x="514350" y="39814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[19]  americanplace.com — Sportsbook</a:t>
            </a:r>
          </a:p>
        </p:txBody>
      </p:sp>
      <p:sp>
        <p:nvSpPr>
          <p:cNvPr id="21" name="">
            <a:extLst xmlns:a="http://schemas.openxmlformats.org/drawingml/2006/main">
              <a:ext uri="{FF2B5EF4-FFF2-40B4-BE49-F238E27FC236}">
                <a16:creationId xmlns:a16="http://schemas.microsoft.com/office/drawing/2014/main" id="{CE6615CA-1E16-462A-A60E-891D65147A17}"/>
              </a:ext>
            </a:extLst>
          </p:cNvPr>
          <p:cNvSpPr>
            <a:spLocks xmlns:a="http://schemas.openxmlformats.org/drawingml/2006/main" noGrp="1"/>
          </p:cNvSpPr>
          <p:nvPr/>
        </p:nvSpPr>
        <p:spPr>
          <a:xfrm xmlns:a="http://schemas.openxmlformats.org/drawingml/2006/main">
            <a:off x="514350" y="41433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[20]  americanplace.com — Entertainment</a:t>
            </a:r>
          </a:p>
        </p:txBody>
      </p:sp>
      <p:sp>
        <p:nvSpPr>
          <p:cNvPr id="22" name="">
            <a:extLst xmlns:a="http://schemas.openxmlformats.org/drawingml/2006/main">
              <a:ext uri="{FF2B5EF4-FFF2-40B4-BE49-F238E27FC236}">
                <a16:creationId xmlns:a16="http://schemas.microsoft.com/office/drawing/2014/main" id="{E9B5F4A8-7EAB-4E7A-8267-03FFF5E3E3AB}"/>
              </a:ext>
            </a:extLst>
          </p:cNvPr>
          <p:cNvSpPr>
            <a:spLocks xmlns:a="http://schemas.openxmlformats.org/drawingml/2006/main" noGrp="1"/>
          </p:cNvSpPr>
          <p:nvPr/>
        </p:nvSpPr>
        <p:spPr>
          <a:xfrm xmlns:a="http://schemas.openxmlformats.org/drawingml/2006/main">
            <a:off x="514350" y="43053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[21]  sec.gov — Fll 20250515xdef14a</a:t>
            </a:r>
          </a:p>
        </p:txBody>
      </p:sp>
      <p:sp>
        <p:nvSpPr>
          <p:cNvPr id="23" name="">
            <a:extLst xmlns:a="http://schemas.openxmlformats.org/drawingml/2006/main">
              <a:ext uri="{FF2B5EF4-FFF2-40B4-BE49-F238E27FC236}">
                <a16:creationId xmlns:a16="http://schemas.microsoft.com/office/drawing/2014/main" id="{94F9FB47-A35B-43B7-A26D-9303A21E8CCE}"/>
              </a:ext>
            </a:extLst>
          </p:cNvPr>
          <p:cNvSpPr>
            <a:spLocks xmlns:a="http://schemas.openxmlformats.org/drawingml/2006/main" noGrp="1"/>
          </p:cNvSpPr>
          <p:nvPr/>
        </p:nvSpPr>
        <p:spPr>
          <a:xfrm xmlns:a="http://schemas.openxmlformats.org/drawingml/2006/main">
            <a:off x="514350" y="44672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[22]  americanplace.com — Rewards</a:t>
            </a:r>
          </a:p>
        </p:txBody>
      </p:sp>
      <p:sp>
        <p:nvSpPr>
          <p:cNvPr id="24" name="">
            <a:extLst xmlns:a="http://schemas.openxmlformats.org/drawingml/2006/main">
              <a:ext uri="{FF2B5EF4-FFF2-40B4-BE49-F238E27FC236}">
                <a16:creationId xmlns:a16="http://schemas.microsoft.com/office/drawing/2014/main" id="{95913C6B-CF58-4934-80C3-908FCF4CE8F1}"/>
              </a:ext>
            </a:extLst>
          </p:cNvPr>
          <p:cNvSpPr>
            <a:spLocks xmlns:a="http://schemas.openxmlformats.org/drawingml/2006/main" noGrp="1"/>
          </p:cNvSpPr>
          <p:nvPr/>
        </p:nvSpPr>
        <p:spPr>
          <a:xfrm xmlns:a="http://schemas.openxmlformats.org/drawingml/2006/main">
            <a:off x="514350" y="46291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[23]  americanplace.com — Terms conditions ap rewards</a:t>
            </a:r>
          </a:p>
        </p:txBody>
      </p:sp>
      <p:sp>
        <p:nvSpPr>
          <p:cNvPr id="25" name="">
            <a:extLst xmlns:a="http://schemas.openxmlformats.org/drawingml/2006/main">
              <a:ext uri="{FF2B5EF4-FFF2-40B4-BE49-F238E27FC236}">
                <a16:creationId xmlns:a16="http://schemas.microsoft.com/office/drawing/2014/main" id="{BD62F457-08B1-441A-97D4-2851540D01DD}"/>
              </a:ext>
            </a:extLst>
          </p:cNvPr>
          <p:cNvSpPr>
            <a:spLocks xmlns:a="http://schemas.openxmlformats.org/drawingml/2006/main" noGrp="1"/>
          </p:cNvSpPr>
          <p:nvPr/>
        </p:nvSpPr>
        <p:spPr>
          <a:xfrm xmlns:a="http://schemas.openxmlformats.org/drawingml/2006/main">
            <a:off x="514350" y="47910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[24]  americanplace.com — Canoe bar</a:t>
            </a:r>
          </a:p>
        </p:txBody>
      </p:sp>
      <p:sp>
        <p:nvSpPr>
          <p:cNvPr id="26" name="">
            <a:extLst xmlns:a="http://schemas.openxmlformats.org/drawingml/2006/main">
              <a:ext uri="{FF2B5EF4-FFF2-40B4-BE49-F238E27FC236}">
                <a16:creationId xmlns:a16="http://schemas.microsoft.com/office/drawing/2014/main" id="{7E8407BF-BF18-4E1F-AC29-BB11F05D56F2}"/>
              </a:ext>
            </a:extLst>
          </p:cNvPr>
          <p:cNvSpPr>
            <a:spLocks xmlns:a="http://schemas.openxmlformats.org/drawingml/2006/main" noGrp="1"/>
          </p:cNvSpPr>
          <p:nvPr/>
        </p:nvSpPr>
        <p:spPr>
          <a:xfrm xmlns:a="http://schemas.openxmlformats.org/drawingml/2006/main">
            <a:off x="514350" y="49530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[25]  americanplace.com — The lighthouse</a:t>
            </a:r>
          </a:p>
        </p:txBody>
      </p:sp>
      <p:sp>
        <p:nvSpPr>
          <p:cNvPr id="27" name="">
            <a:extLst xmlns:a="http://schemas.openxmlformats.org/drawingml/2006/main">
              <a:ext uri="{FF2B5EF4-FFF2-40B4-BE49-F238E27FC236}">
                <a16:creationId xmlns:a16="http://schemas.microsoft.com/office/drawing/2014/main" id="{D8BA1261-AD7C-47B0-ACE9-493218815700}"/>
              </a:ext>
            </a:extLst>
          </p:cNvPr>
          <p:cNvSpPr>
            <a:spLocks xmlns:a="http://schemas.openxmlformats.org/drawingml/2006/main" noGrp="1"/>
          </p:cNvSpPr>
          <p:nvPr/>
        </p:nvSpPr>
        <p:spPr>
          <a:xfrm xmlns:a="http://schemas.openxmlformats.org/drawingml/2006/main">
            <a:off x="514350" y="51149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[26]  americanplace.com — Meetings and social events</a:t>
            </a:r>
          </a:p>
        </p:txBody>
      </p:sp>
      <p:sp>
        <p:nvSpPr>
          <p:cNvPr id="28" name="">
            <a:extLst xmlns:a="http://schemas.openxmlformats.org/drawingml/2006/main">
              <a:ext uri="{FF2B5EF4-FFF2-40B4-BE49-F238E27FC236}">
                <a16:creationId xmlns:a16="http://schemas.microsoft.com/office/drawing/2014/main" id="{FE7D2F36-C36E-4699-81EF-7EEB6E66A7C8}"/>
              </a:ext>
            </a:extLst>
          </p:cNvPr>
          <p:cNvSpPr>
            <a:spLocks xmlns:a="http://schemas.openxmlformats.org/drawingml/2006/main" noGrp="1"/>
          </p:cNvSpPr>
          <p:nvPr/>
        </p:nvSpPr>
        <p:spPr>
          <a:xfrm xmlns:a="http://schemas.openxmlformats.org/drawingml/2006/main">
            <a:off x="514350" y="52768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[27]  illinois.gov — 31575 080425 r advertisingrulesfinalaug2025.pdf</a:t>
            </a:r>
          </a:p>
        </p:txBody>
      </p:sp>
      <p:sp>
        <p:nvSpPr>
          <p:cNvPr id="29" name="">
            <a:extLst xmlns:a="http://schemas.openxmlformats.org/drawingml/2006/main">
              <a:ext uri="{FF2B5EF4-FFF2-40B4-BE49-F238E27FC236}">
                <a16:creationId xmlns:a16="http://schemas.microsoft.com/office/drawing/2014/main" id="{45A92801-A3C9-4BE3-A8FB-8912B7466EDB}"/>
              </a:ext>
            </a:extLst>
          </p:cNvPr>
          <p:cNvSpPr>
            <a:spLocks xmlns:a="http://schemas.openxmlformats.org/drawingml/2006/main" noGrp="1"/>
          </p:cNvSpPr>
          <p:nvPr/>
        </p:nvSpPr>
        <p:spPr>
          <a:xfrm xmlns:a="http://schemas.openxmlformats.org/drawingml/2006/main">
            <a:off x="514350" y="54387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[28, 85, 88]  investors.fullhouseresorts.com — Content</a:t>
            </a:r>
          </a:p>
        </p:txBody>
      </p:sp>
      <p:sp>
        <p:nvSpPr>
          <p:cNvPr id="30" name="">
            <a:extLst xmlns:a="http://schemas.openxmlformats.org/drawingml/2006/main">
              <a:ext uri="{FF2B5EF4-FFF2-40B4-BE49-F238E27FC236}">
                <a16:creationId xmlns:a16="http://schemas.microsoft.com/office/drawing/2014/main" id="{EC8049C2-F706-46A1-AEDD-6E5E7D830830}"/>
              </a:ext>
            </a:extLst>
          </p:cNvPr>
          <p:cNvSpPr>
            <a:spLocks xmlns:a="http://schemas.openxmlformats.org/drawingml/2006/main" noGrp="1"/>
          </p:cNvSpPr>
          <p:nvPr/>
        </p:nvSpPr>
        <p:spPr>
          <a:xfrm xmlns:a="http://schemas.openxmlformats.org/drawingml/2006/main">
            <a:off x="514350" y="56007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[29]  cdcgaming.com — Illinois casino revenue rises 10 8 to 192 8 million in august</a:t>
            </a:r>
          </a:p>
        </p:txBody>
      </p:sp>
      <p:sp>
        <p:nvSpPr>
          <p:cNvPr id="31" name="">
            <a:extLst xmlns:a="http://schemas.openxmlformats.org/drawingml/2006/main">
              <a:ext uri="{FF2B5EF4-FFF2-40B4-BE49-F238E27FC236}">
                <a16:creationId xmlns:a16="http://schemas.microsoft.com/office/drawing/2014/main" id="{13BDAE85-E8DB-4137-9248-920A6F5162B8}"/>
              </a:ext>
            </a:extLst>
          </p:cNvPr>
          <p:cNvSpPr>
            <a:spLocks xmlns:a="http://schemas.openxmlformats.org/drawingml/2006/main" noGrp="1"/>
          </p:cNvSpPr>
          <p:nvPr/>
        </p:nvSpPr>
        <p:spPr>
          <a:xfrm xmlns:a="http://schemas.openxmlformats.org/drawingml/2006/main">
            <a:off x="514350" y="57626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[30]  americanplace.com — Full house resorts to break ground on the permanent american place casino</a:t>
            </a:r>
          </a:p>
        </p:txBody>
      </p:sp>
      <p:sp>
        <p:nvSpPr>
          <p:cNvPr id="32" name="">
            <a:extLst xmlns:a="http://schemas.openxmlformats.org/drawingml/2006/main">
              <a:ext uri="{FF2B5EF4-FFF2-40B4-BE49-F238E27FC236}">
                <a16:creationId xmlns:a16="http://schemas.microsoft.com/office/drawing/2014/main" id="{D5BEC3C3-AFC5-4E14-B657-B4E8EA305085}"/>
              </a:ext>
            </a:extLst>
          </p:cNvPr>
          <p:cNvSpPr>
            <a:spLocks xmlns:a="http://schemas.openxmlformats.org/drawingml/2006/main" noGrp="1"/>
          </p:cNvSpPr>
          <p:nvPr/>
        </p:nvSpPr>
        <p:spPr>
          <a:xfrm xmlns:a="http://schemas.openxmlformats.org/drawingml/2006/main">
            <a:off x="514350" y="59245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[31]  sec.gov — Fll 20260902xex10d1</a:t>
            </a:r>
          </a:p>
        </p:txBody>
      </p:sp>
      <p:sp>
        <p:nvSpPr>
          <p:cNvPr id="33" name="">
            <a:extLst xmlns:a="http://schemas.openxmlformats.org/drawingml/2006/main">
              <a:ext uri="{FF2B5EF4-FFF2-40B4-BE49-F238E27FC236}">
                <a16:creationId xmlns:a16="http://schemas.microsoft.com/office/drawing/2014/main" id="{14A40C38-E145-40D2-9DCF-079C16B82539}"/>
              </a:ext>
            </a:extLst>
          </p:cNvPr>
          <p:cNvSpPr>
            <a:spLocks xmlns:a="http://schemas.openxmlformats.org/drawingml/2006/main" noGrp="1"/>
          </p:cNvSpPr>
          <p:nvPr/>
        </p:nvSpPr>
        <p:spPr>
          <a:xfrm xmlns:a="http://schemas.openxmlformats.org/drawingml/2006/main">
            <a:off x="514350" y="60864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[32]  riverscasino.com — Poker room</a:t>
            </a:r>
          </a:p>
        </p:txBody>
      </p:sp>
      <p:sp>
        <p:nvSpPr>
          <p:cNvPr id="34" name="">
            <a:extLst xmlns:a="http://schemas.openxmlformats.org/drawingml/2006/main">
              <a:ext uri="{FF2B5EF4-FFF2-40B4-BE49-F238E27FC236}">
                <a16:creationId xmlns:a16="http://schemas.microsoft.com/office/drawing/2014/main" id="{289C6B08-281E-406B-A4BF-0BB6CAA89E48}"/>
              </a:ext>
            </a:extLst>
          </p:cNvPr>
          <p:cNvSpPr>
            <a:spLocks xmlns:a="http://schemas.openxmlformats.org/drawingml/2006/main" noGrp="1"/>
          </p:cNvSpPr>
          <p:nvPr/>
        </p:nvSpPr>
        <p:spPr>
          <a:xfrm xmlns:a="http://schemas.openxmlformats.org/drawingml/2006/main">
            <a:off x="6229350" y="10668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[33]  windcreek.com — Poker</a:t>
            </a:r>
          </a:p>
        </p:txBody>
      </p:sp>
      <p:sp>
        <p:nvSpPr>
          <p:cNvPr id="35" name="">
            <a:extLst xmlns:a="http://schemas.openxmlformats.org/drawingml/2006/main">
              <a:ext uri="{FF2B5EF4-FFF2-40B4-BE49-F238E27FC236}">
                <a16:creationId xmlns:a16="http://schemas.microsoft.com/office/drawing/2014/main" id="{0F5260F4-2AC0-4C6E-B47D-48736E674255}"/>
              </a:ext>
            </a:extLst>
          </p:cNvPr>
          <p:cNvSpPr>
            <a:spLocks xmlns:a="http://schemas.openxmlformats.org/drawingml/2006/main" noGrp="1"/>
          </p:cNvSpPr>
          <p:nvPr/>
        </p:nvSpPr>
        <p:spPr>
          <a:xfrm xmlns:a="http://schemas.openxmlformats.org/drawingml/2006/main">
            <a:off x="6229350" y="12287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[34]  americanplace.com — 2026 AP Rewards Rack Card</a:t>
            </a:r>
          </a:p>
        </p:txBody>
      </p:sp>
      <p:sp>
        <p:nvSpPr>
          <p:cNvPr id="36" name="">
            <a:extLst xmlns:a="http://schemas.openxmlformats.org/drawingml/2006/main">
              <a:ext uri="{FF2B5EF4-FFF2-40B4-BE49-F238E27FC236}">
                <a16:creationId xmlns:a16="http://schemas.microsoft.com/office/drawing/2014/main" id="{171B7CD2-43EC-4D39-927A-53B5D946D412}"/>
              </a:ext>
            </a:extLst>
          </p:cNvPr>
          <p:cNvSpPr>
            <a:spLocks xmlns:a="http://schemas.openxmlformats.org/drawingml/2006/main" noGrp="1"/>
          </p:cNvSpPr>
          <p:nvPr/>
        </p:nvSpPr>
        <p:spPr>
          <a:xfrm xmlns:a="http://schemas.openxmlformats.org/drawingml/2006/main">
            <a:off x="6229350" y="13906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[35]  americanplace.com — Table games</a:t>
            </a:r>
          </a:p>
        </p:txBody>
      </p:sp>
      <p:sp>
        <p:nvSpPr>
          <p:cNvPr id="37" name="">
            <a:extLst xmlns:a="http://schemas.openxmlformats.org/drawingml/2006/main">
              <a:ext uri="{FF2B5EF4-FFF2-40B4-BE49-F238E27FC236}">
                <a16:creationId xmlns:a16="http://schemas.microsoft.com/office/drawing/2014/main" id="{C72BA92B-95C3-4360-A2FA-9D7D1777A658}"/>
              </a:ext>
            </a:extLst>
          </p:cNvPr>
          <p:cNvSpPr>
            <a:spLocks xmlns:a="http://schemas.openxmlformats.org/drawingml/2006/main" noGrp="1"/>
          </p:cNvSpPr>
          <p:nvPr/>
        </p:nvSpPr>
        <p:spPr>
          <a:xfrm xmlns:a="http://schemas.openxmlformats.org/drawingml/2006/main">
            <a:off x="6229350" y="15525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[36, 38]  americanplace.com — Faq</a:t>
            </a:r>
          </a:p>
        </p:txBody>
      </p:sp>
      <p:sp>
        <p:nvSpPr>
          <p:cNvPr id="38" name="">
            <a:extLst xmlns:a="http://schemas.openxmlformats.org/drawingml/2006/main">
              <a:ext uri="{FF2B5EF4-FFF2-40B4-BE49-F238E27FC236}">
                <a16:creationId xmlns:a16="http://schemas.microsoft.com/office/drawing/2014/main" id="{D04E5251-774F-4791-8E5A-8F0D644C4D00}"/>
              </a:ext>
            </a:extLst>
          </p:cNvPr>
          <p:cNvSpPr>
            <a:spLocks xmlns:a="http://schemas.openxmlformats.org/drawingml/2006/main" noGrp="1"/>
          </p:cNvSpPr>
          <p:nvPr/>
        </p:nvSpPr>
        <p:spPr>
          <a:xfrm xmlns:a="http://schemas.openxmlformats.org/drawingml/2006/main">
            <a:off x="6229350" y="17145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[37]  sec.gov — Fll 20260902x8k</a:t>
            </a:r>
          </a:p>
        </p:txBody>
      </p:sp>
      <p:sp>
        <p:nvSpPr>
          <p:cNvPr id="39" name="">
            <a:extLst xmlns:a="http://schemas.openxmlformats.org/drawingml/2006/main">
              <a:ext uri="{FF2B5EF4-FFF2-40B4-BE49-F238E27FC236}">
                <a16:creationId xmlns:a16="http://schemas.microsoft.com/office/drawing/2014/main" id="{D92D6921-77A3-431C-B1F9-0BDA8511A7D8}"/>
              </a:ext>
            </a:extLst>
          </p:cNvPr>
          <p:cNvSpPr>
            <a:spLocks xmlns:a="http://schemas.openxmlformats.org/drawingml/2006/main" noGrp="1"/>
          </p:cNvSpPr>
          <p:nvPr/>
        </p:nvSpPr>
        <p:spPr>
          <a:xfrm xmlns:a="http://schemas.openxmlformats.org/drawingml/2006/main">
            <a:off x="6229350" y="18764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[39]  americanplace.com — Dining</a:t>
            </a:r>
          </a:p>
        </p:txBody>
      </p:sp>
      <p:sp>
        <p:nvSpPr>
          <p:cNvPr id="40" name="">
            <a:extLst xmlns:a="http://schemas.openxmlformats.org/drawingml/2006/main">
              <a:ext uri="{FF2B5EF4-FFF2-40B4-BE49-F238E27FC236}">
                <a16:creationId xmlns:a16="http://schemas.microsoft.com/office/drawing/2014/main" id="{45ABFB6F-B22C-4FCB-A251-7024F14A905B}"/>
              </a:ext>
            </a:extLst>
          </p:cNvPr>
          <p:cNvSpPr>
            <a:spLocks xmlns:a="http://schemas.openxmlformats.org/drawingml/2006/main" noGrp="1"/>
          </p:cNvSpPr>
          <p:nvPr/>
        </p:nvSpPr>
        <p:spPr>
          <a:xfrm xmlns:a="http://schemas.openxmlformats.org/drawingml/2006/main">
            <a:off x="6229350" y="20383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[40]  ellisislandcasino.com — Play</a:t>
            </a:r>
          </a:p>
        </p:txBody>
      </p:sp>
      <p:sp>
        <p:nvSpPr>
          <p:cNvPr id="41" name="">
            <a:extLst xmlns:a="http://schemas.openxmlformats.org/drawingml/2006/main">
              <a:ext uri="{FF2B5EF4-FFF2-40B4-BE49-F238E27FC236}">
                <a16:creationId xmlns:a16="http://schemas.microsoft.com/office/drawing/2014/main" id="{F57E1154-7521-44A5-A57D-98364AEEB75C}"/>
              </a:ext>
            </a:extLst>
          </p:cNvPr>
          <p:cNvSpPr>
            <a:spLocks xmlns:a="http://schemas.openxmlformats.org/drawingml/2006/main" noGrp="1"/>
          </p:cNvSpPr>
          <p:nvPr/>
        </p:nvSpPr>
        <p:spPr>
          <a:xfrm xmlns:a="http://schemas.openxmlformats.org/drawingml/2006/main">
            <a:off x="6229350" y="22002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[41]  ellisislandcasino.com</a:t>
            </a:r>
          </a:p>
        </p:txBody>
      </p:sp>
      <p:sp>
        <p:nvSpPr>
          <p:cNvPr id="42" name="">
            <a:extLst xmlns:a="http://schemas.openxmlformats.org/drawingml/2006/main">
              <a:ext uri="{FF2B5EF4-FFF2-40B4-BE49-F238E27FC236}">
                <a16:creationId xmlns:a16="http://schemas.microsoft.com/office/drawing/2014/main" id="{8DC79172-4A67-47B8-A4AD-D9531CB2F5FF}"/>
              </a:ext>
            </a:extLst>
          </p:cNvPr>
          <p:cNvSpPr>
            <a:spLocks xmlns:a="http://schemas.openxmlformats.org/drawingml/2006/main" noGrp="1"/>
          </p:cNvSpPr>
          <p:nvPr/>
        </p:nvSpPr>
        <p:spPr>
          <a:xfrm xmlns:a="http://schemas.openxmlformats.org/drawingml/2006/main">
            <a:off x="6229350" y="23622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[42]  mriaim.com — Casino player development</a:t>
            </a:r>
          </a:p>
        </p:txBody>
      </p:sp>
      <p:sp>
        <p:nvSpPr>
          <p:cNvPr id="43" name="">
            <a:extLst xmlns:a="http://schemas.openxmlformats.org/drawingml/2006/main">
              <a:ext uri="{FF2B5EF4-FFF2-40B4-BE49-F238E27FC236}">
                <a16:creationId xmlns:a16="http://schemas.microsoft.com/office/drawing/2014/main" id="{D2F562F3-276B-4462-9A96-3BCBD00D3F5F}"/>
              </a:ext>
            </a:extLst>
          </p:cNvPr>
          <p:cNvSpPr>
            <a:spLocks xmlns:a="http://schemas.openxmlformats.org/drawingml/2006/main" noGrp="1"/>
          </p:cNvSpPr>
          <p:nvPr/>
        </p:nvSpPr>
        <p:spPr>
          <a:xfrm xmlns:a="http://schemas.openxmlformats.org/drawingml/2006/main">
            <a:off x="6229350" y="25241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[43]  playersoft.com — Hpm</a:t>
            </a:r>
          </a:p>
        </p:txBody>
      </p:sp>
      <p:sp>
        <p:nvSpPr>
          <p:cNvPr id="44" name="">
            <a:extLst xmlns:a="http://schemas.openxmlformats.org/drawingml/2006/main">
              <a:ext uri="{FF2B5EF4-FFF2-40B4-BE49-F238E27FC236}">
                <a16:creationId xmlns:a16="http://schemas.microsoft.com/office/drawing/2014/main" id="{4E4DAFA3-CB0F-4948-859C-B912B63F3359}"/>
              </a:ext>
            </a:extLst>
          </p:cNvPr>
          <p:cNvSpPr>
            <a:spLocks xmlns:a="http://schemas.openxmlformats.org/drawingml/2006/main" noGrp="1"/>
          </p:cNvSpPr>
          <p:nvPr/>
        </p:nvSpPr>
        <p:spPr>
          <a:xfrm xmlns:a="http://schemas.openxmlformats.org/drawingml/2006/main">
            <a:off x="6229350" y="26860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[44]  acsgaming.com</a:t>
            </a:r>
          </a:p>
        </p:txBody>
      </p:sp>
      <p:sp>
        <p:nvSpPr>
          <p:cNvPr id="45" name="">
            <a:extLst xmlns:a="http://schemas.openxmlformats.org/drawingml/2006/main">
              <a:ext uri="{FF2B5EF4-FFF2-40B4-BE49-F238E27FC236}">
                <a16:creationId xmlns:a16="http://schemas.microsoft.com/office/drawing/2014/main" id="{C0F2C4C4-9F99-4F5A-BCB5-70ADB98C70F1}"/>
              </a:ext>
            </a:extLst>
          </p:cNvPr>
          <p:cNvSpPr>
            <a:spLocks xmlns:a="http://schemas.openxmlformats.org/drawingml/2006/main" noGrp="1"/>
          </p:cNvSpPr>
          <p:nvPr/>
        </p:nvSpPr>
        <p:spPr>
          <a:xfrm xmlns:a="http://schemas.openxmlformats.org/drawingml/2006/main">
            <a:off x="6229350" y="28479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[45]  bestbetjax.com — History</a:t>
            </a:r>
          </a:p>
        </p:txBody>
      </p:sp>
      <p:sp>
        <p:nvSpPr>
          <p:cNvPr id="46" name="">
            <a:extLst xmlns:a="http://schemas.openxmlformats.org/drawingml/2006/main">
              <a:ext uri="{FF2B5EF4-FFF2-40B4-BE49-F238E27FC236}">
                <a16:creationId xmlns:a16="http://schemas.microsoft.com/office/drawing/2014/main" id="{6C84CE4E-A4BE-49B8-B446-349B67FBA44E}"/>
              </a:ext>
            </a:extLst>
          </p:cNvPr>
          <p:cNvSpPr>
            <a:spLocks xmlns:a="http://schemas.openxmlformats.org/drawingml/2006/main" noGrp="1"/>
          </p:cNvSpPr>
          <p:nvPr/>
        </p:nvSpPr>
        <p:spPr>
          <a:xfrm xmlns:a="http://schemas.openxmlformats.org/drawingml/2006/main">
            <a:off x="6229350" y="30099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[46]  bestbetjax.com — Past tournament results</a:t>
            </a:r>
          </a:p>
        </p:txBody>
      </p:sp>
      <p:sp>
        <p:nvSpPr>
          <p:cNvPr id="47" name="">
            <a:extLst xmlns:a="http://schemas.openxmlformats.org/drawingml/2006/main">
              <a:ext uri="{FF2B5EF4-FFF2-40B4-BE49-F238E27FC236}">
                <a16:creationId xmlns:a16="http://schemas.microsoft.com/office/drawing/2014/main" id="{0E772797-A0A1-4478-BA6A-C079AC1B6544}"/>
              </a:ext>
            </a:extLst>
          </p:cNvPr>
          <p:cNvSpPr>
            <a:spLocks xmlns:a="http://schemas.openxmlformats.org/drawingml/2006/main" noGrp="1"/>
          </p:cNvSpPr>
          <p:nvPr/>
        </p:nvSpPr>
        <p:spPr>
          <a:xfrm xmlns:a="http://schemas.openxmlformats.org/drawingml/2006/main">
            <a:off x="6229350" y="31718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[47]  jamusa.com — About</a:t>
            </a:r>
          </a:p>
        </p:txBody>
      </p:sp>
      <p:sp>
        <p:nvSpPr>
          <p:cNvPr id="48" name="">
            <a:extLst xmlns:a="http://schemas.openxmlformats.org/drawingml/2006/main">
              <a:ext uri="{FF2B5EF4-FFF2-40B4-BE49-F238E27FC236}">
                <a16:creationId xmlns:a16="http://schemas.microsoft.com/office/drawing/2014/main" id="{BB8A2106-67C7-41CD-9456-5A67187AA939}"/>
              </a:ext>
            </a:extLst>
          </p:cNvPr>
          <p:cNvSpPr>
            <a:spLocks xmlns:a="http://schemas.openxmlformats.org/drawingml/2006/main" noGrp="1"/>
          </p:cNvSpPr>
          <p:nvPr/>
        </p:nvSpPr>
        <p:spPr>
          <a:xfrm xmlns:a="http://schemas.openxmlformats.org/drawingml/2006/main">
            <a:off x="6229350" y="33337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[48]  mammothlive.com — About</a:t>
            </a:r>
          </a:p>
        </p:txBody>
      </p:sp>
      <p:sp>
        <p:nvSpPr>
          <p:cNvPr id="49" name="">
            <a:extLst xmlns:a="http://schemas.openxmlformats.org/drawingml/2006/main">
              <a:ext uri="{FF2B5EF4-FFF2-40B4-BE49-F238E27FC236}">
                <a16:creationId xmlns:a16="http://schemas.microsoft.com/office/drawing/2014/main" id="{EEB3F021-7B3D-4D3A-8E86-C919452B1E88}"/>
              </a:ext>
            </a:extLst>
          </p:cNvPr>
          <p:cNvSpPr>
            <a:spLocks xmlns:a="http://schemas.openxmlformats.org/drawingml/2006/main" noGrp="1"/>
          </p:cNvSpPr>
          <p:nvPr/>
        </p:nvSpPr>
        <p:spPr>
          <a:xfrm xmlns:a="http://schemas.openxmlformats.org/drawingml/2006/main">
            <a:off x="6229350" y="34956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[49]  pepperentertainment.com — About</a:t>
            </a:r>
          </a:p>
        </p:txBody>
      </p:sp>
      <p:sp>
        <p:nvSpPr>
          <p:cNvPr id="50" name="">
            <a:extLst xmlns:a="http://schemas.openxmlformats.org/drawingml/2006/main">
              <a:ext uri="{FF2B5EF4-FFF2-40B4-BE49-F238E27FC236}">
                <a16:creationId xmlns:a16="http://schemas.microsoft.com/office/drawing/2014/main" id="{08340278-A107-4073-B6F8-3AB54EAA3A24}"/>
              </a:ext>
            </a:extLst>
          </p:cNvPr>
          <p:cNvSpPr>
            <a:spLocks xmlns:a="http://schemas.openxmlformats.org/drawingml/2006/main" noGrp="1"/>
          </p:cNvSpPr>
          <p:nvPr/>
        </p:nvSpPr>
        <p:spPr>
          <a:xfrm xmlns:a="http://schemas.openxmlformats.org/drawingml/2006/main">
            <a:off x="6229350" y="36576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[52]  sportshandle.com — Circa sports illinois launch</a:t>
            </a:r>
          </a:p>
        </p:txBody>
      </p:sp>
      <p:sp>
        <p:nvSpPr>
          <p:cNvPr id="51" name="">
            <a:extLst xmlns:a="http://schemas.openxmlformats.org/drawingml/2006/main">
              <a:ext uri="{FF2B5EF4-FFF2-40B4-BE49-F238E27FC236}">
                <a16:creationId xmlns:a16="http://schemas.microsoft.com/office/drawing/2014/main" id="{DC1A388F-39F4-4D59-9BBB-0A9E086322AC}"/>
              </a:ext>
            </a:extLst>
          </p:cNvPr>
          <p:cNvSpPr>
            <a:spLocks xmlns:a="http://schemas.openxmlformats.org/drawingml/2006/main" noGrp="1"/>
          </p:cNvSpPr>
          <p:nvPr/>
        </p:nvSpPr>
        <p:spPr>
          <a:xfrm xmlns:a="http://schemas.openxmlformats.org/drawingml/2006/main">
            <a:off x="6229350" y="38195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[53]  igb.illinois.gov — 2024 igb annual report</a:t>
            </a:r>
          </a:p>
        </p:txBody>
      </p:sp>
      <p:sp>
        <p:nvSpPr>
          <p:cNvPr id="52" name="">
            <a:extLst xmlns:a="http://schemas.openxmlformats.org/drawingml/2006/main">
              <a:ext uri="{FF2B5EF4-FFF2-40B4-BE49-F238E27FC236}">
                <a16:creationId xmlns:a16="http://schemas.microsoft.com/office/drawing/2014/main" id="{4656050B-8CC3-4881-BE06-701624D18973}"/>
              </a:ext>
            </a:extLst>
          </p:cNvPr>
          <p:cNvSpPr>
            <a:spLocks xmlns:a="http://schemas.openxmlformats.org/drawingml/2006/main" noGrp="1"/>
          </p:cNvSpPr>
          <p:nvPr/>
        </p:nvSpPr>
        <p:spPr>
          <a:xfrm xmlns:a="http://schemas.openxmlformats.org/drawingml/2006/main">
            <a:off x="6229350" y="39814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[54]  circasports.com — Illinois locations</a:t>
            </a:r>
          </a:p>
        </p:txBody>
      </p:sp>
      <p:sp>
        <p:nvSpPr>
          <p:cNvPr id="53" name="">
            <a:extLst xmlns:a="http://schemas.openxmlformats.org/drawingml/2006/main">
              <a:ext uri="{FF2B5EF4-FFF2-40B4-BE49-F238E27FC236}">
                <a16:creationId xmlns:a16="http://schemas.microsoft.com/office/drawing/2014/main" id="{5603C9A2-2B8C-4D30-89B4-16D66674D451}"/>
              </a:ext>
            </a:extLst>
          </p:cNvPr>
          <p:cNvSpPr>
            <a:spLocks xmlns:a="http://schemas.openxmlformats.org/drawingml/2006/main" noGrp="1"/>
          </p:cNvSpPr>
          <p:nvPr/>
        </p:nvSpPr>
        <p:spPr>
          <a:xfrm xmlns:a="http://schemas.openxmlformats.org/drawingml/2006/main">
            <a:off x="6229350" y="41433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[58, 60, 64, 67, 70, 73, 74, 91]  doc.binocs.co — American casinos CIM</a:t>
            </a:r>
          </a:p>
        </p:txBody>
      </p:sp>
      <p:sp>
        <p:nvSpPr>
          <p:cNvPr id="54" name="">
            <a:extLst xmlns:a="http://schemas.openxmlformats.org/drawingml/2006/main">
              <a:ext uri="{FF2B5EF4-FFF2-40B4-BE49-F238E27FC236}">
                <a16:creationId xmlns:a16="http://schemas.microsoft.com/office/drawing/2014/main" id="{8F85E925-E159-4ADB-9C95-068AB5A21EAA}"/>
              </a:ext>
            </a:extLst>
          </p:cNvPr>
          <p:cNvSpPr>
            <a:spLocks xmlns:a="http://schemas.openxmlformats.org/drawingml/2006/main" noGrp="1"/>
          </p:cNvSpPr>
          <p:nvPr/>
        </p:nvSpPr>
        <p:spPr>
          <a:xfrm xmlns:a="http://schemas.openxmlformats.org/drawingml/2006/main">
            <a:off x="6229350" y="43053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[75]  americanplace.com — Gaming</a:t>
            </a:r>
          </a:p>
        </p:txBody>
      </p:sp>
      <p:sp>
        <p:nvSpPr>
          <p:cNvPr id="55" name="">
            <a:extLst xmlns:a="http://schemas.openxmlformats.org/drawingml/2006/main">
              <a:ext uri="{FF2B5EF4-FFF2-40B4-BE49-F238E27FC236}">
                <a16:creationId xmlns:a16="http://schemas.microsoft.com/office/drawing/2014/main" id="{848006E9-8C62-4043-AEE1-2D80124D0A81}"/>
              </a:ext>
            </a:extLst>
          </p:cNvPr>
          <p:cNvSpPr>
            <a:spLocks xmlns:a="http://schemas.openxmlformats.org/drawingml/2006/main" noGrp="1"/>
          </p:cNvSpPr>
          <p:nvPr/>
        </p:nvSpPr>
        <p:spPr>
          <a:xfrm xmlns:a="http://schemas.openxmlformats.org/drawingml/2006/main">
            <a:off x="6229350" y="44672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[76]  ielp.gcs-web.com — Edea9789 34db 4478 b8da 5610a0cf526e</a:t>
            </a:r>
          </a:p>
        </p:txBody>
      </p:sp>
      <p:sp>
        <p:nvSpPr>
          <p:cNvPr id="56" name="">
            <a:extLst xmlns:a="http://schemas.openxmlformats.org/drawingml/2006/main">
              <a:ext uri="{FF2B5EF4-FFF2-40B4-BE49-F238E27FC236}">
                <a16:creationId xmlns:a16="http://schemas.microsoft.com/office/drawing/2014/main" id="{41E0F97C-DA77-4D56-99BB-66BB975D20D3}"/>
              </a:ext>
            </a:extLst>
          </p:cNvPr>
          <p:cNvSpPr>
            <a:spLocks xmlns:a="http://schemas.openxmlformats.org/drawingml/2006/main" noGrp="1"/>
          </p:cNvSpPr>
          <p:nvPr/>
        </p:nvSpPr>
        <p:spPr>
          <a:xfrm xmlns:a="http://schemas.openxmlformats.org/drawingml/2006/main">
            <a:off x="6229350" y="46291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[77]  americanplace.com — Full house resorts and american place casino name mario maesano as assistant general manager</a:t>
            </a:r>
          </a:p>
        </p:txBody>
      </p:sp>
      <p:sp>
        <p:nvSpPr>
          <p:cNvPr id="57" name="">
            <a:extLst xmlns:a="http://schemas.openxmlformats.org/drawingml/2006/main">
              <a:ext uri="{FF2B5EF4-FFF2-40B4-BE49-F238E27FC236}">
                <a16:creationId xmlns:a16="http://schemas.microsoft.com/office/drawing/2014/main" id="{32F40729-DCE0-4B17-8AF2-523F98D09C81}"/>
              </a:ext>
            </a:extLst>
          </p:cNvPr>
          <p:cNvSpPr>
            <a:spLocks xmlns:a="http://schemas.openxmlformats.org/drawingml/2006/main" noGrp="1"/>
          </p:cNvSpPr>
          <p:nvPr/>
        </p:nvSpPr>
        <p:spPr>
          <a:xfrm xmlns:a="http://schemas.openxmlformats.org/drawingml/2006/main">
            <a:off x="6229350" y="47910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[78]  par.illinoiscomptroller.gov — Index.cfm</a:t>
            </a:r>
          </a:p>
        </p:txBody>
      </p:sp>
      <p:sp>
        <p:nvSpPr>
          <p:cNvPr id="58" name="">
            <a:extLst xmlns:a="http://schemas.openxmlformats.org/drawingml/2006/main">
              <a:ext uri="{FF2B5EF4-FFF2-40B4-BE49-F238E27FC236}">
                <a16:creationId xmlns:a16="http://schemas.microsoft.com/office/drawing/2014/main" id="{ECB2BD0D-7BC5-4673-BF02-AE7E3C5AEC40}"/>
              </a:ext>
            </a:extLst>
          </p:cNvPr>
          <p:cNvSpPr>
            <a:spLocks xmlns:a="http://schemas.openxmlformats.org/drawingml/2006/main" noGrp="1"/>
          </p:cNvSpPr>
          <p:nvPr/>
        </p:nvSpPr>
        <p:spPr>
          <a:xfrm xmlns:a="http://schemas.openxmlformats.org/drawingml/2006/main">
            <a:off x="6229350" y="49530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[79]  budget.illinois.gov — Fiscal Year 2026 Operating Budget</a:t>
            </a:r>
          </a:p>
        </p:txBody>
      </p:sp>
      <p:sp>
        <p:nvSpPr>
          <p:cNvPr id="59" name="">
            <a:extLst xmlns:a="http://schemas.openxmlformats.org/drawingml/2006/main">
              <a:ext uri="{FF2B5EF4-FFF2-40B4-BE49-F238E27FC236}">
                <a16:creationId xmlns:a16="http://schemas.microsoft.com/office/drawing/2014/main" id="{3CADA5BE-FEF9-4A2F-9878-70E8587C5149}"/>
              </a:ext>
            </a:extLst>
          </p:cNvPr>
          <p:cNvSpPr>
            <a:spLocks xmlns:a="http://schemas.openxmlformats.org/drawingml/2006/main" noGrp="1"/>
          </p:cNvSpPr>
          <p:nvPr/>
        </p:nvSpPr>
        <p:spPr>
          <a:xfrm xmlns:a="http://schemas.openxmlformats.org/drawingml/2006/main">
            <a:off x="6229350" y="51149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[80]  cdcgaming.com — Video gambling revenue collections continue to grow for illinois local governments</a:t>
            </a:r>
          </a:p>
        </p:txBody>
      </p:sp>
      <p:sp>
        <p:nvSpPr>
          <p:cNvPr id="60" name="">
            <a:extLst xmlns:a="http://schemas.openxmlformats.org/drawingml/2006/main">
              <a:ext uri="{FF2B5EF4-FFF2-40B4-BE49-F238E27FC236}">
                <a16:creationId xmlns:a16="http://schemas.microsoft.com/office/drawing/2014/main" id="{A7E88030-E3D7-43B1-A6EE-C935420E3394}"/>
              </a:ext>
            </a:extLst>
          </p:cNvPr>
          <p:cNvSpPr>
            <a:spLocks xmlns:a="http://schemas.openxmlformats.org/drawingml/2006/main" noGrp="1"/>
          </p:cNvSpPr>
          <p:nvPr/>
        </p:nvSpPr>
        <p:spPr>
          <a:xfrm xmlns:a="http://schemas.openxmlformats.org/drawingml/2006/main">
            <a:off x="6229350" y="52768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[81]  nbcchicago.com — Ballys says its chicago casino will open on time despite financial issues</a:t>
            </a:r>
          </a:p>
        </p:txBody>
      </p:sp>
      <p:sp>
        <p:nvSpPr>
          <p:cNvPr id="61" name="">
            <a:extLst xmlns:a="http://schemas.openxmlformats.org/drawingml/2006/main">
              <a:ext uri="{FF2B5EF4-FFF2-40B4-BE49-F238E27FC236}">
                <a16:creationId xmlns:a16="http://schemas.microsoft.com/office/drawing/2014/main" id="{CA252C76-3F5A-4331-8B9A-A4E5C640E9BD}"/>
              </a:ext>
            </a:extLst>
          </p:cNvPr>
          <p:cNvSpPr>
            <a:spLocks xmlns:a="http://schemas.openxmlformats.org/drawingml/2006/main" noGrp="1"/>
          </p:cNvSpPr>
          <p:nvPr/>
        </p:nvSpPr>
        <p:spPr>
          <a:xfrm xmlns:a="http://schemas.openxmlformats.org/drawingml/2006/main">
            <a:off x="6229350" y="54387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[82]  chicago.suntimes.com — Ballys to stop work on some amenities at permanent chicago casino development amid video…</a:t>
            </a:r>
          </a:p>
        </p:txBody>
      </p:sp>
      <p:sp>
        <p:nvSpPr>
          <p:cNvPr id="62" name="">
            <a:extLst xmlns:a="http://schemas.openxmlformats.org/drawingml/2006/main">
              <a:ext uri="{FF2B5EF4-FFF2-40B4-BE49-F238E27FC236}">
                <a16:creationId xmlns:a16="http://schemas.microsoft.com/office/drawing/2014/main" id="{9B73C85B-908D-4E14-A9DE-EADC616EA365}"/>
              </a:ext>
            </a:extLst>
          </p:cNvPr>
          <p:cNvSpPr>
            <a:spLocks xmlns:a="http://schemas.openxmlformats.org/drawingml/2006/main" noGrp="1"/>
          </p:cNvSpPr>
          <p:nvPr/>
        </p:nvSpPr>
        <p:spPr>
          <a:xfrm xmlns:a="http://schemas.openxmlformats.org/drawingml/2006/main">
            <a:off x="6229350" y="56007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[83]  yogonet.com — 124089 bally 39s chicago gets oneyear extension to complete permanent casino project</a:t>
            </a:r>
          </a:p>
        </p:txBody>
      </p:sp>
      <p:sp>
        <p:nvSpPr>
          <p:cNvPr id="63" name="">
            <a:extLst xmlns:a="http://schemas.openxmlformats.org/drawingml/2006/main">
              <a:ext uri="{FF2B5EF4-FFF2-40B4-BE49-F238E27FC236}">
                <a16:creationId xmlns:a16="http://schemas.microsoft.com/office/drawing/2014/main" id="{B4234C52-7E43-44AA-87F9-BF21AD1AB85C}"/>
              </a:ext>
            </a:extLst>
          </p:cNvPr>
          <p:cNvSpPr>
            <a:spLocks xmlns:a="http://schemas.openxmlformats.org/drawingml/2006/main" noGrp="1"/>
          </p:cNvSpPr>
          <p:nvPr/>
        </p:nvSpPr>
        <p:spPr>
          <a:xfrm xmlns:a="http://schemas.openxmlformats.org/drawingml/2006/main">
            <a:off x="6229350" y="57626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[84]  law.cornell.edu — Ill Admin Code tit 86 SS 3000.665</a:t>
            </a:r>
          </a:p>
        </p:txBody>
      </p:sp>
      <p:sp>
        <p:nvSpPr>
          <p:cNvPr id="64" name="">
            <a:extLst xmlns:a="http://schemas.openxmlformats.org/drawingml/2006/main">
              <a:ext uri="{FF2B5EF4-FFF2-40B4-BE49-F238E27FC236}">
                <a16:creationId xmlns:a16="http://schemas.microsoft.com/office/drawing/2014/main" id="{732BE44D-76DC-4059-A6EC-F6A1B5B2455D}"/>
              </a:ext>
            </a:extLst>
          </p:cNvPr>
          <p:cNvSpPr>
            <a:spLocks xmlns:a="http://schemas.openxmlformats.org/drawingml/2006/main" noGrp="1"/>
          </p:cNvSpPr>
          <p:nvPr/>
        </p:nvSpPr>
        <p:spPr>
          <a:xfrm xmlns:a="http://schemas.openxmlformats.org/drawingml/2006/main">
            <a:off x="6229350" y="59245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[86]  americangaming.org — Gaming Industry Outlook Spring 2026</a:t>
            </a:r>
          </a:p>
        </p:txBody>
      </p:sp>
      <p:sp>
        <p:nvSpPr>
          <p:cNvPr id="65" name="">
            <a:extLst xmlns:a="http://schemas.openxmlformats.org/drawingml/2006/main">
              <a:ext uri="{FF2B5EF4-FFF2-40B4-BE49-F238E27FC236}">
                <a16:creationId xmlns:a16="http://schemas.microsoft.com/office/drawing/2014/main" id="{3082F3E9-455E-4B77-A8DC-3FAA8BC1EE8A}"/>
              </a:ext>
            </a:extLst>
          </p:cNvPr>
          <p:cNvSpPr>
            <a:spLocks xmlns:a="http://schemas.openxmlformats.org/drawingml/2006/main" noGrp="1"/>
          </p:cNvSpPr>
          <p:nvPr/>
        </p:nvSpPr>
        <p:spPr>
          <a:xfrm xmlns:a="http://schemas.openxmlformats.org/drawingml/2006/main">
            <a:off x="6229350" y="60864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[87]  americangaming.org — Gaming industry outlook</a:t>
            </a:r>
          </a:p>
        </p:txBody>
      </p:sp>
      <p:sp>
        <p:nvSpPr>
          <p:cNvPr id="66" name="">
            <a:extLst xmlns:a="http://schemas.openxmlformats.org/drawingml/2006/main">
              <a:ext uri="{FF2B5EF4-FFF2-40B4-BE49-F238E27FC236}">
                <a16:creationId xmlns:a16="http://schemas.microsoft.com/office/drawing/2014/main" id="{F738E642-5DD8-4A7E-B2BF-8FE687A6F86E}"/>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29</a:t>
            </a:r>
          </a:p>
        </p:txBody>
      </p:sp>
    </p:spTree>
    <p:extLst>
      <p:ext uri="{BB962C8B-B14F-4D97-AF65-F5344CB8AC3E}">
        <p14:creationId xmlns:p14="http://schemas.microsoft.com/office/powerpoint/2010/main" val="60591074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3997E44F-201B-4F4E-A178-5015FA67CB7C}"/>
              </a:ext>
            </a:extLst>
          </p:cNvPr>
          <p:cNvSpPr>
            <a:spLocks xmlns:a="http://schemas.openxmlformats.org/drawingml/2006/main" noGrp="1"/>
          </p:cNvSpPr>
          <p:nvPr/>
        </p:nvSpPr>
        <p:spPr>
          <a:xfrm xmlns:a="http://schemas.openxmlformats.org/drawingml/2006/main">
            <a:off x="514350" y="323850"/>
            <a:ext cx="11163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1575" b="1">
                <a:solidFill>
                  <a:srgbClr val="1B2A41"/>
                </a:solidFill>
                <a:latin typeface="Calibri"/>
                <a:ea typeface="Calibri"/>
                <a:cs typeface="Calibri"/>
              </a:defRPr>
            </a:pPr>
            <a:r>
              <a:rPr sz="1575" b="1">
                <a:solidFill>
                  <a:srgbClr val="1B2A41"/>
                </a:solidFill>
                <a:latin typeface="Calibri"/>
                <a:ea typeface="Calibri"/>
                <a:cs typeface="Calibri"/>
              </a:rPr>
              <a:t>References continued</a:t>
            </a:r>
          </a:p>
        </p:txBody>
      </p:sp>
      <p:sp>
        <p:nvSpPr>
          <p:cNvPr id="2" name="">
            <a:extLst xmlns:a="http://schemas.openxmlformats.org/drawingml/2006/main">
              <a:ext uri="{FF2B5EF4-FFF2-40B4-BE49-F238E27FC236}">
                <a16:creationId xmlns:a16="http://schemas.microsoft.com/office/drawing/2014/main" id="{D130AFAE-96A4-4333-9CBE-3D51957475DC}"/>
              </a:ext>
            </a:extLst>
          </p:cNvPr>
          <p:cNvSpPr>
            <a:spLocks xmlns:a="http://schemas.openxmlformats.org/drawingml/2006/main" noGrp="1"/>
          </p:cNvSpPr>
          <p:nvPr/>
        </p:nvSpPr>
        <p:spPr>
          <a:xfrm xmlns:a="http://schemas.openxmlformats.org/drawingml/2006/main">
            <a:off x="514350" y="10668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[90, 123]  sec.gov — Fll 20260630x10q</a:t>
            </a:r>
          </a:p>
        </p:txBody>
      </p:sp>
      <p:sp>
        <p:nvSpPr>
          <p:cNvPr id="3" name="">
            <a:extLst xmlns:a="http://schemas.openxmlformats.org/drawingml/2006/main">
              <a:ext uri="{FF2B5EF4-FFF2-40B4-BE49-F238E27FC236}">
                <a16:creationId xmlns:a16="http://schemas.microsoft.com/office/drawing/2014/main" id="{5BF38EB9-27D7-4597-BA17-4DF7FEDE5048}"/>
              </a:ext>
            </a:extLst>
          </p:cNvPr>
          <p:cNvSpPr>
            <a:spLocks xmlns:a="http://schemas.openxmlformats.org/drawingml/2006/main" noGrp="1"/>
          </p:cNvSpPr>
          <p:nvPr/>
        </p:nvSpPr>
        <p:spPr>
          <a:xfrm xmlns:a="http://schemas.openxmlformats.org/drawingml/2006/main">
            <a:off x="514350" y="12287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[98]  riverscasino.com — Desplaines</a:t>
            </a:r>
          </a:p>
        </p:txBody>
      </p:sp>
      <p:sp>
        <p:nvSpPr>
          <p:cNvPr id="4" name="">
            <a:extLst xmlns:a="http://schemas.openxmlformats.org/drawingml/2006/main">
              <a:ext uri="{FF2B5EF4-FFF2-40B4-BE49-F238E27FC236}">
                <a16:creationId xmlns:a16="http://schemas.microsoft.com/office/drawing/2014/main" id="{E6DAC04D-8ABB-41E6-94E3-58830AB16FC5}"/>
              </a:ext>
            </a:extLst>
          </p:cNvPr>
          <p:cNvSpPr>
            <a:spLocks xmlns:a="http://schemas.openxmlformats.org/drawingml/2006/main" noGrp="1"/>
          </p:cNvSpPr>
          <p:nvPr/>
        </p:nvSpPr>
        <p:spPr>
          <a:xfrm xmlns:a="http://schemas.openxmlformats.org/drawingml/2006/main">
            <a:off x="514350" y="13906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[99]  riverscasino.com — Sportsbook</a:t>
            </a:r>
          </a:p>
        </p:txBody>
      </p:sp>
      <p:sp>
        <p:nvSpPr>
          <p:cNvPr id="5" name="">
            <a:extLst xmlns:a="http://schemas.openxmlformats.org/drawingml/2006/main">
              <a:ext uri="{FF2B5EF4-FFF2-40B4-BE49-F238E27FC236}">
                <a16:creationId xmlns:a16="http://schemas.microsoft.com/office/drawing/2014/main" id="{4746EBB2-6069-4E64-81D7-1F39AAF51983}"/>
              </a:ext>
            </a:extLst>
          </p:cNvPr>
          <p:cNvSpPr>
            <a:spLocks xmlns:a="http://schemas.openxmlformats.org/drawingml/2006/main" noGrp="1"/>
          </p:cNvSpPr>
          <p:nvPr/>
        </p:nvSpPr>
        <p:spPr>
          <a:xfrm xmlns:a="http://schemas.openxmlformats.org/drawingml/2006/main">
            <a:off x="514350" y="15525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[101]  windcreek.com — Slots</a:t>
            </a:r>
          </a:p>
        </p:txBody>
      </p:sp>
      <p:sp>
        <p:nvSpPr>
          <p:cNvPr id="6" name="">
            <a:extLst xmlns:a="http://schemas.openxmlformats.org/drawingml/2006/main">
              <a:ext uri="{FF2B5EF4-FFF2-40B4-BE49-F238E27FC236}">
                <a16:creationId xmlns:a16="http://schemas.microsoft.com/office/drawing/2014/main" id="{669A3319-4FA8-4E48-BDEF-6967DFA9B1A0}"/>
              </a:ext>
            </a:extLst>
          </p:cNvPr>
          <p:cNvSpPr>
            <a:spLocks xmlns:a="http://schemas.openxmlformats.org/drawingml/2006/main" noGrp="1"/>
          </p:cNvSpPr>
          <p:nvPr/>
        </p:nvSpPr>
        <p:spPr>
          <a:xfrm xmlns:a="http://schemas.openxmlformats.org/drawingml/2006/main">
            <a:off x="514350" y="17145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[102]  windcreek.com — 21874 107 WCCS TBLG June Gaming Guide web</a:t>
            </a:r>
          </a:p>
        </p:txBody>
      </p:sp>
      <p:sp>
        <p:nvSpPr>
          <p:cNvPr id="7" name="">
            <a:extLst xmlns:a="http://schemas.openxmlformats.org/drawingml/2006/main">
              <a:ext uri="{FF2B5EF4-FFF2-40B4-BE49-F238E27FC236}">
                <a16:creationId xmlns:a16="http://schemas.microsoft.com/office/drawing/2014/main" id="{788B42B8-EC6A-4FD7-BC53-1AFD55DD11B5}"/>
              </a:ext>
            </a:extLst>
          </p:cNvPr>
          <p:cNvSpPr>
            <a:spLocks xmlns:a="http://schemas.openxmlformats.org/drawingml/2006/main" noGrp="1"/>
          </p:cNvSpPr>
          <p:nvPr/>
        </p:nvSpPr>
        <p:spPr>
          <a:xfrm xmlns:a="http://schemas.openxmlformats.org/drawingml/2006/main">
            <a:off x="514350" y="18764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[103]  windcreek.com — Faq</a:t>
            </a:r>
          </a:p>
        </p:txBody>
      </p:sp>
      <p:sp>
        <p:nvSpPr>
          <p:cNvPr id="8" name="">
            <a:extLst xmlns:a="http://schemas.openxmlformats.org/drawingml/2006/main">
              <a:ext uri="{FF2B5EF4-FFF2-40B4-BE49-F238E27FC236}">
                <a16:creationId xmlns:a16="http://schemas.microsoft.com/office/drawing/2014/main" id="{BCB5DC7D-4A9A-47CD-AE9E-B4FC57BF89E1}"/>
              </a:ext>
            </a:extLst>
          </p:cNvPr>
          <p:cNvSpPr>
            <a:spLocks xmlns:a="http://schemas.openxmlformats.org/drawingml/2006/main" noGrp="1"/>
          </p:cNvSpPr>
          <p:nvPr/>
        </p:nvSpPr>
        <p:spPr>
          <a:xfrm xmlns:a="http://schemas.openxmlformats.org/drawingml/2006/main">
            <a:off x="514350" y="20383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[104]  windcreek.com — Sportsbook</a:t>
            </a:r>
          </a:p>
        </p:txBody>
      </p:sp>
      <p:sp>
        <p:nvSpPr>
          <p:cNvPr id="9" name="">
            <a:extLst xmlns:a="http://schemas.openxmlformats.org/drawingml/2006/main">
              <a:ext uri="{FF2B5EF4-FFF2-40B4-BE49-F238E27FC236}">
                <a16:creationId xmlns:a16="http://schemas.microsoft.com/office/drawing/2014/main" id="{815656A7-EE08-4B2E-904B-1B524EE8FEFA}"/>
              </a:ext>
            </a:extLst>
          </p:cNvPr>
          <p:cNvSpPr>
            <a:spLocks xmlns:a="http://schemas.openxmlformats.org/drawingml/2006/main" noGrp="1"/>
          </p:cNvSpPr>
          <p:nvPr/>
        </p:nvSpPr>
        <p:spPr>
          <a:xfrm xmlns:a="http://schemas.openxmlformats.org/drawingml/2006/main">
            <a:off x="514350" y="22002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[105]  casino.hardrock.com — Casino</a:t>
            </a:r>
          </a:p>
        </p:txBody>
      </p:sp>
      <p:sp>
        <p:nvSpPr>
          <p:cNvPr id="10" name="">
            <a:extLst xmlns:a="http://schemas.openxmlformats.org/drawingml/2006/main">
              <a:ext uri="{FF2B5EF4-FFF2-40B4-BE49-F238E27FC236}">
                <a16:creationId xmlns:a16="http://schemas.microsoft.com/office/drawing/2014/main" id="{656794B1-D9F4-4036-845B-99577AE478EB}"/>
              </a:ext>
            </a:extLst>
          </p:cNvPr>
          <p:cNvSpPr>
            <a:spLocks xmlns:a="http://schemas.openxmlformats.org/drawingml/2006/main" noGrp="1"/>
          </p:cNvSpPr>
          <p:nvPr/>
        </p:nvSpPr>
        <p:spPr>
          <a:xfrm xmlns:a="http://schemas.openxmlformats.org/drawingml/2006/main">
            <a:off x="514350" y="23622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[106]  casino.hardrock.com — Sportsbook</a:t>
            </a:r>
          </a:p>
        </p:txBody>
      </p:sp>
      <p:sp>
        <p:nvSpPr>
          <p:cNvPr id="11" name="">
            <a:extLst xmlns:a="http://schemas.openxmlformats.org/drawingml/2006/main">
              <a:ext uri="{FF2B5EF4-FFF2-40B4-BE49-F238E27FC236}">
                <a16:creationId xmlns:a16="http://schemas.microsoft.com/office/drawing/2014/main" id="{C748B23B-841A-4EED-AEB2-EED3DE34A368}"/>
              </a:ext>
            </a:extLst>
          </p:cNvPr>
          <p:cNvSpPr>
            <a:spLocks xmlns:a="http://schemas.openxmlformats.org/drawingml/2006/main" noGrp="1"/>
          </p:cNvSpPr>
          <p:nvPr/>
        </p:nvSpPr>
        <p:spPr>
          <a:xfrm xmlns:a="http://schemas.openxmlformats.org/drawingml/2006/main">
            <a:off x="514350" y="25241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[107]  casino.hardrock.com — Faq</a:t>
            </a:r>
          </a:p>
        </p:txBody>
      </p:sp>
      <p:sp>
        <p:nvSpPr>
          <p:cNvPr id="12" name="">
            <a:extLst xmlns:a="http://schemas.openxmlformats.org/drawingml/2006/main">
              <a:ext uri="{FF2B5EF4-FFF2-40B4-BE49-F238E27FC236}">
                <a16:creationId xmlns:a16="http://schemas.microsoft.com/office/drawing/2014/main" id="{AC55F09C-CAAB-4018-A659-8186C752A8A1}"/>
              </a:ext>
            </a:extLst>
          </p:cNvPr>
          <p:cNvSpPr>
            <a:spLocks xmlns:a="http://schemas.openxmlformats.org/drawingml/2006/main" noGrp="1"/>
          </p:cNvSpPr>
          <p:nvPr/>
        </p:nvSpPr>
        <p:spPr>
          <a:xfrm xmlns:a="http://schemas.openxmlformats.org/drawingml/2006/main">
            <a:off x="514350" y="26860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[108]  riversideresort.com — Slots</a:t>
            </a:r>
          </a:p>
        </p:txBody>
      </p:sp>
      <p:sp>
        <p:nvSpPr>
          <p:cNvPr id="13" name="">
            <a:extLst xmlns:a="http://schemas.openxmlformats.org/drawingml/2006/main">
              <a:ext uri="{FF2B5EF4-FFF2-40B4-BE49-F238E27FC236}">
                <a16:creationId xmlns:a16="http://schemas.microsoft.com/office/drawing/2014/main" id="{99EB8FEA-26BA-4172-AE3D-7AC26937682A}"/>
              </a:ext>
            </a:extLst>
          </p:cNvPr>
          <p:cNvSpPr>
            <a:spLocks xmlns:a="http://schemas.openxmlformats.org/drawingml/2006/main" noGrp="1"/>
          </p:cNvSpPr>
          <p:nvPr/>
        </p:nvSpPr>
        <p:spPr>
          <a:xfrm xmlns:a="http://schemas.openxmlformats.org/drawingml/2006/main">
            <a:off x="514350" y="28479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[109]  riversideresort.com — Poker room riverside</a:t>
            </a:r>
          </a:p>
        </p:txBody>
      </p:sp>
      <p:sp>
        <p:nvSpPr>
          <p:cNvPr id="14" name="">
            <a:extLst xmlns:a="http://schemas.openxmlformats.org/drawingml/2006/main">
              <a:ext uri="{FF2B5EF4-FFF2-40B4-BE49-F238E27FC236}">
                <a16:creationId xmlns:a16="http://schemas.microsoft.com/office/drawing/2014/main" id="{D91C39DE-158F-4800-A3A1-CD1A10DC7064}"/>
              </a:ext>
            </a:extLst>
          </p:cNvPr>
          <p:cNvSpPr>
            <a:spLocks xmlns:a="http://schemas.openxmlformats.org/drawingml/2006/main" noGrp="1"/>
          </p:cNvSpPr>
          <p:nvPr/>
        </p:nvSpPr>
        <p:spPr>
          <a:xfrm xmlns:a="http://schemas.openxmlformats.org/drawingml/2006/main">
            <a:off x="514350" y="30099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[110]  riversideresort.com — William hill race sports book</a:t>
            </a:r>
          </a:p>
        </p:txBody>
      </p:sp>
      <p:sp>
        <p:nvSpPr>
          <p:cNvPr id="15" name="">
            <a:extLst xmlns:a="http://schemas.openxmlformats.org/drawingml/2006/main">
              <a:ext uri="{FF2B5EF4-FFF2-40B4-BE49-F238E27FC236}">
                <a16:creationId xmlns:a16="http://schemas.microsoft.com/office/drawing/2014/main" id="{4CD9607B-48D7-420B-8796-45E77DF82300}"/>
              </a:ext>
            </a:extLst>
          </p:cNvPr>
          <p:cNvSpPr>
            <a:spLocks xmlns:a="http://schemas.openxmlformats.org/drawingml/2006/main" noGrp="1"/>
          </p:cNvSpPr>
          <p:nvPr/>
        </p:nvSpPr>
        <p:spPr>
          <a:xfrm xmlns:a="http://schemas.openxmlformats.org/drawingml/2006/main">
            <a:off x="514350" y="31718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[111]  sunsetstation.com — Play</a:t>
            </a:r>
          </a:p>
        </p:txBody>
      </p:sp>
      <p:sp>
        <p:nvSpPr>
          <p:cNvPr id="16" name="">
            <a:extLst xmlns:a="http://schemas.openxmlformats.org/drawingml/2006/main">
              <a:ext uri="{FF2B5EF4-FFF2-40B4-BE49-F238E27FC236}">
                <a16:creationId xmlns:a16="http://schemas.microsoft.com/office/drawing/2014/main" id="{13769F57-DB06-4DD6-B01E-666509B552E9}"/>
              </a:ext>
            </a:extLst>
          </p:cNvPr>
          <p:cNvSpPr>
            <a:spLocks xmlns:a="http://schemas.openxmlformats.org/drawingml/2006/main" noGrp="1"/>
          </p:cNvSpPr>
          <p:nvPr/>
        </p:nvSpPr>
        <p:spPr>
          <a:xfrm xmlns:a="http://schemas.openxmlformats.org/drawingml/2006/main">
            <a:off x="6229350" y="10668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[112]  sunsetstation.com — Sunset Station Sales Kit 09172025</a:t>
            </a:r>
          </a:p>
        </p:txBody>
      </p:sp>
      <p:sp>
        <p:nvSpPr>
          <p:cNvPr id="17" name="">
            <a:extLst xmlns:a="http://schemas.openxmlformats.org/drawingml/2006/main">
              <a:ext uri="{FF2B5EF4-FFF2-40B4-BE49-F238E27FC236}">
                <a16:creationId xmlns:a16="http://schemas.microsoft.com/office/drawing/2014/main" id="{DEF52828-AFDD-4843-8236-8518B499A8C3}"/>
              </a:ext>
            </a:extLst>
          </p:cNvPr>
          <p:cNvSpPr>
            <a:spLocks xmlns:a="http://schemas.openxmlformats.org/drawingml/2006/main" noGrp="1"/>
          </p:cNvSpPr>
          <p:nvPr/>
        </p:nvSpPr>
        <p:spPr>
          <a:xfrm xmlns:a="http://schemas.openxmlformats.org/drawingml/2006/main">
            <a:off x="6229350" y="12287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[113]  edgewater-casino.com — Casino</a:t>
            </a:r>
          </a:p>
        </p:txBody>
      </p:sp>
      <p:sp>
        <p:nvSpPr>
          <p:cNvPr id="18" name="">
            <a:extLst xmlns:a="http://schemas.openxmlformats.org/drawingml/2006/main">
              <a:ext uri="{FF2B5EF4-FFF2-40B4-BE49-F238E27FC236}">
                <a16:creationId xmlns:a16="http://schemas.microsoft.com/office/drawing/2014/main" id="{718B4484-514E-456B-BBB9-D9B408E01C87}"/>
              </a:ext>
            </a:extLst>
          </p:cNvPr>
          <p:cNvSpPr>
            <a:spLocks xmlns:a="http://schemas.openxmlformats.org/drawingml/2006/main" noGrp="1"/>
          </p:cNvSpPr>
          <p:nvPr/>
        </p:nvSpPr>
        <p:spPr>
          <a:xfrm xmlns:a="http://schemas.openxmlformats.org/drawingml/2006/main">
            <a:off x="6229350" y="13906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[114]  edgewater-casino.com — Rooms</a:t>
            </a:r>
          </a:p>
        </p:txBody>
      </p:sp>
      <p:sp>
        <p:nvSpPr>
          <p:cNvPr id="19" name="">
            <a:extLst xmlns:a="http://schemas.openxmlformats.org/drawingml/2006/main">
              <a:ext uri="{FF2B5EF4-FFF2-40B4-BE49-F238E27FC236}">
                <a16:creationId xmlns:a16="http://schemas.microsoft.com/office/drawing/2014/main" id="{D8B8C668-E430-4240-A19F-173A20B409D6}"/>
              </a:ext>
            </a:extLst>
          </p:cNvPr>
          <p:cNvSpPr>
            <a:spLocks xmlns:a="http://schemas.openxmlformats.org/drawingml/2006/main" noGrp="1"/>
          </p:cNvSpPr>
          <p:nvPr/>
        </p:nvSpPr>
        <p:spPr>
          <a:xfrm xmlns:a="http://schemas.openxmlformats.org/drawingml/2006/main">
            <a:off x="6229350" y="15525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[115]  pennentertainment.com — Sportsbook</a:t>
            </a:r>
          </a:p>
        </p:txBody>
      </p:sp>
      <p:sp>
        <p:nvSpPr>
          <p:cNvPr id="20" name="">
            <a:extLst xmlns:a="http://schemas.openxmlformats.org/drawingml/2006/main">
              <a:ext uri="{FF2B5EF4-FFF2-40B4-BE49-F238E27FC236}">
                <a16:creationId xmlns:a16="http://schemas.microsoft.com/office/drawing/2014/main" id="{32BDF661-779C-4B48-9A49-912627BA9ED8}"/>
              </a:ext>
            </a:extLst>
          </p:cNvPr>
          <p:cNvSpPr>
            <a:spLocks xmlns:a="http://schemas.openxmlformats.org/drawingml/2006/main" noGrp="1"/>
          </p:cNvSpPr>
          <p:nvPr/>
        </p:nvSpPr>
        <p:spPr>
          <a:xfrm xmlns:a="http://schemas.openxmlformats.org/drawingml/2006/main">
            <a:off x="6229350" y="17145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[116]  pennentertainment.com — Visit us</a:t>
            </a:r>
          </a:p>
        </p:txBody>
      </p:sp>
      <p:sp>
        <p:nvSpPr>
          <p:cNvPr id="21" name="">
            <a:extLst xmlns:a="http://schemas.openxmlformats.org/drawingml/2006/main">
              <a:ext uri="{FF2B5EF4-FFF2-40B4-BE49-F238E27FC236}">
                <a16:creationId xmlns:a16="http://schemas.microsoft.com/office/drawing/2014/main" id="{4F423A47-E6D2-4E50-828E-271FBCAB2660}"/>
              </a:ext>
            </a:extLst>
          </p:cNvPr>
          <p:cNvSpPr>
            <a:spLocks xmlns:a="http://schemas.openxmlformats.org/drawingml/2006/main" noGrp="1"/>
          </p:cNvSpPr>
          <p:nvPr/>
        </p:nvSpPr>
        <p:spPr>
          <a:xfrm xmlns:a="http://schemas.openxmlformats.org/drawingml/2006/main">
            <a:off x="6229350" y="18764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[117]  newsroom.caesars.com — Harrahs Laughlin</a:t>
            </a:r>
          </a:p>
        </p:txBody>
      </p:sp>
      <p:sp>
        <p:nvSpPr>
          <p:cNvPr id="22" name="">
            <a:extLst xmlns:a="http://schemas.openxmlformats.org/drawingml/2006/main">
              <a:ext uri="{FF2B5EF4-FFF2-40B4-BE49-F238E27FC236}">
                <a16:creationId xmlns:a16="http://schemas.microsoft.com/office/drawing/2014/main" id="{DA033CEC-FBA8-4B8A-B508-446C4729E2AC}"/>
              </a:ext>
            </a:extLst>
          </p:cNvPr>
          <p:cNvSpPr>
            <a:spLocks xmlns:a="http://schemas.openxmlformats.org/drawingml/2006/main" noGrp="1"/>
          </p:cNvSpPr>
          <p:nvPr/>
        </p:nvSpPr>
        <p:spPr>
          <a:xfrm xmlns:a="http://schemas.openxmlformats.org/drawingml/2006/main">
            <a:off x="6229350" y="20383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[118]  boulderstation.com</a:t>
            </a:r>
          </a:p>
        </p:txBody>
      </p:sp>
      <p:sp>
        <p:nvSpPr>
          <p:cNvPr id="23" name="">
            <a:extLst xmlns:a="http://schemas.openxmlformats.org/drawingml/2006/main">
              <a:ext uri="{FF2B5EF4-FFF2-40B4-BE49-F238E27FC236}">
                <a16:creationId xmlns:a16="http://schemas.microsoft.com/office/drawing/2014/main" id="{B742C3A0-1C8A-4186-825C-19311E0C8CD7}"/>
              </a:ext>
            </a:extLst>
          </p:cNvPr>
          <p:cNvSpPr>
            <a:spLocks xmlns:a="http://schemas.openxmlformats.org/drawingml/2006/main" noGrp="1"/>
          </p:cNvSpPr>
          <p:nvPr/>
        </p:nvSpPr>
        <p:spPr>
          <a:xfrm xmlns:a="http://schemas.openxmlformats.org/drawingml/2006/main">
            <a:off x="6229350" y="22002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[119]  redrockresort.com — Play</a:t>
            </a:r>
          </a:p>
        </p:txBody>
      </p:sp>
      <p:sp>
        <p:nvSpPr>
          <p:cNvPr id="24" name="">
            <a:extLst xmlns:a="http://schemas.openxmlformats.org/drawingml/2006/main">
              <a:ext uri="{FF2B5EF4-FFF2-40B4-BE49-F238E27FC236}">
                <a16:creationId xmlns:a16="http://schemas.microsoft.com/office/drawing/2014/main" id="{CC94F635-4269-4C7A-94EF-31797AEBFA2E}"/>
              </a:ext>
            </a:extLst>
          </p:cNvPr>
          <p:cNvSpPr>
            <a:spLocks xmlns:a="http://schemas.openxmlformats.org/drawingml/2006/main" noGrp="1"/>
          </p:cNvSpPr>
          <p:nvPr/>
        </p:nvSpPr>
        <p:spPr>
          <a:xfrm xmlns:a="http://schemas.openxmlformats.org/drawingml/2006/main">
            <a:off x="6229350" y="23622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[120]  redrockresort.com — Table games</a:t>
            </a:r>
          </a:p>
        </p:txBody>
      </p:sp>
      <p:sp>
        <p:nvSpPr>
          <p:cNvPr id="25" name="">
            <a:extLst xmlns:a="http://schemas.openxmlformats.org/drawingml/2006/main">
              <a:ext uri="{FF2B5EF4-FFF2-40B4-BE49-F238E27FC236}">
                <a16:creationId xmlns:a16="http://schemas.microsoft.com/office/drawing/2014/main" id="{7BB305A9-E13F-47D2-BF32-2FE52F69608F}"/>
              </a:ext>
            </a:extLst>
          </p:cNvPr>
          <p:cNvSpPr>
            <a:spLocks xmlns:a="http://schemas.openxmlformats.org/drawingml/2006/main" noGrp="1"/>
          </p:cNvSpPr>
          <p:nvPr/>
        </p:nvSpPr>
        <p:spPr>
          <a:xfrm xmlns:a="http://schemas.openxmlformats.org/drawingml/2006/main">
            <a:off x="6229350" y="25241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[121]  redrockresort.com — Poker</a:t>
            </a:r>
          </a:p>
        </p:txBody>
      </p:sp>
      <p:sp>
        <p:nvSpPr>
          <p:cNvPr id="26" name="">
            <a:extLst xmlns:a="http://schemas.openxmlformats.org/drawingml/2006/main">
              <a:ext uri="{FF2B5EF4-FFF2-40B4-BE49-F238E27FC236}">
                <a16:creationId xmlns:a16="http://schemas.microsoft.com/office/drawing/2014/main" id="{2D30F3C0-60FE-419D-8D54-FC962916755A}"/>
              </a:ext>
            </a:extLst>
          </p:cNvPr>
          <p:cNvSpPr>
            <a:spLocks xmlns:a="http://schemas.openxmlformats.org/drawingml/2006/main" noGrp="1"/>
          </p:cNvSpPr>
          <p:nvPr/>
        </p:nvSpPr>
        <p:spPr>
          <a:xfrm xmlns:a="http://schemas.openxmlformats.org/drawingml/2006/main">
            <a:off x="6229350" y="268605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[122]  redrockresort.com — Race and sports</a:t>
            </a:r>
          </a:p>
        </p:txBody>
      </p:sp>
      <p:sp>
        <p:nvSpPr>
          <p:cNvPr id="27" name="">
            <a:extLst xmlns:a="http://schemas.openxmlformats.org/drawingml/2006/main">
              <a:ext uri="{FF2B5EF4-FFF2-40B4-BE49-F238E27FC236}">
                <a16:creationId xmlns:a16="http://schemas.microsoft.com/office/drawing/2014/main" id="{73CC7DC6-A585-4969-A264-4F6DFE7F7920}"/>
              </a:ext>
            </a:extLst>
          </p:cNvPr>
          <p:cNvSpPr>
            <a:spLocks xmlns:a="http://schemas.openxmlformats.org/drawingml/2006/main" noGrp="1"/>
          </p:cNvSpPr>
          <p:nvPr/>
        </p:nvSpPr>
        <p:spPr>
          <a:xfrm xmlns:a="http://schemas.openxmlformats.org/drawingml/2006/main">
            <a:off x="6229350" y="284797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[125]  sec.gov — Fll 20260514xdef14a</a:t>
            </a:r>
          </a:p>
        </p:txBody>
      </p:sp>
      <p:sp>
        <p:nvSpPr>
          <p:cNvPr id="28" name="">
            <a:extLst xmlns:a="http://schemas.openxmlformats.org/drawingml/2006/main">
              <a:ext uri="{FF2B5EF4-FFF2-40B4-BE49-F238E27FC236}">
                <a16:creationId xmlns:a16="http://schemas.microsoft.com/office/drawing/2014/main" id="{F8D8113C-8073-4D4C-A719-55C57F8B6DDB}"/>
              </a:ext>
            </a:extLst>
          </p:cNvPr>
          <p:cNvSpPr>
            <a:spLocks xmlns:a="http://schemas.openxmlformats.org/drawingml/2006/main" noGrp="1"/>
          </p:cNvSpPr>
          <p:nvPr/>
        </p:nvSpPr>
        <p:spPr>
          <a:xfrm xmlns:a="http://schemas.openxmlformats.org/drawingml/2006/main">
            <a:off x="6229350" y="3009900"/>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[126]  sec.gov — Fll 20260303xex99d1</a:t>
            </a:r>
          </a:p>
        </p:txBody>
      </p:sp>
      <p:sp>
        <p:nvSpPr>
          <p:cNvPr id="29" name="">
            <a:extLst xmlns:a="http://schemas.openxmlformats.org/drawingml/2006/main">
              <a:ext uri="{FF2B5EF4-FFF2-40B4-BE49-F238E27FC236}">
                <a16:creationId xmlns:a16="http://schemas.microsoft.com/office/drawing/2014/main" id="{7C01CC1A-3A06-4DB3-BA7D-1F4BF282DB2D}"/>
              </a:ext>
            </a:extLst>
          </p:cNvPr>
          <p:cNvSpPr>
            <a:spLocks xmlns:a="http://schemas.openxmlformats.org/drawingml/2006/main" noGrp="1"/>
          </p:cNvSpPr>
          <p:nvPr/>
        </p:nvSpPr>
        <p:spPr>
          <a:xfrm xmlns:a="http://schemas.openxmlformats.org/drawingml/2006/main">
            <a:off x="6229350" y="3171825"/>
            <a:ext cx="54483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defRPr sz="750">
                <a:solidFill>
                  <a:srgbClr val="64748B"/>
                </a:solidFill>
                <a:latin typeface="Calibri"/>
                <a:ea typeface="Calibri"/>
                <a:cs typeface="Calibri"/>
              </a:defRPr>
            </a:pPr>
            <a:r>
              <a:rPr sz="750">
                <a:solidFill>
                  <a:srgbClr val="64748B"/>
                </a:solidFill>
                <a:latin typeface="Calibri"/>
                <a:ea typeface="Calibri"/>
                <a:cs typeface="Calibri"/>
              </a:rPr>
              <a:t>[127]  sec.gov — Fll 20260806xex99d1</a:t>
            </a:r>
          </a:p>
        </p:txBody>
      </p:sp>
      <p:sp>
        <p:nvSpPr>
          <p:cNvPr id="30" name="">
            <a:extLst xmlns:a="http://schemas.openxmlformats.org/drawingml/2006/main">
              <a:ext uri="{FF2B5EF4-FFF2-40B4-BE49-F238E27FC236}">
                <a16:creationId xmlns:a16="http://schemas.microsoft.com/office/drawing/2014/main" id="{D8B3B10C-033F-4F7B-A03A-F68CB3CE68EE}"/>
              </a:ext>
            </a:extLst>
          </p:cNvPr>
          <p:cNvSpPr>
            <a:spLocks xmlns:a="http://schemas.openxmlformats.org/drawingml/2006/main" noGrp="1"/>
          </p:cNvSpPr>
          <p:nvPr/>
        </p:nvSpPr>
        <p:spPr>
          <a:xfrm xmlns:a="http://schemas.openxmlformats.org/drawingml/2006/main">
            <a:off x="11125200" y="65151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19050" rIns="0" bIns="19050">
            <a:noAutofit/>
          </a:bodyPr>
          <a:lstStyle xmlns:a="http://schemas.openxmlformats.org/drawingml/2006/main"/>
          <a:p xmlns:a="http://schemas.openxmlformats.org/drawingml/2006/main">
            <a:pPr algn="r">
              <a:defRPr sz="750">
                <a:solidFill>
                  <a:srgbClr val="64748B"/>
                </a:solidFill>
                <a:latin typeface="Calibri"/>
                <a:ea typeface="Calibri"/>
                <a:cs typeface="Calibri"/>
              </a:defRPr>
            </a:pPr>
            <a:r>
              <a:rPr sz="750">
                <a:solidFill>
                  <a:srgbClr val="64748B"/>
                </a:solidFill>
                <a:latin typeface="Calibri"/>
                <a:ea typeface="Calibri"/>
                <a:cs typeface="Calibri"/>
              </a:rPr>
              <a:t>30</a:t>
            </a:r>
          </a:p>
        </p:txBody>
      </p:sp>
    </p:spTree>
    <p:extLst>
      <p:ext uri="{BB962C8B-B14F-4D97-AF65-F5344CB8AC3E}">
        <p14:creationId xmlns:p14="http://schemas.microsoft.com/office/powerpoint/2010/main" val="7542749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2026-09-16T14:38:26.4130000Z</dcterms:created>
  <dcterms:modified xsi:type="dcterms:W3CDTF">2026-09-16T14:38:26.4130000Z</dcterms:modified>
</coreProperties>
</file>