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3.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4.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6.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7.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cb931267904c08" /><Relationship Type="http://schemas.openxmlformats.org/officeDocument/2006/relationships/extended-properties" Target="/docProps/app.xml" Id="R126a31d05e9b4ce7" /><Relationship Type="http://schemas.openxmlformats.org/officeDocument/2006/relationships/officeDocument" Target="/ppt/presentation.xml" Id="Rc3bd63890b11412f" /></Relationships>
</file>

<file path=ppt/presentation.xml><?xml version="1.0" encoding="utf-8"?>
<p:presentation xmlns:p="http://schemas.openxmlformats.org/presentationml/2006/main">
  <p:sldMasterIdLst>
    <p:sldMasterId xmlns:r="http://schemas.openxmlformats.org/officeDocument/2006/relationships" id="2147483648" r:id="R4bb80f95c0d14ba3"/>
  </p:sldMasterIdLst>
  <p:notesMasterIdLst>
    <p:notesMasterId xmlns:r="http://schemas.openxmlformats.org/officeDocument/2006/relationships" r:id="Rec7963a324a34649"/>
  </p:notesMasterIdLst>
  <p:sldIdLst>
    <p:sldId xmlns:r="http://schemas.openxmlformats.org/officeDocument/2006/relationships" id="256" r:id="R7abca60558224e8c"/>
    <p:sldId xmlns:r="http://schemas.openxmlformats.org/officeDocument/2006/relationships" id="257" r:id="Ra03529f27fd5480b"/>
    <p:sldId xmlns:r="http://schemas.openxmlformats.org/officeDocument/2006/relationships" id="258" r:id="R062c070d368a414c"/>
    <p:sldId xmlns:r="http://schemas.openxmlformats.org/officeDocument/2006/relationships" id="259" r:id="R7dfe7d006cac4e16"/>
    <p:sldId xmlns:r="http://schemas.openxmlformats.org/officeDocument/2006/relationships" id="260" r:id="R8297f0faf84a4398"/>
    <p:sldId xmlns:r="http://schemas.openxmlformats.org/officeDocument/2006/relationships" id="261" r:id="R7c9d5bae21004553"/>
    <p:sldId xmlns:r="http://schemas.openxmlformats.org/officeDocument/2006/relationships" id="262" r:id="R153715e7274f4353"/>
    <p:sldId xmlns:r="http://schemas.openxmlformats.org/officeDocument/2006/relationships" id="263" r:id="Ra56519d4bc0e419d"/>
    <p:sldId xmlns:r="http://schemas.openxmlformats.org/officeDocument/2006/relationships" id="264" r:id="Ra8e727a989d2445e"/>
    <p:sldId xmlns:r="http://schemas.openxmlformats.org/officeDocument/2006/relationships" id="265" r:id="R2619472aa9d142c9"/>
    <p:sldId xmlns:r="http://schemas.openxmlformats.org/officeDocument/2006/relationships" id="266" r:id="Ra95906de1d334393"/>
    <p:sldId xmlns:r="http://schemas.openxmlformats.org/officeDocument/2006/relationships" id="267" r:id="Red01eab3730f401e"/>
    <p:sldId xmlns:r="http://schemas.openxmlformats.org/officeDocument/2006/relationships" id="268" r:id="R85a77354370c40b1"/>
    <p:sldId xmlns:r="http://schemas.openxmlformats.org/officeDocument/2006/relationships" id="269" r:id="Rcbf569111fab4a63"/>
    <p:sldId xmlns:r="http://schemas.openxmlformats.org/officeDocument/2006/relationships" id="270" r:id="R34c9590cef9749d5"/>
    <p:sldId xmlns:r="http://schemas.openxmlformats.org/officeDocument/2006/relationships" id="271" r:id="R92886eb4afd74854"/>
    <p:sldId xmlns:r="http://schemas.openxmlformats.org/officeDocument/2006/relationships" id="272" r:id="Rec5f8e0e6923410e"/>
    <p:sldId xmlns:r="http://schemas.openxmlformats.org/officeDocument/2006/relationships" id="273" r:id="R806f044f53f848bb"/>
    <p:sldId xmlns:r="http://schemas.openxmlformats.org/officeDocument/2006/relationships" id="274" r:id="R2bcada483196413d"/>
    <p:sldId xmlns:r="http://schemas.openxmlformats.org/officeDocument/2006/relationships" id="275" r:id="R2c4743a989b34ea8"/>
    <p:sldId xmlns:r="http://schemas.openxmlformats.org/officeDocument/2006/relationships" id="276" r:id="Ref8f119fe2fa462e"/>
    <p:sldId xmlns:r="http://schemas.openxmlformats.org/officeDocument/2006/relationships" id="277" r:id="Rf12ba4de0b7b4ad3"/>
    <p:sldId xmlns:r="http://schemas.openxmlformats.org/officeDocument/2006/relationships" id="278" r:id="R60e9d49c2c244162"/>
    <p:sldId xmlns:r="http://schemas.openxmlformats.org/officeDocument/2006/relationships" id="279" r:id="Rab2d3f18538c4998"/>
    <p:sldId xmlns:r="http://schemas.openxmlformats.org/officeDocument/2006/relationships" id="280" r:id="R17552d081b4741bc"/>
    <p:sldId xmlns:r="http://schemas.openxmlformats.org/officeDocument/2006/relationships" id="281" r:id="R5ede6c846c9a4c2f"/>
    <p:sldId xmlns:r="http://schemas.openxmlformats.org/officeDocument/2006/relationships" id="282" r:id="Rb3153604763e4603"/>
    <p:sldId xmlns:r="http://schemas.openxmlformats.org/officeDocument/2006/relationships" id="283" r:id="R2fadf86610b64b1a"/>
    <p:sldId xmlns:r="http://schemas.openxmlformats.org/officeDocument/2006/relationships" id="284" r:id="R8bb5897539314790"/>
    <p:sldId xmlns:r="http://schemas.openxmlformats.org/officeDocument/2006/relationships" id="285" r:id="Rfebe0d21ca2849d6"/>
    <p:sldId xmlns:r="http://schemas.openxmlformats.org/officeDocument/2006/relationships" id="286" r:id="Refed959e41214dc0"/>
    <p:sldId xmlns:r="http://schemas.openxmlformats.org/officeDocument/2006/relationships" id="287" r:id="R5ecb0b0d99d542bc"/>
    <p:sldId xmlns:r="http://schemas.openxmlformats.org/officeDocument/2006/relationships" id="288" r:id="R8ab19229f87c420c"/>
    <p:sldId xmlns:r="http://schemas.openxmlformats.org/officeDocument/2006/relationships" id="289" r:id="Ra67806f19cd546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396f8070c49431a" /><Relationship Type="http://schemas.openxmlformats.org/officeDocument/2006/relationships/slideMaster" Target="/ppt/slideMasters/slideMaster1.xml" Id="R4bb80f95c0d14ba3" /><Relationship Type="http://schemas.openxmlformats.org/officeDocument/2006/relationships/notesMaster" Target="/ppt/notesMasters/notesMaster1.xml" Id="Rec7963a324a34649" /><Relationship Type="http://schemas.openxmlformats.org/officeDocument/2006/relationships/presProps" Target="/ppt/presProps.xml" Id="R856f9b792e6d4df0" /><Relationship Type="http://schemas.openxmlformats.org/officeDocument/2006/relationships/tableStyles" Target="/ppt/tableStyles.xml" Id="Rcb5203e97a6548c6" /><Relationship Type="http://schemas.openxmlformats.org/officeDocument/2006/relationships/slide" Target="/ppt/slides/slide1.xml" Id="R7abca60558224e8c" /><Relationship Type="http://schemas.openxmlformats.org/officeDocument/2006/relationships/slide" Target="/ppt/slides/slide2.xml" Id="Ra03529f27fd5480b" /><Relationship Type="http://schemas.openxmlformats.org/officeDocument/2006/relationships/slide" Target="/ppt/slides/slide3.xml" Id="R062c070d368a414c" /><Relationship Type="http://schemas.openxmlformats.org/officeDocument/2006/relationships/slide" Target="/ppt/slides/slide4.xml" Id="R7dfe7d006cac4e16" /><Relationship Type="http://schemas.openxmlformats.org/officeDocument/2006/relationships/slide" Target="/ppt/slides/slide5.xml" Id="R8297f0faf84a4398" /><Relationship Type="http://schemas.openxmlformats.org/officeDocument/2006/relationships/slide" Target="/ppt/slides/slide6.xml" Id="R7c9d5bae21004553" /><Relationship Type="http://schemas.openxmlformats.org/officeDocument/2006/relationships/slide" Target="/ppt/slides/slide7.xml" Id="R153715e7274f4353" /><Relationship Type="http://schemas.openxmlformats.org/officeDocument/2006/relationships/slide" Target="/ppt/slides/slide8.xml" Id="Ra56519d4bc0e419d" /><Relationship Type="http://schemas.openxmlformats.org/officeDocument/2006/relationships/slide" Target="/ppt/slides/slide9.xml" Id="Ra8e727a989d2445e" /><Relationship Type="http://schemas.openxmlformats.org/officeDocument/2006/relationships/slide" Target="/ppt/slides/slide10.xml" Id="R2619472aa9d142c9" /><Relationship Type="http://schemas.openxmlformats.org/officeDocument/2006/relationships/slide" Target="/ppt/slides/slide11.xml" Id="Ra95906de1d334393" /><Relationship Type="http://schemas.openxmlformats.org/officeDocument/2006/relationships/slide" Target="/ppt/slides/slide12.xml" Id="Red01eab3730f401e" /><Relationship Type="http://schemas.openxmlformats.org/officeDocument/2006/relationships/slide" Target="/ppt/slides/slide13.xml" Id="R85a77354370c40b1" /><Relationship Type="http://schemas.openxmlformats.org/officeDocument/2006/relationships/slide" Target="/ppt/slides/slide14.xml" Id="Rcbf569111fab4a63" /><Relationship Type="http://schemas.openxmlformats.org/officeDocument/2006/relationships/slide" Target="/ppt/slides/slide15.xml" Id="R34c9590cef9749d5" /><Relationship Type="http://schemas.openxmlformats.org/officeDocument/2006/relationships/slide" Target="/ppt/slides/slide16.xml" Id="R92886eb4afd74854" /><Relationship Type="http://schemas.openxmlformats.org/officeDocument/2006/relationships/slide" Target="/ppt/slides/slide17.xml" Id="Rec5f8e0e6923410e" /><Relationship Type="http://schemas.openxmlformats.org/officeDocument/2006/relationships/slide" Target="/ppt/slides/slide18.xml" Id="R806f044f53f848bb" /><Relationship Type="http://schemas.openxmlformats.org/officeDocument/2006/relationships/slide" Target="/ppt/slides/slide19.xml" Id="R2bcada483196413d" /><Relationship Type="http://schemas.openxmlformats.org/officeDocument/2006/relationships/slide" Target="/ppt/slides/slide20.xml" Id="R2c4743a989b34ea8" /><Relationship Type="http://schemas.openxmlformats.org/officeDocument/2006/relationships/slide" Target="/ppt/slides/slide21.xml" Id="Ref8f119fe2fa462e" /><Relationship Type="http://schemas.openxmlformats.org/officeDocument/2006/relationships/slide" Target="/ppt/slides/slide22.xml" Id="Rf12ba4de0b7b4ad3" /><Relationship Type="http://schemas.openxmlformats.org/officeDocument/2006/relationships/slide" Target="/ppt/slides/slide23.xml" Id="R60e9d49c2c244162" /><Relationship Type="http://schemas.openxmlformats.org/officeDocument/2006/relationships/slide" Target="/ppt/slides/slide24.xml" Id="Rab2d3f18538c4998" /><Relationship Type="http://schemas.openxmlformats.org/officeDocument/2006/relationships/slide" Target="/ppt/slides/slide25.xml" Id="R17552d081b4741bc" /><Relationship Type="http://schemas.openxmlformats.org/officeDocument/2006/relationships/slide" Target="/ppt/slides/slide26.xml" Id="R5ede6c846c9a4c2f" /><Relationship Type="http://schemas.openxmlformats.org/officeDocument/2006/relationships/slide" Target="/ppt/slides/slide27.xml" Id="Rb3153604763e4603" /><Relationship Type="http://schemas.openxmlformats.org/officeDocument/2006/relationships/slide" Target="/ppt/slides/slide28.xml" Id="R2fadf86610b64b1a" /><Relationship Type="http://schemas.openxmlformats.org/officeDocument/2006/relationships/slide" Target="/ppt/slides/slide29.xml" Id="R8bb5897539314790" /><Relationship Type="http://schemas.openxmlformats.org/officeDocument/2006/relationships/slide" Target="/ppt/slides/slide30.xml" Id="Rfebe0d21ca2849d6" /><Relationship Type="http://schemas.openxmlformats.org/officeDocument/2006/relationships/slide" Target="/ppt/slides/slide31.xml" Id="Refed959e41214dc0" /><Relationship Type="http://schemas.openxmlformats.org/officeDocument/2006/relationships/slide" Target="/ppt/slides/slide32.xml" Id="R5ecb0b0d99d542bc" /><Relationship Type="http://schemas.openxmlformats.org/officeDocument/2006/relationships/slide" Target="/ppt/slides/slide33.xml" Id="R8ab19229f87c420c" /><Relationship Type="http://schemas.openxmlformats.org/officeDocument/2006/relationships/slide" Target="/ppt/slides/slide34.xml" Id="Ra67806f19cd546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ccf085b72744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8e75690d9544cc" /><Relationship Type="http://schemas.openxmlformats.org/officeDocument/2006/relationships/notesMaster" Target="/ppt/notesMasters/notesMaster1.xml" Id="Re18cb4f09cba43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1f2a1b145ac4707" /><Relationship Type="http://schemas.openxmlformats.org/officeDocument/2006/relationships/notesMaster" Target="/ppt/notesMasters/notesMaster1.xml" Id="Rb22167ba70e240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8a0528ea9b48a9" /><Relationship Type="http://schemas.openxmlformats.org/officeDocument/2006/relationships/notesMaster" Target="/ppt/notesMasters/notesMaster1.xml" Id="R9745cf065b7a4d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1878d813ab4430" /><Relationship Type="http://schemas.openxmlformats.org/officeDocument/2006/relationships/notesMaster" Target="/ppt/notesMasters/notesMaster1.xml" Id="R00965858e89347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d236d91f064ea3" /><Relationship Type="http://schemas.openxmlformats.org/officeDocument/2006/relationships/notesMaster" Target="/ppt/notesMasters/notesMaster1.xml" Id="Re36a1521fe2744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f8c04080944224" /><Relationship Type="http://schemas.openxmlformats.org/officeDocument/2006/relationships/notesMaster" Target="/ppt/notesMasters/notesMaster1.xml" Id="R9a2442f03c4642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2a2804097449aa" /><Relationship Type="http://schemas.openxmlformats.org/officeDocument/2006/relationships/notesMaster" Target="/ppt/notesMasters/notesMaster1.xml" Id="Rfb8746a1e26545d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e8e06a270f4cda" /><Relationship Type="http://schemas.openxmlformats.org/officeDocument/2006/relationships/notesMaster" Target="/ppt/notesMasters/notesMaster1.xml" Id="R6d29ba8b9a014a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7e3a88e67441d2" /><Relationship Type="http://schemas.openxmlformats.org/officeDocument/2006/relationships/notesMaster" Target="/ppt/notesMasters/notesMaster1.xml" Id="Recf6f56ad2db4e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2150e0f5864a1f" /><Relationship Type="http://schemas.openxmlformats.org/officeDocument/2006/relationships/notesMaster" Target="/ppt/notesMasters/notesMaster1.xml" Id="Rfe53439eb55142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c3ca3ec38da4dc3" /><Relationship Type="http://schemas.openxmlformats.org/officeDocument/2006/relationships/notesMaster" Target="/ppt/notesMasters/notesMaster1.xml" Id="R003ad7db20154f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2f3b64899a43a0" /><Relationship Type="http://schemas.openxmlformats.org/officeDocument/2006/relationships/notesMaster" Target="/ppt/notesMasters/notesMaster1.xml" Id="R09fed0f7329341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eb992cdae4348db" /><Relationship Type="http://schemas.openxmlformats.org/officeDocument/2006/relationships/notesMaster" Target="/ppt/notesMasters/notesMaster1.xml" Id="R5f7ba048ed044ee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5fd040becf4cf9" /><Relationship Type="http://schemas.openxmlformats.org/officeDocument/2006/relationships/notesMaster" Target="/ppt/notesMasters/notesMaster1.xml" Id="R246959a9c8544e9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7a78e2fc164ff9" /><Relationship Type="http://schemas.openxmlformats.org/officeDocument/2006/relationships/notesMaster" Target="/ppt/notesMasters/notesMaster1.xml" Id="R8c9531fe3cee453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fbeadf2d7d444f8" /><Relationship Type="http://schemas.openxmlformats.org/officeDocument/2006/relationships/notesMaster" Target="/ppt/notesMasters/notesMaster1.xml" Id="Rb7c2a7b9aa3d442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c3c2a76f2745c1" /><Relationship Type="http://schemas.openxmlformats.org/officeDocument/2006/relationships/notesMaster" Target="/ppt/notesMasters/notesMaster1.xml" Id="Re19397693a02493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e1d6769345b46aa" /><Relationship Type="http://schemas.openxmlformats.org/officeDocument/2006/relationships/notesMaster" Target="/ppt/notesMasters/notesMaster1.xml" Id="Rde34354dffb045b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8d2146fe9a642d1" /><Relationship Type="http://schemas.openxmlformats.org/officeDocument/2006/relationships/notesMaster" Target="/ppt/notesMasters/notesMaster1.xml" Id="R809dc04da7914c7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712660f520040d3" /><Relationship Type="http://schemas.openxmlformats.org/officeDocument/2006/relationships/notesMaster" Target="/ppt/notesMasters/notesMaster1.xml" Id="R0edac0435c814d1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0a98ebc8cd847cb" /><Relationship Type="http://schemas.openxmlformats.org/officeDocument/2006/relationships/notesMaster" Target="/ppt/notesMasters/notesMaster1.xml" Id="R5229c65c05e44f6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7ff385ffca4487a" /><Relationship Type="http://schemas.openxmlformats.org/officeDocument/2006/relationships/notesMaster" Target="/ppt/notesMasters/notesMaster1.xml" Id="Ra673a75ef3ff44b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145d6d90ae64bb8" /><Relationship Type="http://schemas.openxmlformats.org/officeDocument/2006/relationships/notesMaster" Target="/ppt/notesMasters/notesMaster1.xml" Id="R323e522991424f6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fbbb0d2b01d431c" /><Relationship Type="http://schemas.openxmlformats.org/officeDocument/2006/relationships/notesMaster" Target="/ppt/notesMasters/notesMaster1.xml" Id="R6eadc1e717bc456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b8257226a774b65" /><Relationship Type="http://schemas.openxmlformats.org/officeDocument/2006/relationships/notesMaster" Target="/ppt/notesMasters/notesMaster1.xml" Id="R62734543c38a4c6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f8ffb54396747bf" /><Relationship Type="http://schemas.openxmlformats.org/officeDocument/2006/relationships/notesMaster" Target="/ppt/notesMasters/notesMaster1.xml" Id="Rb49c5a9086514b6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6919d37461f41d8" /><Relationship Type="http://schemas.openxmlformats.org/officeDocument/2006/relationships/notesMaster" Target="/ppt/notesMasters/notesMaster1.xml" Id="R3f583091b9d641a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878aaeb6db14f32" /><Relationship Type="http://schemas.openxmlformats.org/officeDocument/2006/relationships/notesMaster" Target="/ppt/notesMasters/notesMaster1.xml" Id="R4a008453fbc84b3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5a9b049c4de424b" /><Relationship Type="http://schemas.openxmlformats.org/officeDocument/2006/relationships/notesMaster" Target="/ppt/notesMasters/notesMaster1.xml" Id="Rd4bd3c60368647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df2cb236d7c4fd9" /><Relationship Type="http://schemas.openxmlformats.org/officeDocument/2006/relationships/notesMaster" Target="/ppt/notesMasters/notesMaster1.xml" Id="Ra5fe6f275e1d4cc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df4a51f6a1a463f" /><Relationship Type="http://schemas.openxmlformats.org/officeDocument/2006/relationships/notesMaster" Target="/ppt/notesMasters/notesMaster1.xml" Id="R7ed26eb22d3c471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5496594f5d2442f" /><Relationship Type="http://schemas.openxmlformats.org/officeDocument/2006/relationships/notesMaster" Target="/ppt/notesMasters/notesMaster1.xml" Id="R772d2d6d205f4f7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7615243908f4799" /><Relationship Type="http://schemas.openxmlformats.org/officeDocument/2006/relationships/notesMaster" Target="/ppt/notesMasters/notesMaster1.xml" Id="Rf703b63107bb45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adf981b9ab44ddd" /><Relationship Type="http://schemas.openxmlformats.org/officeDocument/2006/relationships/notesMaster" Target="/ppt/notesMasters/notesMaster1.xml" Id="R16233f3a23a442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https://doc.binocs.co/18174/CIM/Project_DeLorean_CIM_Meaningful_Partners_(3)_(4).pdf?page=51</a:t>
            </a:r>
          </a:p>
          <a:p xmlns:a="http://schemas.openxmlformats.org/drawingml/2006/main">
            <a:r>
              <a:t>[8] https://doc.binocs.co/18174/CIM/Project_DeLorean_CIM_Meaningful_Partners_(3)_(4).pdf?page=53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https://doc.binocs.co/18174/CIM/Project_DeLorean_CIM_Meaningful_Partners_(3)_(4).pdf?page=42</a:t>
            </a:r>
          </a:p>
          <a:p xmlns:a="http://schemas.openxmlformats.org/drawingml/2006/main">
            <a:r>
              <a:t>[3] https://doc.binocs.co/18174/CIM/Project_DeLorean_CIM_Meaningful_Partners_(3)_(4).pdf?page=22</a:t>
            </a:r>
          </a:p>
          <a:p xmlns:a="http://schemas.openxmlformats.org/drawingml/2006/main">
            <a:r>
              <a:t>[4] https://doc.binocs.co/18174/CIM/Project_DeLorean_CIM_Meaningful_Partners_(3)_(4).pdf?page=51</a:t>
            </a:r>
          </a:p>
          <a:p xmlns:a="http://schemas.openxmlformats.org/drawingml/2006/main">
            <a:r>
              <a:t>[6] https://doc.binocs.co/18174/CIM/Project_DeLorean_CIM_Meaningful_Partners_(3)_(4).pdf?page=23</a:t>
            </a:r>
          </a:p>
          <a:p xmlns:a="http://schemas.openxmlformats.org/drawingml/2006/main">
            <a:r>
              <a:t>[7] https://doc.binocs.co/18174/CIM/Project_DeLorean_CIM_Meaningful_Partners_(3)_(4).pdf?page=24</a:t>
            </a:r>
          </a:p>
          <a:p xmlns:a="http://schemas.openxmlformats.org/drawingml/2006/main">
            <a:r>
              <a:t>[8] https://doc.binocs.co/18174/CIM/Project_DeLorean_CIM_Meaningful_Partners_(3)_(4).pdf?page=53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https://doc.binocs.co/18174/CIM/Project_DeLorean_CIM_Meaningful_Partners_(3)_(4).pdf?page=42</a:t>
            </a:r>
          </a:p>
          <a:p xmlns:a="http://schemas.openxmlformats.org/drawingml/2006/main">
            <a:r>
              <a:t>[3] https://doc.binocs.co/18174/CIM/Project_DeLorean_CIM_Meaningful_Partners_(3)_(4).pdf?page=22</a:t>
            </a:r>
          </a:p>
          <a:p xmlns:a="http://schemas.openxmlformats.org/drawingml/2006/main">
            <a:r>
              <a:t>[4] https://doc.binocs.co/18174/CIM/Project_DeLorean_CIM_Meaningful_Partners_(3)_(4).pdf?page=51</a:t>
            </a:r>
          </a:p>
          <a:p xmlns:a="http://schemas.openxmlformats.org/drawingml/2006/main">
            <a:r>
              <a:t>[9] https://doc.binocs.co/18174/CIM/Project_DeLorean_CIM_Meaningful_Partners_(3)_(4).pdf?page=13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https://doc.binocs.co/18174/CIM/Project_DeLorean_CIM_Meaningful_Partners_(3)_(4).pdf?page=22</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[4] https://doc.binocs.co/18174/CIM/Project_DeLorean_CIM_Meaningful_Partners_(3)_(4).pdf?page=51</a:t>
            </a:r>
          </a:p>
          <a:p xmlns:a="http://schemas.openxmlformats.org/drawingml/2006/main">
            <a:r>
              <a:t>[5]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https://doc.binocs.co/18174/CIM/Project_DeLorean_CIM_Meaningful_Partners_(3)_(4).pdf?page=44</a:t>
            </a:r>
          </a:p>
          <a:p xmlns:a="http://schemas.openxmlformats.org/drawingml/2006/main">
            <a:r>
              <a:t>[11] https://doc.binocs.co/18174/CIM/Project_DeLorean_CIM_Meaningful_Partners_(3)_(4).pdf?page=45</a:t>
            </a:r>
          </a:p>
          <a:p xmlns:a="http://schemas.openxmlformats.org/drawingml/2006/main">
            <a:r>
              <a:t>[12] https://doc.binocs.co/18174/CIM/Project_DeLorean_CIM_Meaningful_Partners_(3)_(4).pdf?page=50</a:t>
            </a:r>
          </a:p>
          <a:p xmlns:a="http://schemas.openxmlformats.org/drawingml/2006/main">
            <a:r>
              <a:t>[4] https://doc.binocs.co/18174/CIM/Project_DeLorean_CIM_Meaningful_Partners_(3)_(4).pdf?page=51</a:t>
            </a:r>
          </a:p>
          <a:p xmlns:a="http://schemas.openxmlformats.org/drawingml/2006/main">
            <a:r>
              <a:t>[6] https://doc.binocs.co/18174/CIM/Project_DeLorean_CIM_Meaningful_Partners_(3)_(4).pdf?page=15</a:t>
            </a:r>
          </a:p>
          <a:p xmlns:a="http://schemas.openxmlformats.org/drawingml/2006/main">
            <a:r>
              <a:t>[7] https://doc.binocs.co/18174/CIM/Project_DeLorean_CIM_Meaningful_Partners_(3)_(4).pdf?page=41</a:t>
            </a:r>
          </a:p>
          <a:p xmlns:a="http://schemas.openxmlformats.org/drawingml/2006/main">
            <a:r>
              <a:t>[8] https://doc.binocs.co/18174/CIM/Project_DeLorean_CIM_Meaningful_Partners_(3)_(4).pdf?page=42</a:t>
            </a:r>
          </a:p>
          <a:p xmlns:a="http://schemas.openxmlformats.org/drawingml/2006/main">
            <a:r>
              <a:t>[9] https://doc.binocs.co/18174/CIM/Project_DeLorean_CIM_Meaningful_Partners_(3)_(4).pdf?page=43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https://doc.binocs.co/18174/CIM/Project_DeLorean_CIM_Meaningful_Partners_(3)_(4).pdf?page=13</a:t>
            </a:r>
          </a:p>
          <a:p xmlns:a="http://schemas.openxmlformats.org/drawingml/2006/main">
            <a:r>
              <a:t>[4] https://doc.binocs.co/18174/CIM/Project_DeLorean_CIM_Meaningful_Partners_(3)_(4).pdf?page=51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https://doc.binocs.co/18174/CIM/Project_DeLorean_CIM_Meaningful_Partners_(3)_(4).pdf?page=51</a:t>
            </a:r>
          </a:p>
          <a:p xmlns:a="http://schemas.openxmlformats.org/drawingml/2006/main">
            <a:r>
              <a:t>[4] https://doc.binocs.co/18174/CIM/Project_DeLorean_CIM_Meaningful_Partners_(3)_(4).pdf?page=52</a:t>
            </a:r>
          </a:p>
          <a:p xmlns:a="http://schemas.openxmlformats.org/drawingml/2006/main">
            <a:r>
              <a:t>[5] https://doc.binocs.co/18174/CIM/Project_DeLorean_CIM_Meaningful_Partners_(3)_(4).pdf?page=53</a:t>
            </a:r>
          </a:p>
          <a:p xmlns:a="http://schemas.openxmlformats.org/drawingml/2006/main">
            <a:r>
              <a:t>[6] https://doc.binocs.co/18174/CIM/Project_DeLorean_CIM_Meaningful_Partners_(3)_(4).pdf?page=15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https://doc.binocs.co/18174/CIM/Project_DeLorean_CIM_Meaningful_Partners_(3)_(4).pdf?page=51</a:t>
            </a:r>
          </a:p>
          <a:p xmlns:a="http://schemas.openxmlformats.org/drawingml/2006/main">
            <a:r>
              <a:t>[3] https://doc.binocs.co/18174/CIM/Project_DeLorean_CIM_Meaningful_Partners_(3)_(4).pdf?page=54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https://doc.binocs.co/18174/CIM/Project_DeLorean_CIM_Meaningful_Partners_(3)_(4).pdf?page=51</a:t>
            </a:r>
          </a:p>
          <a:p xmlns:a="http://schemas.openxmlformats.org/drawingml/2006/main">
            <a:r>
              <a:t>[4] https://doc.binocs.co/18174/CIM/Project_DeLorean_CIM_Meaningful_Partners_(3)_(4).pdf?page=52</a:t>
            </a:r>
          </a:p>
          <a:p xmlns:a="http://schemas.openxmlformats.org/drawingml/2006/main">
            <a:r>
              <a:t>[5] https://doc.binocs.co/18174/CIM/Project_DeLorean_CIM_Meaningful_Partners_(3)_(4).pdf?page=53</a:t>
            </a:r>
          </a:p>
          <a:p xmlns:a="http://schemas.openxmlformats.org/drawingml/2006/main">
            <a:r>
              <a:t>[6] https://doc.binocs.co/18174/CIM/Project_DeLorean_CIM_Meaningful_Partners_(3)_(4).pdf?page=15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https://doc.binocs.co/18174/CIM/Project_DeLorean_CIM_Meaningful_Partners_(3)_(4).pdf?page=54</a:t>
            </a:r>
          </a:p>
          <a:p xmlns:a="http://schemas.openxmlformats.org/drawingml/2006/main">
            <a:r>
              <a:t>[2] https://doc.binocs.co/18174/CIM/Project_DeLorean_CIM_Meaningful_Partners_(3)_(4).pdf?page=50</a:t>
            </a:r>
          </a:p>
          <a:p xmlns:a="http://schemas.openxmlformats.org/drawingml/2006/main">
            <a:r>
              <a:t>[3] https://doc.binocs.co/18174/CIM/Project_DeLorean_CIM_Meaningful_Partners_(3)_(4).pdf?page=51</a:t>
            </a:r>
          </a:p>
          <a:p xmlns:a="http://schemas.openxmlformats.org/drawingml/2006/main">
            <a:r>
              <a:t>[4] https://doc.binocs.co/18174/CIM/Project_DeLorean_CIM_Meaningful_Partners_(3)_(4).pdf?page=52</a:t>
            </a:r>
          </a:p>
          <a:p xmlns:a="http://schemas.openxmlformats.org/drawingml/2006/main">
            <a:r>
              <a:t>[5] https://doc.binocs.co/18174/CIM/Project_DeLorean_CIM_Meaningful_Partners_(3)_(4).pdf?page=53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https://doc.binocs.co/18174/CIM/Project_DeLorean_CIM_Meaningful_Partners_(3)_(4).pdf?page=50</a:t>
            </a:r>
          </a:p>
          <a:p xmlns:a="http://schemas.openxmlformats.org/drawingml/2006/main">
            <a:r>
              <a:t>[8] https://doc.binocs.co/18174/CIM/Project_DeLorean_CIM_Meaningful_Partners_(3)_(4).pdf?page=54</a:t>
            </a:r>
          </a:p>
          <a:p xmlns:a="http://schemas.openxmlformats.org/drawingml/2006/main">
            <a:r>
              <a:t>[1] https://doc.binocs.co/18174/CIM/Project_DeLorean_CIM_Meaningful_Partners_(3)_(4).pdf?page=22</a:t>
            </a:r>
          </a:p>
          <a:p xmlns:a="http://schemas.openxmlformats.org/drawingml/2006/main">
            <a:r>
              <a:t>[10] https://doc.binocs.co/18174/CIM/Project_DeLorean_CIM_Meaningful_Partners_(3)_(4).pdf?page=48</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[7] https://doc.binocs.co/18174/CIM/Project_DeLorean_CIM_Meaningful_Partners_(3)_(4).pdf?page=51</a:t>
            </a:r>
          </a:p>
          <a:p xmlns:a="http://schemas.openxmlformats.org/drawingml/2006/main">
            <a:r>
              <a:t>[9]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https://doc.binocs.co/18174/CIM/Project_DeLorean_CIM_Meaningful_Partners_(3)_(4).pdf?page=50</a:t>
            </a:r>
          </a:p>
          <a:p xmlns:a="http://schemas.openxmlformats.org/drawingml/2006/main">
            <a:r>
              <a:t>[8] https://doc.binocs.co/18174/CIM/Project_DeLorean_CIM_Meaningful_Partners_(3)_(4).pdf?page=54</a:t>
            </a:r>
          </a:p>
          <a:p xmlns:a="http://schemas.openxmlformats.org/drawingml/2006/main">
            <a:r>
              <a:t>[1] https://doc.binocs.co/18174/CIM/Project_DeLorean_CIM_Meaningful_Partners_(3)_(4).pdf?page=22</a:t>
            </a:r>
          </a:p>
          <a:p xmlns:a="http://schemas.openxmlformats.org/drawingml/2006/main">
            <a:r>
              <a:t>[10] https://doc.binocs.co/18174/CIM/Project_DeLorean_CIM_Meaningful_Partners_(3)_(4).pdf?page=48</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[7] https://doc.binocs.co/18174/CIM/Project_DeLorean_CIM_Meaningful_Partners_(3)_(4).pdf?page=51</a:t>
            </a:r>
          </a:p>
          <a:p xmlns:a="http://schemas.openxmlformats.org/drawingml/2006/main">
            <a:r>
              <a:t>[9]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https://doc.binocs.co/18174/CIM/Project_DeLorean_CIM_Meaningful_Partners_(3)_(4).pdf?page=50</a:t>
            </a:r>
          </a:p>
          <a:p xmlns:a="http://schemas.openxmlformats.org/drawingml/2006/main">
            <a:r>
              <a:t>[8] https://doc.binocs.co/18174/CIM/Project_DeLorean_CIM_Meaningful_Partners_(3)_(4).pdf?page=54</a:t>
            </a:r>
          </a:p>
          <a:p xmlns:a="http://schemas.openxmlformats.org/drawingml/2006/main">
            <a:r>
              <a:t>[1] https://doc.binocs.co/18174/CIM/Project_DeLorean_CIM_Meaningful_Partners_(3)_(4).pdf?page=22</a:t>
            </a:r>
          </a:p>
          <a:p xmlns:a="http://schemas.openxmlformats.org/drawingml/2006/main">
            <a:r>
              <a:t>[10] https://doc.binocs.co/18174/CIM/Project_DeLorean_CIM_Meaningful_Partners_(3)_(4).pdf?page=48</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[7] https://doc.binocs.co/18174/CIM/Project_DeLorean_CIM_Meaningful_Partners_(3)_(4).pdf?page=51</a:t>
            </a:r>
          </a:p>
          <a:p xmlns:a="http://schemas.openxmlformats.org/drawingml/2006/main">
            <a:r>
              <a:t>[9]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a:p xmlns:a="http://schemas.openxmlformats.org/drawingml/2006/main">
            <a:r>
              <a:t>[3] https://doc.binocs.co/18174/CIM/Project_DeLorean_CIM_Meaningful_Partners_(3)_(4).pdf?page=42</a:t>
            </a:r>
          </a:p>
          <a:p xmlns:a="http://schemas.openxmlformats.org/drawingml/2006/main">
            <a:r>
              <a:t>[4] https://doc.binocs.co/18174/CIM/Project_DeLorean_CIM_Meaningful_Partners_(3)_(4).pdf?page=50</a:t>
            </a:r>
          </a:p>
          <a:p xmlns:a="http://schemas.openxmlformats.org/drawingml/2006/main">
            <a:r>
              <a:t>[5] https://doc.binocs.co/18174/CIM/Project_DeLorean_CIM_Meaningful_Partners_(3)_(4).pdf?page=51</a:t>
            </a:r>
          </a:p>
          <a:p xmlns:a="http://schemas.openxmlformats.org/drawingml/2006/main">
            <a:r>
              <a:t>[6] https://doc.binocs.co/18174/CIM/Project_DeLorean_CIM_Meaningful_Partners_(3)_(4).pdf?page=22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a:p xmlns:a="http://schemas.openxmlformats.org/drawingml/2006/main">
            <a:r>
              <a:t>[3] https://doc.binocs.co/18174/CIM/Project_DeLorean_CIM_Meaningful_Partners_(3)_(4).pdf?page=42</a:t>
            </a:r>
          </a:p>
          <a:p xmlns:a="http://schemas.openxmlformats.org/drawingml/2006/main">
            <a:r>
              <a:t>[4] https://doc.binocs.co/18174/CIM/Project_DeLorean_CIM_Meaningful_Partners_(3)_(4).pdf?page=50</a:t>
            </a:r>
          </a:p>
          <a:p xmlns:a="http://schemas.openxmlformats.org/drawingml/2006/main">
            <a:r>
              <a:t>[5] https://doc.binocs.co/18174/CIM/Project_DeLorean_CIM_Meaningful_Partners_(3)_(4).pdf?page=51</a:t>
            </a:r>
          </a:p>
          <a:p xmlns:a="http://schemas.openxmlformats.org/drawingml/2006/main">
            <a:r>
              <a:t>[6] https://doc.binocs.co/18174/CIM/Project_DeLorean_CIM_Meaningful_Partners_(3)_(4).pdf?page=22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750a23c6684c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6cc0fc8e8544d96" /><Relationship Type="http://schemas.openxmlformats.org/officeDocument/2006/relationships/slideLayout" Target="/ppt/slideLayouts/slideLayout1.xml" Id="R2743fef577de4e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43fef577de4e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bacf5cd05864fc5" /><Relationship Type="http://schemas.openxmlformats.org/officeDocument/2006/relationships/notesSlide" Target="/ppt/notesSlides/notesSlide1.xml" Id="R369fc6f6844e4e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b2f07c7304a4985" /><Relationship Type="http://schemas.openxmlformats.org/officeDocument/2006/relationships/notesSlide" Target="/ppt/notesSlides/notesSlide2.xml" Id="R27ea86eddf6f42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b32ba67af6749cb" /><Relationship Type="http://schemas.openxmlformats.org/officeDocument/2006/relationships/notesSlide" Target="/ppt/notesSlides/notesSlide3.xml" Id="R6630dab4802948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ea99a7577aa410c" /><Relationship Type="http://schemas.openxmlformats.org/officeDocument/2006/relationships/notesSlide" Target="/ppt/notesSlides/notesSlide4.xml" Id="Rf4813c6688684f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aed14fb9497435a" /><Relationship Type="http://schemas.openxmlformats.org/officeDocument/2006/relationships/notesSlide" Target="/ppt/notesSlides/notesSlide5.xml" Id="R535e9f91471341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a7cd5ca34a4e52" /><Relationship Type="http://schemas.openxmlformats.org/officeDocument/2006/relationships/notesSlide" Target="/ppt/notesSlides/notesSlide6.xml" Id="R896d65504b854e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90c8da35fb4bea" /><Relationship Type="http://schemas.openxmlformats.org/officeDocument/2006/relationships/chart" Target="/ppt/slides/charts/chart1.xml" Id="R6d7c8b19d1014da3" /><Relationship Type="http://schemas.openxmlformats.org/officeDocument/2006/relationships/notesSlide" Target="/ppt/notesSlides/notesSlide7.xml" Id="R901089b7a13a46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368cf54ee694a80" /><Relationship Type="http://schemas.openxmlformats.org/officeDocument/2006/relationships/notesSlide" Target="/ppt/notesSlides/notesSlide8.xml" Id="Rf8d76932e6004e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016c8193ff4127" /><Relationship Type="http://schemas.openxmlformats.org/officeDocument/2006/relationships/notesSlide" Target="/ppt/notesSlides/notesSlide9.xml" Id="R460e80373a154d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53cc97934564a46" /><Relationship Type="http://schemas.openxmlformats.org/officeDocument/2006/relationships/notesSlide" Target="/ppt/notesSlides/notesSlide10.xml" Id="Ra5273dacc57c425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d0b98e091004112" /><Relationship Type="http://schemas.openxmlformats.org/officeDocument/2006/relationships/chart" Target="/ppt/slides/charts/chart2.xml" Id="R5090c081a4dc4c5b" /><Relationship Type="http://schemas.openxmlformats.org/officeDocument/2006/relationships/notesSlide" Target="/ppt/notesSlides/notesSlide11.xml" Id="R9e08d4164c36482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41eddedc4664283" /><Relationship Type="http://schemas.openxmlformats.org/officeDocument/2006/relationships/notesSlide" Target="/ppt/notesSlides/notesSlide12.xml" Id="Rc909f56a52144b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d24c63fe1244170" /><Relationship Type="http://schemas.openxmlformats.org/officeDocument/2006/relationships/chart" Target="/ppt/slides/charts/chart3.xml" Id="R96a9b2209f9f4a9c" /><Relationship Type="http://schemas.openxmlformats.org/officeDocument/2006/relationships/notesSlide" Target="/ppt/notesSlides/notesSlide13.xml" Id="R4dd7575bf46248c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db9965c9f2b4981" /><Relationship Type="http://schemas.openxmlformats.org/officeDocument/2006/relationships/notesSlide" Target="/ppt/notesSlides/notesSlide14.xml" Id="Rc0c37333aad2452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3b31ebc556f4d5c" /><Relationship Type="http://schemas.openxmlformats.org/officeDocument/2006/relationships/chart" Target="/ppt/slides/charts/chart4.xml" Id="R01e22bc988b546d6" /><Relationship Type="http://schemas.openxmlformats.org/officeDocument/2006/relationships/notesSlide" Target="/ppt/notesSlides/notesSlide15.xml" Id="R8c6adccc24d1410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8253087d1eb4bbb" /><Relationship Type="http://schemas.openxmlformats.org/officeDocument/2006/relationships/notesSlide" Target="/ppt/notesSlides/notesSlide16.xml" Id="R4b3ad4e9638241b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5c30b7d5de421e" /><Relationship Type="http://schemas.openxmlformats.org/officeDocument/2006/relationships/chart" Target="/ppt/slides/charts/chart5.xml" Id="R1f0d0a5c30c446e8" /><Relationship Type="http://schemas.openxmlformats.org/officeDocument/2006/relationships/notesSlide" Target="/ppt/notesSlides/notesSlide17.xml" Id="R1f59bbdb052d4d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ffd441b16dc41b1" /><Relationship Type="http://schemas.openxmlformats.org/officeDocument/2006/relationships/notesSlide" Target="/ppt/notesSlides/notesSlide18.xml" Id="Ra3bfdfc69e79456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68c7a68fb12419b" /><Relationship Type="http://schemas.openxmlformats.org/officeDocument/2006/relationships/notesSlide" Target="/ppt/notesSlides/notesSlide19.xml" Id="R7bfae0d672514ce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ac50908aa7b43f5" /><Relationship Type="http://schemas.openxmlformats.org/officeDocument/2006/relationships/notesSlide" Target="/ppt/notesSlides/notesSlide20.xml" Id="R34ee1ce0c6274f5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1f9b1a332ec459c" /><Relationship Type="http://schemas.openxmlformats.org/officeDocument/2006/relationships/chart" Target="/ppt/slides/charts/chart6.xml" Id="R0bd7598d94e54e9a" /><Relationship Type="http://schemas.openxmlformats.org/officeDocument/2006/relationships/notesSlide" Target="/ppt/notesSlides/notesSlide21.xml" Id="Rf48d617be2804a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f46f657e17546c2" /><Relationship Type="http://schemas.openxmlformats.org/officeDocument/2006/relationships/notesSlide" Target="/ppt/notesSlides/notesSlide22.xml" Id="R6ed62b801a194e1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d09a164845b4ca0" /><Relationship Type="http://schemas.openxmlformats.org/officeDocument/2006/relationships/notesSlide" Target="/ppt/notesSlides/notesSlide23.xml" Id="Rff2544d8386a45c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d5adeb28c2e4b4d" /><Relationship Type="http://schemas.openxmlformats.org/officeDocument/2006/relationships/notesSlide" Target="/ppt/notesSlides/notesSlide24.xml" Id="R574119c4b76a453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9cd9a3b71824521" /><Relationship Type="http://schemas.openxmlformats.org/officeDocument/2006/relationships/notesSlide" Target="/ppt/notesSlides/notesSlide25.xml" Id="Rd95a602090d8493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59e38bb31eb4634" /><Relationship Type="http://schemas.openxmlformats.org/officeDocument/2006/relationships/notesSlide" Target="/ppt/notesSlides/notesSlide26.xml" Id="Rdd99e1ad789943c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162c502315f4410" /><Relationship Type="http://schemas.openxmlformats.org/officeDocument/2006/relationships/chart" Target="/ppt/slides/charts/chart7.xml" Id="R13b779d65b2f4ceb" /><Relationship Type="http://schemas.openxmlformats.org/officeDocument/2006/relationships/notesSlide" Target="/ppt/notesSlides/notesSlide27.xml" Id="R4734e7b5b6cd481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3cc44ef25d6408d" /><Relationship Type="http://schemas.openxmlformats.org/officeDocument/2006/relationships/notesSlide" Target="/ppt/notesSlides/notesSlide28.xml" Id="R714000f852da46b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4245ebc2d904e70" /><Relationship Type="http://schemas.openxmlformats.org/officeDocument/2006/relationships/notesSlide" Target="/ppt/notesSlides/notesSlide29.xml" Id="R6c2c06dd8295459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fdd4d31c8434fa7" /><Relationship Type="http://schemas.openxmlformats.org/officeDocument/2006/relationships/notesSlide" Target="/ppt/notesSlides/notesSlide30.xml" Id="R5f4aedaf16db40c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fb0dcca45cc4a1f" /><Relationship Type="http://schemas.openxmlformats.org/officeDocument/2006/relationships/notesSlide" Target="/ppt/notesSlides/notesSlide31.xml" Id="R5b9024fb42ba48a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81de2386bee4de6" /><Relationship Type="http://schemas.openxmlformats.org/officeDocument/2006/relationships/notesSlide" Target="/ppt/notesSlides/notesSlide32.xml" Id="R0cfcc5d1c7174b7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79dc30356ec47fb" /><Relationship Type="http://schemas.openxmlformats.org/officeDocument/2006/relationships/notesSlide" Target="/ppt/notesSlides/notesSlide33.xml" Id="Re31b1bd7d7c5463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c12d134518841f4" /><Relationship Type="http://schemas.openxmlformats.org/officeDocument/2006/relationships/notesSlide" Target="/ppt/notesSlides/notesSlide34.xml" Id="Re3c0e837ea94432a" /></Relationships>
</file>

<file path=ppt/slides/charts/chart1.xml><?xml version="1.0" encoding="utf-8"?>
<c:chartSpace xmlns:c="http://schemas.openxmlformats.org/drawingml/2006/chart">
  <c:lang val="en-US"/>
  <c:chart>
    <c:plotArea>
      <c:barChart>
        <c:barDir val="col"/>
        <c:grouping val="clustered"/>
        <c:varyColors val="1"/>
        <c:ser>
          <c:idx val="0"/>
          <c:order val="0"/>
          <c:tx>
            <c:v>Revenue</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0F766E"/>
              </a:solidFill>
            </c:spPr>
          </c:dPt>
          <c:cat>
            <c:strLit>
              <c:ptCount val="4"/>
              <c:pt idx="0">
                <c:v>2022A</c:v>
              </c:pt>
              <c:pt idx="1">
                <c:v>2023A increase</c:v>
              </c:pt>
              <c:pt idx="2">
                <c:v>2024A increase</c:v>
              </c:pt>
              <c:pt idx="3">
                <c:v>2024A</c:v>
              </c:pt>
            </c:strLit>
          </c:cat>
          <c:val>
            <c:numLit>
              <c:formatCode>General</c:formatCode>
              <c:ptCount val="4"/>
              <c:pt idx="0">
                <c:v>4.271</c:v>
              </c:pt>
              <c:pt idx="1">
                <c:v>3.835</c:v>
              </c:pt>
              <c:pt idx="2">
                <c:v>12.244</c:v>
              </c:pt>
              <c:pt idx="3">
                <c:v>20.35</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2.xml><?xml version="1.0" encoding="utf-8"?>
<c:chartSpace xmlns:c="http://schemas.openxmlformats.org/drawingml/2006/chart">
  <c:lang val="en-US"/>
  <c:chart>
    <c:plotArea>
      <c:barChart>
        <c:barDir val="bar"/>
        <c:grouping val="clustered"/>
        <c:varyColors val="1"/>
        <c:ser>
          <c:idx val="0"/>
          <c:order val="0"/>
          <c:tx>
            <c:v>Revenue</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64748B"/>
              </a:solidFill>
            </c:spPr>
          </c:dPt>
          <c:cat>
            <c:strLit>
              <c:ptCount val="4"/>
              <c:pt idx="0">
                <c:v>Weekend Recovery</c:v>
              </c:pt>
              <c:pt idx="1">
                <c:v>Workout Hydration</c:v>
              </c:pt>
              <c:pt idx="2">
                <c:v>Daily Hydration</c:v>
              </c:pt>
              <c:pt idx="3">
                <c:v>Other</c:v>
              </c:pt>
            </c:strLit>
          </c:cat>
          <c:val>
            <c:numLit>
              <c:formatCode>General</c:formatCode>
              <c:ptCount val="4"/>
              <c:pt idx="0">
                <c:v>17.1</c:v>
              </c:pt>
              <c:pt idx="1">
                <c:v>3.7</c:v>
              </c:pt>
              <c:pt idx="2">
                <c:v>0.5</c:v>
              </c:pt>
              <c:pt idx="3">
                <c:v>0.2</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 (2024A)</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3.xml><?xml version="1.0" encoding="utf-8"?>
<c:chartSpace xmlns:c="http://schemas.openxmlformats.org/drawingml/2006/chart">
  <c:lang val="en-US"/>
  <c:chart>
    <c:plotArea>
      <c:barChart>
        <c:barDir val="bar"/>
        <c:grouping val="clustered"/>
        <c:varyColors val="1"/>
        <c:ser>
          <c:idx val="0"/>
          <c:order val="0"/>
          <c:tx>
            <c:v>2024A</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64748B"/>
              </a:solidFill>
            </c:spPr>
          </c:dPt>
          <c:cat>
            <c:strLit>
              <c:ptCount val="4"/>
              <c:pt idx="0">
                <c:v>Marketplace / Amazon</c:v>
              </c:pt>
              <c:pt idx="1">
                <c:v>Consumer / DTC</c:v>
              </c:pt>
              <c:pt idx="2">
                <c:v>Mass Retail / Wholesale Retailers</c:v>
              </c:pt>
              <c:pt idx="3">
                <c:v>Other</c:v>
              </c:pt>
            </c:strLit>
          </c:cat>
          <c:val>
            <c:numLit>
              <c:formatCode>General</c:formatCode>
              <c:ptCount val="4"/>
              <c:pt idx="0">
                <c:v>10.7</c:v>
              </c:pt>
              <c:pt idx="1">
                <c:v>6.3</c:v>
              </c:pt>
              <c:pt idx="2">
                <c:v>3.3</c:v>
              </c:pt>
              <c:pt idx="3">
                <c:v>0.1</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Share of 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4.xml><?xml version="1.0" encoding="utf-8"?>
<c:chartSpace xmlns:c="http://schemas.openxmlformats.org/drawingml/2006/chart">
  <c:lang val="en-US"/>
  <c:chart>
    <c:plotArea>
      <c:barChart>
        <c:barDir val="bar"/>
        <c:grouping val="clustered"/>
        <c:varyColors val="1"/>
        <c:ser>
          <c:idx val="0"/>
          <c:order val="0"/>
          <c:tx>
            <c:v>Revenue</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cat>
            <c:strLit>
              <c:ptCount val="2"/>
              <c:pt idx="0">
                <c:v>Non-recurring</c:v>
              </c:pt>
              <c:pt idx="1">
                <c:v>Recurring</c:v>
              </c:pt>
            </c:strLit>
          </c:cat>
          <c:val>
            <c:numLit>
              <c:formatCode>General</c:formatCode>
              <c:ptCount val="2"/>
              <c:pt idx="0">
                <c:v>16.4</c:v>
              </c:pt>
              <c:pt idx="1">
                <c:v>4</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 (2024A)</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5.xml><?xml version="1.0" encoding="utf-8"?>
<c:chartSpace xmlns:c="http://schemas.openxmlformats.org/drawingml/2006/chart">
  <c:lang val="en-US"/>
  <c:chart>
    <c:plotArea>
      <c:barChart>
        <c:barDir val="col"/>
        <c:grouping val="clustered"/>
        <c:varyColors val="1"/>
        <c:ser>
          <c:idx val="0"/>
          <c:order val="0"/>
          <c:tx>
            <c:v>Margin walk</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0F766E"/>
              </a:solidFill>
            </c:spPr>
          </c:dPt>
          <c:cat>
            <c:strLit>
              <c:ptCount val="3"/>
              <c:pt idx="0">
                <c:v>Opening margin (2022A)</c:v>
              </c:pt>
              <c:pt idx="1">
                <c:v>COGS rate change</c:v>
              </c:pt>
              <c:pt idx="2">
                <c:v>Closing margin (2024A)</c:v>
              </c:pt>
            </c:strLit>
          </c:cat>
          <c:val>
            <c:numLit>
              <c:formatCode>General</c:formatCode>
              <c:ptCount val="3"/>
              <c:pt idx="0">
                <c:v>81.5</c:v>
              </c:pt>
              <c:pt idx="1">
                <c:v>6.5</c:v>
              </c:pt>
              <c:pt idx="2">
                <c:v>88</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Margin</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6.xml><?xml version="1.0" encoding="utf-8"?>
<c:chartSpace xmlns:c="http://schemas.openxmlformats.org/drawingml/2006/chart">
  <c:lang val="en-US"/>
  <c:chart>
    <c:plotArea>
      <c:barChart>
        <c:barDir val="col"/>
        <c:grouping val="clustered"/>
        <c:varyColors val="0"/>
        <c:ser>
          <c:idx val="0"/>
          <c:order val="0"/>
          <c:tx>
            <c:v>EBITDA bridge</c:v>
          </c:tx>
          <c:spPr>
            <a:solidFill xmlns:a="http://schemas.openxmlformats.org/drawingml/2006/main">
              <a:srgbClr val="0F766E"/>
            </a:solidFill>
            <a:ln xmlns:a="http://schemas.openxmlformats.org/drawingml/2006/main" w="28575">
              <a:solidFill>
                <a:srgbClr val="0F766E"/>
              </a:solidFill>
              <a:prstDash val="solid"/>
            </a:ln>
          </c:spPr>
          <c:invertIfNegative val="0"/>
          <c:dPt>
            <c:idx val="0"/>
            <c:invertIfNegative val="0"/>
            <c:spPr>
              <a:solidFill xmlns:a="http://schemas.openxmlformats.org/drawingml/2006/main">
                <a:srgbClr val="0F766E"/>
              </a:solidFill>
            </c:spPr>
          </c:dPt>
          <c:dPt>
            <c:idx val="1"/>
            <c:invertIfNegative val="0"/>
            <c:spPr>
              <a:solidFill xmlns:a="http://schemas.openxmlformats.org/drawingml/2006/main">
                <a:srgbClr val="DC2626"/>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64748B"/>
              </a:solidFill>
            </c:spPr>
          </c:dPt>
          <c:dPt>
            <c:idx val="4"/>
            <c:invertIfNegative val="0"/>
            <c:spPr>
              <a:solidFill xmlns:a="http://schemas.openxmlformats.org/drawingml/2006/main">
                <a:srgbClr val="34D399"/>
              </a:solidFill>
            </c:spPr>
          </c:dPt>
          <c:dPt>
            <c:idx val="5"/>
            <c:invertIfNegative val="0"/>
            <c:spPr>
              <a:solidFill xmlns:a="http://schemas.openxmlformats.org/drawingml/2006/main">
                <a:srgbClr val="0F766E"/>
              </a:solidFill>
            </c:spPr>
          </c:dPt>
          <c:dPt>
            <c:idx val="6"/>
            <c:invertIfNegative val="0"/>
            <c:spPr>
              <a:solidFill xmlns:a="http://schemas.openxmlformats.org/drawingml/2006/main">
                <a:srgbClr val="0F766E"/>
              </a:solidFill>
            </c:spPr>
          </c:dPt>
          <c:cat>
            <c:strLit>
              <c:ptCount val="8"/>
              <c:pt idx="0">
                <c:v>Management adjusted</c:v>
              </c:pt>
              <c:pt idx="1">
                <c:v>Non-recurring income &amp; expense</c:v>
              </c:pt>
              <c:pt idx="2">
                <c:v>Sales and cost corrections</c:v>
              </c:pt>
              <c:pt idx="3">
                <c:v>Inventory true-ups</c:v>
              </c:pt>
              <c:pt idx="4">
                <c:v>Changes to operations</c:v>
              </c:pt>
              <c:pt idx="5">
                <c:v>Cash to accrual adjustments</c:v>
              </c:pt>
              <c:pt idx="6">
                <c:v>Recommended</c:v>
              </c:pt>
              <c:pt idx="7">
                <c:v>Reported (floor)</c:v>
              </c:pt>
            </c:strLit>
          </c:cat>
          <c:val>
            <c:numLit>
              <c:formatCode>General</c:formatCode>
              <c:ptCount val="8"/>
              <c:pt idx="0">
                <c:v>4.4</c:v>
              </c:pt>
              <c:pt idx="1">
                <c:v>-0.293</c:v>
              </c:pt>
              <c:pt idx="2">
                <c:v>0.062</c:v>
              </c:pt>
              <c:pt idx="3">
                <c:v>0.054</c:v>
              </c:pt>
              <c:pt idx="4">
                <c:v>0.051</c:v>
              </c:pt>
              <c:pt idx="5">
                <c:v>0.005</c:v>
              </c:pt>
              <c:pt idx="6">
                <c:v>4.279</c:v>
              </c:pt>
              <c:pt idx="7">
                <c:v>0</c:v>
              </c:pt>
            </c:numLit>
          </c:val>
        </c:ser>
        <c:ser>
          <c:idx val="1"/>
          <c:order val="1"/>
          <c:tx>
            <c:v>EBITDA bridge</c:v>
          </c:tx>
          <c:spPr>
            <a:solidFill xmlns:a="http://schemas.openxmlformats.org/drawingml/2006/main">
              <a:srgbClr val="16A34A"/>
            </a:solidFill>
            <a:ln xmlns:a="http://schemas.openxmlformats.org/drawingml/2006/main" w="28575">
              <a:solidFill>
                <a:srgbClr val="16A34A"/>
              </a:solidFill>
              <a:prstDash val="solid"/>
            </a:ln>
          </c:spPr>
          <c:dPt>
            <c:idx val="7"/>
            <c:invertIfNegative val="0"/>
            <c:spPr>
              <a:solidFill xmlns:a="http://schemas.openxmlformats.org/drawingml/2006/main">
                <a:srgbClr val="64748B"/>
              </a:solidFill>
            </c:spPr>
          </c:dPt>
          <c:cat>
            <c:strLit>
              <c:ptCount val="8"/>
              <c:pt idx="0">
                <c:v>Management adjusted</c:v>
              </c:pt>
              <c:pt idx="1">
                <c:v>Non-recurring income &amp; expense</c:v>
              </c:pt>
              <c:pt idx="2">
                <c:v>Sales and cost corrections</c:v>
              </c:pt>
              <c:pt idx="3">
                <c:v>Inventory true-ups</c:v>
              </c:pt>
              <c:pt idx="4">
                <c:v>Changes to operations</c:v>
              </c:pt>
              <c:pt idx="5">
                <c:v>Cash to accrual adjustments</c:v>
              </c:pt>
              <c:pt idx="6">
                <c:v>Recommended</c:v>
              </c:pt>
              <c:pt idx="7">
                <c:v>Reported (floor)</c:v>
              </c:pt>
            </c:strLit>
          </c:cat>
          <c:val>
            <c:numLit>
              <c:formatCode>General</c:formatCode>
              <c:ptCount val="8"/>
              <c:pt idx="0">
                <c:v>0</c:v>
              </c:pt>
              <c:pt idx="1">
                <c:v>0</c:v>
              </c:pt>
              <c:pt idx="2">
                <c:v>0</c:v>
              </c:pt>
              <c:pt idx="3">
                <c:v>0</c:v>
              </c:pt>
              <c:pt idx="4">
                <c:v>0</c:v>
              </c:pt>
              <c:pt idx="5">
                <c:v>0</c:v>
              </c:pt>
              <c:pt idx="6">
                <c:v>0</c:v>
              </c:pt>
              <c:pt idx="7">
                <c:v>4.279</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EBITDA</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7.xml><?xml version="1.0" encoding="utf-8"?>
<c:chartSpace xmlns:c="http://schemas.openxmlformats.org/drawingml/2006/chart">
  <c:lang val="en-US"/>
  <c:chart>
    <c:plotArea>
      <c:lineChart>
        <c:grouping val="standard"/>
        <c:ser>
          <c:idx val="0"/>
          <c:order val="0"/>
          <c:tx>
            <c:v>Downside</c:v>
          </c:tx>
          <c:spPr>
            <a:solidFill xmlns:a="http://schemas.openxmlformats.org/drawingml/2006/main">
              <a:srgbClr val="0F766E"/>
            </a:solidFill>
            <a:ln xmlns:a="http://schemas.openxmlformats.org/drawingml/2006/main" w="28575">
              <a:solidFill>
                <a:srgbClr val="0F766E"/>
              </a:solidFill>
              <a:prstDash val="solid"/>
            </a:ln>
          </c:spPr>
          <c:marker>
            <c:symbol val="circle"/>
            <c:size val="7"/>
            <c:spPr>
              <a:solidFill xmlns:a="http://schemas.openxmlformats.org/drawingml/2006/main">
                <a:srgbClr val="0F766E"/>
              </a:solidFill>
            </c:spPr>
          </c:marker>
          <c:dPt>
            <c:idx val="0"/>
            <c:spPr>
              <a:solidFill xmlns:a="http://schemas.openxmlformats.org/drawingml/2006/main">
                <a:srgbClr val="0F766E"/>
              </a:solidFill>
            </c:spPr>
          </c:dPt>
          <c:dPt>
            <c:idx val="1"/>
            <c:spPr>
              <a:solidFill xmlns:a="http://schemas.openxmlformats.org/drawingml/2006/main">
                <a:srgbClr val="16A34A"/>
              </a:solidFill>
            </c:spPr>
          </c:dPt>
          <c:dPt>
            <c:idx val="2"/>
            <c:spPr>
              <a:solidFill xmlns:a="http://schemas.openxmlformats.org/drawingml/2006/main">
                <a:srgbClr val="65A30D"/>
              </a:solidFill>
            </c:spPr>
          </c:dPt>
          <c:dPt>
            <c:idx val="3"/>
            <c:spPr>
              <a:solidFill xmlns:a="http://schemas.openxmlformats.org/drawingml/2006/main">
                <a:srgbClr val="64748B"/>
              </a:solidFill>
            </c:spPr>
          </c:dPt>
          <c:cat>
            <c:strLit>
              <c:ptCount val="4"/>
              <c:pt idx="0">
                <c:v>2024A</c:v>
              </c:pt>
              <c:pt idx="1">
                <c:v>2025P</c:v>
              </c:pt>
              <c:pt idx="2">
                <c:v>2026P</c:v>
              </c:pt>
              <c:pt idx="3">
                <c:v>2027P</c:v>
              </c:pt>
            </c:strLit>
          </c:cat>
          <c:val>
            <c:numLit>
              <c:formatCode>$0.0"M"</c:formatCode>
              <c:ptCount val="4"/>
              <c:pt idx="0">
                <c:v>17</c:v>
              </c:pt>
              <c:pt idx="1">
                <c:v>26.3</c:v>
              </c:pt>
              <c:pt idx="2">
                <c:v>33.8</c:v>
              </c:pt>
              <c:pt idx="3">
                <c:v>40.8</c:v>
              </c:pt>
            </c:numLit>
          </c:val>
        </c:ser>
        <c:ser>
          <c:idx val="1"/>
          <c:order val="1"/>
          <c:tx>
            <c:v>Base case</c:v>
          </c:tx>
          <c:spPr>
            <a:solidFill xmlns:a="http://schemas.openxmlformats.org/drawingml/2006/main">
              <a:srgbClr val="16A34A"/>
            </a:solidFill>
            <a:ln xmlns:a="http://schemas.openxmlformats.org/drawingml/2006/main" w="28575">
              <a:solidFill>
                <a:srgbClr val="16A34A"/>
              </a:solidFill>
              <a:prstDash val="solid"/>
            </a:ln>
          </c:spPr>
          <c:marker>
            <c:symbol val="circle"/>
            <c:size val="7"/>
            <c:spPr>
              <a:solidFill xmlns:a="http://schemas.openxmlformats.org/drawingml/2006/main">
                <a:srgbClr val="16A34A"/>
              </a:solidFill>
            </c:spPr>
          </c:marker>
          <c:dPt>
            <c:idx val="0"/>
            <c:spPr>
              <a:solidFill xmlns:a="http://schemas.openxmlformats.org/drawingml/2006/main">
                <a:srgbClr val="16A34A"/>
              </a:solidFill>
            </c:spPr>
          </c:dPt>
          <c:dPt>
            <c:idx val="1"/>
            <c:spPr>
              <a:solidFill xmlns:a="http://schemas.openxmlformats.org/drawingml/2006/main">
                <a:srgbClr val="65A30D"/>
              </a:solidFill>
            </c:spPr>
          </c:dPt>
          <c:dPt>
            <c:idx val="2"/>
            <c:spPr>
              <a:solidFill xmlns:a="http://schemas.openxmlformats.org/drawingml/2006/main">
                <a:srgbClr val="64748B"/>
              </a:solidFill>
            </c:spPr>
          </c:dPt>
          <c:dPt>
            <c:idx val="3"/>
            <c:spPr>
              <a:solidFill xmlns:a="http://schemas.openxmlformats.org/drawingml/2006/main">
                <a:srgbClr val="34D399"/>
              </a:solidFill>
            </c:spPr>
          </c:dPt>
          <c:cat>
            <c:strLit>
              <c:ptCount val="4"/>
              <c:pt idx="0">
                <c:v>2024A</c:v>
              </c:pt>
              <c:pt idx="1">
                <c:v>2025P</c:v>
              </c:pt>
              <c:pt idx="2">
                <c:v>2026P</c:v>
              </c:pt>
              <c:pt idx="3">
                <c:v>2027P</c:v>
              </c:pt>
            </c:strLit>
          </c:cat>
          <c:val>
            <c:numLit>
              <c:formatCode>$0.0"M"</c:formatCode>
              <c:ptCount val="4"/>
              <c:pt idx="0">
                <c:v>17</c:v>
              </c:pt>
              <c:pt idx="1">
                <c:v>30.5</c:v>
              </c:pt>
              <c:pt idx="2">
                <c:v>41.6</c:v>
              </c:pt>
              <c:pt idx="3">
                <c:v>53.8</c:v>
              </c:pt>
            </c:numLit>
          </c:val>
        </c:ser>
        <c:ser>
          <c:idx val="2"/>
          <c:order val="2"/>
          <c:tx>
            <c:v>Upside</c:v>
          </c:tx>
          <c:spPr>
            <a:solidFill xmlns:a="http://schemas.openxmlformats.org/drawingml/2006/main">
              <a:srgbClr val="65A30D"/>
            </a:solidFill>
            <a:ln xmlns:a="http://schemas.openxmlformats.org/drawingml/2006/main" w="28575">
              <a:solidFill>
                <a:srgbClr val="65A30D"/>
              </a:solidFill>
              <a:prstDash val="solid"/>
            </a:ln>
          </c:spPr>
          <c:marker>
            <c:symbol val="circle"/>
            <c:size val="7"/>
            <c:spPr>
              <a:solidFill xmlns:a="http://schemas.openxmlformats.org/drawingml/2006/main">
                <a:srgbClr val="65A30D"/>
              </a:solidFill>
            </c:spPr>
          </c:marker>
          <c:dPt>
            <c:idx val="0"/>
            <c:spPr>
              <a:solidFill xmlns:a="http://schemas.openxmlformats.org/drawingml/2006/main">
                <a:srgbClr val="65A30D"/>
              </a:solidFill>
            </c:spPr>
          </c:dPt>
          <c:dPt>
            <c:idx val="1"/>
            <c:spPr>
              <a:solidFill xmlns:a="http://schemas.openxmlformats.org/drawingml/2006/main">
                <a:srgbClr val="64748B"/>
              </a:solidFill>
            </c:spPr>
          </c:dPt>
          <c:dPt>
            <c:idx val="2"/>
            <c:spPr>
              <a:solidFill xmlns:a="http://schemas.openxmlformats.org/drawingml/2006/main">
                <a:srgbClr val="34D399"/>
              </a:solidFill>
            </c:spPr>
          </c:dPt>
          <c:dPt>
            <c:idx val="3"/>
            <c:spPr>
              <a:solidFill xmlns:a="http://schemas.openxmlformats.org/drawingml/2006/main">
                <a:srgbClr val="0F766E"/>
              </a:solidFill>
            </c:spPr>
          </c:dPt>
          <c:cat>
            <c:strLit>
              <c:ptCount val="4"/>
              <c:pt idx="0">
                <c:v>2024A</c:v>
              </c:pt>
              <c:pt idx="1">
                <c:v>2025P</c:v>
              </c:pt>
              <c:pt idx="2">
                <c:v>2026P</c:v>
              </c:pt>
              <c:pt idx="3">
                <c:v>2027P</c:v>
              </c:pt>
            </c:strLit>
          </c:cat>
          <c:val>
            <c:numLit>
              <c:formatCode>$0.0"M"</c:formatCode>
              <c:ptCount val="4"/>
              <c:pt idx="0">
                <c:v>17</c:v>
              </c:pt>
              <c:pt idx="1">
                <c:v>34.3</c:v>
              </c:pt>
              <c:pt idx="2">
                <c:v>50.9</c:v>
              </c:pt>
              <c:pt idx="3">
                <c:v>70</c:v>
              </c:pt>
            </c:numLit>
          </c:val>
        </c:ser>
        <c:ser>
          <c:idx val="3"/>
          <c:order val="3"/>
          <c:tx>
            <c:v>Management plan</c:v>
          </c:tx>
          <c:spPr>
            <a:solidFill xmlns:a="http://schemas.openxmlformats.org/drawingml/2006/main">
              <a:srgbClr val="64748B"/>
            </a:solidFill>
            <a:ln xmlns:a="http://schemas.openxmlformats.org/drawingml/2006/main" w="28575">
              <a:solidFill>
                <a:srgbClr val="64748B"/>
              </a:solidFill>
              <a:prstDash val="dash"/>
            </a:ln>
          </c:spPr>
          <c:marker>
            <c:symbol val="circle"/>
            <c:size val="7"/>
            <c:spPr>
              <a:solidFill xmlns:a="http://schemas.openxmlformats.org/drawingml/2006/main">
                <a:srgbClr val="64748B"/>
              </a:solidFill>
            </c:spPr>
          </c:marker>
          <c:dPt>
            <c:idx val="0"/>
            <c:spPr>
              <a:solidFill xmlns:a="http://schemas.openxmlformats.org/drawingml/2006/main">
                <a:srgbClr val="64748B"/>
              </a:solidFill>
            </c:spPr>
          </c:dPt>
          <c:dPt>
            <c:idx val="1"/>
            <c:spPr>
              <a:solidFill xmlns:a="http://schemas.openxmlformats.org/drawingml/2006/main">
                <a:srgbClr val="34D399"/>
              </a:solidFill>
            </c:spPr>
          </c:dPt>
          <c:dPt>
            <c:idx val="2"/>
            <c:spPr>
              <a:solidFill xmlns:a="http://schemas.openxmlformats.org/drawingml/2006/main">
                <a:srgbClr val="0F766E"/>
              </a:solidFill>
            </c:spPr>
          </c:dPt>
          <c:dPt>
            <c:idx val="3"/>
            <c:spPr>
              <a:solidFill xmlns:a="http://schemas.openxmlformats.org/drawingml/2006/main">
                <a:srgbClr val="16A34A"/>
              </a:solidFill>
            </c:spPr>
          </c:dPt>
          <c:cat>
            <c:strLit>
              <c:ptCount val="4"/>
              <c:pt idx="0">
                <c:v>2024A</c:v>
              </c:pt>
              <c:pt idx="1">
                <c:v>2025P</c:v>
              </c:pt>
              <c:pt idx="2">
                <c:v>2026P</c:v>
              </c:pt>
              <c:pt idx="3">
                <c:v>2027P</c:v>
              </c:pt>
            </c:strLit>
          </c:cat>
          <c:val>
            <c:numLit>
              <c:formatCode>$0.0"M"</c:formatCode>
              <c:ptCount val="4"/>
              <c:pt idx="0">
                <c:v>17</c:v>
              </c:pt>
              <c:pt idx="1">
                <c:v>42.2</c:v>
              </c:pt>
              <c:pt idx="2">
                <c:v>58.1</c:v>
              </c:pt>
              <c:pt idx="3">
                <c:v>0</c:v>
              </c:pt>
            </c:numLit>
          </c:val>
        </c:ser>
        <c:dLbls>
          <c:txPr>
            <a:bodyPr xmlns:a="http://schemas.openxmlformats.org/drawingml/2006/main" anchorCtr="1"/>
            <a:lstStyle xmlns:a="http://schemas.openxmlformats.org/drawingml/2006/main"/>
            <a:p xmlns:a="http://schemas.openxmlformats.org/drawingml/2006/main">
              <a:pPr>
                <a:defRPr sz="750">
                  <a:solidFill>
                    <a:srgbClr val="12372A"/>
                  </a:solidFill>
                  <a:latin typeface="Calibri"/>
                  <a:ea typeface="Calibri"/>
                  <a:cs typeface="Calibri"/>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quot;M&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legend>
    <c:plotVisOnly val="1"/>
    <c:dispBlanksAs val="gap"/>
  </c:chart>
  <c:spPr>
    <a:solidFill xmlns:a="http://schemas.openxmlformats.org/drawingml/2006/main">
      <a:srgbClr val="F5FAF7"/>
    </a:solidFill>
  </c:spPr>
</c:chartSpace>
</file>

<file path=ppt/slides/slide1.xml><?xml version="1.0" encoding="utf-8"?>
<p:sld xmlns:p="http://schemas.openxmlformats.org/presentationml/2006/main">
  <p:cSld>
    <p:bg>
      <p:bgPr>
        <a:solidFill xmlns:a="http://schemas.openxmlformats.org/drawingml/2006/main">
          <a:srgbClr val="12372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752A1C6-CEB9-4A16-ADAD-220904BCFDFE}"/>
              </a:ext>
            </a:extLst>
          </p:cNvPr>
          <p:cNvSpPr>
            <a:spLocks xmlns:a="http://schemas.openxmlformats.org/drawingml/2006/main" noGrp="1"/>
          </p:cNvSpPr>
          <p:nvPr/>
        </p:nvSpPr>
        <p:spPr>
          <a:xfrm xmlns:a="http://schemas.openxmlformats.org/drawingml/2006/main">
            <a:off x="685800" y="971550"/>
            <a:ext cx="114300" cy="3733800"/>
          </a:xfrm>
          <a:prstGeom xmlns:a="http://schemas.openxmlformats.org/drawingml/2006/main" prst="rect">
            <a:avLst/>
          </a:prstGeom>
          <a:solidFill xmlns:a="http://schemas.openxmlformats.org/drawingml/2006/main">
            <a:srgbClr val="34D39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5190DF-00C6-4777-87A4-0DF50349B850}"/>
              </a:ext>
            </a:extLst>
          </p:cNvPr>
          <p:cNvSpPr>
            <a:spLocks xmlns:a="http://schemas.openxmlformats.org/drawingml/2006/main" noGrp="1"/>
          </p:cNvSpPr>
          <p:nvPr/>
        </p:nvSpPr>
        <p:spPr>
          <a:xfrm xmlns:a="http://schemas.openxmlformats.org/drawingml/2006/main">
            <a:off x="1104900" y="1790700"/>
            <a:ext cx="9334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Calibri"/>
                <a:ea typeface="Calibri"/>
                <a:cs typeface="Calibri"/>
              </a:defRPr>
            </a:pPr>
            <a:r>
              <a:rPr sz="3600" b="1">
                <a:solidFill>
                  <a:srgbClr val="FFFFFF"/>
                </a:solidFill>
                <a:latin typeface="Calibri"/>
                <a:ea typeface="Calibri"/>
                <a:cs typeface="Calibri"/>
              </a:rPr>
              <a:t>Financial Overview</a:t>
            </a:r>
          </a:p>
        </p:txBody>
      </p:sp>
      <p:sp>
        <p:nvSpPr>
          <p:cNvPr id="3" name="">
            <a:extLst xmlns:a="http://schemas.openxmlformats.org/drawingml/2006/main">
              <a:ext uri="{FF2B5EF4-FFF2-40B4-BE49-F238E27FC236}">
                <a16:creationId xmlns:a16="http://schemas.microsoft.com/office/drawing/2014/main" id="{DA18F275-580D-474E-84DB-AB6F9F51B1DA}"/>
              </a:ext>
            </a:extLst>
          </p:cNvPr>
          <p:cNvSpPr>
            <a:spLocks xmlns:a="http://schemas.openxmlformats.org/drawingml/2006/main" noGrp="1"/>
          </p:cNvSpPr>
          <p:nvPr/>
        </p:nvSpPr>
        <p:spPr>
          <a:xfrm xmlns:a="http://schemas.openxmlformats.org/drawingml/2006/main">
            <a:off x="1123950" y="3390900"/>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CFC9F3"/>
                </a:solidFill>
                <a:latin typeface="Calibri"/>
                <a:ea typeface="Calibri"/>
                <a:cs typeface="Calibri"/>
              </a:defRPr>
            </a:pPr>
            <a:r>
              <a:rPr sz="1650">
                <a:solidFill>
                  <a:srgbClr val="CFC9F3"/>
                </a:solidFill>
                <a:latin typeface="Calibri"/>
                <a:ea typeface="Calibri"/>
                <a:cs typeface="Calibri"/>
              </a:rPr>
              <a:t>Financial analysis</a:t>
            </a:r>
          </a:p>
        </p:txBody>
      </p:sp>
    </p:spTree>
    <p:extLst>
      <p:ext uri="{BB962C8B-B14F-4D97-AF65-F5344CB8AC3E}">
        <p14:creationId xmlns:p14="http://schemas.microsoft.com/office/powerpoint/2010/main" val="1986852689"/>
      </p:ext>
    </p:extLst>
  </p:cSld>
</p:sld>
</file>

<file path=ppt/slides/slide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4956B8-661D-4BC9-925F-0EEF4ADCD8BA}"/>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a:t>
            </a:r>
          </a:p>
        </p:txBody>
      </p:sp>
      <p:sp>
        <p:nvSpPr>
          <p:cNvPr id="2" name="title-rule">
            <a:extLst xmlns:a="http://schemas.openxmlformats.org/drawingml/2006/main">
              <a:ext uri="{FF2B5EF4-FFF2-40B4-BE49-F238E27FC236}">
                <a16:creationId xmlns:a16="http://schemas.microsoft.com/office/drawing/2014/main" id="{11344525-BAFC-49CA-9B9C-8F30B19DB4C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4202B7B-23AE-4BD9-A5D5-76E73AF88770}"/>
              </a:ext>
            </a:extLst>
          </p:cNvPr>
          <p:cNvSpPr>
            <a:spLocks xmlns:a="http://schemas.openxmlformats.org/drawingml/2006/main" noGrp="1"/>
          </p:cNvSpPr>
          <p:nvPr/>
        </p:nvSpPr>
        <p:spPr>
          <a:xfrm xmlns:a="http://schemas.openxmlformats.org/drawingml/2006/main">
            <a:off x="914400" y="1600200"/>
            <a:ext cx="10134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2372A"/>
                </a:solidFill>
                <a:latin typeface="Calibri"/>
                <a:ea typeface="Calibri"/>
                <a:cs typeface="Calibri"/>
              </a:defRPr>
            </a:pPr>
            <a:r>
              <a:rPr sz="1725" b="1">
                <a:solidFill>
                  <a:srgbClr val="12372A"/>
                </a:solidFill>
                <a:latin typeface="Calibri"/>
                <a:ea typeface="Calibri"/>
                <a:cs typeface="Calibri"/>
              </a:rPr>
              <a:t>The business generates $4.4M of management-adjusted EBITDA at a 21.6% margin, but 2024 profitability was held back by marketing and payroll absorbing the gross-profit benefit while revenue remains concentrated, and management's figure is only $0.1M above booked EBITDA.</a:t>
            </a:r>
          </a:p>
        </p:txBody>
      </p:sp>
      <p:sp>
        <p:nvSpPr>
          <p:cNvPr id="4" name="">
            <a:extLst xmlns:a="http://schemas.openxmlformats.org/drawingml/2006/main">
              <a:ext uri="{FF2B5EF4-FFF2-40B4-BE49-F238E27FC236}">
                <a16:creationId xmlns:a16="http://schemas.microsoft.com/office/drawing/2014/main" id="{BD02B9C0-2122-493D-B733-C43336F54BAD}"/>
              </a:ext>
            </a:extLst>
          </p:cNvPr>
          <p:cNvSpPr>
            <a:spLocks xmlns:a="http://schemas.openxmlformats.org/drawingml/2006/main" noGrp="1"/>
          </p:cNvSpPr>
          <p:nvPr/>
        </p:nvSpPr>
        <p:spPr>
          <a:xfrm xmlns:a="http://schemas.openxmlformats.org/drawingml/2006/main">
            <a:off x="914400" y="2990850"/>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and Weekend Recovery drove most revenue growth, but growth remains concentrated — Amazon drove $9.3M of 2022A-2024A net revenue growth and $6.8M of the $12.2M year-over-year increase in 2024A, while retail added another $3.3M. Customer growth is still concentrated on one platform, and product growth still leans on the legacy hero SKU rather than a fully proven multi-product engine.</a:t>
            </a:r>
          </a:p>
        </p:txBody>
      </p:sp>
      <p:sp>
        <p:nvSpPr>
          <p:cNvPr id="5" name="">
            <a:extLst xmlns:a="http://schemas.openxmlformats.org/drawingml/2006/main">
              <a:ext uri="{FF2B5EF4-FFF2-40B4-BE49-F238E27FC236}">
                <a16:creationId xmlns:a16="http://schemas.microsoft.com/office/drawing/2014/main" id="{31991587-3283-4136-A0AF-32BAD3C90D3E}"/>
              </a:ext>
            </a:extLst>
          </p:cNvPr>
          <p:cNvSpPr>
            <a:spLocks xmlns:a="http://schemas.openxmlformats.org/drawingml/2006/main" noGrp="1"/>
          </p:cNvSpPr>
          <p:nvPr/>
        </p:nvSpPr>
        <p:spPr>
          <a:xfrm xmlns:a="http://schemas.openxmlformats.org/drawingml/2006/main">
            <a:off x="914400" y="45434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Growth still depends on paid media support — Marketing spend rose from $1.0M in 2022A to $2.4M in 2023A and $6.8M in 2024A, while net revenue increased by $3.8M and $12.2M in those years. That equates to about $2.8 of extra revenue per additional marketing dollar in both 2023A and 2024A; digital advertising reached $6.5M, or 31.8% of revenue.</a:t>
            </a:r>
          </a:p>
        </p:txBody>
      </p:sp>
      <p:sp>
        <p:nvSpPr>
          <p:cNvPr id="6" name="">
            <a:extLst xmlns:a="http://schemas.openxmlformats.org/drawingml/2006/main">
              <a:ext uri="{FF2B5EF4-FFF2-40B4-BE49-F238E27FC236}">
                <a16:creationId xmlns:a16="http://schemas.microsoft.com/office/drawing/2014/main" id="{85581EC5-E482-4FC5-B199-C073E5CA286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02</a:t>
            </a:r>
          </a:p>
        </p:txBody>
      </p:sp>
    </p:spTree>
    <p:extLst>
      <p:ext uri="{BB962C8B-B14F-4D97-AF65-F5344CB8AC3E}">
        <p14:creationId xmlns:p14="http://schemas.microsoft.com/office/powerpoint/2010/main" val="666539712"/>
      </p:ext>
    </p:extLst>
  </p:cSld>
</p:sld>
</file>

<file path=ppt/slides/slide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64A1C5-82F7-44C5-877B-DBE6B70FF41D}"/>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 continued</a:t>
            </a:r>
          </a:p>
        </p:txBody>
      </p:sp>
      <p:sp>
        <p:nvSpPr>
          <p:cNvPr id="2" name="title-rule">
            <a:extLst xmlns:a="http://schemas.openxmlformats.org/drawingml/2006/main">
              <a:ext uri="{FF2B5EF4-FFF2-40B4-BE49-F238E27FC236}">
                <a16:creationId xmlns:a16="http://schemas.microsoft.com/office/drawing/2014/main" id="{F78ACBCE-F5E2-4B01-B864-B9EAAA0BAB97}"/>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9C728F-48A3-4878-941C-792A437BBE9E}"/>
              </a:ext>
            </a:extLst>
          </p:cNvPr>
          <p:cNvSpPr>
            <a:spLocks xmlns:a="http://schemas.openxmlformats.org/drawingml/2006/main" noGrp="1"/>
          </p:cNvSpPr>
          <p:nvPr/>
        </p:nvSpPr>
        <p:spPr>
          <a:xfrm xmlns:a="http://schemas.openxmlformats.org/drawingml/2006/main">
            <a:off x="914400" y="160020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Recurring revenue remains a small part of the business — Only $4.0M, or 19.7%, of 2024A revenue was recurring, even as Amazon subscribers rose to 7.6K in 2H24. That leaves $16.4M, or 80.3%, outside a recurring base, so most value still depends on repeat purchases and sell-through.</a:t>
            </a:r>
          </a:p>
        </p:txBody>
      </p:sp>
      <p:sp>
        <p:nvSpPr>
          <p:cNvPr id="4" name="">
            <a:extLst xmlns:a="http://schemas.openxmlformats.org/drawingml/2006/main">
              <a:ext uri="{FF2B5EF4-FFF2-40B4-BE49-F238E27FC236}">
                <a16:creationId xmlns:a16="http://schemas.microsoft.com/office/drawing/2014/main" id="{6456DF29-D068-4A85-B1F6-BECE89FE4F44}"/>
              </a:ext>
            </a:extLst>
          </p:cNvPr>
          <p:cNvSpPr>
            <a:spLocks xmlns:a="http://schemas.openxmlformats.org/drawingml/2006/main" noGrp="1"/>
          </p:cNvSpPr>
          <p:nvPr/>
        </p:nvSpPr>
        <p:spPr>
          <a:xfrm xmlns:a="http://schemas.openxmlformats.org/drawingml/2006/main">
            <a:off x="914400" y="26384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The EBITDA bridge adds little beyond reported earnings — Management shows $4.4M of EBITDA, but the buyer's number is $4.3M, and the 2024 adjustment stack adds only $0.1M above reported results. The largest contested add-back is $0.3M, and the disclosed items are mostly transaction costs, recruiting, severance, brand work, expensed capital items, and accounting entries.</a:t>
            </a:r>
          </a:p>
        </p:txBody>
      </p:sp>
      <p:sp>
        <p:nvSpPr>
          <p:cNvPr id="5" name="">
            <a:extLst xmlns:a="http://schemas.openxmlformats.org/drawingml/2006/main">
              <a:ext uri="{FF2B5EF4-FFF2-40B4-BE49-F238E27FC236}">
                <a16:creationId xmlns:a16="http://schemas.microsoft.com/office/drawing/2014/main" id="{D2ED96E9-6E29-4A8A-AF63-DB9406DE24C2}"/>
              </a:ext>
            </a:extLst>
          </p:cNvPr>
          <p:cNvSpPr>
            <a:spLocks xmlns:a="http://schemas.openxmlformats.org/drawingml/2006/main" noGrp="1"/>
          </p:cNvSpPr>
          <p:nvPr/>
        </p:nvSpPr>
        <p:spPr>
          <a:xfrm xmlns:a="http://schemas.openxmlformats.org/drawingml/2006/main">
            <a:off x="914400" y="3933825"/>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2025 earnings depend on whether 2024 spend is temporary and retail scales — Adjusted EBITDA margin fell from 27.5% in 2023A to 21.6% in 2024A, implying about $1.2M of EBITDA would have been preserved if margin had held. The recovery path also assumes retail can absorb tradespend rising from $0.3M in 2024A to $1.6M, so the forward earnings case is most exposed to whether those costs normalize.</a:t>
            </a:r>
          </a:p>
        </p:txBody>
      </p:sp>
      <p:sp>
        <p:nvSpPr>
          <p:cNvPr id="6" name="">
            <a:extLst xmlns:a="http://schemas.openxmlformats.org/drawingml/2006/main">
              <a:ext uri="{FF2B5EF4-FFF2-40B4-BE49-F238E27FC236}">
                <a16:creationId xmlns:a16="http://schemas.microsoft.com/office/drawing/2014/main" id="{DFCD30DC-CA23-41FB-A4D2-D3598BD2F041}"/>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03</a:t>
            </a:r>
          </a:p>
        </p:txBody>
      </p:sp>
    </p:spTree>
    <p:extLst>
      <p:ext uri="{BB962C8B-B14F-4D97-AF65-F5344CB8AC3E}">
        <p14:creationId xmlns:p14="http://schemas.microsoft.com/office/powerpoint/2010/main" val="627571945"/>
      </p:ext>
    </p:extLst>
  </p:cSld>
</p:sld>
</file>

<file path=ppt/slides/slide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FD670A2-19EE-443E-AE6C-F1B61341B313}"/>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a:t>
            </a:r>
          </a:p>
        </p:txBody>
      </p:sp>
      <p:sp>
        <p:nvSpPr>
          <p:cNvPr id="2" name="title-rule">
            <a:extLst xmlns:a="http://schemas.openxmlformats.org/drawingml/2006/main">
              <a:ext uri="{FF2B5EF4-FFF2-40B4-BE49-F238E27FC236}">
                <a16:creationId xmlns:a16="http://schemas.microsoft.com/office/drawing/2014/main" id="{E402A895-7A14-49EE-AEDB-CF0761014BCE}"/>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238500"/>
        </p:xfrm>
        <a:graphic xmlns:a="http://schemas.openxmlformats.org/drawingml/2006/main">
          <a:graphicData uri="http://schemas.openxmlformats.org/drawingml/2006/table">
            <a:tbl>
              <a:tblPr firstRow="1" bandRow="1"/>
              <a:tblGrid>
                <a:gridCol w="1654885"/>
                <a:gridCol w="2036781"/>
                <a:gridCol w="2036781"/>
                <a:gridCol w="5091953"/>
              </a:tblGrid>
              <a:tr h="552450">
                <a:tc>
                  <a:txBody>
                    <a:bodyPr>
                      <a:normAutofit/>
                    </a:bodyPr>
                    <a:lstStyle/>
                    <a:p>
                      <a:r>
                        <a:rPr sz="1200" b="1">
                          <a:solidFill>
                            <a:srgbClr val="FFFFFF"/>
                          </a:solidFill>
                          <a:latin typeface="Calibri"/>
                          <a:ea typeface="Calibri"/>
                          <a:cs typeface="Calibri"/>
                        </a:rPr>
                        <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2024A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vs 2022A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Key Insight</a:t>
                      </a:r>
                    </a:p>
                  </a:txBody>
                  <a:tcPr marL="91440" marR="91440" marT="45720" marB="45720">
                    <a:solidFill>
                      <a:srgbClr val="0F766E"/>
                    </a:solidFill>
                  </a:tcPr>
                </a:tc>
              </a:tr>
              <a:tr h="895350">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$20.4M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118.3% CAGR from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2024A growth accelerated to 151.1% from 89.8% in 2023A, but the step-up includes a retail launch and a small 2022 base, so the recent spike reads as a sharp scale-up rather than a settled run-rate.</a:t>
                      </a:r>
                    </a:p>
                  </a:txBody>
                  <a:tcPr marL="91440" marR="91440" marT="45720" marB="45720">
                    <a:solidFill>
                      <a:srgbClr val="FFFFFF"/>
                    </a:solidFill>
                  </a:tcPr>
                </a:tc>
              </a:tr>
              <a:tr h="895350">
                <a:tc>
                  <a:txBody>
                    <a:bodyPr>
                      <a:normAutofit/>
                    </a:bodyPr>
                    <a:lstStyle/>
                    <a:p>
                      <a:r>
                        <a:rPr sz="1125">
                          <a:solidFill>
                            <a:srgbClr val="12372A"/>
                          </a:solidFill>
                          <a:latin typeface="Calibri"/>
                          <a:ea typeface="Calibri"/>
                          <a:cs typeface="Calibri"/>
                        </a:rPr>
                        <a:t>Profit (EBITDA)</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$4.4M adjusted EBITDA, 21.6% margin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from $1.1M and 25.0% in 2022A</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Gross margin stayed high at 88.0% in 2024A, but digital advertising reached 31.8% of revenue and payroll 6.9%, so the 2024 profit setback happened below gross profit and leaves earnings dependent on whether those spend levels persist.</a:t>
                      </a:r>
                    </a:p>
                  </a:txBody>
                  <a:tcPr marL="91440" marR="91440" marT="45720" marB="45720">
                    <a:solidFill>
                      <a:srgbClr val="F0EEF8"/>
                    </a:solidFill>
                  </a:tcPr>
                </a:tc>
              </a:tr>
              <a:tr h="895350">
                <a:tc>
                  <a:txBody>
                    <a:bodyPr>
                      <a:normAutofit/>
                    </a:bodyPr>
                    <a:lstStyle/>
                    <a:p>
                      <a:r>
                        <a:rPr sz="1125">
                          <a:solidFill>
                            <a:srgbClr val="12372A"/>
                          </a:solidFill>
                          <a:latin typeface="Calibri"/>
                          <a:ea typeface="Calibri"/>
                          <a:cs typeface="Calibri"/>
                        </a:rPr>
                        <a:t>Biggest concentration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79.4% of 2024A product gross sales</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from 93.5% in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Excluding Weekend Recovery leaves only about $4.4M across the rest of the portfolio, while the product still supplied $12.9M, or 75.7%, of product growth from 2022A to 2024A, so diversification has started but the business remains anchored to one hero product.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36A0265-6221-4A0E-8AB4-7A952260953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04</a:t>
            </a:r>
          </a:p>
        </p:txBody>
      </p:sp>
    </p:spTree>
    <p:extLst>
      <p:ext uri="{BB962C8B-B14F-4D97-AF65-F5344CB8AC3E}">
        <p14:creationId xmlns:p14="http://schemas.microsoft.com/office/powerpoint/2010/main" val="1272538513"/>
      </p:ext>
    </p:extLst>
  </p:cSld>
</p:sld>
</file>

<file path=ppt/slides/slide5.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D79AF58-59F6-4967-8728-98D1008121BF}"/>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 continued</a:t>
            </a:r>
          </a:p>
        </p:txBody>
      </p:sp>
      <p:sp>
        <p:nvSpPr>
          <p:cNvPr id="2" name="title-rule">
            <a:extLst xmlns:a="http://schemas.openxmlformats.org/drawingml/2006/main">
              <a:ext uri="{FF2B5EF4-FFF2-40B4-BE49-F238E27FC236}">
                <a16:creationId xmlns:a16="http://schemas.microsoft.com/office/drawing/2014/main" id="{A93D8CF3-1D81-406B-A096-88835B739DB1}"/>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600450"/>
        </p:xfrm>
        <a:graphic xmlns:a="http://schemas.openxmlformats.org/drawingml/2006/main">
          <a:graphicData uri="http://schemas.openxmlformats.org/drawingml/2006/table">
            <a:tbl>
              <a:tblPr firstRow="1" bandRow="1"/>
              <a:tblGrid>
                <a:gridCol w="1654885"/>
                <a:gridCol w="2036781"/>
                <a:gridCol w="2036781"/>
                <a:gridCol w="5091953"/>
              </a:tblGrid>
              <a:tr h="552450">
                <a:tc>
                  <a:txBody>
                    <a:bodyPr>
                      <a:normAutofit/>
                    </a:bodyPr>
                    <a:lstStyle/>
                    <a:p>
                      <a:r>
                        <a:rPr sz="1200" b="1">
                          <a:solidFill>
                            <a:srgbClr val="FFFFFF"/>
                          </a:solidFill>
                          <a:latin typeface="Calibri"/>
                          <a:ea typeface="Calibri"/>
                          <a:cs typeface="Calibri"/>
                        </a:rPr>
                        <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2024A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vs 2022A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Key Insight</a:t>
                      </a:r>
                    </a:p>
                  </a:txBody>
                  <a:tcPr marL="91440" marR="91440" marT="45720" marB="45720">
                    <a:solidFill>
                      <a:srgbClr val="0F766E"/>
                    </a:solidFill>
                  </a:tcPr>
                </a:tc>
              </a:tr>
              <a:tr h="895350">
                <a:tc>
                  <a:txBody>
                    <a:bodyPr>
                      <a:normAutofit/>
                    </a:bodyPr>
                    <a:lstStyle/>
                    <a:p>
                      <a:r>
                        <a:rPr sz="1125">
                          <a:solidFill>
                            <a:srgbClr val="12372A"/>
                          </a:solidFill>
                          <a:latin typeface="Calibri"/>
                          <a:ea typeface="Calibri"/>
                          <a:cs typeface="Calibri"/>
                        </a:rPr>
                        <a:t>Gross margin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88.0%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from 81.5% in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2022A-2024A improvement came almost entirely from a 6.5-point lower COGS burden; without that, 2024A gross profit would have been about $16.6M, which is why product economics stayed strong even as EBITDA margin fell.</a:t>
                      </a:r>
                    </a:p>
                  </a:txBody>
                  <a:tcPr marL="91440" marR="91440" marT="45720" marB="45720">
                    <a:solidFill>
                      <a:srgbClr val="FFFFFF"/>
                    </a:solidFill>
                  </a:tcPr>
                </a:tc>
              </a:tr>
              <a:tr h="1076325">
                <a:tc>
                  <a:txBody>
                    <a:bodyPr>
                      <a:normAutofit/>
                    </a:bodyPr>
                    <a:lstStyle/>
                    <a:p>
                      <a:r>
                        <a:rPr sz="1125">
                          <a:solidFill>
                            <a:srgbClr val="12372A"/>
                          </a:solidFill>
                          <a:latin typeface="Calibri"/>
                          <a:ea typeface="Calibri"/>
                          <a:cs typeface="Calibri"/>
                        </a:rPr>
                        <a:t>Revenue at risk</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$10.7M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52.6% of 2024A net 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Amazon's 2022A-2024A revenue growth contributed $9.3M and average Amazon subscribers rose to 7.6K in 2H24 from 0.1K in 1H23, but this demand still sits with one platform outside the company's control, so growth concentration and loss exposure sit in the same place.</a:t>
                      </a:r>
                    </a:p>
                  </a:txBody>
                  <a:tcPr marL="91440" marR="91440" marT="45720" marB="45720">
                    <a:solidFill>
                      <a:srgbClr val="F0EEF8"/>
                    </a:solidFill>
                  </a:tcPr>
                </a:tc>
              </a:tr>
              <a:tr h="1076325">
                <a:tc>
                  <a:txBody>
                    <a:bodyPr>
                      <a:normAutofit/>
                    </a:bodyPr>
                    <a:lstStyle/>
                    <a:p>
                      <a:r>
                        <a:rPr sz="1125">
                          <a:solidFill>
                            <a:srgbClr val="12372A"/>
                          </a:solidFill>
                          <a:latin typeface="Calibri"/>
                          <a:ea typeface="Calibri"/>
                          <a:cs typeface="Calibri"/>
                        </a:rPr>
                        <a:t>Adjustments claimed</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$4.4M management-adjusted EBITDA; $4.3M recommended EBITDA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$4.3M recommended EBITDA vs $1.1M in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largest claimed uplift is a $0.3M non-recurring bucket, but the full adjustment stack only lifts management EBITDA by $0.1M above the $4.3M reported result, so the number a buyer can underwrite is still the booked earnings figure rather than seller add-backs.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27A7FF8-485F-4D35-9F6C-9F3BCD9C253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05</a:t>
            </a:r>
          </a:p>
        </p:txBody>
      </p:sp>
    </p:spTree>
    <p:extLst>
      <p:ext uri="{BB962C8B-B14F-4D97-AF65-F5344CB8AC3E}">
        <p14:creationId xmlns:p14="http://schemas.microsoft.com/office/powerpoint/2010/main" val="1467790450"/>
      </p:ext>
    </p:extLst>
  </p:cSld>
</p:sld>
</file>

<file path=ppt/slides/slide6.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0216EEE-68C8-4FCF-85AC-065729B3C01C}"/>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&amp; Growth</a:t>
            </a:r>
          </a:p>
        </p:txBody>
      </p:sp>
      <p:sp>
        <p:nvSpPr>
          <p:cNvPr id="2" name="title-rule">
            <a:extLst xmlns:a="http://schemas.openxmlformats.org/drawingml/2006/main">
              <a:ext uri="{FF2B5EF4-FFF2-40B4-BE49-F238E27FC236}">
                <a16:creationId xmlns:a16="http://schemas.microsoft.com/office/drawing/2014/main" id="{9FAC14AF-6CAF-4992-8C54-2C50225A2D38}"/>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269289E-B935-423C-A9B6-6FB379D8DFC8}"/>
              </a:ext>
            </a:extLst>
          </p:cNvPr>
          <p:cNvSpPr>
            <a:spLocks xmlns:a="http://schemas.openxmlformats.org/drawingml/2006/main" noGrp="1"/>
          </p:cNvSpPr>
          <p:nvPr/>
        </p:nvSpPr>
        <p:spPr>
          <a:xfrm xmlns:a="http://schemas.openxmlformats.org/drawingml/2006/main">
            <a:off x="914400" y="1600200"/>
            <a:ext cx="101346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Growth is real but still narrow and not fully repeatable: 2024A net revenue reached $20.350M, a 118.3% actual CAGR from 2022A to 2024A, but Amazon and one hero product still dominate.</a:t>
            </a:r>
          </a:p>
        </p:txBody>
      </p:sp>
      <p:sp>
        <p:nvSpPr>
          <p:cNvPr id="4" name="">
            <a:extLst xmlns:a="http://schemas.openxmlformats.org/drawingml/2006/main">
              <a:ext uri="{FF2B5EF4-FFF2-40B4-BE49-F238E27FC236}">
                <a16:creationId xmlns:a16="http://schemas.microsoft.com/office/drawing/2014/main" id="{C5E62A63-2316-4343-B8D5-D6A8FCB14849}"/>
              </a:ext>
            </a:extLst>
          </p:cNvPr>
          <p:cNvSpPr>
            <a:spLocks xmlns:a="http://schemas.openxmlformats.org/drawingml/2006/main" noGrp="1"/>
          </p:cNvSpPr>
          <p:nvPr/>
        </p:nvSpPr>
        <p:spPr>
          <a:xfrm xmlns:a="http://schemas.openxmlformats.org/drawingml/2006/main">
            <a:off x="914400" y="2857500"/>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growth engine is still paid-media intensive, with marketing spend rising to $6.824M and digital advertising reaching $6.479M in 2024A, so further scaling likely requires continued acquisition outlay [4][8].</a:t>
            </a:r>
          </a:p>
        </p:txBody>
      </p:sp>
      <p:sp>
        <p:nvSpPr>
          <p:cNvPr id="5" name="">
            <a:extLst xmlns:a="http://schemas.openxmlformats.org/drawingml/2006/main">
              <a:ext uri="{FF2B5EF4-FFF2-40B4-BE49-F238E27FC236}">
                <a16:creationId xmlns:a16="http://schemas.microsoft.com/office/drawing/2014/main" id="{BEB80BD6-F88A-46C5-A20A-775B02D2D4C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06</a:t>
            </a:r>
          </a:p>
        </p:txBody>
      </p:sp>
    </p:spTree>
    <p:extLst>
      <p:ext uri="{BB962C8B-B14F-4D97-AF65-F5344CB8AC3E}">
        <p14:creationId xmlns:p14="http://schemas.microsoft.com/office/powerpoint/2010/main" val="327570462"/>
      </p:ext>
    </p:extLst>
  </p:cSld>
</p:sld>
</file>

<file path=ppt/slides/slide7.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0CF817-51C3-40AB-90BC-B81C20A10848}"/>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&amp; GROWTH</a:t>
            </a:r>
          </a:p>
        </p:txBody>
      </p:sp>
      <p:sp>
        <p:nvSpPr>
          <p:cNvPr id="2" name="">
            <a:extLst xmlns:a="http://schemas.openxmlformats.org/drawingml/2006/main">
              <a:ext uri="{FF2B5EF4-FFF2-40B4-BE49-F238E27FC236}">
                <a16:creationId xmlns:a16="http://schemas.microsoft.com/office/drawing/2014/main" id="{FD768898-4FC3-4C64-8445-2469CFCDCD2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Net Revenue Growth Bridge, 2022A to 2024A</a:t>
            </a:r>
          </a:p>
        </p:txBody>
      </p:sp>
      <p:sp>
        <p:nvSpPr>
          <p:cNvPr id="3" name="title-rule">
            <a:extLst xmlns:a="http://schemas.openxmlformats.org/drawingml/2006/main">
              <a:ext uri="{FF2B5EF4-FFF2-40B4-BE49-F238E27FC236}">
                <a16:creationId xmlns:a16="http://schemas.microsoft.com/office/drawing/2014/main" id="{C1A5ED53-54E2-45B0-92EB-150891374CB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17"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6d7c8b19d1014da3"/>
          </a:graphicData>
        </a:graphic>
      </p:graphicFrame>
      <p:sp>
        <p:nvSpPr>
          <p:cNvPr id="5" name="">
            <a:extLst xmlns:a="http://schemas.openxmlformats.org/drawingml/2006/main">
              <a:ext uri="{FF2B5EF4-FFF2-40B4-BE49-F238E27FC236}">
                <a16:creationId xmlns:a16="http://schemas.microsoft.com/office/drawing/2014/main" id="{F34FB7F0-615C-46CC-96F8-91D6BAFD396B}"/>
              </a:ext>
            </a:extLst>
          </p:cNvPr>
          <p:cNvSpPr>
            <a:spLocks xmlns:a="http://schemas.openxmlformats.org/drawingml/2006/main" noGrp="1"/>
          </p:cNvSpPr>
          <p:nvPr/>
        </p:nvSpPr>
        <p:spPr>
          <a:xfrm xmlns:a="http://schemas.openxmlformats.org/drawingml/2006/main">
            <a:off x="2628900" y="4716525"/>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BB6A923C-439F-40C5-AAC2-8029D6E231DD}"/>
              </a:ext>
            </a:extLst>
          </p:cNvPr>
          <p:cNvSpPr>
            <a:spLocks xmlns:a="http://schemas.openxmlformats.org/drawingml/2006/main" noGrp="1"/>
          </p:cNvSpPr>
          <p:nvPr/>
        </p:nvSpPr>
        <p:spPr>
          <a:xfrm xmlns:a="http://schemas.openxmlformats.org/drawingml/2006/main">
            <a:off x="2219325" y="4535550"/>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$4.3M</a:t>
            </a:r>
          </a:p>
        </p:txBody>
      </p:sp>
      <p:sp>
        <p:nvSpPr>
          <p:cNvPr id="7" name="">
            <a:extLst xmlns:a="http://schemas.openxmlformats.org/drawingml/2006/main">
              <a:ext uri="{FF2B5EF4-FFF2-40B4-BE49-F238E27FC236}">
                <a16:creationId xmlns:a16="http://schemas.microsoft.com/office/drawing/2014/main" id="{F7FA82DA-D67F-4E2B-8CD6-5C56359D34F9}"/>
              </a:ext>
            </a:extLst>
          </p:cNvPr>
          <p:cNvSpPr>
            <a:spLocks xmlns:a="http://schemas.openxmlformats.org/drawingml/2006/main" noGrp="1"/>
          </p:cNvSpPr>
          <p:nvPr/>
        </p:nvSpPr>
        <p:spPr>
          <a:xfrm xmlns:a="http://schemas.openxmlformats.org/drawingml/2006/main">
            <a:off x="5067300" y="4799979"/>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8" name="">
            <a:extLst xmlns:a="http://schemas.openxmlformats.org/drawingml/2006/main">
              <a:ext uri="{FF2B5EF4-FFF2-40B4-BE49-F238E27FC236}">
                <a16:creationId xmlns:a16="http://schemas.microsoft.com/office/drawing/2014/main" id="{301CE223-846D-449B-9BDD-5441884D18F7}"/>
              </a:ext>
            </a:extLst>
          </p:cNvPr>
          <p:cNvSpPr>
            <a:spLocks xmlns:a="http://schemas.openxmlformats.org/drawingml/2006/main" noGrp="1"/>
          </p:cNvSpPr>
          <p:nvPr/>
        </p:nvSpPr>
        <p:spPr>
          <a:xfrm xmlns:a="http://schemas.openxmlformats.org/drawingml/2006/main">
            <a:off x="4657725" y="4619004"/>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+$3.8M</a:t>
            </a:r>
          </a:p>
        </p:txBody>
      </p:sp>
      <p:sp>
        <p:nvSpPr>
          <p:cNvPr id="9" name="">
            <a:extLst xmlns:a="http://schemas.openxmlformats.org/drawingml/2006/main">
              <a:ext uri="{FF2B5EF4-FFF2-40B4-BE49-F238E27FC236}">
                <a16:creationId xmlns:a16="http://schemas.microsoft.com/office/drawing/2014/main" id="{C935AA46-5AD3-4D53-97CF-03160C5E6E00}"/>
              </a:ext>
            </a:extLst>
          </p:cNvPr>
          <p:cNvSpPr>
            <a:spLocks xmlns:a="http://schemas.openxmlformats.org/drawingml/2006/main" noGrp="1"/>
          </p:cNvSpPr>
          <p:nvPr/>
        </p:nvSpPr>
        <p:spPr>
          <a:xfrm xmlns:a="http://schemas.openxmlformats.org/drawingml/2006/main">
            <a:off x="7505700" y="3190436"/>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0" name="">
            <a:extLst xmlns:a="http://schemas.openxmlformats.org/drawingml/2006/main">
              <a:ext uri="{FF2B5EF4-FFF2-40B4-BE49-F238E27FC236}">
                <a16:creationId xmlns:a16="http://schemas.microsoft.com/office/drawing/2014/main" id="{B28FCD7B-11F6-4A74-9392-1847FC845E07}"/>
              </a:ext>
            </a:extLst>
          </p:cNvPr>
          <p:cNvSpPr>
            <a:spLocks xmlns:a="http://schemas.openxmlformats.org/drawingml/2006/main" noGrp="1"/>
          </p:cNvSpPr>
          <p:nvPr/>
        </p:nvSpPr>
        <p:spPr>
          <a:xfrm xmlns:a="http://schemas.openxmlformats.org/drawingml/2006/main">
            <a:off x="7096125" y="3009461"/>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+$12.2M</a:t>
            </a:r>
          </a:p>
        </p:txBody>
      </p:sp>
      <p:sp>
        <p:nvSpPr>
          <p:cNvPr id="11" name="">
            <a:extLst xmlns:a="http://schemas.openxmlformats.org/drawingml/2006/main">
              <a:ext uri="{FF2B5EF4-FFF2-40B4-BE49-F238E27FC236}">
                <a16:creationId xmlns:a16="http://schemas.microsoft.com/office/drawing/2014/main" id="{740088B0-3F2C-42A5-8511-827FDE669C40}"/>
              </a:ext>
            </a:extLst>
          </p:cNvPr>
          <p:cNvSpPr>
            <a:spLocks xmlns:a="http://schemas.openxmlformats.org/drawingml/2006/main" noGrp="1"/>
          </p:cNvSpPr>
          <p:nvPr/>
        </p:nvSpPr>
        <p:spPr>
          <a:xfrm xmlns:a="http://schemas.openxmlformats.org/drawingml/2006/main">
            <a:off x="9944100" y="1638890"/>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2" name="">
            <a:extLst xmlns:a="http://schemas.openxmlformats.org/drawingml/2006/main">
              <a:ext uri="{FF2B5EF4-FFF2-40B4-BE49-F238E27FC236}">
                <a16:creationId xmlns:a16="http://schemas.microsoft.com/office/drawing/2014/main" id="{6FA13CD6-A3B5-42B8-AD2A-D7E1CAA33038}"/>
              </a:ext>
            </a:extLst>
          </p:cNvPr>
          <p:cNvSpPr>
            <a:spLocks xmlns:a="http://schemas.openxmlformats.org/drawingml/2006/main" noGrp="1"/>
          </p:cNvSpPr>
          <p:nvPr/>
        </p:nvSpPr>
        <p:spPr>
          <a:xfrm xmlns:a="http://schemas.openxmlformats.org/drawingml/2006/main">
            <a:off x="9534525" y="1457915"/>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$20.4M</a:t>
            </a:r>
          </a:p>
        </p:txBody>
      </p:sp>
      <p:sp>
        <p:nvSpPr>
          <p:cNvPr id="13" name="">
            <a:extLst xmlns:a="http://schemas.openxmlformats.org/drawingml/2006/main">
              <a:ext uri="{FF2B5EF4-FFF2-40B4-BE49-F238E27FC236}">
                <a16:creationId xmlns:a16="http://schemas.microsoft.com/office/drawing/2014/main" id="{62AF56E5-FAEC-4417-A3E9-337DF8E318E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07</a:t>
            </a:r>
          </a:p>
        </p:txBody>
      </p:sp>
    </p:spTree>
    <p:extLst>
      <p:ext uri="{BB962C8B-B14F-4D97-AF65-F5344CB8AC3E}">
        <p14:creationId xmlns:p14="http://schemas.microsoft.com/office/powerpoint/2010/main" val="2039618681"/>
      </p:ext>
    </p:extLst>
  </p:cSld>
</p:sld>
</file>

<file path=ppt/slides/slide8.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AFB36D-AAB8-478F-A932-29726F8F4D72}"/>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Growth Analysis</a:t>
            </a:r>
          </a:p>
        </p:txBody>
      </p:sp>
      <p:sp>
        <p:nvSpPr>
          <p:cNvPr id="2" name="title-rule">
            <a:extLst xmlns:a="http://schemas.openxmlformats.org/drawingml/2006/main">
              <a:ext uri="{FF2B5EF4-FFF2-40B4-BE49-F238E27FC236}">
                <a16:creationId xmlns:a16="http://schemas.microsoft.com/office/drawing/2014/main" id="{1DFADB82-8A05-47AA-9CF6-277F53BB64F3}"/>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7BD9149-E768-4BCB-A727-2186DA7114D1}"/>
              </a:ext>
            </a:extLst>
          </p:cNvPr>
          <p:cNvSpPr>
            <a:spLocks xmlns:a="http://schemas.openxmlformats.org/drawingml/2006/main" noGrp="1"/>
          </p:cNvSpPr>
          <p:nvPr/>
        </p:nvSpPr>
        <p:spPr>
          <a:xfrm xmlns:a="http://schemas.openxmlformats.org/drawingml/2006/main">
            <a:off x="914400" y="16002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Net revenue grew from 2022A to 2024A at a 118.3% actual CAGR, with 2024A growth accelerating. — Net revenue rose from $4.271M in 2022A to $20.350M in 2024A, with growth reaching 151.1% in 2024A [1]. The step-up included $3.835M of 2023A growth and $12.244M in 2024A, but the small 2022A base and 2024A retail launch step mean the recent spike is not yet a normalized run-rate [1][4].</a:t>
            </a:r>
          </a:p>
        </p:txBody>
      </p:sp>
      <p:sp>
        <p:nvSpPr>
          <p:cNvPr id="4" name="">
            <a:extLst xmlns:a="http://schemas.openxmlformats.org/drawingml/2006/main">
              <a:ext uri="{FF2B5EF4-FFF2-40B4-BE49-F238E27FC236}">
                <a16:creationId xmlns:a16="http://schemas.microsoft.com/office/drawing/2014/main" id="{9953AF64-924D-4B2D-97A0-02532959733B}"/>
              </a:ext>
            </a:extLst>
          </p:cNvPr>
          <p:cNvSpPr>
            <a:spLocks xmlns:a="http://schemas.openxmlformats.org/drawingml/2006/main" noGrp="1"/>
          </p:cNvSpPr>
          <p:nvPr/>
        </p:nvSpPr>
        <p:spPr>
          <a:xfrm xmlns:a="http://schemas.openxmlformats.org/drawingml/2006/main">
            <a:off x="914400" y="2895600"/>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drove most of 2024A growth, and the core product still explains most of the historical increase. — Amazon contributed $6.8M of the $12.244M year-over-year increase in 2024A, while retail added a further $3.3M launch step [2][1][4]. On the disclosed gross-sales view, Weekend Recovery still supplied $12.9M of the $17.0M increase from 2022A to 2024A, so growth remains concentrated in one channel and one product rather than a fully diversified mix [3][4][6][7].</a:t>
            </a:r>
          </a:p>
        </p:txBody>
      </p:sp>
      <p:sp>
        <p:nvSpPr>
          <p:cNvPr id="5" name="">
            <a:extLst xmlns:a="http://schemas.openxmlformats.org/drawingml/2006/main">
              <a:ext uri="{FF2B5EF4-FFF2-40B4-BE49-F238E27FC236}">
                <a16:creationId xmlns:a16="http://schemas.microsoft.com/office/drawing/2014/main" id="{F0C0D1E3-2A60-4BBD-97C0-53DB0EF08297}"/>
              </a:ext>
            </a:extLst>
          </p:cNvPr>
          <p:cNvSpPr>
            <a:spLocks xmlns:a="http://schemas.openxmlformats.org/drawingml/2006/main" noGrp="1"/>
          </p:cNvSpPr>
          <p:nvPr/>
        </p:nvSpPr>
        <p:spPr>
          <a:xfrm xmlns:a="http://schemas.openxmlformats.org/drawingml/2006/main">
            <a:off x="914400" y="444817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Growth has depended on sustained paid support. — Marketing spend rose from $0.981M in 2022A to $6.824M in 2024A, while net revenue increased by $3.835M and $12.244M in those years [4][8][1]. Digital advertising reached $6.479M in 2024A, or about 31.8% of revenue, which shows the model can scale but still relies on continued media investment rather than low-cost demand alone [1][4][8].</a:t>
            </a:r>
          </a:p>
        </p:txBody>
      </p:sp>
      <p:sp>
        <p:nvSpPr>
          <p:cNvPr id="6" name="">
            <a:extLst xmlns:a="http://schemas.openxmlformats.org/drawingml/2006/main">
              <a:ext uri="{FF2B5EF4-FFF2-40B4-BE49-F238E27FC236}">
                <a16:creationId xmlns:a16="http://schemas.microsoft.com/office/drawing/2014/main" id="{B62D6DB0-6DC3-4CC4-92A4-F149F07F81F2}"/>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08</a:t>
            </a:r>
          </a:p>
        </p:txBody>
      </p:sp>
    </p:spTree>
    <p:extLst>
      <p:ext uri="{BB962C8B-B14F-4D97-AF65-F5344CB8AC3E}">
        <p14:creationId xmlns:p14="http://schemas.microsoft.com/office/powerpoint/2010/main" val="1736005402"/>
      </p:ext>
    </p:extLst>
  </p:cSld>
</p:sld>
</file>

<file path=ppt/slides/slide9.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5DF5A1-7FCA-4D22-A431-1F2280DEBF44}"/>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Quality &amp; Durability</a:t>
            </a:r>
          </a:p>
        </p:txBody>
      </p:sp>
      <p:sp>
        <p:nvSpPr>
          <p:cNvPr id="2" name="title-rule">
            <a:extLst xmlns:a="http://schemas.openxmlformats.org/drawingml/2006/main">
              <a:ext uri="{FF2B5EF4-FFF2-40B4-BE49-F238E27FC236}">
                <a16:creationId xmlns:a16="http://schemas.microsoft.com/office/drawing/2014/main" id="{54204ABE-DDA7-4E0D-B438-5059E42BA9AE}"/>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B3B4B6-AFE1-4D72-8D92-FDBFE3FADE12}"/>
              </a:ext>
            </a:extLst>
          </p:cNvPr>
          <p:cNvSpPr>
            <a:spLocks xmlns:a="http://schemas.openxmlformats.org/drawingml/2006/main" noGrp="1"/>
          </p:cNvSpPr>
          <p:nvPr/>
        </p:nvSpPr>
        <p:spPr>
          <a:xfrm xmlns:a="http://schemas.openxmlformats.org/drawingml/2006/main">
            <a:off x="914400" y="16002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The revenue base is still narrow. — Amazon was 52.6% of 2024A net revenue, and Weekend Recovery was 79.4% of 2024A product gross sales on the disclosed product view [2][1][3][4]. That leaves the business exposed to one external platform and one hero SKU, even though the mix is broadening [2][1][3][4].</a:t>
            </a:r>
          </a:p>
        </p:txBody>
      </p:sp>
      <p:sp>
        <p:nvSpPr>
          <p:cNvPr id="4" name="">
            <a:extLst xmlns:a="http://schemas.openxmlformats.org/drawingml/2006/main">
              <a:ext uri="{FF2B5EF4-FFF2-40B4-BE49-F238E27FC236}">
                <a16:creationId xmlns:a16="http://schemas.microsoft.com/office/drawing/2014/main" id="{B3A9638F-86E2-4DF6-AD90-154899BD7720}"/>
              </a:ext>
            </a:extLst>
          </p:cNvPr>
          <p:cNvSpPr>
            <a:spLocks xmlns:a="http://schemas.openxmlformats.org/drawingml/2006/main" noGrp="1"/>
          </p:cNvSpPr>
          <p:nvPr/>
        </p:nvSpPr>
        <p:spPr>
          <a:xfrm xmlns:a="http://schemas.openxmlformats.org/drawingml/2006/main">
            <a:off x="914400" y="2895600"/>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Historical growth looks organic, but repeatability is only partly proven. — Just 19.7% of 2024A revenue was annualized subscription revenue, and as of Dec-2024, 14.3K subscriptions annualized to $4.0M of net sales [9][4]. That leaves about $16.35M, or 80.3% of 2024A revenue, to be re-won through repeat purchase and retail sell-through, even though Amazon repeat behavior is improving [9][4][2].</a:t>
            </a:r>
          </a:p>
        </p:txBody>
      </p:sp>
      <p:sp>
        <p:nvSpPr>
          <p:cNvPr id="5" name="">
            <a:extLst xmlns:a="http://schemas.openxmlformats.org/drawingml/2006/main">
              <a:ext uri="{FF2B5EF4-FFF2-40B4-BE49-F238E27FC236}">
                <a16:creationId xmlns:a16="http://schemas.microsoft.com/office/drawing/2014/main" id="{C8B74BB9-9124-4DC6-AB18-B03FA6E730DA}"/>
              </a:ext>
            </a:extLst>
          </p:cNvPr>
          <p:cNvSpPr>
            <a:spLocks xmlns:a="http://schemas.openxmlformats.org/drawingml/2006/main" noGrp="1"/>
          </p:cNvSpPr>
          <p:nvPr/>
        </p:nvSpPr>
        <p:spPr>
          <a:xfrm xmlns:a="http://schemas.openxmlformats.org/drawingml/2006/main">
            <a:off x="914400" y="444817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Net realization weakened as retail entered the mix. — Net revenue fell from 96.5% to 94.5% of gross sales in 2024A, and retail tradespend appeared at $0.259M [4]. Gross sales increased from $8.404M in 2023A to $21.537M in 2024A, but deductions grew faster as discounts, refunds, and allowances rose [4].</a:t>
            </a:r>
          </a:p>
        </p:txBody>
      </p:sp>
      <p:sp>
        <p:nvSpPr>
          <p:cNvPr id="6" name="">
            <a:extLst xmlns:a="http://schemas.openxmlformats.org/drawingml/2006/main">
              <a:ext uri="{FF2B5EF4-FFF2-40B4-BE49-F238E27FC236}">
                <a16:creationId xmlns:a16="http://schemas.microsoft.com/office/drawing/2014/main" id="{5CF2078C-ADE7-40FB-906B-659E68B4F347}"/>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09</a:t>
            </a:r>
          </a:p>
        </p:txBody>
      </p:sp>
    </p:spTree>
    <p:extLst>
      <p:ext uri="{BB962C8B-B14F-4D97-AF65-F5344CB8AC3E}">
        <p14:creationId xmlns:p14="http://schemas.microsoft.com/office/powerpoint/2010/main" val="1707620853"/>
      </p:ext>
    </p:extLst>
  </p:cSld>
</p:sld>
</file>

<file path=ppt/slides/slide10.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4795FD-216F-4C27-BD31-86D3A09DB9F2}"/>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Product</a:t>
            </a:r>
          </a:p>
        </p:txBody>
      </p:sp>
      <p:sp>
        <p:nvSpPr>
          <p:cNvPr id="2" name="title-rule">
            <a:extLst xmlns:a="http://schemas.openxmlformats.org/drawingml/2006/main">
              <a:ext uri="{FF2B5EF4-FFF2-40B4-BE49-F238E27FC236}">
                <a16:creationId xmlns:a16="http://schemas.microsoft.com/office/drawing/2014/main" id="{207EFFBD-E496-4C0C-AC7D-B05692C869D3}"/>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D530EEB-56F8-451A-B722-19FA5BF120EF}"/>
              </a:ext>
            </a:extLst>
          </p:cNvPr>
          <p:cNvSpPr>
            <a:spLocks xmlns:a="http://schemas.openxmlformats.org/drawingml/2006/main" noGrp="1"/>
          </p:cNvSpPr>
          <p:nvPr/>
        </p:nvSpPr>
        <p:spPr>
          <a:xfrm xmlns:a="http://schemas.openxmlformats.org/drawingml/2006/main">
            <a:off x="914400" y="16002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Hero SKU dominates — 2024A gross sales, at 79.4% or $17.1M of $21.5M, and excluding it leaves only about $4.4M across the rest of the portfolio [1][4]. Because this is the company's own SKU (stock keeping unit) mix rather than a third party, the issue is reliance on one hero product and a narrower innovation cushion, not a single account walking away [1][2][3].</a:t>
            </a:r>
          </a:p>
        </p:txBody>
      </p:sp>
      <p:sp>
        <p:nvSpPr>
          <p:cNvPr id="4" name="">
            <a:extLst xmlns:a="http://schemas.openxmlformats.org/drawingml/2006/main">
              <a:ext uri="{FF2B5EF4-FFF2-40B4-BE49-F238E27FC236}">
                <a16:creationId xmlns:a16="http://schemas.microsoft.com/office/drawing/2014/main" id="{C07FE39D-A6BA-46C9-821B-41624DB31464}"/>
              </a:ext>
            </a:extLst>
          </p:cNvPr>
          <p:cNvSpPr>
            <a:spLocks xmlns:a="http://schemas.openxmlformats.org/drawingml/2006/main" noGrp="1"/>
          </p:cNvSpPr>
          <p:nvPr/>
        </p:nvSpPr>
        <p:spPr>
          <a:xfrm xmlns:a="http://schemas.openxmlformats.org/drawingml/2006/main">
            <a:off x="914400" y="2895600"/>
            <a:ext cx="1013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Concentration is easing — Weekend Recovery's share fell 14.1pp from 93.5% in 2022A to 79.4% in 2024A [1][4], yet the business remains economically dominated by one product today [1][2][3].</a:t>
            </a:r>
          </a:p>
        </p:txBody>
      </p:sp>
      <p:sp>
        <p:nvSpPr>
          <p:cNvPr id="5" name="">
            <a:extLst xmlns:a="http://schemas.openxmlformats.org/drawingml/2006/main">
              <a:ext uri="{FF2B5EF4-FFF2-40B4-BE49-F238E27FC236}">
                <a16:creationId xmlns:a16="http://schemas.microsoft.com/office/drawing/2014/main" id="{3A11B5F8-39FF-479B-8DCD-4EA9B345AB27}"/>
              </a:ext>
            </a:extLst>
          </p:cNvPr>
          <p:cNvSpPr>
            <a:spLocks xmlns:a="http://schemas.openxmlformats.org/drawingml/2006/main" noGrp="1"/>
          </p:cNvSpPr>
          <p:nvPr/>
        </p:nvSpPr>
        <p:spPr>
          <a:xfrm xmlns:a="http://schemas.openxmlformats.org/drawingml/2006/main">
            <a:off x="914400" y="367665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Legacy product drove growth — Weekend Recovery contributed $12.9M of the $17.0M increase in gross sales from 2022A to 2024A, or 75.7% [1][4], so most historical growth still came from deepening the legacy product rather than from a fully proven multi-product engine [1][2][3].</a:t>
            </a:r>
          </a:p>
        </p:txBody>
      </p:sp>
      <p:sp>
        <p:nvSpPr>
          <p:cNvPr id="6" name="">
            <a:extLst xmlns:a="http://schemas.openxmlformats.org/drawingml/2006/main">
              <a:ext uri="{FF2B5EF4-FFF2-40B4-BE49-F238E27FC236}">
                <a16:creationId xmlns:a16="http://schemas.microsoft.com/office/drawing/2014/main" id="{EC839C3B-488B-44AA-8C80-E75569DFFA4C}"/>
              </a:ext>
            </a:extLst>
          </p:cNvPr>
          <p:cNvSpPr>
            <a:spLocks xmlns:a="http://schemas.openxmlformats.org/drawingml/2006/main" noGrp="1"/>
          </p:cNvSpPr>
          <p:nvPr/>
        </p:nvSpPr>
        <p:spPr>
          <a:xfrm xmlns:a="http://schemas.openxmlformats.org/drawingml/2006/main">
            <a:off x="914400" y="471487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Diversification is beginning — Workout Hydration reached $3.7M in 2024A and Daily Hydration $0.5M in 2024A [2][3], while the 2025 product-channel plan places Daily Hydration more heavily in Retail at $3.15M than Amazon at $2.1M or DTC (direct-to-consumer) at $1.75M [5]. That 2025 split is projected, not booked [5].</a:t>
            </a:r>
          </a:p>
        </p:txBody>
      </p:sp>
      <p:sp>
        <p:nvSpPr>
          <p:cNvPr id="7" name="">
            <a:extLst xmlns:a="http://schemas.openxmlformats.org/drawingml/2006/main">
              <a:ext uri="{FF2B5EF4-FFF2-40B4-BE49-F238E27FC236}">
                <a16:creationId xmlns:a16="http://schemas.microsoft.com/office/drawing/2014/main" id="{87A038C5-4DE8-4637-8CE4-663C580EF0B2}"/>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10</a:t>
            </a:r>
          </a:p>
        </p:txBody>
      </p:sp>
    </p:spTree>
    <p:extLst>
      <p:ext uri="{BB962C8B-B14F-4D97-AF65-F5344CB8AC3E}">
        <p14:creationId xmlns:p14="http://schemas.microsoft.com/office/powerpoint/2010/main" val="675583061"/>
      </p:ext>
    </p:extLst>
  </p:cSld>
</p:sld>
</file>

<file path=ppt/slides/slide11.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6176CB6-14B1-47A6-A1EC-1F360F1FF1D4}"/>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BY PRODUCT</a:t>
            </a:r>
          </a:p>
        </p:txBody>
      </p:sp>
      <p:sp>
        <p:nvSpPr>
          <p:cNvPr id="2" name="">
            <a:extLst xmlns:a="http://schemas.openxmlformats.org/drawingml/2006/main">
              <a:ext uri="{FF2B5EF4-FFF2-40B4-BE49-F238E27FC236}">
                <a16:creationId xmlns:a16="http://schemas.microsoft.com/office/drawing/2014/main" id="{CFA10283-891E-47DA-87BB-CB3526FA697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Product</a:t>
            </a:r>
          </a:p>
        </p:txBody>
      </p:sp>
      <p:sp>
        <p:nvSpPr>
          <p:cNvPr id="3" name="title-rule">
            <a:extLst xmlns:a="http://schemas.openxmlformats.org/drawingml/2006/main">
              <a:ext uri="{FF2B5EF4-FFF2-40B4-BE49-F238E27FC236}">
                <a16:creationId xmlns:a16="http://schemas.microsoft.com/office/drawing/2014/main" id="{CCA959DA-CAC1-4D46-9A8B-88E147A355A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9"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5090c081a4dc4c5b"/>
          </a:graphicData>
        </a:graphic>
      </p:graphicFrame>
      <p:sp>
        <p:nvSpPr>
          <p:cNvPr id="5" name="">
            <a:extLst xmlns:a="http://schemas.openxmlformats.org/drawingml/2006/main">
              <a:ext uri="{FF2B5EF4-FFF2-40B4-BE49-F238E27FC236}">
                <a16:creationId xmlns:a16="http://schemas.microsoft.com/office/drawing/2014/main" id="{C395B731-92D0-432A-AD13-8F2F0D523CE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11</a:t>
            </a:r>
          </a:p>
        </p:txBody>
      </p:sp>
    </p:spTree>
    <p:extLst>
      <p:ext uri="{BB962C8B-B14F-4D97-AF65-F5344CB8AC3E}">
        <p14:creationId xmlns:p14="http://schemas.microsoft.com/office/powerpoint/2010/main" val="1096598553"/>
      </p:ext>
    </p:extLst>
  </p:cSld>
</p:sld>
</file>

<file path=ppt/slides/slide1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CF83900-E1FF-4A76-AAEF-0AC9379F5617}"/>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Customer</a:t>
            </a:r>
          </a:p>
        </p:txBody>
      </p:sp>
      <p:sp>
        <p:nvSpPr>
          <p:cNvPr id="2" name="title-rule">
            <a:extLst xmlns:a="http://schemas.openxmlformats.org/drawingml/2006/main">
              <a:ext uri="{FF2B5EF4-FFF2-40B4-BE49-F238E27FC236}">
                <a16:creationId xmlns:a16="http://schemas.microsoft.com/office/drawing/2014/main" id="{6CE0275F-42DB-4D28-9DB4-CFA83005B49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B6B4E87-BC40-456F-B2F0-4D5177428D13}"/>
              </a:ext>
            </a:extLst>
          </p:cNvPr>
          <p:cNvSpPr>
            <a:spLocks xmlns:a="http://schemas.openxmlformats.org/drawingml/2006/main" noGrp="1"/>
          </p:cNvSpPr>
          <p:nvPr/>
        </p:nvSpPr>
        <p:spPr>
          <a:xfrm xmlns:a="http://schemas.openxmlformats.org/drawingml/2006/main">
            <a:off x="914400" y="16002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dominates revenue — Amazon represented 52.6% of 2024A net revenue, or $10.7M of $20.35M, and excluding Amazon would have left only $9.65M of revenue [8][12]. That is a true counterparty concentration rather than just an internal mix issue, because this revenue sits with a platform outside the company's control [8][12].</a:t>
            </a:r>
          </a:p>
        </p:txBody>
      </p:sp>
      <p:sp>
        <p:nvSpPr>
          <p:cNvPr id="4" name="">
            <a:extLst xmlns:a="http://schemas.openxmlformats.org/drawingml/2006/main">
              <a:ext uri="{FF2B5EF4-FFF2-40B4-BE49-F238E27FC236}">
                <a16:creationId xmlns:a16="http://schemas.microsoft.com/office/drawing/2014/main" id="{596ECCFB-3AAD-4CA0-BA07-5990C2A0627B}"/>
              </a:ext>
            </a:extLst>
          </p:cNvPr>
          <p:cNvSpPr>
            <a:spLocks xmlns:a="http://schemas.openxmlformats.org/drawingml/2006/main" noGrp="1"/>
          </p:cNvSpPr>
          <p:nvPr/>
        </p:nvSpPr>
        <p:spPr>
          <a:xfrm xmlns:a="http://schemas.openxmlformats.org/drawingml/2006/main">
            <a:off x="914400" y="289560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Customer base stays narrow — The top 3 customers represent 67.8% of projected 2025 revenue and the top 5 reach 72.8% [8][9][10][11][12]. Those single-name shares are projected, not booked, so they show forward exposure rather than closed-period concentration [8][9][10][11][12].</a:t>
            </a:r>
          </a:p>
        </p:txBody>
      </p:sp>
      <p:sp>
        <p:nvSpPr>
          <p:cNvPr id="5" name="">
            <a:extLst xmlns:a="http://schemas.openxmlformats.org/drawingml/2006/main">
              <a:ext uri="{FF2B5EF4-FFF2-40B4-BE49-F238E27FC236}">
                <a16:creationId xmlns:a16="http://schemas.microsoft.com/office/drawing/2014/main" id="{4F89F58A-7AC3-4AF5-B204-9A98FE3012A0}"/>
              </a:ext>
            </a:extLst>
          </p:cNvPr>
          <p:cNvSpPr>
            <a:spLocks xmlns:a="http://schemas.openxmlformats.org/drawingml/2006/main" noGrp="1"/>
          </p:cNvSpPr>
          <p:nvPr/>
        </p:nvSpPr>
        <p:spPr>
          <a:xfrm xmlns:a="http://schemas.openxmlformats.org/drawingml/2006/main">
            <a:off x="914400" y="3933825"/>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Externally controlled routes dominate — Marketplace sales were 52.6% of 2024A net revenue versus 31.0% DTC (direct-to-consumer) and 16.2% mass retail [6][7][8][4], so most scale still sits in externally controlled routes even as retail broadens distribution [6][7][8][4].</a:t>
            </a:r>
          </a:p>
        </p:txBody>
      </p:sp>
      <p:sp>
        <p:nvSpPr>
          <p:cNvPr id="6" name="">
            <a:extLst xmlns:a="http://schemas.openxmlformats.org/drawingml/2006/main">
              <a:ext uri="{FF2B5EF4-FFF2-40B4-BE49-F238E27FC236}">
                <a16:creationId xmlns:a16="http://schemas.microsoft.com/office/drawing/2014/main" id="{6F993FB3-CFE5-408D-9A84-FC43342B4806}"/>
              </a:ext>
            </a:extLst>
          </p:cNvPr>
          <p:cNvSpPr>
            <a:spLocks xmlns:a="http://schemas.openxmlformats.org/drawingml/2006/main" noGrp="1"/>
          </p:cNvSpPr>
          <p:nvPr/>
        </p:nvSpPr>
        <p:spPr>
          <a:xfrm xmlns:a="http://schemas.openxmlformats.org/drawingml/2006/main">
            <a:off x="914400" y="497205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fueled growth — Amazon supplied $9.3M of the $16.1M increase in net revenue from 2022A to 2024A, or 57.8% [8][12], and the build has been supported by deeper repeat behavior, with average Amazon subscribers rising to 7.6K in 2H24 from 0.1K in 1H23 [8].</a:t>
            </a:r>
          </a:p>
        </p:txBody>
      </p:sp>
      <p:sp>
        <p:nvSpPr>
          <p:cNvPr id="7" name="">
            <a:extLst xmlns:a="http://schemas.openxmlformats.org/drawingml/2006/main">
              <a:ext uri="{FF2B5EF4-FFF2-40B4-BE49-F238E27FC236}">
                <a16:creationId xmlns:a16="http://schemas.microsoft.com/office/drawing/2014/main" id="{E000A72F-DD33-4490-B3FD-9B466CF6E063}"/>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12</a:t>
            </a:r>
          </a:p>
        </p:txBody>
      </p:sp>
    </p:spTree>
    <p:extLst>
      <p:ext uri="{BB962C8B-B14F-4D97-AF65-F5344CB8AC3E}">
        <p14:creationId xmlns:p14="http://schemas.microsoft.com/office/powerpoint/2010/main" val="36093142"/>
      </p:ext>
    </p:extLst>
  </p:cSld>
</p:sld>
</file>

<file path=ppt/slides/slide1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35324CC-5DC9-4CE5-AAA2-7DE79C5E2876}"/>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BY CUSTOMER</a:t>
            </a:r>
          </a:p>
        </p:txBody>
      </p:sp>
      <p:sp>
        <p:nvSpPr>
          <p:cNvPr id="2" name="">
            <a:extLst xmlns:a="http://schemas.openxmlformats.org/drawingml/2006/main">
              <a:ext uri="{FF2B5EF4-FFF2-40B4-BE49-F238E27FC236}">
                <a16:creationId xmlns:a16="http://schemas.microsoft.com/office/drawing/2014/main" id="{35873D09-B7A5-4C7F-BB54-D79AEA9B3DF5}"/>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Mix by Customer Type</a:t>
            </a:r>
          </a:p>
        </p:txBody>
      </p:sp>
      <p:sp>
        <p:nvSpPr>
          <p:cNvPr id="3" name="title-rule">
            <a:extLst xmlns:a="http://schemas.openxmlformats.org/drawingml/2006/main">
              <a:ext uri="{FF2B5EF4-FFF2-40B4-BE49-F238E27FC236}">
                <a16:creationId xmlns:a16="http://schemas.microsoft.com/office/drawing/2014/main" id="{C5C9C1AB-0073-413E-9304-A7FEA591B26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9"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96a9b2209f9f4a9c"/>
          </a:graphicData>
        </a:graphic>
      </p:graphicFrame>
      <p:sp>
        <p:nvSpPr>
          <p:cNvPr id="5" name="">
            <a:extLst xmlns:a="http://schemas.openxmlformats.org/drawingml/2006/main">
              <a:ext uri="{FF2B5EF4-FFF2-40B4-BE49-F238E27FC236}">
                <a16:creationId xmlns:a16="http://schemas.microsoft.com/office/drawing/2014/main" id="{5DC0E89E-126C-4537-BA8F-8A7D25403310}"/>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13</a:t>
            </a:r>
          </a:p>
        </p:txBody>
      </p:sp>
    </p:spTree>
    <p:extLst>
      <p:ext uri="{BB962C8B-B14F-4D97-AF65-F5344CB8AC3E}">
        <p14:creationId xmlns:p14="http://schemas.microsoft.com/office/powerpoint/2010/main" val="1076086022"/>
      </p:ext>
    </p:extLst>
  </p:cSld>
</p:sld>
</file>

<file path=ppt/slides/slide1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3E95BA-5836-416B-82C6-4916742058C0}"/>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Revenue Type</a:t>
            </a:r>
          </a:p>
        </p:txBody>
      </p:sp>
      <p:sp>
        <p:nvSpPr>
          <p:cNvPr id="2" name="title-rule">
            <a:extLst xmlns:a="http://schemas.openxmlformats.org/drawingml/2006/main">
              <a:ext uri="{FF2B5EF4-FFF2-40B4-BE49-F238E27FC236}">
                <a16:creationId xmlns:a16="http://schemas.microsoft.com/office/drawing/2014/main" id="{F29693F1-5DAD-458F-84A1-90C595875164}"/>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2AEEA2-101B-4ABF-84E9-46C5BFCDAABC}"/>
              </a:ext>
            </a:extLst>
          </p:cNvPr>
          <p:cNvSpPr>
            <a:spLocks xmlns:a="http://schemas.openxmlformats.org/drawingml/2006/main" noGrp="1"/>
          </p:cNvSpPr>
          <p:nvPr/>
        </p:nvSpPr>
        <p:spPr>
          <a:xfrm xmlns:a="http://schemas.openxmlformats.org/drawingml/2006/main">
            <a:off x="914400" y="16002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Recurring revenue is limited — Only $4.0M of the $20.35M 2024A revenue base is annualized subscription revenue, or 19.7%, so 80.3% of revenue is still one-time / non-recurring and must be re-won each period [13][4]. This split is inferred from a Dec-2024 subscription run-rate against 2024A net revenue, not booked by revenue type [13][4].</a:t>
            </a:r>
          </a:p>
        </p:txBody>
      </p:sp>
      <p:sp>
        <p:nvSpPr>
          <p:cNvPr id="4" name="">
            <a:extLst xmlns:a="http://schemas.openxmlformats.org/drawingml/2006/main">
              <a:ext uri="{FF2B5EF4-FFF2-40B4-BE49-F238E27FC236}">
                <a16:creationId xmlns:a16="http://schemas.microsoft.com/office/drawing/2014/main" id="{77250A69-CE9A-4EA6-884D-623F570B69B7}"/>
              </a:ext>
            </a:extLst>
          </p:cNvPr>
          <p:cNvSpPr>
            <a:spLocks xmlns:a="http://schemas.openxmlformats.org/drawingml/2006/main" noGrp="1"/>
          </p:cNvSpPr>
          <p:nvPr/>
        </p:nvSpPr>
        <p:spPr>
          <a:xfrm xmlns:a="http://schemas.openxmlformats.org/drawingml/2006/main">
            <a:off x="914400" y="28956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Durability still depends on repeat — Stripping out the recurring base leaves $16.35M of 2024A revenue that is non-recurring [13][4], so durability still rests primarily on repeat purchase and sell-through rather than on a large contracted subscription base already embedded in the model [13][4].</a:t>
            </a:r>
          </a:p>
        </p:txBody>
      </p:sp>
      <p:sp>
        <p:nvSpPr>
          <p:cNvPr id="5" name="">
            <a:extLst xmlns:a="http://schemas.openxmlformats.org/drawingml/2006/main">
              <a:ext uri="{FF2B5EF4-FFF2-40B4-BE49-F238E27FC236}">
                <a16:creationId xmlns:a16="http://schemas.microsoft.com/office/drawing/2014/main" id="{CCAF1409-F4BF-47FE-B776-B260E0AABD0B}"/>
              </a:ext>
            </a:extLst>
          </p:cNvPr>
          <p:cNvSpPr>
            <a:spLocks xmlns:a="http://schemas.openxmlformats.org/drawingml/2006/main" noGrp="1"/>
          </p:cNvSpPr>
          <p:nvPr/>
        </p:nvSpPr>
        <p:spPr>
          <a:xfrm xmlns:a="http://schemas.openxmlformats.org/drawingml/2006/main">
            <a:off x="914400" y="419100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Subscription base remains modest — The subscription base is real but still modest relative to total scale: 14.3K subscriptions annualize to $4.0M as of Dec 2024 [13], which provides a repeat layer but is not yet large enough to offset the model's heavy reliance on one-time revenue [13][4].</a:t>
            </a:r>
          </a:p>
        </p:txBody>
      </p:sp>
      <p:sp>
        <p:nvSpPr>
          <p:cNvPr id="6" name="">
            <a:extLst xmlns:a="http://schemas.openxmlformats.org/drawingml/2006/main">
              <a:ext uri="{FF2B5EF4-FFF2-40B4-BE49-F238E27FC236}">
                <a16:creationId xmlns:a16="http://schemas.microsoft.com/office/drawing/2014/main" id="{FA4CD4FD-BA36-4A1B-9AFA-4D218494BC82}"/>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14</a:t>
            </a:r>
          </a:p>
        </p:txBody>
      </p:sp>
    </p:spTree>
    <p:extLst>
      <p:ext uri="{BB962C8B-B14F-4D97-AF65-F5344CB8AC3E}">
        <p14:creationId xmlns:p14="http://schemas.microsoft.com/office/powerpoint/2010/main" val="122958986"/>
      </p:ext>
    </p:extLst>
  </p:cSld>
</p:sld>
</file>

<file path=ppt/slides/slide15.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A43407-F1C1-41E2-8C82-D70DF8171D96}"/>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BY REVENUE TYPE</a:t>
            </a:r>
          </a:p>
        </p:txBody>
      </p:sp>
      <p:sp>
        <p:nvSpPr>
          <p:cNvPr id="2" name="">
            <a:extLst xmlns:a="http://schemas.openxmlformats.org/drawingml/2006/main">
              <a:ext uri="{FF2B5EF4-FFF2-40B4-BE49-F238E27FC236}">
                <a16:creationId xmlns:a16="http://schemas.microsoft.com/office/drawing/2014/main" id="{BB8B61EC-7F37-4B1C-9B70-29AE94C1F9F0}"/>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Type</a:t>
            </a:r>
          </a:p>
        </p:txBody>
      </p:sp>
      <p:sp>
        <p:nvSpPr>
          <p:cNvPr id="3" name="title-rule">
            <a:extLst xmlns:a="http://schemas.openxmlformats.org/drawingml/2006/main">
              <a:ext uri="{FF2B5EF4-FFF2-40B4-BE49-F238E27FC236}">
                <a16:creationId xmlns:a16="http://schemas.microsoft.com/office/drawing/2014/main" id="{44E44658-2188-4289-AD50-BFC3ABC65739}"/>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9"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01e22bc988b546d6"/>
          </a:graphicData>
        </a:graphic>
      </p:graphicFrame>
      <p:sp>
        <p:nvSpPr>
          <p:cNvPr id="5" name="">
            <a:extLst xmlns:a="http://schemas.openxmlformats.org/drawingml/2006/main">
              <a:ext uri="{FF2B5EF4-FFF2-40B4-BE49-F238E27FC236}">
                <a16:creationId xmlns:a16="http://schemas.microsoft.com/office/drawing/2014/main" id="{BD7226FC-0442-4BD3-800A-CDE76EB0A73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15</a:t>
            </a:r>
          </a:p>
        </p:txBody>
      </p:sp>
    </p:spTree>
    <p:extLst>
      <p:ext uri="{BB962C8B-B14F-4D97-AF65-F5344CB8AC3E}">
        <p14:creationId xmlns:p14="http://schemas.microsoft.com/office/powerpoint/2010/main" val="1333012751"/>
      </p:ext>
    </p:extLst>
  </p:cSld>
</p:sld>
</file>

<file path=ppt/slides/slide16.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82314E4-BEBE-4A8F-AC8E-53B0298DAEBA}"/>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Margin Analysis</a:t>
            </a:r>
          </a:p>
        </p:txBody>
      </p:sp>
      <p:sp>
        <p:nvSpPr>
          <p:cNvPr id="2" name="title-rule">
            <a:extLst xmlns:a="http://schemas.openxmlformats.org/drawingml/2006/main">
              <a:ext uri="{FF2B5EF4-FFF2-40B4-BE49-F238E27FC236}">
                <a16:creationId xmlns:a16="http://schemas.microsoft.com/office/drawing/2014/main" id="{86937985-750F-4C67-BAFA-EC6F231FFC64}"/>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2CFDAC-F87E-46D5-A6EC-4B4C51A29987}"/>
              </a:ext>
            </a:extLst>
          </p:cNvPr>
          <p:cNvSpPr>
            <a:spLocks xmlns:a="http://schemas.openxmlformats.org/drawingml/2006/main" noGrp="1"/>
          </p:cNvSpPr>
          <p:nvPr/>
        </p:nvSpPr>
        <p:spPr>
          <a:xfrm xmlns:a="http://schemas.openxmlformats.org/drawingml/2006/main">
            <a:off x="914400" y="1600200"/>
            <a:ext cx="10134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Product economics improved, but 2024A profitability weakened as marketing and payroll absorbed the gross margin benefit.</a:t>
            </a:r>
          </a:p>
        </p:txBody>
      </p:sp>
      <p:sp>
        <p:nvSpPr>
          <p:cNvPr id="4" name="">
            <a:extLst xmlns:a="http://schemas.openxmlformats.org/drawingml/2006/main">
              <a:ext uri="{FF2B5EF4-FFF2-40B4-BE49-F238E27FC236}">
                <a16:creationId xmlns:a16="http://schemas.microsoft.com/office/drawing/2014/main" id="{C67D1C02-D3F8-4D79-869B-AB6117FC9D61}"/>
              </a:ext>
            </a:extLst>
          </p:cNvPr>
          <p:cNvSpPr>
            <a:spLocks xmlns:a="http://schemas.openxmlformats.org/drawingml/2006/main" noGrp="1"/>
          </p:cNvSpPr>
          <p:nvPr/>
        </p:nvSpPr>
        <p:spPr>
          <a:xfrm xmlns:a="http://schemas.openxmlformats.org/drawingml/2006/main">
            <a:off x="914400" y="2552700"/>
            <a:ext cx="1013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recovery case depends on revenue growth absorbing higher marketing and payroll, while retail mix keeps gross margin from resetting higher [1][2][4][5][6].</a:t>
            </a:r>
          </a:p>
        </p:txBody>
      </p:sp>
      <p:sp>
        <p:nvSpPr>
          <p:cNvPr id="5" name="">
            <a:extLst xmlns:a="http://schemas.openxmlformats.org/drawingml/2006/main">
              <a:ext uri="{FF2B5EF4-FFF2-40B4-BE49-F238E27FC236}">
                <a16:creationId xmlns:a16="http://schemas.microsoft.com/office/drawing/2014/main" id="{A7955E13-2F1A-4800-B2B5-6C0A5E0A59C3}"/>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16</a:t>
            </a:r>
          </a:p>
        </p:txBody>
      </p:sp>
    </p:spTree>
    <p:extLst>
      <p:ext uri="{BB962C8B-B14F-4D97-AF65-F5344CB8AC3E}">
        <p14:creationId xmlns:p14="http://schemas.microsoft.com/office/powerpoint/2010/main" val="709586968"/>
      </p:ext>
    </p:extLst>
  </p:cSld>
</p:sld>
</file>

<file path=ppt/slides/slide17.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317CC96-77B7-4FCD-9226-D04389695DED}"/>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MARGIN ANALYSIS</a:t>
            </a:r>
          </a:p>
        </p:txBody>
      </p:sp>
      <p:sp>
        <p:nvSpPr>
          <p:cNvPr id="2" name="">
            <a:extLst xmlns:a="http://schemas.openxmlformats.org/drawingml/2006/main">
              <a:ext uri="{FF2B5EF4-FFF2-40B4-BE49-F238E27FC236}">
                <a16:creationId xmlns:a16="http://schemas.microsoft.com/office/drawing/2014/main" id="{7763F30D-027B-41F3-BF55-3D1C821E3E8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Gross Margin Bridge</a:t>
            </a:r>
          </a:p>
        </p:txBody>
      </p:sp>
      <p:sp>
        <p:nvSpPr>
          <p:cNvPr id="3" name="title-rule">
            <a:extLst xmlns:a="http://schemas.openxmlformats.org/drawingml/2006/main">
              <a:ext uri="{FF2B5EF4-FFF2-40B4-BE49-F238E27FC236}">
                <a16:creationId xmlns:a16="http://schemas.microsoft.com/office/drawing/2014/main" id="{1E220C89-C195-49FD-85FC-BD8E6D847CE1}"/>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15"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1f0d0a5c30c446e8"/>
          </a:graphicData>
        </a:graphic>
      </p:graphicFrame>
      <p:sp>
        <p:nvSpPr>
          <p:cNvPr id="5" name="">
            <a:extLst xmlns:a="http://schemas.openxmlformats.org/drawingml/2006/main">
              <a:ext uri="{FF2B5EF4-FFF2-40B4-BE49-F238E27FC236}">
                <a16:creationId xmlns:a16="http://schemas.microsoft.com/office/drawing/2014/main" id="{8B67E514-0CF2-4AE5-BD07-991431B7C15D}"/>
              </a:ext>
            </a:extLst>
          </p:cNvPr>
          <p:cNvSpPr>
            <a:spLocks xmlns:a="http://schemas.openxmlformats.org/drawingml/2006/main" noGrp="1"/>
          </p:cNvSpPr>
          <p:nvPr/>
        </p:nvSpPr>
        <p:spPr>
          <a:xfrm xmlns:a="http://schemas.openxmlformats.org/drawingml/2006/main">
            <a:off x="3035300" y="1811374"/>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01C6129E-1388-4878-8B3C-854E18C82E5D}"/>
              </a:ext>
            </a:extLst>
          </p:cNvPr>
          <p:cNvSpPr>
            <a:spLocks xmlns:a="http://schemas.openxmlformats.org/drawingml/2006/main" noGrp="1"/>
          </p:cNvSpPr>
          <p:nvPr/>
        </p:nvSpPr>
        <p:spPr>
          <a:xfrm xmlns:a="http://schemas.openxmlformats.org/drawingml/2006/main">
            <a:off x="2625725" y="1630399"/>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81.50pp</a:t>
            </a:r>
          </a:p>
        </p:txBody>
      </p:sp>
      <p:sp>
        <p:nvSpPr>
          <p:cNvPr id="7" name="">
            <a:extLst xmlns:a="http://schemas.openxmlformats.org/drawingml/2006/main">
              <a:ext uri="{FF2B5EF4-FFF2-40B4-BE49-F238E27FC236}">
                <a16:creationId xmlns:a16="http://schemas.microsoft.com/office/drawing/2014/main" id="{8D45309E-07ED-4B55-BFE6-34A5DE4F3B8C}"/>
              </a:ext>
            </a:extLst>
          </p:cNvPr>
          <p:cNvSpPr>
            <a:spLocks xmlns:a="http://schemas.openxmlformats.org/drawingml/2006/main" noGrp="1"/>
          </p:cNvSpPr>
          <p:nvPr/>
        </p:nvSpPr>
        <p:spPr>
          <a:xfrm xmlns:a="http://schemas.openxmlformats.org/drawingml/2006/main">
            <a:off x="6286500" y="5237126"/>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8" name="">
            <a:extLst xmlns:a="http://schemas.openxmlformats.org/drawingml/2006/main">
              <a:ext uri="{FF2B5EF4-FFF2-40B4-BE49-F238E27FC236}">
                <a16:creationId xmlns:a16="http://schemas.microsoft.com/office/drawing/2014/main" id="{AE5A3749-DD19-4811-83B7-155B3642B9EB}"/>
              </a:ext>
            </a:extLst>
          </p:cNvPr>
          <p:cNvSpPr>
            <a:spLocks xmlns:a="http://schemas.openxmlformats.org/drawingml/2006/main" noGrp="1"/>
          </p:cNvSpPr>
          <p:nvPr/>
        </p:nvSpPr>
        <p:spPr>
          <a:xfrm xmlns:a="http://schemas.openxmlformats.org/drawingml/2006/main">
            <a:off x="5876925" y="5056151"/>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+6.50pp</a:t>
            </a:r>
          </a:p>
        </p:txBody>
      </p:sp>
      <p:sp>
        <p:nvSpPr>
          <p:cNvPr id="9" name="">
            <a:extLst xmlns:a="http://schemas.openxmlformats.org/drawingml/2006/main">
              <a:ext uri="{FF2B5EF4-FFF2-40B4-BE49-F238E27FC236}">
                <a16:creationId xmlns:a16="http://schemas.microsoft.com/office/drawing/2014/main" id="{9227BA3F-5557-4B8A-BBE3-04B7AC81C027}"/>
              </a:ext>
            </a:extLst>
          </p:cNvPr>
          <p:cNvSpPr>
            <a:spLocks xmlns:a="http://schemas.openxmlformats.org/drawingml/2006/main" noGrp="1"/>
          </p:cNvSpPr>
          <p:nvPr/>
        </p:nvSpPr>
        <p:spPr>
          <a:xfrm xmlns:a="http://schemas.openxmlformats.org/drawingml/2006/main">
            <a:off x="9537700" y="1514475"/>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0" name="">
            <a:extLst xmlns:a="http://schemas.openxmlformats.org/drawingml/2006/main">
              <a:ext uri="{FF2B5EF4-FFF2-40B4-BE49-F238E27FC236}">
                <a16:creationId xmlns:a16="http://schemas.microsoft.com/office/drawing/2014/main" id="{C6791B06-8B51-4F69-BE8E-E244DEBEDBE7}"/>
              </a:ext>
            </a:extLst>
          </p:cNvPr>
          <p:cNvSpPr>
            <a:spLocks xmlns:a="http://schemas.openxmlformats.org/drawingml/2006/main" noGrp="1"/>
          </p:cNvSpPr>
          <p:nvPr/>
        </p:nvSpPr>
        <p:spPr>
          <a:xfrm xmlns:a="http://schemas.openxmlformats.org/drawingml/2006/main">
            <a:off x="9128125" y="1333500"/>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88.00pp</a:t>
            </a:r>
          </a:p>
        </p:txBody>
      </p:sp>
      <p:sp>
        <p:nvSpPr>
          <p:cNvPr id="11" name="">
            <a:extLst xmlns:a="http://schemas.openxmlformats.org/drawingml/2006/main">
              <a:ext uri="{FF2B5EF4-FFF2-40B4-BE49-F238E27FC236}">
                <a16:creationId xmlns:a16="http://schemas.microsoft.com/office/drawing/2014/main" id="{D1394253-DBB1-4BD8-B0D5-72DA96742856}"/>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17</a:t>
            </a:r>
          </a:p>
        </p:txBody>
      </p:sp>
    </p:spTree>
    <p:extLst>
      <p:ext uri="{BB962C8B-B14F-4D97-AF65-F5344CB8AC3E}">
        <p14:creationId xmlns:p14="http://schemas.microsoft.com/office/powerpoint/2010/main" val="645085835"/>
      </p:ext>
    </p:extLst>
  </p:cSld>
</p:sld>
</file>

<file path=ppt/slides/slide18.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AB1F37-7216-4912-BC7A-89FAB50E4427}"/>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Margin trajectory &amp; operating leverage</a:t>
            </a:r>
          </a:p>
        </p:txBody>
      </p:sp>
      <p:sp>
        <p:nvSpPr>
          <p:cNvPr id="2" name="title-rule">
            <a:extLst xmlns:a="http://schemas.openxmlformats.org/drawingml/2006/main">
              <a:ext uri="{FF2B5EF4-FFF2-40B4-BE49-F238E27FC236}">
                <a16:creationId xmlns:a16="http://schemas.microsoft.com/office/drawing/2014/main" id="{72367F35-E8C7-4E68-A452-92650595641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549B532-AC6E-4EF4-BA37-A134C4B4968E}"/>
              </a:ext>
            </a:extLst>
          </p:cNvPr>
          <p:cNvSpPr>
            <a:spLocks xmlns:a="http://schemas.openxmlformats.org/drawingml/2006/main" noGrp="1"/>
          </p:cNvSpPr>
          <p:nvPr/>
        </p:nvSpPr>
        <p:spPr>
          <a:xfrm xmlns:a="http://schemas.openxmlformats.org/drawingml/2006/main">
            <a:off x="914400" y="160020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Gross margin held near 88% after stepping up from 2022A. — Reported gross margin reached 88.0% in 2024A, up from 81.5% in 2022A [1][2]. It peaked at 89.1% in 2023A, and the bridge attributes the gain to a lower COGS burden relative to revenue [1][2].</a:t>
            </a:r>
          </a:p>
        </p:txBody>
      </p:sp>
      <p:sp>
        <p:nvSpPr>
          <p:cNvPr id="4" name="">
            <a:extLst xmlns:a="http://schemas.openxmlformats.org/drawingml/2006/main">
              <a:ext uri="{FF2B5EF4-FFF2-40B4-BE49-F238E27FC236}">
                <a16:creationId xmlns:a16="http://schemas.microsoft.com/office/drawing/2014/main" id="{27B3B5E1-E79D-4123-B3D5-98DEFD589737}"/>
              </a:ext>
            </a:extLst>
          </p:cNvPr>
          <p:cNvSpPr>
            <a:spLocks xmlns:a="http://schemas.openxmlformats.org/drawingml/2006/main" noGrp="1"/>
          </p:cNvSpPr>
          <p:nvPr/>
        </p:nvSpPr>
        <p:spPr>
          <a:xfrm xmlns:a="http://schemas.openxmlformats.org/drawingml/2006/main">
            <a:off x="914400" y="2638425"/>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Adjusted EBITDA margin compressed despite still-strong gross margin. — Adjusted EBITDA margin fell to 21.6% in 2024A from 27.5% in 2023A [3], while gross margin stayed strong, so the setback came below gross profit [1][2][3]. Adjusted EBITDA was $4.4M on management's adjusted basis [3].</a:t>
            </a:r>
          </a:p>
        </p:txBody>
      </p:sp>
      <p:sp>
        <p:nvSpPr>
          <p:cNvPr id="5" name="">
            <a:extLst xmlns:a="http://schemas.openxmlformats.org/drawingml/2006/main">
              <a:ext uri="{FF2B5EF4-FFF2-40B4-BE49-F238E27FC236}">
                <a16:creationId xmlns:a16="http://schemas.microsoft.com/office/drawing/2014/main" id="{836B1B33-8B1D-4CDD-9DF7-1DDA9A030CE2}"/>
              </a:ext>
            </a:extLst>
          </p:cNvPr>
          <p:cNvSpPr>
            <a:spLocks xmlns:a="http://schemas.openxmlformats.org/drawingml/2006/main" noGrp="1"/>
          </p:cNvSpPr>
          <p:nvPr/>
        </p:nvSpPr>
        <p:spPr>
          <a:xfrm xmlns:a="http://schemas.openxmlformats.org/drawingml/2006/main">
            <a:off x="914400" y="367665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The only quantified recovery path is a projected 25.4% incremental EBITDA margin in 2025P. — The same comparison implies 1.16x operating leverage, with revenue up 107.1% versus 92.7% for operating expenses [1][2]. Because that read includes a projected year, it is management's recovery path rather than evidence of historical dollars-to-profit conversion [1][2].</a:t>
            </a:r>
          </a:p>
        </p:txBody>
      </p:sp>
      <p:sp>
        <p:nvSpPr>
          <p:cNvPr id="6" name="">
            <a:extLst xmlns:a="http://schemas.openxmlformats.org/drawingml/2006/main">
              <a:ext uri="{FF2B5EF4-FFF2-40B4-BE49-F238E27FC236}">
                <a16:creationId xmlns:a16="http://schemas.microsoft.com/office/drawing/2014/main" id="{8B3F111A-75C6-407D-9316-859E9E4EBEA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18</a:t>
            </a:r>
          </a:p>
        </p:txBody>
      </p:sp>
    </p:spTree>
    <p:extLst>
      <p:ext uri="{BB962C8B-B14F-4D97-AF65-F5344CB8AC3E}">
        <p14:creationId xmlns:p14="http://schemas.microsoft.com/office/powerpoint/2010/main" val="885137009"/>
      </p:ext>
    </p:extLst>
  </p:cSld>
</p:sld>
</file>

<file path=ppt/slides/slide19.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C134A1-13F9-4C5B-A29B-39C7AAC90ED6}"/>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Margin drivers &amp; durability</a:t>
            </a:r>
          </a:p>
        </p:txBody>
      </p:sp>
      <p:sp>
        <p:nvSpPr>
          <p:cNvPr id="2" name="title-rule">
            <a:extLst xmlns:a="http://schemas.openxmlformats.org/drawingml/2006/main">
              <a:ext uri="{FF2B5EF4-FFF2-40B4-BE49-F238E27FC236}">
                <a16:creationId xmlns:a16="http://schemas.microsoft.com/office/drawing/2014/main" id="{00911A20-1694-41C4-8F91-466BC4C4068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58B84BA-E8A1-4DE1-A8EB-1D0B0BA565DB}"/>
              </a:ext>
            </a:extLst>
          </p:cNvPr>
          <p:cNvSpPr>
            <a:spLocks xmlns:a="http://schemas.openxmlformats.org/drawingml/2006/main" noGrp="1"/>
          </p:cNvSpPr>
          <p:nvPr/>
        </p:nvSpPr>
        <p:spPr>
          <a:xfrm xmlns:a="http://schemas.openxmlformats.org/drawingml/2006/main">
            <a:off x="914400" y="16002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Higher marketing, payroll, and selling costs drove the 2024A profit decline. — Digital advertising cut margin by 468.9 bps and payroll by 271.1 bps in the 2023A-2024A bridge [2][4][5], more than offsetting 191.9 bps of professional-fee relief and 76.8 bps from shipping efficiency [1][2]. Gross margin slipped only 110.4 bps [1][2].</a:t>
            </a:r>
          </a:p>
        </p:txBody>
      </p:sp>
      <p:sp>
        <p:nvSpPr>
          <p:cNvPr id="4" name="">
            <a:extLst xmlns:a="http://schemas.openxmlformats.org/drawingml/2006/main">
              <a:ext uri="{FF2B5EF4-FFF2-40B4-BE49-F238E27FC236}">
                <a16:creationId xmlns:a16="http://schemas.microsoft.com/office/drawing/2014/main" id="{D01C7C6A-8AF7-42A1-964C-D59A56FAD84E}"/>
              </a:ext>
            </a:extLst>
          </p:cNvPr>
          <p:cNvSpPr>
            <a:spLocks xmlns:a="http://schemas.openxmlformats.org/drawingml/2006/main" noGrp="1"/>
          </p:cNvSpPr>
          <p:nvPr/>
        </p:nvSpPr>
        <p:spPr>
          <a:xfrm xmlns:a="http://schemas.openxmlformats.org/drawingml/2006/main">
            <a:off x="914400" y="28956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Marketing intensity stays high, but payroll should normalize with growth. — Digital advertising remains elevated at 31.8% of 2024A revenue and rises to 33.0% in 2025P, so the model assumes no meaningful unwind in media intensity [2][5]. Payroll falls from 6.9% of 2024A revenue to 5.5% in 2025P, implying the 2024 hiring wave is absorbed by growth [2][4].</a:t>
            </a:r>
          </a:p>
        </p:txBody>
      </p:sp>
      <p:sp>
        <p:nvSpPr>
          <p:cNvPr id="5" name="">
            <a:extLst xmlns:a="http://schemas.openxmlformats.org/drawingml/2006/main">
              <a:ext uri="{FF2B5EF4-FFF2-40B4-BE49-F238E27FC236}">
                <a16:creationId xmlns:a16="http://schemas.microsoft.com/office/drawing/2014/main" id="{0A7C1C84-1877-4F89-A74F-A10E79F922D9}"/>
              </a:ext>
            </a:extLst>
          </p:cNvPr>
          <p:cNvSpPr>
            <a:spLocks xmlns:a="http://schemas.openxmlformats.org/drawingml/2006/main" noGrp="1"/>
          </p:cNvSpPr>
          <p:nvPr/>
        </p:nvSpPr>
        <p:spPr>
          <a:xfrm xmlns:a="http://schemas.openxmlformats.org/drawingml/2006/main">
            <a:off x="914400" y="41910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Retail mix will pressure gross margin unless channel economics improve. — Management attributes the drop to 85.5% gross margin in 2025P from 88.0% in 2024A mainly to a larger retail mix [6][1][2]. Retail tradespend rises from $0.259M in 2024A to $1.6M in 2025P, so EBITDA recovery must come despite lower net realization [2][6].</a:t>
            </a:r>
          </a:p>
        </p:txBody>
      </p:sp>
      <p:sp>
        <p:nvSpPr>
          <p:cNvPr id="6" name="">
            <a:extLst xmlns:a="http://schemas.openxmlformats.org/drawingml/2006/main">
              <a:ext uri="{FF2B5EF4-FFF2-40B4-BE49-F238E27FC236}">
                <a16:creationId xmlns:a16="http://schemas.microsoft.com/office/drawing/2014/main" id="{97B7225D-ACDD-41DD-B705-42F6E566A50D}"/>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19</a:t>
            </a:r>
          </a:p>
        </p:txBody>
      </p:sp>
    </p:spTree>
    <p:extLst>
      <p:ext uri="{BB962C8B-B14F-4D97-AF65-F5344CB8AC3E}">
        <p14:creationId xmlns:p14="http://schemas.microsoft.com/office/powerpoint/2010/main" val="1073343322"/>
      </p:ext>
    </p:extLst>
  </p:cSld>
</p:sld>
</file>

<file path=ppt/slides/slide20.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9358EB-D930-4D04-BD69-E7F4DD3279FA}"/>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Quality of Earnings</a:t>
            </a:r>
          </a:p>
        </p:txBody>
      </p:sp>
      <p:sp>
        <p:nvSpPr>
          <p:cNvPr id="2" name="title-rule">
            <a:extLst xmlns:a="http://schemas.openxmlformats.org/drawingml/2006/main">
              <a:ext uri="{FF2B5EF4-FFF2-40B4-BE49-F238E27FC236}">
                <a16:creationId xmlns:a16="http://schemas.microsoft.com/office/drawing/2014/main" id="{5BF14C68-BD6A-4157-8B8E-5421F22D71C2}"/>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67F307F-71D9-424B-AA93-1FE89A5E0AEB}"/>
              </a:ext>
            </a:extLst>
          </p:cNvPr>
          <p:cNvSpPr>
            <a:spLocks xmlns:a="http://schemas.openxmlformats.org/drawingml/2006/main" noGrp="1"/>
          </p:cNvSpPr>
          <p:nvPr/>
        </p:nvSpPr>
        <p:spPr>
          <a:xfrm xmlns:a="http://schemas.openxmlformats.org/drawingml/2006/main">
            <a:off x="914400" y="1600200"/>
            <a:ext cx="10134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Recommended EBITDA stays at $4.279M in 2024A because the reported profit is supported by booked earnings rather than unsupported seller adjustments.</a:t>
            </a:r>
          </a:p>
        </p:txBody>
      </p:sp>
      <p:sp>
        <p:nvSpPr>
          <p:cNvPr id="4" name="">
            <a:extLst xmlns:a="http://schemas.openxmlformats.org/drawingml/2006/main">
              <a:ext uri="{FF2B5EF4-FFF2-40B4-BE49-F238E27FC236}">
                <a16:creationId xmlns:a16="http://schemas.microsoft.com/office/drawing/2014/main" id="{B4833435-08DF-46DD-86A0-776CD506963C}"/>
              </a:ext>
            </a:extLst>
          </p:cNvPr>
          <p:cNvSpPr>
            <a:spLocks xmlns:a="http://schemas.openxmlformats.org/drawingml/2006/main" noGrp="1"/>
          </p:cNvSpPr>
          <p:nvPr/>
        </p:nvSpPr>
        <p:spPr>
          <a:xfrm xmlns:a="http://schemas.openxmlformats.org/drawingml/2006/main">
            <a:off x="914400" y="2552700"/>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bridge is weakened by bundled non-recurring items and unsupported deductions, while payroll, marketing, and selling costs explain the margin compression more clearly than any validated add-backs [1][2][3][4][5].</a:t>
            </a:r>
          </a:p>
        </p:txBody>
      </p:sp>
      <p:sp>
        <p:nvSpPr>
          <p:cNvPr id="5" name="">
            <a:extLst xmlns:a="http://schemas.openxmlformats.org/drawingml/2006/main">
              <a:ext uri="{FF2B5EF4-FFF2-40B4-BE49-F238E27FC236}">
                <a16:creationId xmlns:a16="http://schemas.microsoft.com/office/drawing/2014/main" id="{7FE608D1-D418-42AD-8CC7-4C92034B9CB7}"/>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20</a:t>
            </a:r>
          </a:p>
        </p:txBody>
      </p:sp>
    </p:spTree>
    <p:extLst>
      <p:ext uri="{BB962C8B-B14F-4D97-AF65-F5344CB8AC3E}">
        <p14:creationId xmlns:p14="http://schemas.microsoft.com/office/powerpoint/2010/main" val="1331451784"/>
      </p:ext>
    </p:extLst>
  </p:cSld>
</p:sld>
</file>

<file path=ppt/slides/slide21.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8B1BE20-442C-43E5-89ED-B43DBC72BE89}"/>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QUALITY OF EARNINGS</a:t>
            </a:r>
          </a:p>
        </p:txBody>
      </p:sp>
      <p:sp>
        <p:nvSpPr>
          <p:cNvPr id="2" name="">
            <a:extLst xmlns:a="http://schemas.openxmlformats.org/drawingml/2006/main">
              <a:ext uri="{FF2B5EF4-FFF2-40B4-BE49-F238E27FC236}">
                <a16:creationId xmlns:a16="http://schemas.microsoft.com/office/drawing/2014/main" id="{BBD7989A-CA4A-48B4-B2D9-FC3DF341715E}"/>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Quality of Earnings Bridge</a:t>
            </a:r>
          </a:p>
        </p:txBody>
      </p:sp>
      <p:sp>
        <p:nvSpPr>
          <p:cNvPr id="3" name="title-rule">
            <a:extLst xmlns:a="http://schemas.openxmlformats.org/drawingml/2006/main">
              <a:ext uri="{FF2B5EF4-FFF2-40B4-BE49-F238E27FC236}">
                <a16:creationId xmlns:a16="http://schemas.microsoft.com/office/drawing/2014/main" id="{5C874E70-C3BD-49EA-8150-A23C8145AB5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25"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0bd7598d94e54e9a"/>
          </a:graphicData>
        </a:graphic>
      </p:graphicFrame>
      <p:sp>
        <p:nvSpPr>
          <p:cNvPr id="5" name="">
            <a:extLst xmlns:a="http://schemas.openxmlformats.org/drawingml/2006/main">
              <a:ext uri="{FF2B5EF4-FFF2-40B4-BE49-F238E27FC236}">
                <a16:creationId xmlns:a16="http://schemas.microsoft.com/office/drawing/2014/main" id="{8DC00BB1-A6A3-4993-B7FF-821FCEECCE2A}"/>
              </a:ext>
            </a:extLst>
          </p:cNvPr>
          <p:cNvSpPr>
            <a:spLocks xmlns:a="http://schemas.openxmlformats.org/drawingml/2006/main" noGrp="1"/>
          </p:cNvSpPr>
          <p:nvPr/>
        </p:nvSpPr>
        <p:spPr>
          <a:xfrm xmlns:a="http://schemas.openxmlformats.org/drawingml/2006/main">
            <a:off x="2019300" y="1916430"/>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06465EA9-971E-4D6F-884A-2E91760B6E69}"/>
              </a:ext>
            </a:extLst>
          </p:cNvPr>
          <p:cNvSpPr>
            <a:spLocks xmlns:a="http://schemas.openxmlformats.org/drawingml/2006/main" noGrp="1"/>
          </p:cNvSpPr>
          <p:nvPr/>
        </p:nvSpPr>
        <p:spPr>
          <a:xfrm xmlns:a="http://schemas.openxmlformats.org/drawingml/2006/main">
            <a:off x="1609725" y="1735455"/>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$4.4M</a:t>
            </a:r>
          </a:p>
        </p:txBody>
      </p:sp>
      <p:sp>
        <p:nvSpPr>
          <p:cNvPr id="7" name="">
            <a:extLst xmlns:a="http://schemas.openxmlformats.org/drawingml/2006/main">
              <a:ext uri="{FF2B5EF4-FFF2-40B4-BE49-F238E27FC236}">
                <a16:creationId xmlns:a16="http://schemas.microsoft.com/office/drawing/2014/main" id="{61FBC1DB-4430-4871-83F6-DDF91DA745C5}"/>
              </a:ext>
            </a:extLst>
          </p:cNvPr>
          <p:cNvSpPr>
            <a:spLocks xmlns:a="http://schemas.openxmlformats.org/drawingml/2006/main" noGrp="1"/>
          </p:cNvSpPr>
          <p:nvPr/>
        </p:nvSpPr>
        <p:spPr>
          <a:xfrm xmlns:a="http://schemas.openxmlformats.org/drawingml/2006/main">
            <a:off x="3238500" y="5136588"/>
            <a:ext cx="9525" cy="76200"/>
          </a:xfrm>
          <a:prstGeom xmlns:a="http://schemas.openxmlformats.org/drawingml/2006/main" prst="line">
            <a:avLst/>
          </a:prstGeom>
          <a:noFill xmlns:a="http://schemas.openxmlformats.org/drawingml/2006/main"/>
          <a:ln xmlns:a="http://schemas.openxmlformats.org/drawingml/2006/main" w="9525">
            <a:solidFill>
              <a:srgbClr val="DC2626"/>
            </a:solidFill>
            <a:prstDash val="solid"/>
          </a:ln>
        </p:spPr>
      </p:sp>
      <p:sp>
        <p:nvSpPr>
          <p:cNvPr id="8" name="">
            <a:extLst xmlns:a="http://schemas.openxmlformats.org/drawingml/2006/main">
              <a:ext uri="{FF2B5EF4-FFF2-40B4-BE49-F238E27FC236}">
                <a16:creationId xmlns:a16="http://schemas.microsoft.com/office/drawing/2014/main" id="{9F09B4E5-0C14-47A5-80C8-295B941162CD}"/>
              </a:ext>
            </a:extLst>
          </p:cNvPr>
          <p:cNvSpPr>
            <a:spLocks xmlns:a="http://schemas.openxmlformats.org/drawingml/2006/main" noGrp="1"/>
          </p:cNvSpPr>
          <p:nvPr/>
        </p:nvSpPr>
        <p:spPr>
          <a:xfrm xmlns:a="http://schemas.openxmlformats.org/drawingml/2006/main">
            <a:off x="2828925" y="5212788"/>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DC2626"/>
                </a:solidFill>
                <a:latin typeface="Calibri"/>
                <a:ea typeface="Calibri"/>
                <a:cs typeface="Calibri"/>
              </a:defRPr>
            </a:pPr>
            <a:r>
              <a:rPr sz="900" b="1">
                <a:solidFill>
                  <a:srgbClr val="DC2626"/>
                </a:solidFill>
                <a:latin typeface="Calibri"/>
                <a:ea typeface="Calibri"/>
                <a:cs typeface="Calibri"/>
              </a:rPr>
              <a:t>-$293.0K</a:t>
            </a:r>
          </a:p>
        </p:txBody>
      </p:sp>
      <p:sp>
        <p:nvSpPr>
          <p:cNvPr id="9" name="">
            <a:extLst xmlns:a="http://schemas.openxmlformats.org/drawingml/2006/main">
              <a:ext uri="{FF2B5EF4-FFF2-40B4-BE49-F238E27FC236}">
                <a16:creationId xmlns:a16="http://schemas.microsoft.com/office/drawing/2014/main" id="{7EC59496-902D-4836-BA22-8B42C99B5D4B}"/>
              </a:ext>
            </a:extLst>
          </p:cNvPr>
          <p:cNvSpPr>
            <a:spLocks xmlns:a="http://schemas.openxmlformats.org/drawingml/2006/main" noGrp="1"/>
          </p:cNvSpPr>
          <p:nvPr/>
        </p:nvSpPr>
        <p:spPr>
          <a:xfrm xmlns:a="http://schemas.openxmlformats.org/drawingml/2006/main">
            <a:off x="4457700" y="4822565"/>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0" name="">
            <a:extLst xmlns:a="http://schemas.openxmlformats.org/drawingml/2006/main">
              <a:ext uri="{FF2B5EF4-FFF2-40B4-BE49-F238E27FC236}">
                <a16:creationId xmlns:a16="http://schemas.microsoft.com/office/drawing/2014/main" id="{E4F563E9-A7E8-4F29-8D3D-B910B0D44713}"/>
              </a:ext>
            </a:extLst>
          </p:cNvPr>
          <p:cNvSpPr>
            <a:spLocks xmlns:a="http://schemas.openxmlformats.org/drawingml/2006/main" noGrp="1"/>
          </p:cNvSpPr>
          <p:nvPr/>
        </p:nvSpPr>
        <p:spPr>
          <a:xfrm xmlns:a="http://schemas.openxmlformats.org/drawingml/2006/main">
            <a:off x="4048125" y="4641590"/>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+$62.0K</a:t>
            </a:r>
          </a:p>
        </p:txBody>
      </p:sp>
      <p:sp>
        <p:nvSpPr>
          <p:cNvPr id="11" name="">
            <a:extLst xmlns:a="http://schemas.openxmlformats.org/drawingml/2006/main">
              <a:ext uri="{FF2B5EF4-FFF2-40B4-BE49-F238E27FC236}">
                <a16:creationId xmlns:a16="http://schemas.microsoft.com/office/drawing/2014/main" id="{DB371E17-9298-435B-8017-67150EA615A7}"/>
              </a:ext>
            </a:extLst>
          </p:cNvPr>
          <p:cNvSpPr>
            <a:spLocks xmlns:a="http://schemas.openxmlformats.org/drawingml/2006/main" noGrp="1"/>
          </p:cNvSpPr>
          <p:nvPr/>
        </p:nvSpPr>
        <p:spPr>
          <a:xfrm xmlns:a="http://schemas.openxmlformats.org/drawingml/2006/main">
            <a:off x="5676900" y="4827924"/>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2" name="">
            <a:extLst xmlns:a="http://schemas.openxmlformats.org/drawingml/2006/main">
              <a:ext uri="{FF2B5EF4-FFF2-40B4-BE49-F238E27FC236}">
                <a16:creationId xmlns:a16="http://schemas.microsoft.com/office/drawing/2014/main" id="{013BF389-C1D5-48AF-9BF2-BCF93C7CA9CB}"/>
              </a:ext>
            </a:extLst>
          </p:cNvPr>
          <p:cNvSpPr>
            <a:spLocks xmlns:a="http://schemas.openxmlformats.org/drawingml/2006/main" noGrp="1"/>
          </p:cNvSpPr>
          <p:nvPr/>
        </p:nvSpPr>
        <p:spPr>
          <a:xfrm xmlns:a="http://schemas.openxmlformats.org/drawingml/2006/main">
            <a:off x="5267325" y="4646949"/>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+$54.0K</a:t>
            </a:r>
          </a:p>
        </p:txBody>
      </p:sp>
      <p:sp>
        <p:nvSpPr>
          <p:cNvPr id="13" name="">
            <a:extLst xmlns:a="http://schemas.openxmlformats.org/drawingml/2006/main">
              <a:ext uri="{FF2B5EF4-FFF2-40B4-BE49-F238E27FC236}">
                <a16:creationId xmlns:a16="http://schemas.microsoft.com/office/drawing/2014/main" id="{4B2708E0-398D-43D5-9CBD-833B6AA956F1}"/>
              </a:ext>
            </a:extLst>
          </p:cNvPr>
          <p:cNvSpPr>
            <a:spLocks xmlns:a="http://schemas.openxmlformats.org/drawingml/2006/main" noGrp="1"/>
          </p:cNvSpPr>
          <p:nvPr/>
        </p:nvSpPr>
        <p:spPr>
          <a:xfrm xmlns:a="http://schemas.openxmlformats.org/drawingml/2006/main">
            <a:off x="6896100" y="4829934"/>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378A10D-F695-4FB9-BE57-F78315D33624}"/>
              </a:ext>
            </a:extLst>
          </p:cNvPr>
          <p:cNvSpPr>
            <a:spLocks xmlns:a="http://schemas.openxmlformats.org/drawingml/2006/main" noGrp="1"/>
          </p:cNvSpPr>
          <p:nvPr/>
        </p:nvSpPr>
        <p:spPr>
          <a:xfrm xmlns:a="http://schemas.openxmlformats.org/drawingml/2006/main">
            <a:off x="6486525" y="4648959"/>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+$51.0K</a:t>
            </a:r>
          </a:p>
        </p:txBody>
      </p:sp>
      <p:sp>
        <p:nvSpPr>
          <p:cNvPr id="15" name="">
            <a:extLst xmlns:a="http://schemas.openxmlformats.org/drawingml/2006/main">
              <a:ext uri="{FF2B5EF4-FFF2-40B4-BE49-F238E27FC236}">
                <a16:creationId xmlns:a16="http://schemas.microsoft.com/office/drawing/2014/main" id="{1B13B07E-77F4-4885-9CF8-A6C5C6092110}"/>
              </a:ext>
            </a:extLst>
          </p:cNvPr>
          <p:cNvSpPr>
            <a:spLocks xmlns:a="http://schemas.openxmlformats.org/drawingml/2006/main" noGrp="1"/>
          </p:cNvSpPr>
          <p:nvPr/>
        </p:nvSpPr>
        <p:spPr>
          <a:xfrm xmlns:a="http://schemas.openxmlformats.org/drawingml/2006/main">
            <a:off x="8115300" y="4860750"/>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6" name="">
            <a:extLst xmlns:a="http://schemas.openxmlformats.org/drawingml/2006/main">
              <a:ext uri="{FF2B5EF4-FFF2-40B4-BE49-F238E27FC236}">
                <a16:creationId xmlns:a16="http://schemas.microsoft.com/office/drawing/2014/main" id="{15326B32-2648-4380-93E2-D437B6F33EA8}"/>
              </a:ext>
            </a:extLst>
          </p:cNvPr>
          <p:cNvSpPr>
            <a:spLocks xmlns:a="http://schemas.openxmlformats.org/drawingml/2006/main" noGrp="1"/>
          </p:cNvSpPr>
          <p:nvPr/>
        </p:nvSpPr>
        <p:spPr>
          <a:xfrm xmlns:a="http://schemas.openxmlformats.org/drawingml/2006/main">
            <a:off x="7705725" y="4679775"/>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+$5.0K</a:t>
            </a:r>
          </a:p>
        </p:txBody>
      </p:sp>
      <p:sp>
        <p:nvSpPr>
          <p:cNvPr id="17" name="">
            <a:extLst xmlns:a="http://schemas.openxmlformats.org/drawingml/2006/main">
              <a:ext uri="{FF2B5EF4-FFF2-40B4-BE49-F238E27FC236}">
                <a16:creationId xmlns:a16="http://schemas.microsoft.com/office/drawing/2014/main" id="{87CE999F-8A6D-45B9-AB81-1DC6390BA455}"/>
              </a:ext>
            </a:extLst>
          </p:cNvPr>
          <p:cNvSpPr>
            <a:spLocks xmlns:a="http://schemas.openxmlformats.org/drawingml/2006/main" noGrp="1"/>
          </p:cNvSpPr>
          <p:nvPr/>
        </p:nvSpPr>
        <p:spPr>
          <a:xfrm xmlns:a="http://schemas.openxmlformats.org/drawingml/2006/main">
            <a:off x="9334500" y="1997491"/>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8" name="">
            <a:extLst xmlns:a="http://schemas.openxmlformats.org/drawingml/2006/main">
              <a:ext uri="{FF2B5EF4-FFF2-40B4-BE49-F238E27FC236}">
                <a16:creationId xmlns:a16="http://schemas.microsoft.com/office/drawing/2014/main" id="{9300C6E0-1377-46C6-97DC-A5F1382547A6}"/>
              </a:ext>
            </a:extLst>
          </p:cNvPr>
          <p:cNvSpPr>
            <a:spLocks xmlns:a="http://schemas.openxmlformats.org/drawingml/2006/main" noGrp="1"/>
          </p:cNvSpPr>
          <p:nvPr/>
        </p:nvSpPr>
        <p:spPr>
          <a:xfrm xmlns:a="http://schemas.openxmlformats.org/drawingml/2006/main">
            <a:off x="8924925" y="1816516"/>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$4.3M</a:t>
            </a:r>
          </a:p>
        </p:txBody>
      </p:sp>
      <p:sp>
        <p:nvSpPr>
          <p:cNvPr id="19" name="">
            <a:extLst xmlns:a="http://schemas.openxmlformats.org/drawingml/2006/main">
              <a:ext uri="{FF2B5EF4-FFF2-40B4-BE49-F238E27FC236}">
                <a16:creationId xmlns:a16="http://schemas.microsoft.com/office/drawing/2014/main" id="{EB5A3683-0240-4E0F-B1ED-5B92E7ACE67B}"/>
              </a:ext>
            </a:extLst>
          </p:cNvPr>
          <p:cNvSpPr>
            <a:spLocks xmlns:a="http://schemas.openxmlformats.org/drawingml/2006/main" noGrp="1"/>
          </p:cNvSpPr>
          <p:nvPr/>
        </p:nvSpPr>
        <p:spPr>
          <a:xfrm xmlns:a="http://schemas.openxmlformats.org/drawingml/2006/main">
            <a:off x="10553700" y="1997491"/>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20" name="">
            <a:extLst xmlns:a="http://schemas.openxmlformats.org/drawingml/2006/main">
              <a:ext uri="{FF2B5EF4-FFF2-40B4-BE49-F238E27FC236}">
                <a16:creationId xmlns:a16="http://schemas.microsoft.com/office/drawing/2014/main" id="{001CE608-6F29-4ED4-AF07-4DFABEDD6C54}"/>
              </a:ext>
            </a:extLst>
          </p:cNvPr>
          <p:cNvSpPr>
            <a:spLocks xmlns:a="http://schemas.openxmlformats.org/drawingml/2006/main" noGrp="1"/>
          </p:cNvSpPr>
          <p:nvPr/>
        </p:nvSpPr>
        <p:spPr>
          <a:xfrm xmlns:a="http://schemas.openxmlformats.org/drawingml/2006/main">
            <a:off x="10144125" y="1816516"/>
            <a:ext cx="819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$4.3M</a:t>
            </a:r>
          </a:p>
        </p:txBody>
      </p:sp>
      <p:sp>
        <p:nvSpPr>
          <p:cNvPr id="21" name="">
            <a:extLst xmlns:a="http://schemas.openxmlformats.org/drawingml/2006/main">
              <a:ext uri="{FF2B5EF4-FFF2-40B4-BE49-F238E27FC236}">
                <a16:creationId xmlns:a16="http://schemas.microsoft.com/office/drawing/2014/main" id="{8EFF9E3F-99EE-4C88-91D1-66324352FB8B}"/>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21</a:t>
            </a:r>
          </a:p>
        </p:txBody>
      </p:sp>
    </p:spTree>
    <p:extLst>
      <p:ext uri="{BB962C8B-B14F-4D97-AF65-F5344CB8AC3E}">
        <p14:creationId xmlns:p14="http://schemas.microsoft.com/office/powerpoint/2010/main" val="1254009715"/>
      </p:ext>
    </p:extLst>
  </p:cSld>
</p:sld>
</file>

<file path=ppt/slides/slide2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6ABE439-9B0D-41E7-BC42-87297E745A72}"/>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a:t>
            </a:r>
          </a:p>
        </p:txBody>
      </p:sp>
      <p:sp>
        <p:nvSpPr>
          <p:cNvPr id="2" name="title-rule">
            <a:extLst xmlns:a="http://schemas.openxmlformats.org/drawingml/2006/main">
              <a:ext uri="{FF2B5EF4-FFF2-40B4-BE49-F238E27FC236}">
                <a16:creationId xmlns:a16="http://schemas.microsoft.com/office/drawing/2014/main" id="{F0757439-0B3B-4BB5-985E-862736E3534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835AE0-03E1-490E-B97B-299BAA496433}"/>
              </a:ext>
            </a:extLst>
          </p:cNvPr>
          <p:cNvSpPr>
            <a:spLocks xmlns:a="http://schemas.openxmlformats.org/drawingml/2006/main" noGrp="1"/>
          </p:cNvSpPr>
          <p:nvPr/>
        </p:nvSpPr>
        <p:spPr>
          <a:xfrm xmlns:a="http://schemas.openxmlformats.org/drawingml/2006/main">
            <a:off x="914400" y="1600200"/>
            <a:ext cx="101346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The product, channel, and adjusted EBITDA tie-outs are still open, but the disclosed variances are not large enough to prevent the memo from being used as a directional read while those schedules are clarified.</a:t>
            </a:r>
          </a:p>
        </p:txBody>
      </p:sp>
      <p:sp>
        <p:nvSpPr>
          <p:cNvPr id="4" name="">
            <a:extLst xmlns:a="http://schemas.openxmlformats.org/drawingml/2006/main">
              <a:ext uri="{FF2B5EF4-FFF2-40B4-BE49-F238E27FC236}">
                <a16:creationId xmlns:a16="http://schemas.microsoft.com/office/drawing/2014/main" id="{7ED6FE8A-1360-4F37-B181-A7273334B573}"/>
              </a:ext>
            </a:extLst>
          </p:cNvPr>
          <p:cNvSpPr>
            <a:spLocks xmlns:a="http://schemas.openxmlformats.org/drawingml/2006/main" noGrp="1"/>
          </p:cNvSpPr>
          <p:nvPr/>
        </p:nvSpPr>
        <p:spPr>
          <a:xfrm xmlns:a="http://schemas.openxmlformats.org/drawingml/2006/main">
            <a:off x="914400" y="2857500"/>
            <a:ext cx="1013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4 additional item(s) continued in the appendix.</a:t>
            </a:r>
          </a:p>
        </p:txBody>
      </p:sp>
      <p:sp>
        <p:nvSpPr>
          <p:cNvPr id="5" name="">
            <a:extLst xmlns:a="http://schemas.openxmlformats.org/drawingml/2006/main">
              <a:ext uri="{FF2B5EF4-FFF2-40B4-BE49-F238E27FC236}">
                <a16:creationId xmlns:a16="http://schemas.microsoft.com/office/drawing/2014/main" id="{22949AB9-4F97-4C07-AD2C-6EB6CF7BBC01}"/>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22</a:t>
            </a:r>
          </a:p>
        </p:txBody>
      </p:sp>
    </p:spTree>
    <p:extLst>
      <p:ext uri="{BB962C8B-B14F-4D97-AF65-F5344CB8AC3E}">
        <p14:creationId xmlns:p14="http://schemas.microsoft.com/office/powerpoint/2010/main" val="862651500"/>
      </p:ext>
    </p:extLst>
  </p:cSld>
</p:sld>
</file>

<file path=ppt/slides/slide2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A17FF2-C94A-4AD2-B200-8DB8EE9D8F6C}"/>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a:t>
            </a:r>
          </a:p>
        </p:txBody>
      </p:sp>
      <p:sp>
        <p:nvSpPr>
          <p:cNvPr id="2" name="title-rule">
            <a:extLst xmlns:a="http://schemas.openxmlformats.org/drawingml/2006/main">
              <a:ext uri="{FF2B5EF4-FFF2-40B4-BE49-F238E27FC236}">
                <a16:creationId xmlns:a16="http://schemas.microsoft.com/office/drawing/2014/main" id="{B7D8B04F-2677-45CF-AD08-577C6F769EF8}"/>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EFAC517-E496-4ECC-9D28-FC61BD13EFA6}"/>
              </a:ext>
            </a:extLst>
          </p:cNvPr>
          <p:cNvSpPr>
            <a:spLocks xmlns:a="http://schemas.openxmlformats.org/drawingml/2006/main" noGrp="1"/>
          </p:cNvSpPr>
          <p:nvPr/>
        </p:nvSpPr>
        <p:spPr>
          <a:xfrm xmlns:a="http://schemas.openxmlformats.org/drawingml/2006/main">
            <a:off x="723900" y="16192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DD06D04D-9375-4261-8304-4830A439A756}"/>
              </a:ext>
            </a:extLst>
          </p:cNvPr>
          <p:cNvSpPr>
            <a:spLocks xmlns:a="http://schemas.openxmlformats.org/drawingml/2006/main" noGrp="1"/>
          </p:cNvSpPr>
          <p:nvPr/>
        </p:nvSpPr>
        <p:spPr>
          <a:xfrm xmlns:a="http://schemas.openxmlformats.org/drawingml/2006/main">
            <a:off x="1257300" y="16002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Earnings Adjustment Support Pack</a:t>
            </a:r>
          </a:p>
        </p:txBody>
      </p:sp>
      <p:sp>
        <p:nvSpPr>
          <p:cNvPr id="5" name="">
            <a:extLst xmlns:a="http://schemas.openxmlformats.org/drawingml/2006/main">
              <a:ext uri="{FF2B5EF4-FFF2-40B4-BE49-F238E27FC236}">
                <a16:creationId xmlns:a16="http://schemas.microsoft.com/office/drawing/2014/main" id="{79331262-BB3E-4BC5-BC6F-FB9F0DBEE9F3}"/>
              </a:ext>
            </a:extLst>
          </p:cNvPr>
          <p:cNvSpPr>
            <a:spLocks xmlns:a="http://schemas.openxmlformats.org/drawingml/2006/main" noGrp="1"/>
          </p:cNvSpPr>
          <p:nvPr/>
        </p:nvSpPr>
        <p:spPr>
          <a:xfrm xmlns:a="http://schemas.openxmlformats.org/drawingml/2006/main">
            <a:off x="1257300" y="20002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the detailed earnings-adjustment support pack by period, including line-item schedules and source documents for each disclosed adjustment, because the 2023 itemized adjustments add to about $(58)K while the bridge shows total adjustments of $(59)K, and the disclosed adjustments are otherwise supported only by management schedules [8]. Without underlying support, the adjusted EBITDA bridge used in the materials cannot be fully validated, and the 2023 bridge does not add cleanly on its face [6][8].</a:t>
            </a:r>
          </a:p>
        </p:txBody>
      </p:sp>
      <p:sp>
        <p:nvSpPr>
          <p:cNvPr id="6" name="">
            <a:extLst xmlns:a="http://schemas.openxmlformats.org/drawingml/2006/main">
              <a:ext uri="{FF2B5EF4-FFF2-40B4-BE49-F238E27FC236}">
                <a16:creationId xmlns:a16="http://schemas.microsoft.com/office/drawing/2014/main" id="{AFB0CFF2-FD74-449E-AFE5-71D58A0A0670}"/>
              </a:ext>
            </a:extLst>
          </p:cNvPr>
          <p:cNvSpPr>
            <a:spLocks xmlns:a="http://schemas.openxmlformats.org/drawingml/2006/main" noGrp="1"/>
          </p:cNvSpPr>
          <p:nvPr/>
        </p:nvSpPr>
        <p:spPr>
          <a:xfrm xmlns:a="http://schemas.openxmlformats.org/drawingml/2006/main">
            <a:off x="723900" y="37147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E8517F-FB9E-4DBD-9B7E-FC4CCD48280A}"/>
              </a:ext>
            </a:extLst>
          </p:cNvPr>
          <p:cNvSpPr>
            <a:spLocks xmlns:a="http://schemas.openxmlformats.org/drawingml/2006/main" noGrp="1"/>
          </p:cNvSpPr>
          <p:nvPr/>
        </p:nvSpPr>
        <p:spPr>
          <a:xfrm xmlns:a="http://schemas.openxmlformats.org/drawingml/2006/main">
            <a:off x="1257300" y="36957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Product Gross Sales Reconciliation</a:t>
            </a:r>
          </a:p>
        </p:txBody>
      </p:sp>
      <p:sp>
        <p:nvSpPr>
          <p:cNvPr id="8" name="">
            <a:extLst xmlns:a="http://schemas.openxmlformats.org/drawingml/2006/main">
              <a:ext uri="{FF2B5EF4-FFF2-40B4-BE49-F238E27FC236}">
                <a16:creationId xmlns:a16="http://schemas.microsoft.com/office/drawing/2014/main" id="{263A5AA5-D976-4C15-A8FB-3E64AFA9E930}"/>
              </a:ext>
            </a:extLst>
          </p:cNvPr>
          <p:cNvSpPr>
            <a:spLocks xmlns:a="http://schemas.openxmlformats.org/drawingml/2006/main" noGrp="1"/>
          </p:cNvSpPr>
          <p:nvPr/>
        </p:nvSpPr>
        <p:spPr>
          <a:xfrm xmlns:a="http://schemas.openxmlformats.org/drawingml/2006/main">
            <a:off x="1257300" y="40957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an exact product-by-period gross sales schedule, including any omitted products and a reconciliation to consolidated gross sales, because the disclosed product totals do not fully tie in multiple periods and Daily Hydration 2024 is shown as $0.5M on one exhibit and $0.6M on another [1][2][3][9][10][7]. The product mix and product growth reads rest on figures that do not fully reconcile to total gross sales, so the starting point for several product conclusions remains uncertain [1][2][3][10][7].</a:t>
            </a:r>
          </a:p>
        </p:txBody>
      </p:sp>
      <p:sp>
        <p:nvSpPr>
          <p:cNvPr id="9" name="">
            <a:extLst xmlns:a="http://schemas.openxmlformats.org/drawingml/2006/main">
              <a:ext uri="{FF2B5EF4-FFF2-40B4-BE49-F238E27FC236}">
                <a16:creationId xmlns:a16="http://schemas.microsoft.com/office/drawing/2014/main" id="{54295A75-5C5E-4A46-9759-F9FEE3592197}"/>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23</a:t>
            </a:r>
          </a:p>
        </p:txBody>
      </p:sp>
    </p:spTree>
    <p:extLst>
      <p:ext uri="{BB962C8B-B14F-4D97-AF65-F5344CB8AC3E}">
        <p14:creationId xmlns:p14="http://schemas.microsoft.com/office/powerpoint/2010/main" val="1827576105"/>
      </p:ext>
    </p:extLst>
  </p:cSld>
</p:sld>
</file>

<file path=ppt/slides/slide2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02AEEA-C9B4-4EF2-88AA-36EFEDDF9F51}"/>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 continued</a:t>
            </a:r>
          </a:p>
        </p:txBody>
      </p:sp>
      <p:sp>
        <p:nvSpPr>
          <p:cNvPr id="2" name="title-rule">
            <a:extLst xmlns:a="http://schemas.openxmlformats.org/drawingml/2006/main">
              <a:ext uri="{FF2B5EF4-FFF2-40B4-BE49-F238E27FC236}">
                <a16:creationId xmlns:a16="http://schemas.microsoft.com/office/drawing/2014/main" id="{C6D3F1D0-3E8F-4A3B-845D-107F42445DEA}"/>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8EB2819-C886-4D85-B9F5-9554A709BDC0}"/>
              </a:ext>
            </a:extLst>
          </p:cNvPr>
          <p:cNvSpPr>
            <a:spLocks xmlns:a="http://schemas.openxmlformats.org/drawingml/2006/main" noGrp="1"/>
          </p:cNvSpPr>
          <p:nvPr/>
        </p:nvSpPr>
        <p:spPr>
          <a:xfrm xmlns:a="http://schemas.openxmlformats.org/drawingml/2006/main">
            <a:off x="723900" y="16192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85960FD1-0FCF-4CB6-9C6F-874502320DF4}"/>
              </a:ext>
            </a:extLst>
          </p:cNvPr>
          <p:cNvSpPr>
            <a:spLocks xmlns:a="http://schemas.openxmlformats.org/drawingml/2006/main" noGrp="1"/>
          </p:cNvSpPr>
          <p:nvPr/>
        </p:nvSpPr>
        <p:spPr>
          <a:xfrm xmlns:a="http://schemas.openxmlformats.org/drawingml/2006/main">
            <a:off x="1257300" y="16002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Channel Revenue Reconciliation Schedule</a:t>
            </a:r>
          </a:p>
        </p:txBody>
      </p:sp>
      <p:sp>
        <p:nvSpPr>
          <p:cNvPr id="5" name="">
            <a:extLst xmlns:a="http://schemas.openxmlformats.org/drawingml/2006/main">
              <a:ext uri="{FF2B5EF4-FFF2-40B4-BE49-F238E27FC236}">
                <a16:creationId xmlns:a16="http://schemas.microsoft.com/office/drawing/2014/main" id="{A14B7288-8532-479A-8C6E-DB058461596B}"/>
              </a:ext>
            </a:extLst>
          </p:cNvPr>
          <p:cNvSpPr>
            <a:spLocks xmlns:a="http://schemas.openxmlformats.org/drawingml/2006/main" noGrp="1"/>
          </p:cNvSpPr>
          <p:nvPr/>
        </p:nvSpPr>
        <p:spPr>
          <a:xfrm xmlns:a="http://schemas.openxmlformats.org/drawingml/2006/main">
            <a:off x="1257300" y="20002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the exact channel-by-period net revenue schedule and reconciliation to consolidated net revenue, because disclosed channel totals tie only approximately in 2023A through 2026P and do not tie in 2022A, when DTC and Amazon sum to about $4.5M versus consolidated net revenue of $4.271M [4][5][6]. Channel mix, customer concentration, and channel growth reads rely on exact channel sizes, and those disclosed figures do not fully reconcile to the consolidated revenue line [4][5][6].</a:t>
            </a:r>
          </a:p>
        </p:txBody>
      </p:sp>
      <p:sp>
        <p:nvSpPr>
          <p:cNvPr id="6" name="">
            <a:extLst xmlns:a="http://schemas.openxmlformats.org/drawingml/2006/main">
              <a:ext uri="{FF2B5EF4-FFF2-40B4-BE49-F238E27FC236}">
                <a16:creationId xmlns:a16="http://schemas.microsoft.com/office/drawing/2014/main" id="{726AE314-73AD-4631-BDEB-0D129AB4E23E}"/>
              </a:ext>
            </a:extLst>
          </p:cNvPr>
          <p:cNvSpPr>
            <a:spLocks xmlns:a="http://schemas.openxmlformats.org/drawingml/2006/main" noGrp="1"/>
          </p:cNvSpPr>
          <p:nvPr/>
        </p:nvSpPr>
        <p:spPr>
          <a:xfrm xmlns:a="http://schemas.openxmlformats.org/drawingml/2006/main">
            <a:off x="723900" y="37147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36BF2E-3D38-4E69-BD6D-BA9AEECA6A8F}"/>
              </a:ext>
            </a:extLst>
          </p:cNvPr>
          <p:cNvSpPr>
            <a:spLocks xmlns:a="http://schemas.openxmlformats.org/drawingml/2006/main" noGrp="1"/>
          </p:cNvSpPr>
          <p:nvPr/>
        </p:nvSpPr>
        <p:spPr>
          <a:xfrm xmlns:a="http://schemas.openxmlformats.org/drawingml/2006/main">
            <a:off x="1257300" y="36957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Retail Tradespend Support</a:t>
            </a:r>
          </a:p>
        </p:txBody>
      </p:sp>
      <p:sp>
        <p:nvSpPr>
          <p:cNvPr id="8" name="">
            <a:extLst xmlns:a="http://schemas.openxmlformats.org/drawingml/2006/main">
              <a:ext uri="{FF2B5EF4-FFF2-40B4-BE49-F238E27FC236}">
                <a16:creationId xmlns:a16="http://schemas.microsoft.com/office/drawing/2014/main" id="{3691F755-FF38-4109-AC1F-A6CD4A83547E}"/>
              </a:ext>
            </a:extLst>
          </p:cNvPr>
          <p:cNvSpPr>
            <a:spLocks xmlns:a="http://schemas.openxmlformats.org/drawingml/2006/main" noGrp="1"/>
          </p:cNvSpPr>
          <p:nvPr/>
        </p:nvSpPr>
        <p:spPr>
          <a:xfrm xmlns:a="http://schemas.openxmlformats.org/drawingml/2006/main">
            <a:off x="1257300" y="40957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retailer-by-retailer tradespend schedules and program terms supporting the step-up from $0.259M in 2024A to $1.602M in 2025P [7]. If promotional deductions rise differently from plan, the retail expansion can carry more margin dilution than the materials currently show [7].</a:t>
            </a:r>
          </a:p>
        </p:txBody>
      </p:sp>
      <p:sp>
        <p:nvSpPr>
          <p:cNvPr id="9" name="">
            <a:extLst xmlns:a="http://schemas.openxmlformats.org/drawingml/2006/main">
              <a:ext uri="{FF2B5EF4-FFF2-40B4-BE49-F238E27FC236}">
                <a16:creationId xmlns:a16="http://schemas.microsoft.com/office/drawing/2014/main" id="{29215CC7-8FDE-4504-9D07-76B47CFBF888}"/>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24</a:t>
            </a:r>
          </a:p>
        </p:txBody>
      </p:sp>
    </p:spTree>
    <p:extLst>
      <p:ext uri="{BB962C8B-B14F-4D97-AF65-F5344CB8AC3E}">
        <p14:creationId xmlns:p14="http://schemas.microsoft.com/office/powerpoint/2010/main" val="20788925"/>
      </p:ext>
    </p:extLst>
  </p:cSld>
</p:sld>
</file>

<file path=ppt/slides/slide25.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8D65321-F688-4BF3-9E66-8EF86AF5BF6E}"/>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 continued</a:t>
            </a:r>
          </a:p>
        </p:txBody>
      </p:sp>
      <p:sp>
        <p:nvSpPr>
          <p:cNvPr id="2" name="title-rule">
            <a:extLst xmlns:a="http://schemas.openxmlformats.org/drawingml/2006/main">
              <a:ext uri="{FF2B5EF4-FFF2-40B4-BE49-F238E27FC236}">
                <a16:creationId xmlns:a16="http://schemas.microsoft.com/office/drawing/2014/main" id="{A9A6C3B5-C2D7-42F3-A230-608A6962FD59}"/>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28D4A9B-923A-49FA-AC4B-90805377A12F}"/>
              </a:ext>
            </a:extLst>
          </p:cNvPr>
          <p:cNvSpPr>
            <a:spLocks xmlns:a="http://schemas.openxmlformats.org/drawingml/2006/main" noGrp="1"/>
          </p:cNvSpPr>
          <p:nvPr/>
        </p:nvSpPr>
        <p:spPr>
          <a:xfrm xmlns:a="http://schemas.openxmlformats.org/drawingml/2006/main">
            <a:off x="723900" y="16192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18A53C7A-D0FE-4B0A-A6B4-91282FCB569A}"/>
              </a:ext>
            </a:extLst>
          </p:cNvPr>
          <p:cNvSpPr>
            <a:spLocks xmlns:a="http://schemas.openxmlformats.org/drawingml/2006/main" noGrp="1"/>
          </p:cNvSpPr>
          <p:nvPr/>
        </p:nvSpPr>
        <p:spPr>
          <a:xfrm xmlns:a="http://schemas.openxmlformats.org/drawingml/2006/main">
            <a:off x="1257300" y="16002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2024 To 2025 EBITDA Cost Bridge</a:t>
            </a:r>
          </a:p>
        </p:txBody>
      </p:sp>
      <p:sp>
        <p:nvSpPr>
          <p:cNvPr id="5" name="">
            <a:extLst xmlns:a="http://schemas.openxmlformats.org/drawingml/2006/main">
              <a:ext uri="{FF2B5EF4-FFF2-40B4-BE49-F238E27FC236}">
                <a16:creationId xmlns:a16="http://schemas.microsoft.com/office/drawing/2014/main" id="{09FC1073-9451-4475-9E04-49D3CA755B6E}"/>
              </a:ext>
            </a:extLst>
          </p:cNvPr>
          <p:cNvSpPr>
            <a:spLocks xmlns:a="http://schemas.openxmlformats.org/drawingml/2006/main" noGrp="1"/>
          </p:cNvSpPr>
          <p:nvPr/>
        </p:nvSpPr>
        <p:spPr>
          <a:xfrm xmlns:a="http://schemas.openxmlformats.org/drawingml/2006/main">
            <a:off x="1257300" y="20002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a 2024A-to-2025P bridge separating temporary launch costs from the steady-state payroll and marketing base behind the move from 27.5% adjusted EBITDA margin in 2023A to 21.6% in 2024A and the projected recovery to 23.4% in 2025P [6][7][11][12]. The forward EBITDA read remains uncertain until the materials show which parts of the 2024 spending step-up were temporary and which are now part of the ongoing cost base [6][7][11][12].</a:t>
            </a:r>
          </a:p>
        </p:txBody>
      </p:sp>
      <p:sp>
        <p:nvSpPr>
          <p:cNvPr id="6" name="">
            <a:extLst xmlns:a="http://schemas.openxmlformats.org/drawingml/2006/main">
              <a:ext uri="{FF2B5EF4-FFF2-40B4-BE49-F238E27FC236}">
                <a16:creationId xmlns:a16="http://schemas.microsoft.com/office/drawing/2014/main" id="{F04DA769-6A0C-40A5-950D-E11AF09AE324}"/>
              </a:ext>
            </a:extLst>
          </p:cNvPr>
          <p:cNvSpPr>
            <a:spLocks xmlns:a="http://schemas.openxmlformats.org/drawingml/2006/main" noGrp="1"/>
          </p:cNvSpPr>
          <p:nvPr/>
        </p:nvSpPr>
        <p:spPr>
          <a:xfrm xmlns:a="http://schemas.openxmlformats.org/drawingml/2006/main">
            <a:off x="723900" y="37147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9B1026-391E-48CE-8F5F-2564C29A1BA2}"/>
              </a:ext>
            </a:extLst>
          </p:cNvPr>
          <p:cNvSpPr>
            <a:spLocks xmlns:a="http://schemas.openxmlformats.org/drawingml/2006/main" noGrp="1"/>
          </p:cNvSpPr>
          <p:nvPr/>
        </p:nvSpPr>
        <p:spPr>
          <a:xfrm xmlns:a="http://schemas.openxmlformats.org/drawingml/2006/main">
            <a:off x="1257300" y="36957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Payroll Annualization Bridge</a:t>
            </a:r>
          </a:p>
        </p:txBody>
      </p:sp>
      <p:sp>
        <p:nvSpPr>
          <p:cNvPr id="8" name="">
            <a:extLst xmlns:a="http://schemas.openxmlformats.org/drawingml/2006/main">
              <a:ext uri="{FF2B5EF4-FFF2-40B4-BE49-F238E27FC236}">
                <a16:creationId xmlns:a16="http://schemas.microsoft.com/office/drawing/2014/main" id="{1CBD9F21-95FA-4AC0-B64E-897F8CFBC4F8}"/>
              </a:ext>
            </a:extLst>
          </p:cNvPr>
          <p:cNvSpPr>
            <a:spLocks xmlns:a="http://schemas.openxmlformats.org/drawingml/2006/main" noGrp="1"/>
          </p:cNvSpPr>
          <p:nvPr/>
        </p:nvSpPr>
        <p:spPr>
          <a:xfrm xmlns:a="http://schemas.openxmlformats.org/drawingml/2006/main">
            <a:off x="1257300" y="40957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monthly payroll registers, headcount by start date, and a booked-to-run-rate bridge for 2024 hires supporting the inferred $0.94M payroll annualization adjustment [7][11][12]. If the late-2024 team cost is materially above the booked 2024 average, the historical EBITDA base can overstate the earnings level carried into the next period [7][11][12].</a:t>
            </a:r>
          </a:p>
        </p:txBody>
      </p:sp>
      <p:sp>
        <p:nvSpPr>
          <p:cNvPr id="9" name="">
            <a:extLst xmlns:a="http://schemas.openxmlformats.org/drawingml/2006/main">
              <a:ext uri="{FF2B5EF4-FFF2-40B4-BE49-F238E27FC236}">
                <a16:creationId xmlns:a16="http://schemas.microsoft.com/office/drawing/2014/main" id="{29ECFDF0-7244-4444-A527-A6B6F07A950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25</a:t>
            </a:r>
          </a:p>
        </p:txBody>
      </p:sp>
    </p:spTree>
    <p:extLst>
      <p:ext uri="{BB962C8B-B14F-4D97-AF65-F5344CB8AC3E}">
        <p14:creationId xmlns:p14="http://schemas.microsoft.com/office/powerpoint/2010/main" val="310398718"/>
      </p:ext>
    </p:extLst>
  </p:cSld>
</p:sld>
</file>

<file path=ppt/slides/slide26.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64AF66-6FDF-48A1-9311-379CB253F4DE}"/>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DE03C820-045C-493C-AFFA-2FA54A85F7A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7611C2E-C5CA-4F12-859C-DE3A43FC4336}"/>
              </a:ext>
            </a:extLst>
          </p:cNvPr>
          <p:cNvSpPr>
            <a:spLocks xmlns:a="http://schemas.openxmlformats.org/drawingml/2006/main" noGrp="1"/>
          </p:cNvSpPr>
          <p:nvPr/>
        </p:nvSpPr>
        <p:spPr>
          <a:xfrm xmlns:a="http://schemas.openxmlformats.org/drawingml/2006/main">
            <a:off x="914400" y="1600200"/>
            <a:ext cx="10134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Management's 2026 revenue plan is not supportable on current evidence.</a:t>
            </a:r>
          </a:p>
        </p:txBody>
      </p:sp>
      <p:sp>
        <p:nvSpPr>
          <p:cNvPr id="4" name="">
            <a:extLst xmlns:a="http://schemas.openxmlformats.org/drawingml/2006/main">
              <a:ext uri="{FF2B5EF4-FFF2-40B4-BE49-F238E27FC236}">
                <a16:creationId xmlns:a16="http://schemas.microsoft.com/office/drawing/2014/main" id="{E39097F6-4676-4847-879E-01A4F01E17FB}"/>
              </a:ext>
            </a:extLst>
          </p:cNvPr>
          <p:cNvSpPr>
            <a:spLocks xmlns:a="http://schemas.openxmlformats.org/drawingml/2006/main" noGrp="1"/>
          </p:cNvSpPr>
          <p:nvPr/>
        </p:nvSpPr>
        <p:spPr>
          <a:xfrm xmlns:a="http://schemas.openxmlformats.org/drawingml/2006/main">
            <a:off x="914400" y="2247900"/>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gap reflects a forecast that leans on new retail distribution and promotional execution before those channels have demonstrated repeatable volume, while the 2024 mix was still heavily concentrated in a few accounts [1][2][3][4][5][6].</a:t>
            </a:r>
          </a:p>
        </p:txBody>
      </p:sp>
      <p:sp>
        <p:nvSpPr>
          <p:cNvPr id="5" name="">
            <a:extLst xmlns:a="http://schemas.openxmlformats.org/drawingml/2006/main">
              <a:ext uri="{FF2B5EF4-FFF2-40B4-BE49-F238E27FC236}">
                <a16:creationId xmlns:a16="http://schemas.microsoft.com/office/drawing/2014/main" id="{2BA258E3-C56E-42EA-A342-B2C2C220B1BB}"/>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26</a:t>
            </a:r>
          </a:p>
        </p:txBody>
      </p:sp>
    </p:spTree>
    <p:extLst>
      <p:ext uri="{BB962C8B-B14F-4D97-AF65-F5344CB8AC3E}">
        <p14:creationId xmlns:p14="http://schemas.microsoft.com/office/powerpoint/2010/main" val="1486196117"/>
      </p:ext>
    </p:extLst>
  </p:cSld>
</p:sld>
</file>

<file path=ppt/slides/slide27.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225525F-D153-46E3-BA38-FDB35C2E90E6}"/>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PROJECTIONS</a:t>
            </a:r>
          </a:p>
        </p:txBody>
      </p:sp>
      <p:sp>
        <p:nvSpPr>
          <p:cNvPr id="2" name="">
            <a:extLst xmlns:a="http://schemas.openxmlformats.org/drawingml/2006/main">
              <a:ext uri="{FF2B5EF4-FFF2-40B4-BE49-F238E27FC236}">
                <a16:creationId xmlns:a16="http://schemas.microsoft.com/office/drawing/2014/main" id="{993CFBB4-E714-497A-B13B-656D49FFF6DF}"/>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Net revenue, scenario paths against the management plan</a:t>
            </a:r>
          </a:p>
        </p:txBody>
      </p:sp>
      <p:sp>
        <p:nvSpPr>
          <p:cNvPr id="3" name="title-rule">
            <a:extLst xmlns:a="http://schemas.openxmlformats.org/drawingml/2006/main">
              <a:ext uri="{FF2B5EF4-FFF2-40B4-BE49-F238E27FC236}">
                <a16:creationId xmlns:a16="http://schemas.microsoft.com/office/drawing/2014/main" id="{0FC44612-F6E0-49A0-B629-A907332CD57F}"/>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39"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13b779d65b2f4ceb"/>
          </a:graphicData>
        </a:graphic>
      </p:graphicFrame>
      <p:sp>
        <p:nvSpPr>
          <p:cNvPr id="5" name="">
            <a:extLst xmlns:a="http://schemas.openxmlformats.org/drawingml/2006/main">
              <a:ext uri="{FF2B5EF4-FFF2-40B4-BE49-F238E27FC236}">
                <a16:creationId xmlns:a16="http://schemas.microsoft.com/office/drawing/2014/main" id="{CBD5F3B5-E181-4D25-AA26-3446C8150EC4}"/>
              </a:ext>
            </a:extLst>
          </p:cNvPr>
          <p:cNvSpPr>
            <a:spLocks xmlns:a="http://schemas.openxmlformats.org/drawingml/2006/main" noGrp="1"/>
          </p:cNvSpPr>
          <p:nvPr/>
        </p:nvSpPr>
        <p:spPr>
          <a:xfrm xmlns:a="http://schemas.openxmlformats.org/drawingml/2006/main">
            <a:off x="2824163" y="4497025"/>
            <a:ext cx="76200" cy="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BBD1EF11-9383-4690-B386-C8CC407B4F8A}"/>
              </a:ext>
            </a:extLst>
          </p:cNvPr>
          <p:cNvSpPr>
            <a:spLocks xmlns:a="http://schemas.openxmlformats.org/drawingml/2006/main" noGrp="1"/>
          </p:cNvSpPr>
          <p:nvPr/>
        </p:nvSpPr>
        <p:spPr>
          <a:xfrm xmlns:a="http://schemas.openxmlformats.org/drawingml/2006/main">
            <a:off x="2900363" y="4392250"/>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$17.0M</a:t>
            </a:r>
          </a:p>
        </p:txBody>
      </p:sp>
      <p:sp>
        <p:nvSpPr>
          <p:cNvPr id="7" name="">
            <a:extLst xmlns:a="http://schemas.openxmlformats.org/drawingml/2006/main">
              <a:ext uri="{FF2B5EF4-FFF2-40B4-BE49-F238E27FC236}">
                <a16:creationId xmlns:a16="http://schemas.microsoft.com/office/drawing/2014/main" id="{1F5A98A0-6B1C-47A1-BA1F-BB54B47A71F7}"/>
              </a:ext>
            </a:extLst>
          </p:cNvPr>
          <p:cNvSpPr>
            <a:spLocks xmlns:a="http://schemas.openxmlformats.org/drawingml/2006/main" noGrp="1"/>
          </p:cNvSpPr>
          <p:nvPr/>
        </p:nvSpPr>
        <p:spPr>
          <a:xfrm xmlns:a="http://schemas.openxmlformats.org/drawingml/2006/main">
            <a:off x="2824163" y="4497025"/>
            <a:ext cx="76200" cy="238125"/>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8" name="">
            <a:extLst xmlns:a="http://schemas.openxmlformats.org/drawingml/2006/main">
              <a:ext uri="{FF2B5EF4-FFF2-40B4-BE49-F238E27FC236}">
                <a16:creationId xmlns:a16="http://schemas.microsoft.com/office/drawing/2014/main" id="{C0886ED7-E744-4B9B-8879-7D953611CF37}"/>
              </a:ext>
            </a:extLst>
          </p:cNvPr>
          <p:cNvSpPr>
            <a:spLocks xmlns:a="http://schemas.openxmlformats.org/drawingml/2006/main" noGrp="1"/>
          </p:cNvSpPr>
          <p:nvPr/>
        </p:nvSpPr>
        <p:spPr>
          <a:xfrm xmlns:a="http://schemas.openxmlformats.org/drawingml/2006/main">
            <a:off x="2900363" y="4630375"/>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$17.0M</a:t>
            </a:r>
          </a:p>
        </p:txBody>
      </p:sp>
      <p:sp>
        <p:nvSpPr>
          <p:cNvPr id="9" name="">
            <a:extLst xmlns:a="http://schemas.openxmlformats.org/drawingml/2006/main">
              <a:ext uri="{FF2B5EF4-FFF2-40B4-BE49-F238E27FC236}">
                <a16:creationId xmlns:a16="http://schemas.microsoft.com/office/drawing/2014/main" id="{484446E2-75EB-4CB5-9AE9-9A63844771AB}"/>
              </a:ext>
            </a:extLst>
          </p:cNvPr>
          <p:cNvSpPr>
            <a:spLocks xmlns:a="http://schemas.openxmlformats.org/drawingml/2006/main" noGrp="1"/>
          </p:cNvSpPr>
          <p:nvPr/>
        </p:nvSpPr>
        <p:spPr>
          <a:xfrm xmlns:a="http://schemas.openxmlformats.org/drawingml/2006/main">
            <a:off x="2824163" y="4497025"/>
            <a:ext cx="76200" cy="47625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10" name="">
            <a:extLst xmlns:a="http://schemas.openxmlformats.org/drawingml/2006/main">
              <a:ext uri="{FF2B5EF4-FFF2-40B4-BE49-F238E27FC236}">
                <a16:creationId xmlns:a16="http://schemas.microsoft.com/office/drawing/2014/main" id="{F6F8D78E-9A39-42A1-8491-605109DFFB57}"/>
              </a:ext>
            </a:extLst>
          </p:cNvPr>
          <p:cNvSpPr>
            <a:spLocks xmlns:a="http://schemas.openxmlformats.org/drawingml/2006/main" noGrp="1"/>
          </p:cNvSpPr>
          <p:nvPr/>
        </p:nvSpPr>
        <p:spPr>
          <a:xfrm xmlns:a="http://schemas.openxmlformats.org/drawingml/2006/main">
            <a:off x="2900363" y="4868500"/>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$17.0M</a:t>
            </a:r>
          </a:p>
        </p:txBody>
      </p:sp>
      <p:sp>
        <p:nvSpPr>
          <p:cNvPr id="11" name="">
            <a:extLst xmlns:a="http://schemas.openxmlformats.org/drawingml/2006/main">
              <a:ext uri="{FF2B5EF4-FFF2-40B4-BE49-F238E27FC236}">
                <a16:creationId xmlns:a16="http://schemas.microsoft.com/office/drawing/2014/main" id="{E5B8D641-31DA-43A6-8D9B-E9B6DAACE160}"/>
              </a:ext>
            </a:extLst>
          </p:cNvPr>
          <p:cNvSpPr>
            <a:spLocks xmlns:a="http://schemas.openxmlformats.org/drawingml/2006/main" noGrp="1"/>
          </p:cNvSpPr>
          <p:nvPr/>
        </p:nvSpPr>
        <p:spPr>
          <a:xfrm xmlns:a="http://schemas.openxmlformats.org/drawingml/2006/main">
            <a:off x="2824163" y="4497025"/>
            <a:ext cx="76200" cy="714375"/>
          </a:xfrm>
          <a:prstGeom xmlns:a="http://schemas.openxmlformats.org/drawingml/2006/main" prst="line">
            <a:avLst/>
          </a:prstGeom>
          <a:noFill xmlns:a="http://schemas.openxmlformats.org/drawingml/2006/main"/>
          <a:ln xmlns:a="http://schemas.openxmlformats.org/drawingml/2006/main" w="9525">
            <a:solidFill>
              <a:srgbClr val="64748B"/>
            </a:solidFill>
            <a:prstDash val="solid"/>
          </a:ln>
        </p:spPr>
      </p:sp>
      <p:sp>
        <p:nvSpPr>
          <p:cNvPr id="12" name="">
            <a:extLst xmlns:a="http://schemas.openxmlformats.org/drawingml/2006/main">
              <a:ext uri="{FF2B5EF4-FFF2-40B4-BE49-F238E27FC236}">
                <a16:creationId xmlns:a16="http://schemas.microsoft.com/office/drawing/2014/main" id="{76E409B0-0940-4BAD-BD26-A247C48C299A}"/>
              </a:ext>
            </a:extLst>
          </p:cNvPr>
          <p:cNvSpPr>
            <a:spLocks xmlns:a="http://schemas.openxmlformats.org/drawingml/2006/main" noGrp="1"/>
          </p:cNvSpPr>
          <p:nvPr/>
        </p:nvSpPr>
        <p:spPr>
          <a:xfrm xmlns:a="http://schemas.openxmlformats.org/drawingml/2006/main">
            <a:off x="2900363" y="5106625"/>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4748B"/>
                </a:solidFill>
                <a:latin typeface="Calibri"/>
                <a:ea typeface="Calibri"/>
                <a:cs typeface="Calibri"/>
              </a:defRPr>
            </a:pPr>
            <a:r>
              <a:rPr sz="825" b="1">
                <a:solidFill>
                  <a:srgbClr val="64748B"/>
                </a:solidFill>
                <a:latin typeface="Calibri"/>
                <a:ea typeface="Calibri"/>
                <a:cs typeface="Calibri"/>
              </a:rPr>
              <a:t>Mgmt $17.0M</a:t>
            </a:r>
          </a:p>
        </p:txBody>
      </p:sp>
      <p:sp>
        <p:nvSpPr>
          <p:cNvPr id="13" name="">
            <a:extLst xmlns:a="http://schemas.openxmlformats.org/drawingml/2006/main">
              <a:ext uri="{FF2B5EF4-FFF2-40B4-BE49-F238E27FC236}">
                <a16:creationId xmlns:a16="http://schemas.microsoft.com/office/drawing/2014/main" id="{9F398E80-A7A1-4DCA-B9D0-F68CED6A00BD}"/>
              </a:ext>
            </a:extLst>
          </p:cNvPr>
          <p:cNvSpPr>
            <a:spLocks xmlns:a="http://schemas.openxmlformats.org/drawingml/2006/main" noGrp="1"/>
          </p:cNvSpPr>
          <p:nvPr/>
        </p:nvSpPr>
        <p:spPr>
          <a:xfrm xmlns:a="http://schemas.openxmlformats.org/drawingml/2006/main">
            <a:off x="5214938" y="3115138"/>
            <a:ext cx="76200" cy="0"/>
          </a:xfrm>
          <a:prstGeom xmlns:a="http://schemas.openxmlformats.org/drawingml/2006/main" prst="line">
            <a:avLst/>
          </a:prstGeom>
          <a:noFill xmlns:a="http://schemas.openxmlformats.org/drawingml/2006/main"/>
          <a:ln xmlns:a="http://schemas.openxmlformats.org/drawingml/2006/main" w="9525">
            <a:solidFill>
              <a:srgbClr val="64748B"/>
            </a:solidFill>
            <a:prstDash val="solid"/>
          </a:ln>
        </p:spPr>
      </p:sp>
      <p:sp>
        <p:nvSpPr>
          <p:cNvPr id="14" name="">
            <a:extLst xmlns:a="http://schemas.openxmlformats.org/drawingml/2006/main">
              <a:ext uri="{FF2B5EF4-FFF2-40B4-BE49-F238E27FC236}">
                <a16:creationId xmlns:a16="http://schemas.microsoft.com/office/drawing/2014/main" id="{C6146E06-F718-439C-9E42-A3081C5F0559}"/>
              </a:ext>
            </a:extLst>
          </p:cNvPr>
          <p:cNvSpPr>
            <a:spLocks xmlns:a="http://schemas.openxmlformats.org/drawingml/2006/main" noGrp="1"/>
          </p:cNvSpPr>
          <p:nvPr/>
        </p:nvSpPr>
        <p:spPr>
          <a:xfrm xmlns:a="http://schemas.openxmlformats.org/drawingml/2006/main">
            <a:off x="5291138" y="301036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4748B"/>
                </a:solidFill>
                <a:latin typeface="Calibri"/>
                <a:ea typeface="Calibri"/>
                <a:cs typeface="Calibri"/>
              </a:defRPr>
            </a:pPr>
            <a:r>
              <a:rPr sz="825" b="1">
                <a:solidFill>
                  <a:srgbClr val="64748B"/>
                </a:solidFill>
                <a:latin typeface="Calibri"/>
                <a:ea typeface="Calibri"/>
                <a:cs typeface="Calibri"/>
              </a:rPr>
              <a:t>Mgmt $42.2M</a:t>
            </a:r>
          </a:p>
        </p:txBody>
      </p:sp>
      <p:sp>
        <p:nvSpPr>
          <p:cNvPr id="15" name="">
            <a:extLst xmlns:a="http://schemas.openxmlformats.org/drawingml/2006/main">
              <a:ext uri="{FF2B5EF4-FFF2-40B4-BE49-F238E27FC236}">
                <a16:creationId xmlns:a16="http://schemas.microsoft.com/office/drawing/2014/main" id="{5A17F447-9852-4756-BB73-F7461CF194D7}"/>
              </a:ext>
            </a:extLst>
          </p:cNvPr>
          <p:cNvSpPr>
            <a:spLocks xmlns:a="http://schemas.openxmlformats.org/drawingml/2006/main" noGrp="1"/>
          </p:cNvSpPr>
          <p:nvPr/>
        </p:nvSpPr>
        <p:spPr>
          <a:xfrm xmlns:a="http://schemas.openxmlformats.org/drawingml/2006/main">
            <a:off x="5214938" y="3548348"/>
            <a:ext cx="76200" cy="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16" name="">
            <a:extLst xmlns:a="http://schemas.openxmlformats.org/drawingml/2006/main">
              <a:ext uri="{FF2B5EF4-FFF2-40B4-BE49-F238E27FC236}">
                <a16:creationId xmlns:a16="http://schemas.microsoft.com/office/drawing/2014/main" id="{95FC5C79-5DAD-41C8-A513-D8C46EEA526B}"/>
              </a:ext>
            </a:extLst>
          </p:cNvPr>
          <p:cNvSpPr>
            <a:spLocks xmlns:a="http://schemas.openxmlformats.org/drawingml/2006/main" noGrp="1"/>
          </p:cNvSpPr>
          <p:nvPr/>
        </p:nvSpPr>
        <p:spPr>
          <a:xfrm xmlns:a="http://schemas.openxmlformats.org/drawingml/2006/main">
            <a:off x="5291138" y="344357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$34.3M</a:t>
            </a:r>
          </a:p>
        </p:txBody>
      </p:sp>
      <p:sp>
        <p:nvSpPr>
          <p:cNvPr id="17" name="">
            <a:extLst xmlns:a="http://schemas.openxmlformats.org/drawingml/2006/main">
              <a:ext uri="{FF2B5EF4-FFF2-40B4-BE49-F238E27FC236}">
                <a16:creationId xmlns:a16="http://schemas.microsoft.com/office/drawing/2014/main" id="{ADF0444E-4188-4184-807B-39D45ED05122}"/>
              </a:ext>
            </a:extLst>
          </p:cNvPr>
          <p:cNvSpPr>
            <a:spLocks xmlns:a="http://schemas.openxmlformats.org/drawingml/2006/main" noGrp="1"/>
          </p:cNvSpPr>
          <p:nvPr/>
        </p:nvSpPr>
        <p:spPr>
          <a:xfrm xmlns:a="http://schemas.openxmlformats.org/drawingml/2006/main">
            <a:off x="5214938" y="3756728"/>
            <a:ext cx="76200" cy="29745"/>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18" name="">
            <a:extLst xmlns:a="http://schemas.openxmlformats.org/drawingml/2006/main">
              <a:ext uri="{FF2B5EF4-FFF2-40B4-BE49-F238E27FC236}">
                <a16:creationId xmlns:a16="http://schemas.microsoft.com/office/drawing/2014/main" id="{3959D1C5-87D7-477A-94A5-B0753939F3F5}"/>
              </a:ext>
            </a:extLst>
          </p:cNvPr>
          <p:cNvSpPr>
            <a:spLocks xmlns:a="http://schemas.openxmlformats.org/drawingml/2006/main" noGrp="1"/>
          </p:cNvSpPr>
          <p:nvPr/>
        </p:nvSpPr>
        <p:spPr>
          <a:xfrm xmlns:a="http://schemas.openxmlformats.org/drawingml/2006/main">
            <a:off x="5291138" y="3681698"/>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$30.5M</a:t>
            </a:r>
          </a:p>
        </p:txBody>
      </p:sp>
      <p:sp>
        <p:nvSpPr>
          <p:cNvPr id="19" name="">
            <a:extLst xmlns:a="http://schemas.openxmlformats.org/drawingml/2006/main">
              <a:ext uri="{FF2B5EF4-FFF2-40B4-BE49-F238E27FC236}">
                <a16:creationId xmlns:a16="http://schemas.microsoft.com/office/drawing/2014/main" id="{B3120BEF-22D8-452C-BA68-14A1900147E5}"/>
              </a:ext>
            </a:extLst>
          </p:cNvPr>
          <p:cNvSpPr>
            <a:spLocks xmlns:a="http://schemas.openxmlformats.org/drawingml/2006/main" noGrp="1"/>
          </p:cNvSpPr>
          <p:nvPr/>
        </p:nvSpPr>
        <p:spPr>
          <a:xfrm xmlns:a="http://schemas.openxmlformats.org/drawingml/2006/main">
            <a:off x="5214938" y="3987043"/>
            <a:ext cx="76200" cy="37556"/>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20" name="">
            <a:extLst xmlns:a="http://schemas.openxmlformats.org/drawingml/2006/main">
              <a:ext uri="{FF2B5EF4-FFF2-40B4-BE49-F238E27FC236}">
                <a16:creationId xmlns:a16="http://schemas.microsoft.com/office/drawing/2014/main" id="{DF20E41C-48E0-41FB-8880-244D7D9E192D}"/>
              </a:ext>
            </a:extLst>
          </p:cNvPr>
          <p:cNvSpPr>
            <a:spLocks xmlns:a="http://schemas.openxmlformats.org/drawingml/2006/main" noGrp="1"/>
          </p:cNvSpPr>
          <p:nvPr/>
        </p:nvSpPr>
        <p:spPr>
          <a:xfrm xmlns:a="http://schemas.openxmlformats.org/drawingml/2006/main">
            <a:off x="5291138" y="391982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$26.3M</a:t>
            </a:r>
          </a:p>
        </p:txBody>
      </p:sp>
      <p:sp>
        <p:nvSpPr>
          <p:cNvPr id="21" name="">
            <a:extLst xmlns:a="http://schemas.openxmlformats.org/drawingml/2006/main">
              <a:ext uri="{FF2B5EF4-FFF2-40B4-BE49-F238E27FC236}">
                <a16:creationId xmlns:a16="http://schemas.microsoft.com/office/drawing/2014/main" id="{3E5BD6EC-5952-4EDB-A830-072CC196B941}"/>
              </a:ext>
            </a:extLst>
          </p:cNvPr>
          <p:cNvSpPr>
            <a:spLocks xmlns:a="http://schemas.openxmlformats.org/drawingml/2006/main" noGrp="1"/>
          </p:cNvSpPr>
          <p:nvPr/>
        </p:nvSpPr>
        <p:spPr>
          <a:xfrm xmlns:a="http://schemas.openxmlformats.org/drawingml/2006/main">
            <a:off x="7605713" y="2243233"/>
            <a:ext cx="76200" cy="0"/>
          </a:xfrm>
          <a:prstGeom xmlns:a="http://schemas.openxmlformats.org/drawingml/2006/main" prst="line">
            <a:avLst/>
          </a:prstGeom>
          <a:noFill xmlns:a="http://schemas.openxmlformats.org/drawingml/2006/main"/>
          <a:ln xmlns:a="http://schemas.openxmlformats.org/drawingml/2006/main" w="9525">
            <a:solidFill>
              <a:srgbClr val="64748B"/>
            </a:solidFill>
            <a:prstDash val="solid"/>
          </a:ln>
        </p:spPr>
      </p:sp>
      <p:sp>
        <p:nvSpPr>
          <p:cNvPr id="22" name="">
            <a:extLst xmlns:a="http://schemas.openxmlformats.org/drawingml/2006/main">
              <a:ext uri="{FF2B5EF4-FFF2-40B4-BE49-F238E27FC236}">
                <a16:creationId xmlns:a16="http://schemas.microsoft.com/office/drawing/2014/main" id="{F1AFDC2B-9E36-47ED-94A4-BF362C59E69E}"/>
              </a:ext>
            </a:extLst>
          </p:cNvPr>
          <p:cNvSpPr>
            <a:spLocks xmlns:a="http://schemas.openxmlformats.org/drawingml/2006/main" noGrp="1"/>
          </p:cNvSpPr>
          <p:nvPr/>
        </p:nvSpPr>
        <p:spPr>
          <a:xfrm xmlns:a="http://schemas.openxmlformats.org/drawingml/2006/main">
            <a:off x="7681913" y="2138458"/>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4748B"/>
                </a:solidFill>
                <a:latin typeface="Calibri"/>
                <a:ea typeface="Calibri"/>
                <a:cs typeface="Calibri"/>
              </a:defRPr>
            </a:pPr>
            <a:r>
              <a:rPr sz="825" b="1">
                <a:solidFill>
                  <a:srgbClr val="64748B"/>
                </a:solidFill>
                <a:latin typeface="Calibri"/>
                <a:ea typeface="Calibri"/>
                <a:cs typeface="Calibri"/>
              </a:rPr>
              <a:t>Mgmt $58.1M</a:t>
            </a:r>
          </a:p>
        </p:txBody>
      </p:sp>
      <p:sp>
        <p:nvSpPr>
          <p:cNvPr id="23" name="">
            <a:extLst xmlns:a="http://schemas.openxmlformats.org/drawingml/2006/main">
              <a:ext uri="{FF2B5EF4-FFF2-40B4-BE49-F238E27FC236}">
                <a16:creationId xmlns:a16="http://schemas.microsoft.com/office/drawing/2014/main" id="{742D2B3F-D129-44CB-8BD2-80EEA95C7D55}"/>
              </a:ext>
            </a:extLst>
          </p:cNvPr>
          <p:cNvSpPr>
            <a:spLocks xmlns:a="http://schemas.openxmlformats.org/drawingml/2006/main" noGrp="1"/>
          </p:cNvSpPr>
          <p:nvPr/>
        </p:nvSpPr>
        <p:spPr>
          <a:xfrm xmlns:a="http://schemas.openxmlformats.org/drawingml/2006/main">
            <a:off x="7605713" y="2638058"/>
            <a:ext cx="76200" cy="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24" name="">
            <a:extLst xmlns:a="http://schemas.openxmlformats.org/drawingml/2006/main">
              <a:ext uri="{FF2B5EF4-FFF2-40B4-BE49-F238E27FC236}">
                <a16:creationId xmlns:a16="http://schemas.microsoft.com/office/drawing/2014/main" id="{33D49953-267A-475A-A2EA-834BBF093DA9}"/>
              </a:ext>
            </a:extLst>
          </p:cNvPr>
          <p:cNvSpPr>
            <a:spLocks xmlns:a="http://schemas.openxmlformats.org/drawingml/2006/main" noGrp="1"/>
          </p:cNvSpPr>
          <p:nvPr/>
        </p:nvSpPr>
        <p:spPr>
          <a:xfrm xmlns:a="http://schemas.openxmlformats.org/drawingml/2006/main">
            <a:off x="7681913" y="253328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$50.9M</a:t>
            </a:r>
          </a:p>
        </p:txBody>
      </p:sp>
      <p:sp>
        <p:nvSpPr>
          <p:cNvPr id="25" name="">
            <a:extLst xmlns:a="http://schemas.openxmlformats.org/drawingml/2006/main">
              <a:ext uri="{FF2B5EF4-FFF2-40B4-BE49-F238E27FC236}">
                <a16:creationId xmlns:a16="http://schemas.microsoft.com/office/drawing/2014/main" id="{23699928-4E3D-492E-93FF-75A8D36C84DC}"/>
              </a:ext>
            </a:extLst>
          </p:cNvPr>
          <p:cNvSpPr>
            <a:spLocks xmlns:a="http://schemas.openxmlformats.org/drawingml/2006/main" noGrp="1"/>
          </p:cNvSpPr>
          <p:nvPr/>
        </p:nvSpPr>
        <p:spPr>
          <a:xfrm xmlns:a="http://schemas.openxmlformats.org/drawingml/2006/main">
            <a:off x="7605713" y="3148040"/>
            <a:ext cx="76200" cy="0"/>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26" name="">
            <a:extLst xmlns:a="http://schemas.openxmlformats.org/drawingml/2006/main">
              <a:ext uri="{FF2B5EF4-FFF2-40B4-BE49-F238E27FC236}">
                <a16:creationId xmlns:a16="http://schemas.microsoft.com/office/drawing/2014/main" id="{41304676-FE58-40EF-9B27-F782DFCFD778}"/>
              </a:ext>
            </a:extLst>
          </p:cNvPr>
          <p:cNvSpPr>
            <a:spLocks xmlns:a="http://schemas.openxmlformats.org/drawingml/2006/main" noGrp="1"/>
          </p:cNvSpPr>
          <p:nvPr/>
        </p:nvSpPr>
        <p:spPr>
          <a:xfrm xmlns:a="http://schemas.openxmlformats.org/drawingml/2006/main">
            <a:off x="7681913" y="3043265"/>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$41.6M</a:t>
            </a:r>
          </a:p>
        </p:txBody>
      </p:sp>
      <p:sp>
        <p:nvSpPr>
          <p:cNvPr id="27" name="">
            <a:extLst xmlns:a="http://schemas.openxmlformats.org/drawingml/2006/main">
              <a:ext uri="{FF2B5EF4-FFF2-40B4-BE49-F238E27FC236}">
                <a16:creationId xmlns:a16="http://schemas.microsoft.com/office/drawing/2014/main" id="{55FBD734-5030-47B1-B701-F53E2196BE29}"/>
              </a:ext>
            </a:extLst>
          </p:cNvPr>
          <p:cNvSpPr>
            <a:spLocks xmlns:a="http://schemas.openxmlformats.org/drawingml/2006/main" noGrp="1"/>
          </p:cNvSpPr>
          <p:nvPr/>
        </p:nvSpPr>
        <p:spPr>
          <a:xfrm xmlns:a="http://schemas.openxmlformats.org/drawingml/2006/main">
            <a:off x="7605713" y="3575767"/>
            <a:ext cx="76200" cy="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28" name="">
            <a:extLst xmlns:a="http://schemas.openxmlformats.org/drawingml/2006/main">
              <a:ext uri="{FF2B5EF4-FFF2-40B4-BE49-F238E27FC236}">
                <a16:creationId xmlns:a16="http://schemas.microsoft.com/office/drawing/2014/main" id="{C800055A-0B61-49A7-B502-50B97C24C0FC}"/>
              </a:ext>
            </a:extLst>
          </p:cNvPr>
          <p:cNvSpPr>
            <a:spLocks xmlns:a="http://schemas.openxmlformats.org/drawingml/2006/main" noGrp="1"/>
          </p:cNvSpPr>
          <p:nvPr/>
        </p:nvSpPr>
        <p:spPr>
          <a:xfrm xmlns:a="http://schemas.openxmlformats.org/drawingml/2006/main">
            <a:off x="7681913" y="3470992"/>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$33.8M</a:t>
            </a:r>
          </a:p>
        </p:txBody>
      </p:sp>
      <p:sp>
        <p:nvSpPr>
          <p:cNvPr id="29" name="">
            <a:extLst xmlns:a="http://schemas.openxmlformats.org/drawingml/2006/main">
              <a:ext uri="{FF2B5EF4-FFF2-40B4-BE49-F238E27FC236}">
                <a16:creationId xmlns:a16="http://schemas.microsoft.com/office/drawing/2014/main" id="{420107D8-895E-462F-8E13-69015BC1D705}"/>
              </a:ext>
            </a:extLst>
          </p:cNvPr>
          <p:cNvSpPr>
            <a:spLocks xmlns:a="http://schemas.openxmlformats.org/drawingml/2006/main" noGrp="1"/>
          </p:cNvSpPr>
          <p:nvPr/>
        </p:nvSpPr>
        <p:spPr>
          <a:xfrm xmlns:a="http://schemas.openxmlformats.org/drawingml/2006/main">
            <a:off x="9996488" y="1590675"/>
            <a:ext cx="76200" cy="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30" name="">
            <a:extLst xmlns:a="http://schemas.openxmlformats.org/drawingml/2006/main">
              <a:ext uri="{FF2B5EF4-FFF2-40B4-BE49-F238E27FC236}">
                <a16:creationId xmlns:a16="http://schemas.microsoft.com/office/drawing/2014/main" id="{45664B7D-B3D2-46AA-908F-9A87DAC6C74A}"/>
              </a:ext>
            </a:extLst>
          </p:cNvPr>
          <p:cNvSpPr>
            <a:spLocks xmlns:a="http://schemas.openxmlformats.org/drawingml/2006/main" noGrp="1"/>
          </p:cNvSpPr>
          <p:nvPr/>
        </p:nvSpPr>
        <p:spPr>
          <a:xfrm xmlns:a="http://schemas.openxmlformats.org/drawingml/2006/main">
            <a:off x="10072688" y="1485900"/>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$70.0M</a:t>
            </a:r>
          </a:p>
        </p:txBody>
      </p:sp>
      <p:sp>
        <p:nvSpPr>
          <p:cNvPr id="31" name="">
            <a:extLst xmlns:a="http://schemas.openxmlformats.org/drawingml/2006/main">
              <a:ext uri="{FF2B5EF4-FFF2-40B4-BE49-F238E27FC236}">
                <a16:creationId xmlns:a16="http://schemas.microsoft.com/office/drawing/2014/main" id="{4255CEA0-719F-4ACF-92CA-8634672E0668}"/>
              </a:ext>
            </a:extLst>
          </p:cNvPr>
          <p:cNvSpPr>
            <a:spLocks xmlns:a="http://schemas.openxmlformats.org/drawingml/2006/main" noGrp="1"/>
          </p:cNvSpPr>
          <p:nvPr/>
        </p:nvSpPr>
        <p:spPr>
          <a:xfrm xmlns:a="http://schemas.openxmlformats.org/drawingml/2006/main">
            <a:off x="9996488" y="2479031"/>
            <a:ext cx="76200" cy="0"/>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32" name="">
            <a:extLst xmlns:a="http://schemas.openxmlformats.org/drawingml/2006/main">
              <a:ext uri="{FF2B5EF4-FFF2-40B4-BE49-F238E27FC236}">
                <a16:creationId xmlns:a16="http://schemas.microsoft.com/office/drawing/2014/main" id="{1D8BA21C-9396-41B6-86A3-D3BA9F69F322}"/>
              </a:ext>
            </a:extLst>
          </p:cNvPr>
          <p:cNvSpPr>
            <a:spLocks xmlns:a="http://schemas.openxmlformats.org/drawingml/2006/main" noGrp="1"/>
          </p:cNvSpPr>
          <p:nvPr/>
        </p:nvSpPr>
        <p:spPr>
          <a:xfrm xmlns:a="http://schemas.openxmlformats.org/drawingml/2006/main">
            <a:off x="10072688" y="2374256"/>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$53.8M</a:t>
            </a:r>
          </a:p>
        </p:txBody>
      </p:sp>
      <p:sp>
        <p:nvSpPr>
          <p:cNvPr id="33" name="">
            <a:extLst xmlns:a="http://schemas.openxmlformats.org/drawingml/2006/main">
              <a:ext uri="{FF2B5EF4-FFF2-40B4-BE49-F238E27FC236}">
                <a16:creationId xmlns:a16="http://schemas.microsoft.com/office/drawing/2014/main" id="{9C8F6D69-2943-4A71-843D-4160F16F2B2D}"/>
              </a:ext>
            </a:extLst>
          </p:cNvPr>
          <p:cNvSpPr>
            <a:spLocks xmlns:a="http://schemas.openxmlformats.org/drawingml/2006/main" noGrp="1"/>
          </p:cNvSpPr>
          <p:nvPr/>
        </p:nvSpPr>
        <p:spPr>
          <a:xfrm xmlns:a="http://schemas.openxmlformats.org/drawingml/2006/main">
            <a:off x="9996488" y="3191909"/>
            <a:ext cx="76200" cy="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34" name="">
            <a:extLst xmlns:a="http://schemas.openxmlformats.org/drawingml/2006/main">
              <a:ext uri="{FF2B5EF4-FFF2-40B4-BE49-F238E27FC236}">
                <a16:creationId xmlns:a16="http://schemas.microsoft.com/office/drawing/2014/main" id="{35CCD57D-C153-4B2B-A78F-41E7BA54EEC7}"/>
              </a:ext>
            </a:extLst>
          </p:cNvPr>
          <p:cNvSpPr>
            <a:spLocks xmlns:a="http://schemas.openxmlformats.org/drawingml/2006/main" noGrp="1"/>
          </p:cNvSpPr>
          <p:nvPr/>
        </p:nvSpPr>
        <p:spPr>
          <a:xfrm xmlns:a="http://schemas.openxmlformats.org/drawingml/2006/main">
            <a:off x="10072688" y="3087134"/>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$40.8M</a:t>
            </a:r>
          </a:p>
        </p:txBody>
      </p:sp>
      <p:sp>
        <p:nvSpPr>
          <p:cNvPr id="35" name="">
            <a:extLst xmlns:a="http://schemas.openxmlformats.org/drawingml/2006/main">
              <a:ext uri="{FF2B5EF4-FFF2-40B4-BE49-F238E27FC236}">
                <a16:creationId xmlns:a16="http://schemas.microsoft.com/office/drawing/2014/main" id="{CF508FA4-9AE3-4A1C-92B9-405D7F788636}"/>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27</a:t>
            </a:r>
          </a:p>
        </p:txBody>
      </p:sp>
    </p:spTree>
    <p:extLst>
      <p:ext uri="{BB962C8B-B14F-4D97-AF65-F5344CB8AC3E}">
        <p14:creationId xmlns:p14="http://schemas.microsoft.com/office/powerpoint/2010/main" val="1790918976"/>
      </p:ext>
    </p:extLst>
  </p:cSld>
</p:sld>
</file>

<file path=ppt/slides/slide28.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1C781CB-8B6F-45E2-B8C4-F1AE6CF2C0EF}"/>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7F5B8687-7BA4-4877-98C9-6CEA355E80C1}"/>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124200"/>
        </p:xfrm>
        <a:graphic xmlns:a="http://schemas.openxmlformats.org/drawingml/2006/main">
          <a:graphicData uri="http://schemas.openxmlformats.org/drawingml/2006/table">
            <a:tbl>
              <a:tblPr firstRow="1" bandRow="1"/>
              <a:tblGrid>
                <a:gridCol w="2384156"/>
                <a:gridCol w="1833966"/>
                <a:gridCol w="1833966"/>
                <a:gridCol w="1833966"/>
                <a:gridCol w="2934346"/>
              </a:tblGrid>
              <a:tr h="552450">
                <a:tc>
                  <a:txBody>
                    <a:bodyPr>
                      <a:normAutofit/>
                    </a:bodyPr>
                    <a:lstStyle/>
                    <a:p>
                      <a:r>
                        <a:rPr sz="1200" b="1">
                          <a:solidFill>
                            <a:srgbClr val="FFFFFF"/>
                          </a:solidFill>
                          <a:latin typeface="Calibri"/>
                          <a:ea typeface="Calibri"/>
                          <a:cs typeface="Calibri"/>
                        </a:rPr>
                        <a:t>Case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2024A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2025P</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2026P</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2027P</a:t>
                      </a:r>
                    </a:p>
                  </a:txBody>
                  <a:tcPr marL="91440" marR="91440" marT="45720" marB="45720">
                    <a:solidFill>
                      <a:srgbClr val="0F766E"/>
                    </a:solidFill>
                  </a:tcPr>
                </a:tc>
              </a:tr>
              <a:tr h="514350">
                <a:tc>
                  <a:txBody>
                    <a:bodyPr>
                      <a:normAutofit/>
                    </a:bodyPr>
                    <a:lstStyle/>
                    <a:p>
                      <a:r>
                        <a:rPr sz="1125">
                          <a:solidFill>
                            <a:srgbClr val="12372A"/>
                          </a:solidFill>
                          <a:latin typeface="Calibri"/>
                          <a:ea typeface="Calibri"/>
                          <a:cs typeface="Calibri"/>
                        </a:rPr>
                        <a:t>Downside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$26.29M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$33.75M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$40.76M</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Base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$30.45M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$41.65M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$53.80M</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Upside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$34.30M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$50.93M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$70.01M</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Management plan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$42.15M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$58.11M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Gap, base to plan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$0.00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-$11.70M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-$16.46M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BB5FB495-E63C-494F-A97A-7528DB1E6746}"/>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28</a:t>
            </a:r>
          </a:p>
        </p:txBody>
      </p:sp>
    </p:spTree>
    <p:extLst>
      <p:ext uri="{BB962C8B-B14F-4D97-AF65-F5344CB8AC3E}">
        <p14:creationId xmlns:p14="http://schemas.microsoft.com/office/powerpoint/2010/main" val="1327198457"/>
      </p:ext>
    </p:extLst>
  </p:cSld>
</p:sld>
</file>

<file path=ppt/slides/slide29.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9FFA94-652F-4A18-BEC3-298C68D53136}"/>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 continued</a:t>
            </a:r>
          </a:p>
        </p:txBody>
      </p:sp>
      <p:sp>
        <p:nvSpPr>
          <p:cNvPr id="2" name="title-rule">
            <a:extLst xmlns:a="http://schemas.openxmlformats.org/drawingml/2006/main">
              <a:ext uri="{FF2B5EF4-FFF2-40B4-BE49-F238E27FC236}">
                <a16:creationId xmlns:a16="http://schemas.microsoft.com/office/drawing/2014/main" id="{54FE4873-3598-4A82-AA63-F232CEE8A5DA}"/>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724275"/>
        </p:xfrm>
        <a:graphic xmlns:a="http://schemas.openxmlformats.org/drawingml/2006/main">
          <a:graphicData uri="http://schemas.openxmlformats.org/drawingml/2006/table">
            <a:tbl>
              <a:tblPr firstRow="1" bandRow="1"/>
              <a:tblGrid>
                <a:gridCol w="2038626"/>
                <a:gridCol w="2509078"/>
                <a:gridCol w="6272696"/>
              </a:tblGrid>
              <a:tr h="552450">
                <a:tc>
                  <a:txBody>
                    <a:bodyPr>
                      <a:normAutofit/>
                    </a:bodyPr>
                    <a:lstStyle/>
                    <a:p>
                      <a:r>
                        <a:rPr sz="1200" b="1">
                          <a:solidFill>
                            <a:srgbClr val="FFFFFF"/>
                          </a:solidFill>
                          <a:latin typeface="Calibri"/>
                          <a:ea typeface="Calibri"/>
                          <a:cs typeface="Calibri"/>
                        </a:rPr>
                        <a:t>Case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CAGR</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Key Insight</a:t>
                      </a:r>
                    </a:p>
                  </a:txBody>
                  <a:tcPr marL="91440" marR="91440" marT="45720" marB="45720">
                    <a:solidFill>
                      <a:srgbClr val="0F766E"/>
                    </a:solidFill>
                  </a:tcPr>
                </a:tc>
              </a:tr>
              <a:tr h="714375">
                <a:tc>
                  <a:txBody>
                    <a:bodyPr>
                      <a:normAutofit/>
                    </a:bodyPr>
                    <a:lstStyle/>
                    <a:p>
                      <a:r>
                        <a:rPr sz="1125">
                          <a:solidFill>
                            <a:srgbClr val="12372A"/>
                          </a:solidFill>
                          <a:latin typeface="Calibri"/>
                          <a:ea typeface="Calibri"/>
                          <a:cs typeface="Calibri"/>
                        </a:rPr>
                        <a:t>Downside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33.85%</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downside case requires DTC and Amazon growth to moderate while Target and Walmart deliver no material 2025 uplift beyond their 2024 revenue levels if their respective launches fail to improve sell-through[1][2].</a:t>
                      </a:r>
                    </a:p>
                  </a:txBody>
                  <a:tcPr marL="91440" marR="91440" marT="45720" marB="45720">
                    <a:solidFill>
                      <a:srgbClr val="FFFFFF"/>
                    </a:solidFill>
                  </a:tcPr>
                </a:tc>
              </a:tr>
              <a:tr h="714375">
                <a:tc>
                  <a:txBody>
                    <a:bodyPr>
                      <a:normAutofit/>
                    </a:bodyPr>
                    <a:lstStyle/>
                    <a:p>
                      <a:r>
                        <a:rPr sz="1125">
                          <a:solidFill>
                            <a:srgbClr val="12372A"/>
                          </a:solidFill>
                          <a:latin typeface="Calibri"/>
                          <a:ea typeface="Calibri"/>
                          <a:cs typeface="Calibri"/>
                        </a:rPr>
                        <a:t>Base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46.81%</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The base case requires continued DTC and Amazon scaling, partial 2025 benefit from Target's expansion to five SKUs across 1,900 stores, and partial benefit from Walmart's move into the Beverage set[1][2].</a:t>
                      </a:r>
                    </a:p>
                  </a:txBody>
                  <a:tcPr marL="91440" marR="91440" marT="45720" marB="45720">
                    <a:solidFill>
                      <a:srgbClr val="F0EEF8"/>
                    </a:solidFill>
                  </a:tcPr>
                </a:tc>
              </a:tr>
              <a:tr h="714375">
                <a:tc>
                  <a:txBody>
                    <a:bodyPr>
                      <a:normAutofit/>
                    </a:bodyPr>
                    <a:lstStyle/>
                    <a:p>
                      <a:r>
                        <a:rPr sz="1125">
                          <a:solidFill>
                            <a:srgbClr val="12372A"/>
                          </a:solidFill>
                          <a:latin typeface="Calibri"/>
                          <a:ea typeface="Calibri"/>
                          <a:cs typeface="Calibri"/>
                        </a:rPr>
                        <a:t>Upside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60.29%</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upside case requires materially stronger channel growth than the base case, yet remains below management's plan at $34.30M versus $42.15M in 2025 and $50.93M versus $58.11M in 2026.</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Management plan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84.88%</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Gap, base to plan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AB870C4-5C46-491F-A566-B9778E2C5070}"/>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29</a:t>
            </a:r>
          </a:p>
        </p:txBody>
      </p:sp>
    </p:spTree>
    <p:extLst>
      <p:ext uri="{BB962C8B-B14F-4D97-AF65-F5344CB8AC3E}">
        <p14:creationId xmlns:p14="http://schemas.microsoft.com/office/powerpoint/2010/main" val="1085657545"/>
      </p:ext>
    </p:extLst>
  </p:cSld>
</p:sld>
</file>

<file path=ppt/slides/slide30.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406419F-F3BF-4089-91EB-311F34CF59A3}"/>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B3C21C9E-283A-47EB-9E5C-0012122037C3}"/>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371850"/>
        </p:xfrm>
        <a:graphic xmlns:a="http://schemas.openxmlformats.org/drawingml/2006/main">
          <a:graphicData uri="http://schemas.openxmlformats.org/drawingml/2006/table">
            <a:tbl>
              <a:tblPr firstRow="1" bandRow="1"/>
              <a:tblGrid>
                <a:gridCol w="1057633"/>
                <a:gridCol w="3254256"/>
                <a:gridCol w="3254256"/>
                <a:gridCol w="3254256"/>
              </a:tblGrid>
              <a:tr h="552450">
                <a:tc>
                  <a:txBody>
                    <a:bodyPr>
                      <a:normAutofit/>
                    </a:bodyPr>
                    <a:lstStyle/>
                    <a:p>
                      <a:r>
                        <a:rPr sz="1200" b="1">
                          <a:solidFill>
                            <a:srgbClr val="FFFFFF"/>
                          </a:solidFill>
                          <a:latin typeface="Calibri"/>
                          <a:ea typeface="Calibri"/>
                          <a:cs typeface="Calibri"/>
                        </a:rPr>
                        <a:t>Line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Revenue equation</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Drivers forecast</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Evidence behind the drivers</a:t>
                      </a:r>
                    </a:p>
                  </a:txBody>
                  <a:tcPr marL="91440" marR="91440" marT="45720" marB="45720">
                    <a:solidFill>
                      <a:srgbClr val="0F766E"/>
                    </a:solidFill>
                  </a:tcPr>
                </a:tc>
              </a:tr>
              <a:tr h="514350">
                <a:tc>
                  <a:txBody>
                    <a:bodyPr>
                      <a:normAutofit/>
                    </a:bodyPr>
                    <a:lstStyle/>
                    <a:p>
                      <a:r>
                        <a:rPr sz="1125">
                          <a:solidFill>
                            <a:srgbClr val="12372A"/>
                          </a:solidFill>
                          <a:latin typeface="Calibri"/>
                          <a:ea typeface="Calibri"/>
                          <a:cs typeface="Calibri"/>
                        </a:rPr>
                        <a:t>DTC</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Amazon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Amazon growth discontinuity (anomaly)</a:t>
                      </a:r>
                    </a:p>
                  </a:txBody>
                  <a:tcPr marL="91440" marR="91440" marT="45720" marB="45720">
                    <a:solidFill>
                      <a:srgbClr val="F0EEF8"/>
                    </a:solidFill>
                  </a:tcPr>
                </a:tc>
              </a:tr>
              <a:tr h="895350">
                <a:tc>
                  <a:txBody>
                    <a:bodyPr>
                      <a:normAutofit/>
                    </a:bodyPr>
                    <a:lstStyle/>
                    <a:p>
                      <a:r>
                        <a:rPr sz="1125">
                          <a:solidFill>
                            <a:srgbClr val="12372A"/>
                          </a:solidFill>
                          <a:latin typeface="Calibri"/>
                          <a:ea typeface="Calibri"/>
                          <a:cs typeface="Calibri"/>
                        </a:rPr>
                        <a:t>Retail/Target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Target incremental SKU commitment (commitment); WaterBoy Target sales velocity (benchmark); Target forecast discontinuity (anomaly)</a:t>
                      </a:r>
                    </a:p>
                  </a:txBody>
                  <a:tcPr marL="91440" marR="91440" marT="45720" marB="45720">
                    <a:solidFill>
                      <a:srgbClr val="FFFFFF"/>
                    </a:solidFill>
                  </a:tcPr>
                </a:tc>
              </a:tr>
              <a:tr h="895350">
                <a:tc>
                  <a:txBody>
                    <a:bodyPr>
                      <a:normAutofit/>
                    </a:bodyPr>
                    <a:lstStyle/>
                    <a:p>
                      <a:r>
                        <a:rPr sz="1125">
                          <a:solidFill>
                            <a:srgbClr val="12372A"/>
                          </a:solidFill>
                          <a:latin typeface="Calibri"/>
                          <a:ea typeface="Calibri"/>
                          <a:cs typeface="Calibri"/>
                        </a:rPr>
                        <a:t>Retail/Walmart</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Walmart Beverage-set placement (commitment); Management expected Walmart Beverage-set sales velocity (benchmark); Walmart placement change (anomaly)</a:t>
                      </a:r>
                    </a:p>
                  </a:txBody>
                  <a:tcPr marL="91440" marR="91440" marT="45720" marB="45720">
                    <a:solidFill>
                      <a:srgbClr val="F0EEF8"/>
                    </a:solidFill>
                  </a:tcPr>
                </a:tc>
              </a:tr>
            </a:tbl>
          </a:graphicData>
        </a:graphic>
      </p:graphicFrame>
      <p:sp>
        <p:nvSpPr>
          <p:cNvPr id="4" name="">
            <a:extLst xmlns:a="http://schemas.openxmlformats.org/drawingml/2006/main">
              <a:ext uri="{FF2B5EF4-FFF2-40B4-BE49-F238E27FC236}">
                <a16:creationId xmlns:a16="http://schemas.microsoft.com/office/drawing/2014/main" id="{563158E4-FD9D-4FDC-A375-78AE37822A7F}"/>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30</a:t>
            </a:r>
          </a:p>
        </p:txBody>
      </p:sp>
    </p:spTree>
    <p:extLst>
      <p:ext uri="{BB962C8B-B14F-4D97-AF65-F5344CB8AC3E}">
        <p14:creationId xmlns:p14="http://schemas.microsoft.com/office/powerpoint/2010/main" val="1182267027"/>
      </p:ext>
    </p:extLst>
  </p:cSld>
</p:sld>
</file>

<file path=ppt/slides/slide31.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0D03805-04EA-444A-910F-C2907AE7B0F4}"/>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5782E95D-9509-4DD0-86BB-0201F6EA683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2609850"/>
        </p:xfrm>
        <a:graphic xmlns:a="http://schemas.openxmlformats.org/drawingml/2006/main">
          <a:graphicData uri="http://schemas.openxmlformats.org/drawingml/2006/table">
            <a:tbl>
              <a:tblPr firstRow="1" bandRow="1"/>
              <a:tblGrid>
                <a:gridCol w="1826821"/>
                <a:gridCol w="2248395"/>
                <a:gridCol w="2248395"/>
                <a:gridCol w="2248395"/>
                <a:gridCol w="2248395"/>
              </a:tblGrid>
              <a:tr h="552450">
                <a:tc>
                  <a:txBody>
                    <a:bodyPr>
                      <a:normAutofit/>
                    </a:bodyPr>
                    <a:lstStyle/>
                    <a:p>
                      <a:r>
                        <a:rPr sz="1200" b="1">
                          <a:solidFill>
                            <a:srgbClr val="FFFFFF"/>
                          </a:solidFill>
                          <a:latin typeface="Calibri"/>
                          <a:ea typeface="Calibri"/>
                          <a:cs typeface="Calibri"/>
                        </a:rPr>
                        <a:t>Line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Assumption</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Downside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Base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Upside</a:t>
                      </a:r>
                    </a:p>
                  </a:txBody>
                  <a:tcPr marL="91440" marR="91440" marT="45720" marB="45720">
                    <a:solidFill>
                      <a:srgbClr val="0F766E"/>
                    </a:solidFill>
                  </a:tcPr>
                </a:tc>
              </a:tr>
              <a:tr h="514350">
                <a:tc>
                  <a:txBody>
                    <a:bodyPr>
                      <a:normAutofit/>
                    </a:bodyPr>
                    <a:lstStyle/>
                    <a:p>
                      <a:r>
                        <a:rPr sz="1125">
                          <a:solidFill>
                            <a:srgbClr val="12372A"/>
                          </a:solidFill>
                          <a:latin typeface="Calibri"/>
                          <a:ea typeface="Calibri"/>
                          <a:cs typeface="Calibri"/>
                        </a:rPr>
                        <a:t>DTC</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25, 20, 15%</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30, 25, 20%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40, 30, 25%</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Amazon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45, 35, 25%</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60, 45, 35%</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80, 60, 45%</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Retail/Target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0, 15, 10%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80, 25, 20%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120, 35, 25%</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Retail/Walmart</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0, 20, 15%</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60, 50, 30%</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80, 70, 40%</a:t>
                      </a:r>
                    </a:p>
                  </a:txBody>
                  <a:tcPr marL="91440" marR="91440" marT="45720" marB="45720">
                    <a:solidFill>
                      <a:srgbClr val="F0EEF8"/>
                    </a:solidFill>
                  </a:tcPr>
                </a:tc>
              </a:tr>
            </a:tbl>
          </a:graphicData>
        </a:graphic>
      </p:graphicFrame>
      <p:sp>
        <p:nvSpPr>
          <p:cNvPr id="4" name="">
            <a:extLst xmlns:a="http://schemas.openxmlformats.org/drawingml/2006/main">
              <a:ext uri="{FF2B5EF4-FFF2-40B4-BE49-F238E27FC236}">
                <a16:creationId xmlns:a16="http://schemas.microsoft.com/office/drawing/2014/main" id="{4F2AA7A8-2759-4C66-8E16-54DFDC3C8BEB}"/>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31</a:t>
            </a:r>
          </a:p>
        </p:txBody>
      </p:sp>
    </p:spTree>
    <p:extLst>
      <p:ext uri="{BB962C8B-B14F-4D97-AF65-F5344CB8AC3E}">
        <p14:creationId xmlns:p14="http://schemas.microsoft.com/office/powerpoint/2010/main" val="847549032"/>
      </p:ext>
    </p:extLst>
  </p:cSld>
</p:sld>
</file>

<file path=ppt/slides/slide3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34CC175-6AC2-4DB7-8420-F4FC09C919E0}"/>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 continued</a:t>
            </a:r>
          </a:p>
        </p:txBody>
      </p:sp>
      <p:sp>
        <p:nvSpPr>
          <p:cNvPr id="2" name="title-rule">
            <a:extLst xmlns:a="http://schemas.openxmlformats.org/drawingml/2006/main">
              <a:ext uri="{FF2B5EF4-FFF2-40B4-BE49-F238E27FC236}">
                <a16:creationId xmlns:a16="http://schemas.microsoft.com/office/drawing/2014/main" id="{745C75FB-AFBC-4DB1-AB93-00365CCC817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771900"/>
        </p:xfrm>
        <a:graphic xmlns:a="http://schemas.openxmlformats.org/drawingml/2006/main">
          <a:graphicData uri="http://schemas.openxmlformats.org/drawingml/2006/table">
            <a:tbl>
              <a:tblPr firstRow="1" bandRow="1"/>
              <a:tblGrid>
                <a:gridCol w="2654060"/>
                <a:gridCol w="8166340"/>
              </a:tblGrid>
              <a:tr h="552450">
                <a:tc>
                  <a:txBody>
                    <a:bodyPr>
                      <a:normAutofit/>
                    </a:bodyPr>
                    <a:lstStyle/>
                    <a:p>
                      <a:r>
                        <a:rPr sz="1200" b="1">
                          <a:solidFill>
                            <a:srgbClr val="FFFFFF"/>
                          </a:solidFill>
                          <a:latin typeface="Calibri"/>
                          <a:ea typeface="Calibri"/>
                          <a:cs typeface="Calibri"/>
                        </a:rPr>
                        <a:t>Line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Basis for the base case</a:t>
                      </a:r>
                    </a:p>
                  </a:txBody>
                  <a:tcPr marL="91440" marR="91440" marT="45720" marB="45720">
                    <a:solidFill>
                      <a:srgbClr val="0F766E"/>
                    </a:solidFill>
                  </a:tcPr>
                </a:tc>
              </a:tr>
              <a:tr h="895350">
                <a:tc>
                  <a:txBody>
                    <a:bodyPr>
                      <a:normAutofit/>
                    </a:bodyPr>
                    <a:lstStyle/>
                    <a:p>
                      <a:r>
                        <a:rPr sz="1125">
                          <a:solidFill>
                            <a:srgbClr val="12372A"/>
                          </a:solidFill>
                          <a:latin typeface="Calibri"/>
                          <a:ea typeface="Calibri"/>
                          <a:cs typeface="Calibri"/>
                        </a:rPr>
                        <a:t>DTC</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Base assumes DTC remains an operating growth channel but credits only a moderated continuation of its closed-period expansion; downside applies a further demand-acquisition slowdown. Downside floor uses the disclosed history because closed_cagr and growth_band minimum exceed base while exit_rate is not disclosed.</a:t>
                      </a:r>
                    </a:p>
                  </a:txBody>
                  <a:tcPr marL="91440" marR="91440" marT="45720" marB="45720">
                    <a:solidFill>
                      <a:srgbClr val="FFFFFF"/>
                    </a:solidFill>
                  </a:tcPr>
                </a:tc>
              </a:tr>
              <a:tr h="714375">
                <a:tc>
                  <a:txBody>
                    <a:bodyPr>
                      <a:normAutofit/>
                    </a:bodyPr>
                    <a:lstStyle/>
                    <a:p>
                      <a:r>
                        <a:rPr sz="1125">
                          <a:solidFill>
                            <a:srgbClr val="12372A"/>
                          </a:solidFill>
                          <a:latin typeface="Calibri"/>
                          <a:ea typeface="Calibri"/>
                          <a:cs typeface="Calibri"/>
                        </a:rPr>
                        <a:t>Amazon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Base credits continued Amazon scaling but sharply discounts the explained 2024A discontinuity and therefore does not extrapolate the prior closed-period growth rate. Downside floor uses the disclosed history because closed_cagr and growth_band minimum exceed base while exit_rate is not disclosed.</a:t>
                      </a:r>
                    </a:p>
                  </a:txBody>
                  <a:tcPr marL="91440" marR="91440" marT="45720" marB="45720">
                    <a:solidFill>
                      <a:srgbClr val="F0EEF8"/>
                    </a:solidFill>
                  </a:tcPr>
                </a:tc>
              </a:tr>
              <a:tr h="895350">
                <a:tc>
                  <a:txBody>
                    <a:bodyPr>
                      <a:normAutofit/>
                    </a:bodyPr>
                    <a:lstStyle/>
                    <a:p>
                      <a:r>
                        <a:rPr sz="1125">
                          <a:solidFill>
                            <a:srgbClr val="12372A"/>
                          </a:solidFill>
                          <a:latin typeface="Calibri"/>
                          <a:ea typeface="Calibri"/>
                          <a:cs typeface="Calibri"/>
                        </a:rPr>
                        <a:t>Retail/Target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Base credits partial annualized benefit from Target's committed Q2 2025 expansion from one SKU to five SKUs, while materially discounting the prospective management revenue forecast. Downside assumes the closed 2024A revenue level is retained but the incremental SKU expansion does not translate into material in-year sell-through.</a:t>
                      </a:r>
                    </a:p>
                  </a:txBody>
                  <a:tcPr marL="91440" marR="91440" marT="45720" marB="45720">
                    <a:solidFill>
                      <a:srgbClr val="FFFFFF"/>
                    </a:solidFill>
                  </a:tcPr>
                </a:tc>
              </a:tr>
              <a:tr h="714375">
                <a:tc>
                  <a:txBody>
                    <a:bodyPr>
                      <a:normAutofit/>
                    </a:bodyPr>
                    <a:lstStyle/>
                    <a:p>
                      <a:r>
                        <a:rPr sz="1125">
                          <a:solidFill>
                            <a:srgbClr val="12372A"/>
                          </a:solidFill>
                          <a:latin typeface="Calibri"/>
                          <a:ea typeface="Calibri"/>
                          <a:cs typeface="Calibri"/>
                        </a:rPr>
                        <a:t>Retail/Walmart</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Base credits partial benefit from the committed Q2 2025 Walmart move from OTC to Beverage but discounts the prospective management sell-through expectation and forecast. Downside holds the 2024A level if the new placement does not materially improve velocity in its first year.</a:t>
                      </a:r>
                    </a:p>
                  </a:txBody>
                  <a:tcPr marL="91440" marR="91440" marT="45720" marB="45720">
                    <a:solidFill>
                      <a:srgbClr val="F0EEF8"/>
                    </a:solidFill>
                  </a:tcPr>
                </a:tc>
              </a:tr>
            </a:tbl>
          </a:graphicData>
        </a:graphic>
      </p:graphicFrame>
      <p:sp>
        <p:nvSpPr>
          <p:cNvPr id="4" name="">
            <a:extLst xmlns:a="http://schemas.openxmlformats.org/drawingml/2006/main">
              <a:ext uri="{FF2B5EF4-FFF2-40B4-BE49-F238E27FC236}">
                <a16:creationId xmlns:a16="http://schemas.microsoft.com/office/drawing/2014/main" id="{44E8B399-CFAD-4535-87E5-87501F8377DF}"/>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32</a:t>
            </a:r>
          </a:p>
        </p:txBody>
      </p:sp>
    </p:spTree>
    <p:extLst>
      <p:ext uri="{BB962C8B-B14F-4D97-AF65-F5344CB8AC3E}">
        <p14:creationId xmlns:p14="http://schemas.microsoft.com/office/powerpoint/2010/main" val="1104759145"/>
      </p:ext>
    </p:extLst>
  </p:cSld>
</p:sld>
</file>

<file path=ppt/slides/slide3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412188-C750-4E9E-8D77-3F9CD4C9C938}"/>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Plan comparison</a:t>
            </a:r>
          </a:p>
        </p:txBody>
      </p:sp>
      <p:sp>
        <p:nvSpPr>
          <p:cNvPr id="2" name="title-rule">
            <a:extLst xmlns:a="http://schemas.openxmlformats.org/drawingml/2006/main">
              <a:ext uri="{FF2B5EF4-FFF2-40B4-BE49-F238E27FC236}">
                <a16:creationId xmlns:a16="http://schemas.microsoft.com/office/drawing/2014/main" id="{CA89258E-A046-4049-B7ED-73672A09DEF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A937790-F775-4096-AE54-6E70742705BF}"/>
              </a:ext>
            </a:extLst>
          </p:cNvPr>
          <p:cNvSpPr>
            <a:spLocks xmlns:a="http://schemas.openxmlformats.org/drawingml/2006/main" noGrp="1"/>
          </p:cNvSpPr>
          <p:nvPr/>
        </p:nvSpPr>
        <p:spPr>
          <a:xfrm xmlns:a="http://schemas.openxmlformats.org/drawingml/2006/main">
            <a:off x="914400" y="1600200"/>
            <a:ext cx="1013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  Our 2025 base case trails management's plan. — We model $30.45M versus management's $42.15M, a -$11.70M gap; management still sits above our $34.30M upside case.</a:t>
            </a:r>
          </a:p>
        </p:txBody>
      </p:sp>
      <p:sp>
        <p:nvSpPr>
          <p:cNvPr id="4" name="">
            <a:extLst xmlns:a="http://schemas.openxmlformats.org/drawingml/2006/main">
              <a:ext uri="{FF2B5EF4-FFF2-40B4-BE49-F238E27FC236}">
                <a16:creationId xmlns:a16="http://schemas.microsoft.com/office/drawing/2014/main" id="{BA0789B8-FDA1-4720-9B4B-09426B9EDB06}"/>
              </a:ext>
            </a:extLst>
          </p:cNvPr>
          <p:cNvSpPr>
            <a:spLocks xmlns:a="http://schemas.openxmlformats.org/drawingml/2006/main" noGrp="1"/>
          </p:cNvSpPr>
          <p:nvPr/>
        </p:nvSpPr>
        <p:spPr>
          <a:xfrm xmlns:a="http://schemas.openxmlformats.org/drawingml/2006/main">
            <a:off x="914400" y="2505075"/>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  Our 2026 base case also trails management's plan. — We model $41.65M versus management's $58.11M, a -$16.46M gap; the shortfall widens versus 2025 and management remains above our $50.93M upside case.</a:t>
            </a:r>
          </a:p>
        </p:txBody>
      </p:sp>
      <p:sp>
        <p:nvSpPr>
          <p:cNvPr id="5" name="">
            <a:extLst xmlns:a="http://schemas.openxmlformats.org/drawingml/2006/main">
              <a:ext uri="{FF2B5EF4-FFF2-40B4-BE49-F238E27FC236}">
                <a16:creationId xmlns:a16="http://schemas.microsoft.com/office/drawing/2014/main" id="{0B851AF5-1205-4721-AFA6-698E8C3958D6}"/>
              </a:ext>
            </a:extLst>
          </p:cNvPr>
          <p:cNvSpPr>
            <a:spLocks xmlns:a="http://schemas.openxmlformats.org/drawingml/2006/main" noGrp="1"/>
          </p:cNvSpPr>
          <p:nvPr/>
        </p:nvSpPr>
        <p:spPr>
          <a:xfrm xmlns:a="http://schemas.openxmlformats.org/drawingml/2006/main">
            <a:off x="914400" y="3695700"/>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  Management's CAGR implies growth beyond our supportable range. — Management's 84.88% consolidated CAGR exceeds our 46.81% base CAGR and 60.29% upside CAGR, so the plan requires growth beyond the full supportable scenario range.</a:t>
            </a:r>
          </a:p>
        </p:txBody>
      </p:sp>
      <p:sp>
        <p:nvSpPr>
          <p:cNvPr id="6" name="">
            <a:extLst xmlns:a="http://schemas.openxmlformats.org/drawingml/2006/main">
              <a:ext uri="{FF2B5EF4-FFF2-40B4-BE49-F238E27FC236}">
                <a16:creationId xmlns:a16="http://schemas.microsoft.com/office/drawing/2014/main" id="{E8E7C8A3-4636-4262-8633-3224A237C662}"/>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33</a:t>
            </a:r>
          </a:p>
        </p:txBody>
      </p:sp>
    </p:spTree>
    <p:extLst>
      <p:ext uri="{BB962C8B-B14F-4D97-AF65-F5344CB8AC3E}">
        <p14:creationId xmlns:p14="http://schemas.microsoft.com/office/powerpoint/2010/main" val="1659192610"/>
      </p:ext>
    </p:extLst>
  </p:cSld>
</p:sld>
</file>

<file path=ppt/slides/slide3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9879E1-4F2D-4C90-9C48-78A3FC75D07A}"/>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Evidence behind the shortfall</a:t>
            </a:r>
          </a:p>
        </p:txBody>
      </p:sp>
      <p:sp>
        <p:nvSpPr>
          <p:cNvPr id="2" name="title-rule">
            <a:extLst xmlns:a="http://schemas.openxmlformats.org/drawingml/2006/main">
              <a:ext uri="{FF2B5EF4-FFF2-40B4-BE49-F238E27FC236}">
                <a16:creationId xmlns:a16="http://schemas.microsoft.com/office/drawing/2014/main" id="{ADAB6CF2-878E-4B87-A456-3DFFFACA2EF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C00F41F-C6C8-4E19-A494-040E11E59698}"/>
              </a:ext>
            </a:extLst>
          </p:cNvPr>
          <p:cNvSpPr>
            <a:spLocks xmlns:a="http://schemas.openxmlformats.org/drawingml/2006/main" noGrp="1"/>
          </p:cNvSpPr>
          <p:nvPr/>
        </p:nvSpPr>
        <p:spPr>
          <a:xfrm xmlns:a="http://schemas.openxmlformats.org/drawingml/2006/main">
            <a:off x="914400" y="1600200"/>
            <a:ext cx="10134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Amazon's 2024 growth step is not a clean run-rate. — Amazon generated $10.7M, or 52.6%, of 2024A net revenue, and its 174.36% growth step was driven by digital marketing and rising brand awareness; the base case therefore discounts rather than extrapolates that discontinuity [3][4][5].</a:t>
            </a:r>
          </a:p>
        </p:txBody>
      </p:sp>
      <p:sp>
        <p:nvSpPr>
          <p:cNvPr id="4" name="">
            <a:extLst xmlns:a="http://schemas.openxmlformats.org/drawingml/2006/main">
              <a:ext uri="{FF2B5EF4-FFF2-40B4-BE49-F238E27FC236}">
                <a16:creationId xmlns:a16="http://schemas.microsoft.com/office/drawing/2014/main" id="{87B57F1C-CD40-4A0D-BC30-72297DF22CA3}"/>
              </a:ext>
            </a:extLst>
          </p:cNvPr>
          <p:cNvSpPr>
            <a:spLocks xmlns:a="http://schemas.openxmlformats.org/drawingml/2006/main" noGrp="1"/>
          </p:cNvSpPr>
          <p:nvPr/>
        </p:nvSpPr>
        <p:spPr>
          <a:xfrm xmlns:a="http://schemas.openxmlformats.org/drawingml/2006/main">
            <a:off x="914400" y="2524125"/>
            <a:ext cx="101346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Target's rollout supports the forecast, but much of the upside is still prospective. — Committed expansion adds four SKUs to reach five across 1,900 stores by Q2 2025, but management's 2025 forecast also depends on shared promotions, side-cap placement, and sampling that remain prospective rather than achieved evidence [1].</a:t>
            </a:r>
          </a:p>
        </p:txBody>
      </p:sp>
      <p:sp>
        <p:nvSpPr>
          <p:cNvPr id="5" name="">
            <a:extLst xmlns:a="http://schemas.openxmlformats.org/drawingml/2006/main">
              <a:ext uri="{FF2B5EF4-FFF2-40B4-BE49-F238E27FC236}">
                <a16:creationId xmlns:a16="http://schemas.microsoft.com/office/drawing/2014/main" id="{76AF9D30-12EF-4E7A-8D90-CAC05CAB7239}"/>
              </a:ext>
            </a:extLst>
          </p:cNvPr>
          <p:cNvSpPr>
            <a:spLocks xmlns:a="http://schemas.openxmlformats.org/drawingml/2006/main" noGrp="1"/>
          </p:cNvSpPr>
          <p:nvPr/>
        </p:nvSpPr>
        <p:spPr>
          <a:xfrm xmlns:a="http://schemas.openxmlformats.org/drawingml/2006/main">
            <a:off x="914400" y="3686175"/>
            <a:ext cx="10134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Walmart contributes only a future retail test. — The two-SKU Beverage-set placement begins in Q2 2025 after transition from OTC, so the first-year uplift depends on new placement turning into velocity rather than on closed-period Beverage-set performance [2].</a:t>
            </a:r>
          </a:p>
        </p:txBody>
      </p:sp>
      <p:sp>
        <p:nvSpPr>
          <p:cNvPr id="6" name="">
            <a:extLst xmlns:a="http://schemas.openxmlformats.org/drawingml/2006/main">
              <a:ext uri="{FF2B5EF4-FFF2-40B4-BE49-F238E27FC236}">
                <a16:creationId xmlns:a16="http://schemas.microsoft.com/office/drawing/2014/main" id="{4320AD9E-2FA0-4EB4-BAF3-3BF7FC83E771}"/>
              </a:ext>
            </a:extLst>
          </p:cNvPr>
          <p:cNvSpPr>
            <a:spLocks xmlns:a="http://schemas.openxmlformats.org/drawingml/2006/main" noGrp="1"/>
          </p:cNvSpPr>
          <p:nvPr/>
        </p:nvSpPr>
        <p:spPr>
          <a:xfrm xmlns:a="http://schemas.openxmlformats.org/drawingml/2006/main">
            <a:off x="914400" y="4610100"/>
            <a:ext cx="10134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Target's retail sales metric does not map directly to revenue. — Target's disclosed $33.98 per-store-per-week-per-SKU measure is retail sales dollars, while Target revenue is stated as net sales, so the two bases are not directly interchangeable [1].</a:t>
            </a:r>
          </a:p>
        </p:txBody>
      </p:sp>
      <p:sp>
        <p:nvSpPr>
          <p:cNvPr id="7" name="">
            <a:extLst xmlns:a="http://schemas.openxmlformats.org/drawingml/2006/main">
              <a:ext uri="{FF2B5EF4-FFF2-40B4-BE49-F238E27FC236}">
                <a16:creationId xmlns:a16="http://schemas.microsoft.com/office/drawing/2014/main" id="{909643BB-57D2-4BC8-B7A0-1E5142916167}"/>
              </a:ext>
            </a:extLst>
          </p:cNvPr>
          <p:cNvSpPr>
            <a:spLocks xmlns:a="http://schemas.openxmlformats.org/drawingml/2006/main" noGrp="1"/>
          </p:cNvSpPr>
          <p:nvPr/>
        </p:nvSpPr>
        <p:spPr>
          <a:xfrm xmlns:a="http://schemas.openxmlformats.org/drawingml/2006/main">
            <a:off x="914400" y="5534025"/>
            <a:ext cx="10134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Revenue remains concentrated in a few channels. — Weekend Recovery represented $17.1M, or 79.4%, of 2024A product gross sales, while Amazon represented $10.7M, or 52.6%, of 2024A net revenue [6][3][4][5].</a:t>
            </a:r>
          </a:p>
        </p:txBody>
      </p:sp>
      <p:sp>
        <p:nvSpPr>
          <p:cNvPr id="8" name="">
            <a:extLst xmlns:a="http://schemas.openxmlformats.org/drawingml/2006/main">
              <a:ext uri="{FF2B5EF4-FFF2-40B4-BE49-F238E27FC236}">
                <a16:creationId xmlns:a16="http://schemas.microsoft.com/office/drawing/2014/main" id="{70DE636A-ADD7-4D82-BED7-FD7229604AB8}"/>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34</a:t>
            </a:r>
          </a:p>
        </p:txBody>
      </p:sp>
    </p:spTree>
    <p:extLst>
      <p:ext uri="{BB962C8B-B14F-4D97-AF65-F5344CB8AC3E}">
        <p14:creationId xmlns:p14="http://schemas.microsoft.com/office/powerpoint/2010/main" val="14972331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2026-09-14T07:34:22.9730000Z</dcterms:created>
  <dcterms:modified xsi:type="dcterms:W3CDTF">2026-09-14T07:34:22.9730000Z</dcterms:modified>
</coreProperties>
</file>